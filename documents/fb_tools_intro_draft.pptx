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2" r:id="rId6"/>
    <p:sldId id="274" r:id="rId7"/>
    <p:sldId id="263" r:id="rId8"/>
    <p:sldId id="289" r:id="rId9"/>
    <p:sldId id="280" r:id="rId10"/>
    <p:sldId id="281" r:id="rId11"/>
    <p:sldId id="278" r:id="rId12"/>
    <p:sldId id="279" r:id="rId13"/>
    <p:sldId id="264" r:id="rId14"/>
    <p:sldId id="283" r:id="rId15"/>
    <p:sldId id="284" r:id="rId16"/>
    <p:sldId id="285" r:id="rId17"/>
    <p:sldId id="286" r:id="rId18"/>
    <p:sldId id="270" r:id="rId19"/>
    <p:sldId id="265" r:id="rId20"/>
    <p:sldId id="287" r:id="rId21"/>
    <p:sldId id="288" r:id="rId22"/>
    <p:sldId id="275" r:id="rId23"/>
    <p:sldId id="291" r:id="rId24"/>
    <p:sldId id="267" r:id="rId25"/>
    <p:sldId id="290" r:id="rId26"/>
    <p:sldId id="260" r:id="rId27"/>
    <p:sldId id="268" r:id="rId28"/>
    <p:sldId id="269" r:id="rId29"/>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1B887"/>
    <a:srgbClr val="2B6E49"/>
    <a:srgbClr val="D5622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20"/>
    <p:restoredTop sz="90167"/>
  </p:normalViewPr>
  <p:slideViewPr>
    <p:cSldViewPr snapToGrid="0" snapToObjects="1">
      <p:cViewPr>
        <p:scale>
          <a:sx n="160" d="100"/>
          <a:sy n="160" d="100"/>
        </p:scale>
        <p:origin x="272" y="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00717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CBD1EF-1BD0-6FF8-5BAE-83781837FA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31974F-A57E-F8E5-7063-E0E9916F3CC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341DF973-6581-6AA2-4717-B729F1DFC31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E5487A68-C373-24F7-6DFF-2726BDAED967}"/>
              </a:ext>
            </a:extLst>
          </p:cNvPr>
          <p:cNvSpPr>
            <a:spLocks noGrp="1"/>
          </p:cNvSpPr>
          <p:nvPr>
            <p:ph type="sldNum" sz="quarter" idx="5"/>
          </p:nvPr>
        </p:nvSpPr>
        <p:spPr/>
      </p:sp>
    </p:spTree>
    <p:extLst>
      <p:ext uri="{BB962C8B-B14F-4D97-AF65-F5344CB8AC3E}">
        <p14:creationId xmlns:p14="http://schemas.microsoft.com/office/powerpoint/2010/main" val="190434030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F5EF9F-4280-58E1-ECB7-86803AD15F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D9E899-161A-160E-F0F8-31EAC52D0E50}"/>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75A55338-A603-671A-32C0-734DEABE4C0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42CA85C-A866-3208-9DEE-646DC0134BF7}"/>
              </a:ext>
            </a:extLst>
          </p:cNvPr>
          <p:cNvSpPr>
            <a:spLocks noGrp="1"/>
          </p:cNvSpPr>
          <p:nvPr>
            <p:ph type="sldNum" sz="quarter" idx="5"/>
          </p:nvPr>
        </p:nvSpPr>
        <p:spPr/>
      </p:sp>
    </p:spTree>
    <p:extLst>
      <p:ext uri="{BB962C8B-B14F-4D97-AF65-F5344CB8AC3E}">
        <p14:creationId xmlns:p14="http://schemas.microsoft.com/office/powerpoint/2010/main" val="332102263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D1E02E-0C8B-3E3C-0E5B-A90CF9EB8E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A13F54-6D74-8476-D1DC-1487DD332504}"/>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B97B64B8-0EC0-9846-AB77-522DF282A18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07886650-002F-546B-3C61-1D23CDC0FB78}"/>
              </a:ext>
            </a:extLst>
          </p:cNvPr>
          <p:cNvSpPr>
            <a:spLocks noGrp="1"/>
          </p:cNvSpPr>
          <p:nvPr>
            <p:ph type="sldNum" sz="quarter" idx="5"/>
          </p:nvPr>
        </p:nvSpPr>
        <p:spPr/>
      </p:sp>
    </p:spTree>
    <p:extLst>
      <p:ext uri="{BB962C8B-B14F-4D97-AF65-F5344CB8AC3E}">
        <p14:creationId xmlns:p14="http://schemas.microsoft.com/office/powerpoint/2010/main" val="11591772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4E267-8601-54E6-3486-31E2A7C476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107276-A178-8E2D-2CF4-D2F807C6DE8A}"/>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2DFD05A-A06E-FA48-84BA-CDCBBB84DC37}"/>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2DB8EF36-879E-32FB-5683-19E9480B5597}"/>
              </a:ext>
            </a:extLst>
          </p:cNvPr>
          <p:cNvSpPr>
            <a:spLocks noGrp="1"/>
          </p:cNvSpPr>
          <p:nvPr>
            <p:ph type="sldNum" sz="quarter" idx="5"/>
          </p:nvPr>
        </p:nvSpPr>
        <p:spPr/>
      </p:sp>
    </p:spTree>
    <p:extLst>
      <p:ext uri="{BB962C8B-B14F-4D97-AF65-F5344CB8AC3E}">
        <p14:creationId xmlns:p14="http://schemas.microsoft.com/office/powerpoint/2010/main" val="21513965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92E34-F11A-DA9F-443E-C437A9B235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3C3471-C6EA-B725-7BA1-1EAE8932E67E}"/>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803FFC7D-CF8B-8CE8-34A6-0CF7D6975BEE}"/>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6FC40106-96C4-17CA-4DCC-55A36AEC16D9}"/>
              </a:ext>
            </a:extLst>
          </p:cNvPr>
          <p:cNvSpPr>
            <a:spLocks noGrp="1"/>
          </p:cNvSpPr>
          <p:nvPr>
            <p:ph type="sldNum" sz="quarter" idx="5"/>
          </p:nvPr>
        </p:nvSpPr>
        <p:spPr/>
      </p:sp>
    </p:spTree>
    <p:extLst>
      <p:ext uri="{BB962C8B-B14F-4D97-AF65-F5344CB8AC3E}">
        <p14:creationId xmlns:p14="http://schemas.microsoft.com/office/powerpoint/2010/main" val="38198748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953BF9-3331-E5B9-8CF1-F7E6B4CBB5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9F1325-6A4C-281E-9640-73EE55C5096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12C80C81-D2A3-2392-77BE-7A5A1E19CAA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8F7160E9-DBC8-B508-247A-4EC11939781F}"/>
              </a:ext>
            </a:extLst>
          </p:cNvPr>
          <p:cNvSpPr>
            <a:spLocks noGrp="1"/>
          </p:cNvSpPr>
          <p:nvPr>
            <p:ph type="sldNum" sz="quarter" idx="5"/>
          </p:nvPr>
        </p:nvSpPr>
        <p:spPr/>
      </p:sp>
    </p:spTree>
    <p:extLst>
      <p:ext uri="{BB962C8B-B14F-4D97-AF65-F5344CB8AC3E}">
        <p14:creationId xmlns:p14="http://schemas.microsoft.com/office/powerpoint/2010/main" val="26219983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344AD-DE79-3353-A721-4108A35AC7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2E19E-660F-B579-4A4D-E575D6DAAC0F}"/>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C93E7A1-6B1C-6CB5-B475-75F7883385CD}"/>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ABD0EEC0-9B82-09CA-9526-5C7F1A65BFCA}"/>
              </a:ext>
            </a:extLst>
          </p:cNvPr>
          <p:cNvSpPr>
            <a:spLocks noGrp="1"/>
          </p:cNvSpPr>
          <p:nvPr>
            <p:ph type="sldNum" sz="quarter" idx="5"/>
          </p:nvPr>
        </p:nvSpPr>
        <p:spPr/>
      </p:sp>
    </p:spTree>
    <p:extLst>
      <p:ext uri="{BB962C8B-B14F-4D97-AF65-F5344CB8AC3E}">
        <p14:creationId xmlns:p14="http://schemas.microsoft.com/office/powerpoint/2010/main" val="37628424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B809A-76A4-B119-E571-E335F035CA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DA7AF8-1E2A-11F0-BE17-AB480CBD579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7DB9BB2-56AA-1F24-76C3-CA8A5239F155}"/>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B5A88969-F60C-B302-B43F-411E90E8AFFE}"/>
              </a:ext>
            </a:extLst>
          </p:cNvPr>
          <p:cNvSpPr>
            <a:spLocks noGrp="1"/>
          </p:cNvSpPr>
          <p:nvPr>
            <p:ph type="sldNum" sz="quarter" idx="5"/>
          </p:nvPr>
        </p:nvSpPr>
        <p:spPr/>
      </p:sp>
    </p:spTree>
    <p:extLst>
      <p:ext uri="{BB962C8B-B14F-4D97-AF65-F5344CB8AC3E}">
        <p14:creationId xmlns:p14="http://schemas.microsoft.com/office/powerpoint/2010/main" val="346435297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6×8 </a:t>
            </a:r>
            <a:r>
              <a:rPr dirty="0" err="1"/>
              <a:t>WindCellValues</a:t>
            </a:r>
            <a:r>
              <a:rPr dirty="0"/>
              <a:t> table is a joint probability distribution (speed AND direction together), not independent marginals. </a:t>
            </a:r>
            <a:r>
              <a:rPr dirty="0" err="1"/>
              <a:t>CalmValue</a:t>
            </a:r>
            <a:r>
              <a:rPr dirty="0"/>
              <a:t> is kept separate because calm </a:t>
            </a:r>
            <a:r>
              <a:rPr dirty="0" err="1"/>
              <a:t>obs</a:t>
            </a:r>
            <a:r>
              <a:rPr dirty="0"/>
              <a:t> have no meaningful direction. The k=9 neighbor approach boosts sample size ~9× without extra GRIB downloads — valid because HRRR 3-km resolution means adjacent cells are nearly identical for synoptic-scale fire-weather winds. Calm % of ~1-2% at fire hours (19-22Z) confirms the UTC window captures active fire weather.</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5 ERC class bins are typically set at roughly the 20th, 40th, 60th, 80th, and 97th percentile of the historical ERC distribution per pyrome. The FM values in each class come from build_erc_classes() — either the GridMET snapshot path (FM10 ≈ 1.28×EMC) or the RTMA hourly-lag path for improved FM1/FM10. SPOTTING_SEED is held constant across baseline/treated pairs for the counterfactual delta-burn-probability comparison. CurrentERCValues covers the ~79-day peak fire-season window (approx. late July through Sept).</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7DE10-CD09-71C0-19E1-D604BC2154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BB9196-6610-011D-68C2-2FF3EE033907}"/>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AB892B6C-8ABF-CF34-3F9C-47C0C53412B9}"/>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D7F17320-9279-38FA-0B07-E734182287A2}"/>
              </a:ext>
            </a:extLst>
          </p:cNvPr>
          <p:cNvSpPr>
            <a:spLocks noGrp="1"/>
          </p:cNvSpPr>
          <p:nvPr>
            <p:ph type="sldNum" sz="quarter" idx="5"/>
          </p:nvPr>
        </p:nvSpPr>
        <p:spPr/>
      </p:sp>
    </p:spTree>
    <p:extLst>
      <p:ext uri="{BB962C8B-B14F-4D97-AF65-F5344CB8AC3E}">
        <p14:creationId xmlns:p14="http://schemas.microsoft.com/office/powerpoint/2010/main" val="1835548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40B848-9404-6C19-197C-3C76E9AA98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4D34E7-5FB4-7EDB-B953-06712F415EE1}"/>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6B21D4CB-F925-7A89-4C3B-CAA10C2BD8DF}"/>
              </a:ext>
            </a:extLst>
          </p:cNvPr>
          <p:cNvSpPr>
            <a:spLocks noGrp="1"/>
          </p:cNvSpPr>
          <p:nvPr>
            <p:ph type="body" sz="quarter" idx="3"/>
          </p:nvPr>
        </p:nvSpPr>
        <p:spPr/>
        <p:txBody>
          <a:bodyPr/>
          <a:lstStyle/>
          <a:p>
            <a:endParaRPr dirty="0"/>
          </a:p>
        </p:txBody>
      </p:sp>
      <p:sp>
        <p:nvSpPr>
          <p:cNvPr id="4" name="Slide Number Placeholder 3">
            <a:extLst>
              <a:ext uri="{FF2B5EF4-FFF2-40B4-BE49-F238E27FC236}">
                <a16:creationId xmlns:a16="http://schemas.microsoft.com/office/drawing/2014/main" id="{93BA9DB6-C60A-42DB-EB27-6C39100F778B}"/>
              </a:ext>
            </a:extLst>
          </p:cNvPr>
          <p:cNvSpPr>
            <a:spLocks noGrp="1"/>
          </p:cNvSpPr>
          <p:nvPr>
            <p:ph type="sldNum" sz="quarter" idx="5"/>
          </p:nvPr>
        </p:nvSpPr>
        <p:spPr/>
      </p:sp>
    </p:spTree>
    <p:extLst>
      <p:ext uri="{BB962C8B-B14F-4D97-AF65-F5344CB8AC3E}">
        <p14:creationId xmlns:p14="http://schemas.microsoft.com/office/powerpoint/2010/main" val="139690696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Citation notes: Deeming et al. (1977) describes the '1978 NFDRS' — the year discrepancy is intentional (published 1977, describes system effective 1978). Bradshaw et al. (1984) is the technical documentation that specifies the precip saturation ceiling (FM10=35%, FM100=50%). Jolly et al. (2005) GSI thresholds were calibrated on temperate/boreal flux tower sites — not validated for semi-arid intermountain systems. HRRR reference is Part I (model description); Part II (data assimilation) is Dowell et al. 2022 doi:10.1175/WAF-D-21-0152.1.</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223760" y="0"/>
            <a:ext cx="1920240" cy="5143500"/>
          </a:xfrm>
          <a:prstGeom prst="rect">
            <a:avLst/>
          </a:prstGeom>
          <a:solidFill>
            <a:srgbClr val="224A5E"/>
          </a:solidFill>
          <a:ln>
            <a:solidFill>
              <a:srgbClr val="224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52060"/>
            <a:ext cx="9144000" cy="91440"/>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438912"/>
            <a:ext cx="1508760" cy="256032"/>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6" name="Rectangle 5"/>
          <p:cNvSpPr/>
          <p:nvPr/>
        </p:nvSpPr>
        <p:spPr>
          <a:xfrm>
            <a:off x="2066544" y="438912"/>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models/</a:t>
            </a:r>
          </a:p>
        </p:txBody>
      </p:sp>
      <p:sp>
        <p:nvSpPr>
          <p:cNvPr id="7" name="Rectangle 6"/>
          <p:cNvSpPr/>
          <p:nvPr/>
        </p:nvSpPr>
        <p:spPr>
          <a:xfrm>
            <a:off x="3767328" y="438912"/>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8" name="Rectangle 7"/>
          <p:cNvSpPr/>
          <p:nvPr/>
        </p:nvSpPr>
        <p:spPr>
          <a:xfrm>
            <a:off x="5468112" y="438912"/>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9" name="Rectangle 8"/>
          <p:cNvSpPr/>
          <p:nvPr/>
        </p:nvSpPr>
        <p:spPr>
          <a:xfrm>
            <a:off x="7168896" y="438912"/>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10" name="TextBox 9"/>
          <p:cNvSpPr txBox="1"/>
          <p:nvPr/>
        </p:nvSpPr>
        <p:spPr>
          <a:xfrm>
            <a:off x="365760" y="914400"/>
            <a:ext cx="6583680" cy="960120"/>
          </a:xfrm>
          <a:prstGeom prst="rect">
            <a:avLst/>
          </a:prstGeom>
          <a:noFill/>
        </p:spPr>
        <p:txBody>
          <a:bodyPr wrap="square">
            <a:spAutoFit/>
          </a:bodyPr>
          <a:lstStyle/>
          <a:p>
            <a:pPr algn="l"/>
            <a:r>
              <a:rPr sz="5200" b="1" i="0">
                <a:solidFill>
                  <a:srgbClr val="ECF0F1"/>
                </a:solidFill>
                <a:latin typeface="Calibri"/>
              </a:rPr>
              <a:t>fb_tools</a:t>
            </a:r>
          </a:p>
        </p:txBody>
      </p:sp>
      <p:sp>
        <p:nvSpPr>
          <p:cNvPr id="11" name="TextBox 10"/>
          <p:cNvSpPr txBox="1"/>
          <p:nvPr/>
        </p:nvSpPr>
        <p:spPr>
          <a:xfrm>
            <a:off x="365760" y="1874519"/>
            <a:ext cx="6583680" cy="457200"/>
          </a:xfrm>
          <a:prstGeom prst="rect">
            <a:avLst/>
          </a:prstGeom>
          <a:noFill/>
        </p:spPr>
        <p:txBody>
          <a:bodyPr wrap="square">
            <a:spAutoFit/>
          </a:bodyPr>
          <a:lstStyle/>
          <a:p>
            <a:pPr algn="l"/>
            <a:r>
              <a:rPr sz="2000" b="0" i="0" dirty="0">
                <a:solidFill>
                  <a:srgbClr val="52B788"/>
                </a:solidFill>
                <a:latin typeface="Calibri"/>
              </a:rPr>
              <a:t>A Python Wrapper for Fire Behavior Modeling</a:t>
            </a:r>
          </a:p>
        </p:txBody>
      </p:sp>
      <p:sp>
        <p:nvSpPr>
          <p:cNvPr id="12" name="Rectangle 11"/>
          <p:cNvSpPr/>
          <p:nvPr/>
        </p:nvSpPr>
        <p:spPr>
          <a:xfrm>
            <a:off x="365760" y="2487168"/>
            <a:ext cx="3840480" cy="36576"/>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65760" y="2633472"/>
            <a:ext cx="6400800" cy="347472"/>
          </a:xfrm>
          <a:prstGeom prst="rect">
            <a:avLst/>
          </a:prstGeom>
          <a:noFill/>
        </p:spPr>
        <p:txBody>
          <a:bodyPr wrap="square">
            <a:spAutoFit/>
          </a:bodyPr>
          <a:lstStyle/>
          <a:p>
            <a:pPr algn="l"/>
            <a:r>
              <a:rPr sz="1400" b="0" i="0">
                <a:solidFill>
                  <a:srgbClr val="ECF0F1"/>
                </a:solidFill>
                <a:latin typeface="Calibri"/>
              </a:rPr>
              <a:t>CFRI Spatial Analyst Capability Area</a:t>
            </a:r>
          </a:p>
        </p:txBody>
      </p:sp>
      <p:sp>
        <p:nvSpPr>
          <p:cNvPr id="14" name="TextBox 13"/>
          <p:cNvSpPr txBox="1"/>
          <p:nvPr/>
        </p:nvSpPr>
        <p:spPr>
          <a:xfrm>
            <a:off x="365760" y="2999232"/>
            <a:ext cx="6400800" cy="276999"/>
          </a:xfrm>
          <a:prstGeom prst="rect">
            <a:avLst/>
          </a:prstGeom>
          <a:noFill/>
        </p:spPr>
        <p:txBody>
          <a:bodyPr wrap="square">
            <a:spAutoFit/>
          </a:bodyPr>
          <a:lstStyle/>
          <a:p>
            <a:pPr algn="l"/>
            <a:r>
              <a:rPr lang="en-US" sz="1200" b="0" i="1" dirty="0">
                <a:solidFill>
                  <a:srgbClr val="90A4AE"/>
                </a:solidFill>
                <a:latin typeface="Calibri"/>
              </a:rPr>
              <a:t>06.10.2026</a:t>
            </a:r>
            <a:endParaRPr sz="1200" b="0" i="1" dirty="0">
              <a:solidFill>
                <a:srgbClr val="90A4AE"/>
              </a:solidFill>
              <a:latin typeface="Calibri"/>
            </a:endParaRPr>
          </a:p>
        </p:txBody>
      </p:sp>
      <p:sp>
        <p:nvSpPr>
          <p:cNvPr id="15" name="TextBox 14"/>
          <p:cNvSpPr txBox="1"/>
          <p:nvPr/>
        </p:nvSpPr>
        <p:spPr>
          <a:xfrm>
            <a:off x="365760" y="4709160"/>
            <a:ext cx="8412480" cy="256032"/>
          </a:xfrm>
          <a:prstGeom prst="rect">
            <a:avLst/>
          </a:prstGeom>
          <a:noFill/>
        </p:spPr>
        <p:txBody>
          <a:bodyPr wrap="square">
            <a:spAutoFit/>
          </a:bodyPr>
          <a:lstStyle/>
          <a:p>
            <a:pPr algn="r"/>
            <a:r>
              <a:rPr sz="900" b="0" i="0">
                <a:solidFill>
                  <a:srgbClr val="90A4AE"/>
                </a:solidFill>
                <a:latin typeface="Courier New"/>
              </a:rPr>
              <a:t>github.com/maxwellCcook/fb_tools</a:t>
            </a:r>
          </a:p>
        </p:txBody>
      </p:sp>
      <p:pic>
        <p:nvPicPr>
          <p:cNvPr id="17" name="Picture 16">
            <a:extLst>
              <a:ext uri="{FF2B5EF4-FFF2-40B4-BE49-F238E27FC236}">
                <a16:creationId xmlns:a16="http://schemas.microsoft.com/office/drawing/2014/main" id="{388F1381-38A2-3D11-3F2A-F3D3A28F003D}"/>
              </a:ext>
            </a:extLst>
          </p:cNvPr>
          <p:cNvPicPr>
            <a:picLocks noChangeAspect="1"/>
          </p:cNvPicPr>
          <p:nvPr/>
        </p:nvPicPr>
        <p:blipFill>
          <a:blip r:embed="rId3"/>
          <a:stretch>
            <a:fillRect/>
          </a:stretch>
        </p:blipFill>
        <p:spPr>
          <a:xfrm>
            <a:off x="6521932" y="2555028"/>
            <a:ext cx="2067264" cy="2067264"/>
          </a:xfrm>
          <a:prstGeom prst="rect">
            <a:avLst/>
          </a:prstGeom>
          <a:ln>
            <a:noFill/>
          </a:ln>
          <a:effectLst>
            <a:outerShdw blurRad="190500" algn="tl" rotWithShape="0">
              <a:srgbClr val="000000">
                <a:alpha val="7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01168"/>
            <a:ext cx="8412480" cy="475488"/>
          </a:xfrm>
          <a:prstGeom prst="rect">
            <a:avLst/>
          </a:prstGeom>
          <a:noFill/>
        </p:spPr>
        <p:txBody>
          <a:bodyPr wrap="square">
            <a:spAutoFit/>
          </a:bodyPr>
          <a:lstStyle/>
          <a:p>
            <a:pPr algn="l"/>
            <a:r>
              <a:rPr sz="2800" b="1" i="0">
                <a:solidFill>
                  <a:srgbClr val="1A1A2E"/>
                </a:solidFill>
                <a:latin typeface="Calibri"/>
              </a:rPr>
              <a:t>What is fb_tools?</a:t>
            </a:r>
          </a:p>
        </p:txBody>
      </p:sp>
      <p:sp>
        <p:nvSpPr>
          <p:cNvPr id="3" name="Oval 2"/>
          <p:cNvSpPr/>
          <p:nvPr/>
        </p:nvSpPr>
        <p:spPr>
          <a:xfrm>
            <a:off x="292608" y="987552"/>
            <a:ext cx="347472" cy="347472"/>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1</a:t>
            </a:r>
          </a:p>
        </p:txBody>
      </p:sp>
      <p:sp>
        <p:nvSpPr>
          <p:cNvPr id="4" name="TextBox 3"/>
          <p:cNvSpPr txBox="1"/>
          <p:nvPr/>
        </p:nvSpPr>
        <p:spPr>
          <a:xfrm>
            <a:off x="777240" y="932688"/>
            <a:ext cx="4343400" cy="292608"/>
          </a:xfrm>
          <a:prstGeom prst="rect">
            <a:avLst/>
          </a:prstGeom>
          <a:noFill/>
        </p:spPr>
        <p:txBody>
          <a:bodyPr wrap="square">
            <a:spAutoFit/>
          </a:bodyPr>
          <a:lstStyle/>
          <a:p>
            <a:pPr algn="l"/>
            <a:r>
              <a:rPr sz="1400" b="1" i="0">
                <a:solidFill>
                  <a:srgbClr val="1A1A2E"/>
                </a:solidFill>
                <a:latin typeface="Calibri"/>
              </a:rPr>
              <a:t>Python wrapper</a:t>
            </a:r>
          </a:p>
        </p:txBody>
      </p:sp>
      <p:sp>
        <p:nvSpPr>
          <p:cNvPr id="5" name="TextBox 4"/>
          <p:cNvSpPr txBox="1"/>
          <p:nvPr/>
        </p:nvSpPr>
        <p:spPr>
          <a:xfrm>
            <a:off x="777240" y="1225295"/>
            <a:ext cx="4343400" cy="430887"/>
          </a:xfrm>
          <a:prstGeom prst="rect">
            <a:avLst/>
          </a:prstGeom>
          <a:noFill/>
        </p:spPr>
        <p:txBody>
          <a:bodyPr wrap="square">
            <a:spAutoFit/>
          </a:bodyPr>
          <a:lstStyle/>
          <a:p>
            <a:pPr algn="l"/>
            <a:r>
              <a:rPr sz="1100" b="0" i="0" dirty="0">
                <a:solidFill>
                  <a:srgbClr val="546E7A"/>
                </a:solidFill>
                <a:latin typeface="Calibri"/>
              </a:rPr>
              <a:t>for CLI fire behavior models: FlamMap, </a:t>
            </a:r>
            <a:r>
              <a:rPr sz="1100" b="0" i="0" dirty="0" err="1">
                <a:solidFill>
                  <a:srgbClr val="546E7A"/>
                </a:solidFill>
                <a:latin typeface="Calibri"/>
              </a:rPr>
              <a:t>FSPro</a:t>
            </a:r>
            <a:r>
              <a:rPr sz="1100" b="0" i="0" dirty="0">
                <a:solidFill>
                  <a:srgbClr val="546E7A"/>
                </a:solidFill>
                <a:latin typeface="Calibri"/>
              </a:rPr>
              <a:t>, FSim, MTT</a:t>
            </a:r>
            <a:r>
              <a:rPr lang="en-US" sz="1100" b="0" i="0" dirty="0">
                <a:solidFill>
                  <a:srgbClr val="546E7A"/>
                </a:solidFill>
                <a:latin typeface="Calibri"/>
              </a:rPr>
              <a:t>, Cell2Fire, </a:t>
            </a:r>
            <a:r>
              <a:rPr lang="en-US" sz="1100" b="0" i="0" dirty="0" err="1">
                <a:solidFill>
                  <a:srgbClr val="546E7A"/>
                </a:solidFill>
                <a:latin typeface="Calibri"/>
              </a:rPr>
              <a:t>QuicFire</a:t>
            </a:r>
            <a:r>
              <a:rPr lang="en-US" sz="1100" b="0" i="0" dirty="0">
                <a:solidFill>
                  <a:srgbClr val="546E7A"/>
                </a:solidFill>
                <a:latin typeface="Calibri"/>
              </a:rPr>
              <a:t>, etc.</a:t>
            </a:r>
            <a:endParaRPr sz="1100" b="0" i="0" dirty="0">
              <a:solidFill>
                <a:srgbClr val="546E7A"/>
              </a:solidFill>
              <a:latin typeface="Calibri"/>
            </a:endParaRPr>
          </a:p>
        </p:txBody>
      </p:sp>
      <p:sp>
        <p:nvSpPr>
          <p:cNvPr id="6" name="Oval 5"/>
          <p:cNvSpPr/>
          <p:nvPr/>
        </p:nvSpPr>
        <p:spPr>
          <a:xfrm>
            <a:off x="306324" y="1778662"/>
            <a:ext cx="347472" cy="347472"/>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2</a:t>
            </a:r>
          </a:p>
        </p:txBody>
      </p:sp>
      <p:sp>
        <p:nvSpPr>
          <p:cNvPr id="7" name="TextBox 6"/>
          <p:cNvSpPr txBox="1"/>
          <p:nvPr/>
        </p:nvSpPr>
        <p:spPr>
          <a:xfrm>
            <a:off x="790956" y="1723798"/>
            <a:ext cx="4343400" cy="307777"/>
          </a:xfrm>
          <a:prstGeom prst="rect">
            <a:avLst/>
          </a:prstGeom>
          <a:noFill/>
        </p:spPr>
        <p:txBody>
          <a:bodyPr wrap="square">
            <a:spAutoFit/>
          </a:bodyPr>
          <a:lstStyle/>
          <a:p>
            <a:pPr algn="l"/>
            <a:r>
              <a:rPr lang="en-US" sz="1400" b="1" i="0" dirty="0">
                <a:solidFill>
                  <a:srgbClr val="1A1A2E"/>
                </a:solidFill>
                <a:latin typeface="Calibri"/>
              </a:rPr>
              <a:t>Integration with CFRI workflows</a:t>
            </a:r>
            <a:endParaRPr sz="1400" b="1" i="0" dirty="0">
              <a:solidFill>
                <a:srgbClr val="1A1A2E"/>
              </a:solidFill>
              <a:latin typeface="Calibri"/>
            </a:endParaRPr>
          </a:p>
        </p:txBody>
      </p:sp>
      <p:sp>
        <p:nvSpPr>
          <p:cNvPr id="8" name="TextBox 7"/>
          <p:cNvSpPr txBox="1"/>
          <p:nvPr/>
        </p:nvSpPr>
        <p:spPr>
          <a:xfrm>
            <a:off x="790956" y="2016406"/>
            <a:ext cx="4343400" cy="430887"/>
          </a:xfrm>
          <a:prstGeom prst="rect">
            <a:avLst/>
          </a:prstGeom>
          <a:noFill/>
        </p:spPr>
        <p:txBody>
          <a:bodyPr wrap="square">
            <a:spAutoFit/>
          </a:bodyPr>
          <a:lstStyle/>
          <a:p>
            <a:pPr algn="l"/>
            <a:r>
              <a:rPr lang="en-US" sz="1100" b="0" i="0" dirty="0">
                <a:solidFill>
                  <a:srgbClr val="546E7A"/>
                </a:solidFill>
                <a:latin typeface="Calibri"/>
              </a:rPr>
              <a:t>LANDFIRE acquisition, “treated” fuelscapes, FlamMap, delta SDI, fire transmission </a:t>
            </a:r>
            <a:endParaRPr sz="1100" b="0" i="0" dirty="0">
              <a:solidFill>
                <a:srgbClr val="546E7A"/>
              </a:solidFill>
              <a:latin typeface="Calibri"/>
            </a:endParaRPr>
          </a:p>
        </p:txBody>
      </p:sp>
      <p:sp>
        <p:nvSpPr>
          <p:cNvPr id="9" name="Oval 8"/>
          <p:cNvSpPr/>
          <p:nvPr/>
        </p:nvSpPr>
        <p:spPr>
          <a:xfrm>
            <a:off x="306324" y="2656486"/>
            <a:ext cx="347472" cy="347472"/>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3</a:t>
            </a:r>
          </a:p>
        </p:txBody>
      </p:sp>
      <p:sp>
        <p:nvSpPr>
          <p:cNvPr id="10" name="TextBox 9"/>
          <p:cNvSpPr txBox="1"/>
          <p:nvPr/>
        </p:nvSpPr>
        <p:spPr>
          <a:xfrm>
            <a:off x="790956" y="2601622"/>
            <a:ext cx="4343400" cy="307777"/>
          </a:xfrm>
          <a:prstGeom prst="rect">
            <a:avLst/>
          </a:prstGeom>
          <a:noFill/>
        </p:spPr>
        <p:txBody>
          <a:bodyPr wrap="square">
            <a:spAutoFit/>
          </a:bodyPr>
          <a:lstStyle/>
          <a:p>
            <a:pPr algn="l"/>
            <a:r>
              <a:rPr sz="1400" b="1" i="0" dirty="0">
                <a:solidFill>
                  <a:srgbClr val="1A1A2E"/>
                </a:solidFill>
                <a:latin typeface="Calibri"/>
              </a:rPr>
              <a:t>Scriptable </a:t>
            </a:r>
            <a:r>
              <a:rPr lang="en-US" sz="1400" b="1" i="0" dirty="0">
                <a:solidFill>
                  <a:srgbClr val="1A1A2E"/>
                </a:solidFill>
                <a:latin typeface="Calibri"/>
              </a:rPr>
              <a:t>modeling</a:t>
            </a:r>
            <a:endParaRPr sz="1400" b="1" i="0" dirty="0">
              <a:solidFill>
                <a:srgbClr val="1A1A2E"/>
              </a:solidFill>
              <a:latin typeface="Calibri"/>
            </a:endParaRPr>
          </a:p>
        </p:txBody>
      </p:sp>
      <p:sp>
        <p:nvSpPr>
          <p:cNvPr id="11" name="TextBox 10"/>
          <p:cNvSpPr txBox="1"/>
          <p:nvPr/>
        </p:nvSpPr>
        <p:spPr>
          <a:xfrm>
            <a:off x="790956" y="2894230"/>
            <a:ext cx="4343400" cy="430887"/>
          </a:xfrm>
          <a:prstGeom prst="rect">
            <a:avLst/>
          </a:prstGeom>
          <a:noFill/>
        </p:spPr>
        <p:txBody>
          <a:bodyPr wrap="square">
            <a:spAutoFit/>
          </a:bodyPr>
          <a:lstStyle/>
          <a:p>
            <a:pPr algn="l"/>
            <a:r>
              <a:rPr sz="1100" b="0" i="0" dirty="0">
                <a:solidFill>
                  <a:srgbClr val="546E7A"/>
                </a:solidFill>
                <a:latin typeface="Calibri"/>
              </a:rPr>
              <a:t>Repeatable, batch-capable fire behavior analysis for </a:t>
            </a:r>
            <a:r>
              <a:rPr lang="en-US" sz="1100" b="0" i="0" dirty="0">
                <a:solidFill>
                  <a:srgbClr val="546E7A"/>
                </a:solidFill>
                <a:latin typeface="Calibri"/>
              </a:rPr>
              <a:t>expanded model runs, ensembles, and integration with other workflows (e.g., TEALOM)</a:t>
            </a:r>
            <a:endParaRPr sz="1100" b="0" i="0" dirty="0">
              <a:solidFill>
                <a:srgbClr val="546E7A"/>
              </a:solidFill>
              <a:latin typeface="Calibri"/>
            </a:endParaRPr>
          </a:p>
        </p:txBody>
      </p:sp>
      <p:sp>
        <p:nvSpPr>
          <p:cNvPr id="12" name="Oval 11"/>
          <p:cNvSpPr/>
          <p:nvPr/>
        </p:nvSpPr>
        <p:spPr>
          <a:xfrm>
            <a:off x="306324" y="3534310"/>
            <a:ext cx="347472" cy="347472"/>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300" b="1" i="0" dirty="0">
                <a:solidFill>
                  <a:srgbClr val="FFFFFF"/>
                </a:solidFill>
                <a:latin typeface="Calibri"/>
              </a:rPr>
              <a:t>4</a:t>
            </a:r>
            <a:endParaRPr sz="1300" b="1" i="0" dirty="0">
              <a:solidFill>
                <a:srgbClr val="FFFFFF"/>
              </a:solidFill>
              <a:latin typeface="Calibri"/>
            </a:endParaRPr>
          </a:p>
        </p:txBody>
      </p:sp>
      <p:sp>
        <p:nvSpPr>
          <p:cNvPr id="13" name="TextBox 12"/>
          <p:cNvSpPr txBox="1"/>
          <p:nvPr/>
        </p:nvSpPr>
        <p:spPr>
          <a:xfrm>
            <a:off x="790956" y="3479446"/>
            <a:ext cx="4343400" cy="292608"/>
          </a:xfrm>
          <a:prstGeom prst="rect">
            <a:avLst/>
          </a:prstGeom>
          <a:noFill/>
        </p:spPr>
        <p:txBody>
          <a:bodyPr wrap="square">
            <a:spAutoFit/>
          </a:bodyPr>
          <a:lstStyle/>
          <a:p>
            <a:pPr algn="l"/>
            <a:r>
              <a:rPr sz="1400" b="1" i="0" dirty="0">
                <a:solidFill>
                  <a:srgbClr val="1A1A2E"/>
                </a:solidFill>
                <a:latin typeface="Calibri"/>
              </a:rPr>
              <a:t>Open source</a:t>
            </a:r>
          </a:p>
        </p:txBody>
      </p:sp>
      <p:sp>
        <p:nvSpPr>
          <p:cNvPr id="14" name="TextBox 13"/>
          <p:cNvSpPr txBox="1"/>
          <p:nvPr/>
        </p:nvSpPr>
        <p:spPr>
          <a:xfrm>
            <a:off x="790956" y="3772054"/>
            <a:ext cx="4343400" cy="261610"/>
          </a:xfrm>
          <a:prstGeom prst="rect">
            <a:avLst/>
          </a:prstGeom>
          <a:noFill/>
        </p:spPr>
        <p:txBody>
          <a:bodyPr wrap="square">
            <a:spAutoFit/>
          </a:bodyPr>
          <a:lstStyle/>
          <a:p>
            <a:pPr algn="l"/>
            <a:r>
              <a:rPr sz="1100" b="0" i="0" dirty="0" err="1">
                <a:solidFill>
                  <a:srgbClr val="546E7A"/>
                </a:solidFill>
                <a:latin typeface="Calibri"/>
              </a:rPr>
              <a:t>github.com</a:t>
            </a:r>
            <a:r>
              <a:rPr sz="1100" b="0" i="0" dirty="0">
                <a:solidFill>
                  <a:srgbClr val="546E7A"/>
                </a:solidFill>
                <a:latin typeface="Calibri"/>
              </a:rPr>
              <a:t>/</a:t>
            </a:r>
            <a:r>
              <a:rPr sz="1100" b="0" i="0" dirty="0" err="1">
                <a:solidFill>
                  <a:srgbClr val="546E7A"/>
                </a:solidFill>
                <a:latin typeface="Calibri"/>
              </a:rPr>
              <a:t>maxwellCcook</a:t>
            </a:r>
            <a:r>
              <a:rPr sz="1100" b="0" i="0" dirty="0">
                <a:solidFill>
                  <a:srgbClr val="546E7A"/>
                </a:solidFill>
                <a:latin typeface="Calibri"/>
              </a:rPr>
              <a:t>/</a:t>
            </a:r>
            <a:r>
              <a:rPr sz="1100" b="0" i="0" dirty="0" err="1">
                <a:solidFill>
                  <a:srgbClr val="546E7A"/>
                </a:solidFill>
                <a:latin typeface="Calibri"/>
              </a:rPr>
              <a:t>fb_tools</a:t>
            </a:r>
            <a:r>
              <a:rPr lang="en-US" sz="1100" b="0" i="0" dirty="0">
                <a:solidFill>
                  <a:srgbClr val="546E7A"/>
                </a:solidFill>
                <a:latin typeface="Calibri"/>
              </a:rPr>
              <a:t> (need to transition to CFRI GitHub)</a:t>
            </a:r>
            <a:endParaRPr sz="1100" b="0" i="0" dirty="0">
              <a:solidFill>
                <a:srgbClr val="546E7A"/>
              </a:solidFill>
              <a:latin typeface="Calibri"/>
            </a:endParaRPr>
          </a:p>
        </p:txBody>
      </p:sp>
      <p:sp>
        <p:nvSpPr>
          <p:cNvPr id="15" name="Rectangle 14"/>
          <p:cNvSpPr/>
          <p:nvPr/>
        </p:nvSpPr>
        <p:spPr>
          <a:xfrm>
            <a:off x="5577840" y="786384"/>
            <a:ext cx="3200400" cy="69494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577840" y="786384"/>
            <a:ext cx="182880" cy="69494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870448" y="841247"/>
            <a:ext cx="2788920" cy="256032"/>
          </a:xfrm>
          <a:prstGeom prst="rect">
            <a:avLst/>
          </a:prstGeom>
          <a:noFill/>
        </p:spPr>
        <p:txBody>
          <a:bodyPr wrap="square">
            <a:spAutoFit/>
          </a:bodyPr>
          <a:lstStyle/>
          <a:p>
            <a:pPr algn="l"/>
            <a:r>
              <a:rPr sz="1100" b="1" i="0">
                <a:solidFill>
                  <a:srgbClr val="2C6E49"/>
                </a:solidFill>
                <a:latin typeface="Courier New"/>
              </a:rPr>
              <a:t>fuelscape/</a:t>
            </a:r>
          </a:p>
        </p:txBody>
      </p:sp>
      <p:sp>
        <p:nvSpPr>
          <p:cNvPr id="18" name="TextBox 17"/>
          <p:cNvSpPr txBox="1"/>
          <p:nvPr/>
        </p:nvSpPr>
        <p:spPr>
          <a:xfrm>
            <a:off x="5870448" y="1115568"/>
            <a:ext cx="2788920" cy="246221"/>
          </a:xfrm>
          <a:prstGeom prst="rect">
            <a:avLst/>
          </a:prstGeom>
          <a:noFill/>
        </p:spPr>
        <p:txBody>
          <a:bodyPr wrap="square">
            <a:spAutoFit/>
          </a:bodyPr>
          <a:lstStyle/>
          <a:p>
            <a:pPr algn="l"/>
            <a:r>
              <a:rPr sz="1000" b="0" i="0" dirty="0">
                <a:solidFill>
                  <a:srgbClr val="546E7A"/>
                </a:solidFill>
                <a:latin typeface="Calibri"/>
              </a:rPr>
              <a:t>LANDFIRE + LCP</a:t>
            </a:r>
            <a:r>
              <a:rPr lang="en-US" sz="1000" b="0" i="0" dirty="0">
                <a:solidFill>
                  <a:srgbClr val="546E7A"/>
                </a:solidFill>
                <a:latin typeface="Calibri"/>
              </a:rPr>
              <a:t> + apply treatment, etc.</a:t>
            </a:r>
            <a:endParaRPr sz="1000" b="0" i="0" dirty="0">
              <a:solidFill>
                <a:srgbClr val="546E7A"/>
              </a:solidFill>
              <a:latin typeface="Calibri"/>
            </a:endParaRPr>
          </a:p>
        </p:txBody>
      </p:sp>
      <p:sp>
        <p:nvSpPr>
          <p:cNvPr id="19" name="Rectangle 18"/>
          <p:cNvSpPr/>
          <p:nvPr/>
        </p:nvSpPr>
        <p:spPr>
          <a:xfrm>
            <a:off x="5577840" y="1609344"/>
            <a:ext cx="3200400" cy="69494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5577840" y="1609344"/>
            <a:ext cx="182880" cy="694944"/>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870448" y="1664208"/>
            <a:ext cx="2788920" cy="256032"/>
          </a:xfrm>
          <a:prstGeom prst="rect">
            <a:avLst/>
          </a:prstGeom>
          <a:noFill/>
        </p:spPr>
        <p:txBody>
          <a:bodyPr wrap="square">
            <a:spAutoFit/>
          </a:bodyPr>
          <a:lstStyle/>
          <a:p>
            <a:pPr algn="l"/>
            <a:r>
              <a:rPr sz="1100" b="1" i="0">
                <a:solidFill>
                  <a:srgbClr val="1B6CA8"/>
                </a:solidFill>
                <a:latin typeface="Courier New"/>
              </a:rPr>
              <a:t>models/</a:t>
            </a:r>
          </a:p>
        </p:txBody>
      </p:sp>
      <p:sp>
        <p:nvSpPr>
          <p:cNvPr id="22" name="TextBox 21"/>
          <p:cNvSpPr txBox="1"/>
          <p:nvPr/>
        </p:nvSpPr>
        <p:spPr>
          <a:xfrm>
            <a:off x="5870448" y="1938528"/>
            <a:ext cx="2788920" cy="274320"/>
          </a:xfrm>
          <a:prstGeom prst="rect">
            <a:avLst/>
          </a:prstGeom>
          <a:noFill/>
        </p:spPr>
        <p:txBody>
          <a:bodyPr wrap="square">
            <a:spAutoFit/>
          </a:bodyPr>
          <a:lstStyle/>
          <a:p>
            <a:pPr algn="l"/>
            <a:r>
              <a:rPr sz="1000" b="0" i="0">
                <a:solidFill>
                  <a:srgbClr val="546E7A"/>
                </a:solidFill>
                <a:latin typeface="Calibri"/>
              </a:rPr>
              <a:t>FlamMap · FSPro · MTT</a:t>
            </a:r>
          </a:p>
        </p:txBody>
      </p:sp>
      <p:sp>
        <p:nvSpPr>
          <p:cNvPr id="23" name="Rectangle 22"/>
          <p:cNvSpPr/>
          <p:nvPr/>
        </p:nvSpPr>
        <p:spPr>
          <a:xfrm>
            <a:off x="5577840" y="2432304"/>
            <a:ext cx="3200400" cy="69494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5577840" y="2432304"/>
            <a:ext cx="182880" cy="694944"/>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870448" y="2487168"/>
            <a:ext cx="2788920" cy="256032"/>
          </a:xfrm>
          <a:prstGeom prst="rect">
            <a:avLst/>
          </a:prstGeom>
          <a:noFill/>
        </p:spPr>
        <p:txBody>
          <a:bodyPr wrap="square">
            <a:spAutoFit/>
          </a:bodyPr>
          <a:lstStyle/>
          <a:p>
            <a:pPr algn="l"/>
            <a:r>
              <a:rPr sz="1100" b="1" i="0">
                <a:solidFill>
                  <a:srgbClr val="D4622A"/>
                </a:solidFill>
                <a:latin typeface="Courier New"/>
              </a:rPr>
              <a:t>weather/</a:t>
            </a:r>
          </a:p>
        </p:txBody>
      </p:sp>
      <p:sp>
        <p:nvSpPr>
          <p:cNvPr id="26" name="TextBox 25"/>
          <p:cNvSpPr txBox="1"/>
          <p:nvPr/>
        </p:nvSpPr>
        <p:spPr>
          <a:xfrm>
            <a:off x="5870448" y="2761488"/>
            <a:ext cx="2788920" cy="274320"/>
          </a:xfrm>
          <a:prstGeom prst="rect">
            <a:avLst/>
          </a:prstGeom>
          <a:noFill/>
        </p:spPr>
        <p:txBody>
          <a:bodyPr wrap="square">
            <a:spAutoFit/>
          </a:bodyPr>
          <a:lstStyle/>
          <a:p>
            <a:pPr algn="l"/>
            <a:r>
              <a:rPr sz="1000" b="0" i="0">
                <a:solidFill>
                  <a:srgbClr val="546E7A"/>
                </a:solidFill>
                <a:latin typeface="Calibri"/>
              </a:rPr>
              <a:t>HRRR · GridMET · RTMA</a:t>
            </a:r>
          </a:p>
        </p:txBody>
      </p:sp>
      <p:sp>
        <p:nvSpPr>
          <p:cNvPr id="27" name="Rectangle 26"/>
          <p:cNvSpPr/>
          <p:nvPr/>
        </p:nvSpPr>
        <p:spPr>
          <a:xfrm>
            <a:off x="5577840" y="3255264"/>
            <a:ext cx="3200400" cy="69494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577840" y="3255264"/>
            <a:ext cx="182880" cy="694944"/>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5870448" y="3310128"/>
            <a:ext cx="2788920" cy="256032"/>
          </a:xfrm>
          <a:prstGeom prst="rect">
            <a:avLst/>
          </a:prstGeom>
          <a:noFill/>
        </p:spPr>
        <p:txBody>
          <a:bodyPr wrap="square">
            <a:spAutoFit/>
          </a:bodyPr>
          <a:lstStyle/>
          <a:p>
            <a:pPr algn="l"/>
            <a:r>
              <a:rPr sz="1100" b="1" i="0">
                <a:solidFill>
                  <a:srgbClr val="52B788"/>
                </a:solidFill>
                <a:latin typeface="Courier New"/>
              </a:rPr>
              <a:t>spread/</a:t>
            </a:r>
          </a:p>
        </p:txBody>
      </p:sp>
      <p:sp>
        <p:nvSpPr>
          <p:cNvPr id="30" name="TextBox 29"/>
          <p:cNvSpPr txBox="1"/>
          <p:nvPr/>
        </p:nvSpPr>
        <p:spPr>
          <a:xfrm>
            <a:off x="5870448" y="3584448"/>
            <a:ext cx="2788920" cy="274320"/>
          </a:xfrm>
          <a:prstGeom prst="rect">
            <a:avLst/>
          </a:prstGeom>
          <a:noFill/>
        </p:spPr>
        <p:txBody>
          <a:bodyPr wrap="square">
            <a:spAutoFit/>
          </a:bodyPr>
          <a:lstStyle/>
          <a:p>
            <a:pPr algn="l"/>
            <a:r>
              <a:rPr sz="1000" b="0" i="0">
                <a:solidFill>
                  <a:srgbClr val="546E7A"/>
                </a:solidFill>
                <a:latin typeface="Calibri"/>
              </a:rPr>
              <a:t>Burn probability · Perimeters</a:t>
            </a:r>
          </a:p>
        </p:txBody>
      </p:sp>
      <p:sp>
        <p:nvSpPr>
          <p:cNvPr id="31" name="Rectangle 30"/>
          <p:cNvSpPr/>
          <p:nvPr/>
        </p:nvSpPr>
        <p:spPr>
          <a:xfrm>
            <a:off x="5577840" y="4078224"/>
            <a:ext cx="3200400" cy="69494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5577840" y="4078224"/>
            <a:ext cx="182880" cy="694944"/>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870448" y="4133087"/>
            <a:ext cx="2788920" cy="256032"/>
          </a:xfrm>
          <a:prstGeom prst="rect">
            <a:avLst/>
          </a:prstGeom>
          <a:noFill/>
        </p:spPr>
        <p:txBody>
          <a:bodyPr wrap="square">
            <a:spAutoFit/>
          </a:bodyPr>
          <a:lstStyle/>
          <a:p>
            <a:pPr algn="l"/>
            <a:r>
              <a:rPr sz="1100" b="1" i="0">
                <a:solidFill>
                  <a:srgbClr val="6D4C41"/>
                </a:solidFill>
                <a:latin typeface="Courier New"/>
              </a:rPr>
              <a:t>suppression/</a:t>
            </a:r>
          </a:p>
        </p:txBody>
      </p:sp>
      <p:sp>
        <p:nvSpPr>
          <p:cNvPr id="34" name="TextBox 33"/>
          <p:cNvSpPr txBox="1"/>
          <p:nvPr/>
        </p:nvSpPr>
        <p:spPr>
          <a:xfrm>
            <a:off x="5870448" y="4407408"/>
            <a:ext cx="2788920" cy="274320"/>
          </a:xfrm>
          <a:prstGeom prst="rect">
            <a:avLst/>
          </a:prstGeom>
          <a:noFill/>
        </p:spPr>
        <p:txBody>
          <a:bodyPr wrap="square">
            <a:spAutoFit/>
          </a:bodyPr>
          <a:lstStyle/>
          <a:p>
            <a:pPr algn="l"/>
            <a:r>
              <a:rPr sz="1000" b="0" i="0">
                <a:solidFill>
                  <a:srgbClr val="546E7A"/>
                </a:solidFill>
                <a:latin typeface="Calibri"/>
              </a:rPr>
              <a:t>SDI</a:t>
            </a:r>
          </a:p>
        </p:txBody>
      </p:sp>
      <p:sp>
        <p:nvSpPr>
          <p:cNvPr id="38" name="Oval 37">
            <a:extLst>
              <a:ext uri="{FF2B5EF4-FFF2-40B4-BE49-F238E27FC236}">
                <a16:creationId xmlns:a16="http://schemas.microsoft.com/office/drawing/2014/main" id="{A70E52D3-3822-4668-D3E6-C9868024D6B6}"/>
              </a:ext>
            </a:extLst>
          </p:cNvPr>
          <p:cNvSpPr/>
          <p:nvPr/>
        </p:nvSpPr>
        <p:spPr>
          <a:xfrm>
            <a:off x="306324" y="4273814"/>
            <a:ext cx="347472" cy="347472"/>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300" b="1" dirty="0">
                <a:solidFill>
                  <a:srgbClr val="FFFFFF"/>
                </a:solidFill>
                <a:latin typeface="Calibri"/>
              </a:rPr>
              <a:t>5</a:t>
            </a:r>
            <a:endParaRPr sz="1300" b="1" i="0" dirty="0">
              <a:solidFill>
                <a:srgbClr val="FFFFFF"/>
              </a:solidFill>
              <a:latin typeface="Calibri"/>
            </a:endParaRPr>
          </a:p>
        </p:txBody>
      </p:sp>
      <p:sp>
        <p:nvSpPr>
          <p:cNvPr id="39" name="TextBox 38">
            <a:extLst>
              <a:ext uri="{FF2B5EF4-FFF2-40B4-BE49-F238E27FC236}">
                <a16:creationId xmlns:a16="http://schemas.microsoft.com/office/drawing/2014/main" id="{11B95863-472D-F248-7588-808B5C00688B}"/>
              </a:ext>
            </a:extLst>
          </p:cNvPr>
          <p:cNvSpPr txBox="1"/>
          <p:nvPr/>
        </p:nvSpPr>
        <p:spPr>
          <a:xfrm>
            <a:off x="790956" y="4218950"/>
            <a:ext cx="4343400" cy="307777"/>
          </a:xfrm>
          <a:prstGeom prst="rect">
            <a:avLst/>
          </a:prstGeom>
          <a:noFill/>
        </p:spPr>
        <p:txBody>
          <a:bodyPr wrap="square">
            <a:spAutoFit/>
          </a:bodyPr>
          <a:lstStyle/>
          <a:p>
            <a:pPr algn="l"/>
            <a:r>
              <a:rPr lang="en-US" sz="1400" b="1" i="0" dirty="0">
                <a:solidFill>
                  <a:srgbClr val="1A1A2E"/>
                </a:solidFill>
                <a:latin typeface="Calibri"/>
              </a:rPr>
              <a:t>Flexible</a:t>
            </a:r>
            <a:endParaRPr sz="1400" b="1" i="0" dirty="0">
              <a:solidFill>
                <a:srgbClr val="1A1A2E"/>
              </a:solidFill>
              <a:latin typeface="Calibri"/>
            </a:endParaRPr>
          </a:p>
        </p:txBody>
      </p:sp>
      <p:sp>
        <p:nvSpPr>
          <p:cNvPr id="40" name="TextBox 39">
            <a:extLst>
              <a:ext uri="{FF2B5EF4-FFF2-40B4-BE49-F238E27FC236}">
                <a16:creationId xmlns:a16="http://schemas.microsoft.com/office/drawing/2014/main" id="{15100170-709C-64C0-AA99-08F9B33730BD}"/>
              </a:ext>
            </a:extLst>
          </p:cNvPr>
          <p:cNvSpPr txBox="1"/>
          <p:nvPr/>
        </p:nvSpPr>
        <p:spPr>
          <a:xfrm>
            <a:off x="790956" y="4511558"/>
            <a:ext cx="4343400" cy="430887"/>
          </a:xfrm>
          <a:prstGeom prst="rect">
            <a:avLst/>
          </a:prstGeom>
          <a:noFill/>
        </p:spPr>
        <p:txBody>
          <a:bodyPr wrap="square">
            <a:spAutoFit/>
          </a:bodyPr>
          <a:lstStyle/>
          <a:p>
            <a:pPr algn="l"/>
            <a:r>
              <a:rPr lang="en-US" sz="1100" b="0" i="0" dirty="0">
                <a:solidFill>
                  <a:srgbClr val="546E7A"/>
                </a:solidFill>
                <a:latin typeface="Calibri"/>
              </a:rPr>
              <a:t>Integration of other models, data acquisitions, weather summaries, external libraries (e.g., </a:t>
            </a:r>
            <a:r>
              <a:rPr lang="en-US" sz="1100" b="0" i="0" dirty="0" err="1">
                <a:solidFill>
                  <a:srgbClr val="546E7A"/>
                </a:solidFill>
                <a:latin typeface="Calibri"/>
              </a:rPr>
              <a:t>rastertools</a:t>
            </a:r>
            <a:r>
              <a:rPr lang="en-US" sz="1100" b="0" i="0" dirty="0">
                <a:solidFill>
                  <a:srgbClr val="546E7A"/>
                </a:solidFill>
                <a:latin typeface="Calibri"/>
              </a:rPr>
              <a:t>), cloud-compute / batch analysis</a:t>
            </a:r>
            <a:endParaRPr sz="1100" b="0" i="0" dirty="0">
              <a:solidFill>
                <a:srgbClr val="546E7A"/>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164592"/>
            <a:ext cx="8412480" cy="492443"/>
          </a:xfrm>
          <a:prstGeom prst="rect">
            <a:avLst/>
          </a:prstGeom>
          <a:noFill/>
        </p:spPr>
        <p:txBody>
          <a:bodyPr wrap="square">
            <a:spAutoFit/>
          </a:bodyPr>
          <a:lstStyle/>
          <a:p>
            <a:pPr algn="l"/>
            <a:r>
              <a:rPr sz="2600" b="1" i="0" dirty="0">
                <a:solidFill>
                  <a:srgbClr val="1A1A2E"/>
                </a:solidFill>
                <a:latin typeface="Calibri"/>
              </a:rPr>
              <a:t>Workflow</a:t>
            </a:r>
            <a:r>
              <a:rPr lang="en-US" sz="2600" b="1" i="0" dirty="0">
                <a:solidFill>
                  <a:srgbClr val="1A1A2E"/>
                </a:solidFill>
                <a:latin typeface="Calibri"/>
              </a:rPr>
              <a:t>s</a:t>
            </a:r>
            <a:r>
              <a:rPr sz="2600" b="1" i="0" dirty="0">
                <a:solidFill>
                  <a:srgbClr val="1A1A2E"/>
                </a:solidFill>
                <a:latin typeface="Calibri"/>
              </a:rPr>
              <a:t> Overview</a:t>
            </a:r>
          </a:p>
        </p:txBody>
      </p:sp>
      <p:sp>
        <p:nvSpPr>
          <p:cNvPr id="3" name="TextBox 2"/>
          <p:cNvSpPr txBox="1"/>
          <p:nvPr/>
        </p:nvSpPr>
        <p:spPr>
          <a:xfrm>
            <a:off x="201168" y="749808"/>
            <a:ext cx="2423160" cy="237744"/>
          </a:xfrm>
          <a:prstGeom prst="rect">
            <a:avLst/>
          </a:prstGeom>
          <a:noFill/>
        </p:spPr>
        <p:txBody>
          <a:bodyPr wrap="square">
            <a:spAutoFit/>
          </a:bodyPr>
          <a:lstStyle/>
          <a:p>
            <a:pPr algn="ctr"/>
            <a:r>
              <a:rPr sz="900" b="1" i="0" dirty="0">
                <a:solidFill>
                  <a:srgbClr val="2C6E49"/>
                </a:solidFill>
                <a:latin typeface="Calibri"/>
              </a:rPr>
              <a:t>INPUTS</a:t>
            </a:r>
            <a:r>
              <a:rPr lang="en-US" sz="900" b="1" i="0" dirty="0">
                <a:solidFill>
                  <a:srgbClr val="2C6E49"/>
                </a:solidFill>
                <a:latin typeface="Calibri"/>
              </a:rPr>
              <a:t> / ACQUISITION</a:t>
            </a:r>
            <a:endParaRPr sz="900" b="1" i="0" dirty="0">
              <a:solidFill>
                <a:srgbClr val="2C6E49"/>
              </a:solidFill>
              <a:latin typeface="Calibri"/>
            </a:endParaRPr>
          </a:p>
        </p:txBody>
      </p:sp>
      <p:sp>
        <p:nvSpPr>
          <p:cNvPr id="4" name="Rectangle 3"/>
          <p:cNvSpPr/>
          <p:nvPr/>
        </p:nvSpPr>
        <p:spPr>
          <a:xfrm>
            <a:off x="201168" y="969264"/>
            <a:ext cx="2423160" cy="3154680"/>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364992" y="749808"/>
            <a:ext cx="2423160" cy="237744"/>
          </a:xfrm>
          <a:prstGeom prst="rect">
            <a:avLst/>
          </a:prstGeom>
          <a:noFill/>
        </p:spPr>
        <p:txBody>
          <a:bodyPr wrap="square">
            <a:spAutoFit/>
          </a:bodyPr>
          <a:lstStyle/>
          <a:p>
            <a:pPr algn="ctr"/>
            <a:r>
              <a:rPr sz="900" b="1" i="0">
                <a:solidFill>
                  <a:srgbClr val="1B6CA8"/>
                </a:solidFill>
                <a:latin typeface="Calibri"/>
              </a:rPr>
              <a:t>MODELS</a:t>
            </a:r>
          </a:p>
        </p:txBody>
      </p:sp>
      <p:sp>
        <p:nvSpPr>
          <p:cNvPr id="6" name="Rectangle 5"/>
          <p:cNvSpPr/>
          <p:nvPr/>
        </p:nvSpPr>
        <p:spPr>
          <a:xfrm>
            <a:off x="3364992" y="969264"/>
            <a:ext cx="2423160" cy="3154680"/>
          </a:xfrm>
          <a:prstGeom prst="rect">
            <a:avLst/>
          </a:prstGeom>
          <a:solidFill>
            <a:srgbClr val="F5F7F8"/>
          </a:solidFill>
          <a:ln>
            <a:solidFill>
              <a:schemeClr val="tx1">
                <a:lumMod val="65000"/>
                <a:lumOff val="35000"/>
              </a:schemeClr>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492240" y="749808"/>
            <a:ext cx="2423160" cy="237744"/>
          </a:xfrm>
          <a:prstGeom prst="rect">
            <a:avLst/>
          </a:prstGeom>
          <a:noFill/>
        </p:spPr>
        <p:txBody>
          <a:bodyPr wrap="square">
            <a:spAutoFit/>
          </a:bodyPr>
          <a:lstStyle/>
          <a:p>
            <a:pPr algn="ctr"/>
            <a:r>
              <a:rPr sz="900" b="1" i="0" dirty="0">
                <a:solidFill>
                  <a:srgbClr val="D4622A"/>
                </a:solidFill>
                <a:latin typeface="Calibri"/>
              </a:rPr>
              <a:t>OUTPUTS / ANALYSIS</a:t>
            </a:r>
          </a:p>
        </p:txBody>
      </p:sp>
      <p:sp>
        <p:nvSpPr>
          <p:cNvPr id="8" name="Rectangle 7"/>
          <p:cNvSpPr/>
          <p:nvPr/>
        </p:nvSpPr>
        <p:spPr>
          <a:xfrm>
            <a:off x="6492240" y="969264"/>
            <a:ext cx="2423160" cy="3154680"/>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20040" y="1060704"/>
            <a:ext cx="2194560" cy="41938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ECF0F1"/>
                </a:solidFill>
              </a:rPr>
              <a:t>LANDFIRE</a:t>
            </a:r>
          </a:p>
          <a:p>
            <a:pPr algn="ctr"/>
            <a:r>
              <a:rPr sz="800" i="1" dirty="0">
                <a:solidFill>
                  <a:srgbClr val="ECF0F1"/>
                </a:solidFill>
              </a:rPr>
              <a:t>fuelscape/</a:t>
            </a:r>
            <a:r>
              <a:rPr lang="en-US" sz="800" i="1" dirty="0" err="1">
                <a:solidFill>
                  <a:srgbClr val="ECF0F1"/>
                </a:solidFill>
              </a:rPr>
              <a:t>lfps.py</a:t>
            </a:r>
            <a:endParaRPr sz="800" i="1" dirty="0">
              <a:solidFill>
                <a:srgbClr val="ECF0F1"/>
              </a:solidFill>
            </a:endParaRPr>
          </a:p>
        </p:txBody>
      </p:sp>
      <p:sp>
        <p:nvSpPr>
          <p:cNvPr id="10" name="Rectangle 9"/>
          <p:cNvSpPr/>
          <p:nvPr/>
        </p:nvSpPr>
        <p:spPr>
          <a:xfrm>
            <a:off x="315468" y="1552076"/>
            <a:ext cx="2194560" cy="419384"/>
          </a:xfrm>
          <a:prstGeom prst="rect">
            <a:avLst/>
          </a:prstGeom>
          <a:solidFill>
            <a:srgbClr val="D6E8F7"/>
          </a:solidFill>
          <a:ln>
            <a:solidFill>
              <a:srgbClr val="D6E8F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rgbClr val="1A1A2E"/>
                </a:solidFill>
              </a:rPr>
              <a:t>NOAA </a:t>
            </a:r>
            <a:r>
              <a:rPr sz="1000" b="1" dirty="0">
                <a:solidFill>
                  <a:srgbClr val="1A1A2E"/>
                </a:solidFill>
              </a:rPr>
              <a:t>HRRR Winds</a:t>
            </a:r>
          </a:p>
          <a:p>
            <a:pPr algn="ctr"/>
            <a:r>
              <a:rPr sz="800" i="1" dirty="0">
                <a:solidFill>
                  <a:srgbClr val="546E7A"/>
                </a:solidFill>
              </a:rPr>
              <a:t>weather/</a:t>
            </a:r>
            <a:r>
              <a:rPr sz="800" i="1" dirty="0" err="1">
                <a:solidFill>
                  <a:srgbClr val="546E7A"/>
                </a:solidFill>
              </a:rPr>
              <a:t>hrrr.py</a:t>
            </a:r>
            <a:endParaRPr sz="800" i="1" dirty="0">
              <a:solidFill>
                <a:srgbClr val="546E7A"/>
              </a:solidFill>
            </a:endParaRPr>
          </a:p>
        </p:txBody>
      </p:sp>
      <p:sp>
        <p:nvSpPr>
          <p:cNvPr id="11" name="Rectangle 10"/>
          <p:cNvSpPr/>
          <p:nvPr/>
        </p:nvSpPr>
        <p:spPr>
          <a:xfrm>
            <a:off x="315468" y="2043448"/>
            <a:ext cx="2194560" cy="419384"/>
          </a:xfrm>
          <a:prstGeom prst="rect">
            <a:avLst/>
          </a:prstGeom>
          <a:solidFill>
            <a:srgbClr val="D6E8F7"/>
          </a:solidFill>
          <a:ln>
            <a:solidFill>
              <a:srgbClr val="D6E8F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1A1A2E"/>
                </a:solidFill>
              </a:rPr>
              <a:t>GridMET ERC</a:t>
            </a:r>
            <a:r>
              <a:rPr lang="en-US" sz="1000" b="1" dirty="0">
                <a:solidFill>
                  <a:srgbClr val="1A1A2E"/>
                </a:solidFill>
              </a:rPr>
              <a:t> +</a:t>
            </a:r>
            <a:endParaRPr sz="1000" b="1" dirty="0">
              <a:solidFill>
                <a:srgbClr val="1A1A2E"/>
              </a:solidFill>
            </a:endParaRPr>
          </a:p>
          <a:p>
            <a:pPr algn="ctr"/>
            <a:r>
              <a:rPr sz="800" i="1" dirty="0">
                <a:solidFill>
                  <a:srgbClr val="546E7A"/>
                </a:solidFill>
              </a:rPr>
              <a:t>weather/</a:t>
            </a:r>
            <a:r>
              <a:rPr sz="800" i="1" dirty="0" err="1">
                <a:solidFill>
                  <a:srgbClr val="546E7A"/>
                </a:solidFill>
              </a:rPr>
              <a:t>gridmet.py</a:t>
            </a:r>
            <a:endParaRPr sz="800" i="1" dirty="0">
              <a:solidFill>
                <a:srgbClr val="546E7A"/>
              </a:solidFill>
            </a:endParaRPr>
          </a:p>
        </p:txBody>
      </p:sp>
      <p:sp>
        <p:nvSpPr>
          <p:cNvPr id="12" name="Rectangle 11"/>
          <p:cNvSpPr/>
          <p:nvPr/>
        </p:nvSpPr>
        <p:spPr>
          <a:xfrm>
            <a:off x="315468" y="2531145"/>
            <a:ext cx="2194560" cy="419384"/>
          </a:xfrm>
          <a:prstGeom prst="rect">
            <a:avLst/>
          </a:prstGeom>
          <a:solidFill>
            <a:srgbClr val="FDE9D6"/>
          </a:solidFill>
          <a:ln>
            <a:solidFill>
              <a:srgbClr val="FDE9D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dirty="0">
                <a:solidFill>
                  <a:srgbClr val="1A1A2E"/>
                </a:solidFill>
              </a:rPr>
              <a:t>RTMA Fuel Moisture</a:t>
            </a:r>
            <a:r>
              <a:rPr lang="en-US" sz="1000" b="1" dirty="0">
                <a:solidFill>
                  <a:srgbClr val="1A1A2E"/>
                </a:solidFill>
              </a:rPr>
              <a:t> +</a:t>
            </a:r>
            <a:endParaRPr sz="1000" b="1" dirty="0">
              <a:solidFill>
                <a:srgbClr val="1A1A2E"/>
              </a:solidFill>
            </a:endParaRPr>
          </a:p>
          <a:p>
            <a:pPr algn="ctr"/>
            <a:r>
              <a:rPr sz="800" i="1" dirty="0">
                <a:solidFill>
                  <a:srgbClr val="546E7A"/>
                </a:solidFill>
              </a:rPr>
              <a:t>weather/</a:t>
            </a:r>
            <a:r>
              <a:rPr sz="800" i="1" dirty="0" err="1">
                <a:solidFill>
                  <a:srgbClr val="546E7A"/>
                </a:solidFill>
              </a:rPr>
              <a:t>rtma.py</a:t>
            </a:r>
            <a:endParaRPr sz="800" i="1" dirty="0">
              <a:solidFill>
                <a:srgbClr val="546E7A"/>
              </a:solidFill>
            </a:endParaRPr>
          </a:p>
        </p:txBody>
      </p:sp>
      <p:cxnSp>
        <p:nvCxnSpPr>
          <p:cNvPr id="13" name="Connector 12"/>
          <p:cNvCxnSpPr/>
          <p:nvPr/>
        </p:nvCxnSpPr>
        <p:spPr>
          <a:xfrm>
            <a:off x="2651760" y="2176272"/>
            <a:ext cx="621792" cy="0"/>
          </a:xfrm>
          <a:prstGeom prst="line">
            <a:avLst/>
          </a:prstGeom>
          <a:ln w="19050">
            <a:solidFill>
              <a:srgbClr val="90A4AE"/>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897880" y="2176272"/>
            <a:ext cx="621792" cy="0"/>
          </a:xfrm>
          <a:prstGeom prst="line">
            <a:avLst/>
          </a:prstGeom>
          <a:ln w="19050">
            <a:solidFill>
              <a:srgbClr val="90A4AE"/>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3493008" y="1060704"/>
            <a:ext cx="2194560" cy="419384"/>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a:solidFill>
                  <a:srgbClr val="ECF0F1"/>
                </a:solidFill>
              </a:rPr>
              <a:t>FlamMap</a:t>
            </a:r>
          </a:p>
          <a:p>
            <a:pPr algn="ctr"/>
            <a:r>
              <a:rPr sz="800" i="1">
                <a:solidFill>
                  <a:srgbClr val="ECF0F1"/>
                </a:solidFill>
              </a:rPr>
              <a:t>scenarios · batch</a:t>
            </a:r>
          </a:p>
        </p:txBody>
      </p:sp>
      <p:sp>
        <p:nvSpPr>
          <p:cNvPr id="16" name="Rectangle 15"/>
          <p:cNvSpPr/>
          <p:nvPr/>
        </p:nvSpPr>
        <p:spPr>
          <a:xfrm>
            <a:off x="3493007" y="1548048"/>
            <a:ext cx="2194560" cy="419384"/>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err="1">
                <a:solidFill>
                  <a:srgbClr val="ECF0F1"/>
                </a:solidFill>
              </a:rPr>
              <a:t>FSPro</a:t>
            </a:r>
            <a:r>
              <a:rPr sz="1100" b="1" dirty="0">
                <a:solidFill>
                  <a:srgbClr val="ECF0F1"/>
                </a:solidFill>
              </a:rPr>
              <a:t> / FSim</a:t>
            </a:r>
          </a:p>
          <a:p>
            <a:pPr algn="ctr"/>
            <a:r>
              <a:rPr sz="800" i="1" dirty="0">
                <a:solidFill>
                  <a:srgbClr val="ECF0F1"/>
                </a:solidFill>
              </a:rPr>
              <a:t>counterfactuals</a:t>
            </a:r>
          </a:p>
        </p:txBody>
      </p:sp>
      <p:sp>
        <p:nvSpPr>
          <p:cNvPr id="17" name="Rectangle 16"/>
          <p:cNvSpPr/>
          <p:nvPr/>
        </p:nvSpPr>
        <p:spPr>
          <a:xfrm>
            <a:off x="3493007" y="2032289"/>
            <a:ext cx="2194560" cy="419384"/>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dirty="0">
                <a:solidFill>
                  <a:srgbClr val="ECF0F1"/>
                </a:solidFill>
              </a:rPr>
              <a:t>MTT</a:t>
            </a:r>
          </a:p>
          <a:p>
            <a:pPr algn="ctr"/>
            <a:r>
              <a:rPr sz="800" i="1" dirty="0">
                <a:solidFill>
                  <a:srgbClr val="ECF0F1"/>
                </a:solidFill>
              </a:rPr>
              <a:t>batch runs</a:t>
            </a:r>
          </a:p>
        </p:txBody>
      </p:sp>
      <p:sp>
        <p:nvSpPr>
          <p:cNvPr id="19" name="Rectangle 18"/>
          <p:cNvSpPr/>
          <p:nvPr/>
        </p:nvSpPr>
        <p:spPr>
          <a:xfrm>
            <a:off x="6601968" y="1060704"/>
            <a:ext cx="2212848" cy="419384"/>
          </a:xfrm>
          <a:prstGeom prst="rect">
            <a:avLst/>
          </a:prstGeom>
          <a:solidFill>
            <a:srgbClr val="D8F3DC"/>
          </a:solidFill>
          <a:ln>
            <a:solidFill>
              <a:srgbClr val="D8F3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A1A2E"/>
                </a:solidFill>
              </a:rPr>
              <a:t>Burn Probability</a:t>
            </a:r>
          </a:p>
          <a:p>
            <a:pPr algn="ctr"/>
            <a:r>
              <a:rPr sz="800" i="1">
                <a:solidFill>
                  <a:srgbClr val="546E7A"/>
                </a:solidFill>
              </a:rPr>
              <a:t>spread/bp.py</a:t>
            </a:r>
          </a:p>
        </p:txBody>
      </p:sp>
      <p:sp>
        <p:nvSpPr>
          <p:cNvPr id="20" name="Rectangle 19"/>
          <p:cNvSpPr/>
          <p:nvPr/>
        </p:nvSpPr>
        <p:spPr>
          <a:xfrm>
            <a:off x="6597396" y="1554993"/>
            <a:ext cx="2212848" cy="419384"/>
          </a:xfrm>
          <a:prstGeom prst="rect">
            <a:avLst/>
          </a:prstGeom>
          <a:solidFill>
            <a:srgbClr val="D8F3DC"/>
          </a:solidFill>
          <a:ln>
            <a:solidFill>
              <a:srgbClr val="D8F3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rgbClr val="1A1A2E"/>
                </a:solidFill>
              </a:rPr>
              <a:t>Event Sets</a:t>
            </a:r>
            <a:endParaRPr sz="1000" b="1" dirty="0">
              <a:solidFill>
                <a:srgbClr val="1A1A2E"/>
              </a:solidFill>
            </a:endParaRPr>
          </a:p>
          <a:p>
            <a:pPr algn="ctr"/>
            <a:r>
              <a:rPr sz="800" i="1" dirty="0">
                <a:solidFill>
                  <a:srgbClr val="546E7A"/>
                </a:solidFill>
              </a:rPr>
              <a:t>spread/</a:t>
            </a:r>
            <a:r>
              <a:rPr sz="800" i="1" dirty="0" err="1">
                <a:solidFill>
                  <a:srgbClr val="546E7A"/>
                </a:solidFill>
              </a:rPr>
              <a:t>perimeters.py</a:t>
            </a:r>
            <a:endParaRPr sz="800" i="1" dirty="0">
              <a:solidFill>
                <a:srgbClr val="546E7A"/>
              </a:solidFill>
            </a:endParaRPr>
          </a:p>
        </p:txBody>
      </p:sp>
      <p:sp>
        <p:nvSpPr>
          <p:cNvPr id="21" name="Rectangle 20"/>
          <p:cNvSpPr/>
          <p:nvPr/>
        </p:nvSpPr>
        <p:spPr>
          <a:xfrm>
            <a:off x="6597396" y="2064121"/>
            <a:ext cx="2212848" cy="416209"/>
          </a:xfrm>
          <a:prstGeom prst="rect">
            <a:avLst/>
          </a:prstGeom>
          <a:solidFill>
            <a:srgbClr val="D8F3DC"/>
          </a:solidFill>
          <a:ln>
            <a:solidFill>
              <a:srgbClr val="D8F3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rgbClr val="1A1A2E"/>
                </a:solidFill>
              </a:rPr>
              <a:t>Suppression Difficulty Index</a:t>
            </a:r>
            <a:endParaRPr sz="1000" b="1" dirty="0">
              <a:solidFill>
                <a:srgbClr val="1A1A2E"/>
              </a:solidFill>
            </a:endParaRPr>
          </a:p>
          <a:p>
            <a:pPr algn="ctr"/>
            <a:r>
              <a:rPr sz="800" i="1" dirty="0">
                <a:solidFill>
                  <a:srgbClr val="546E7A"/>
                </a:solidFill>
              </a:rPr>
              <a:t>suppression/</a:t>
            </a:r>
            <a:r>
              <a:rPr sz="800" i="1" dirty="0" err="1">
                <a:solidFill>
                  <a:srgbClr val="546E7A"/>
                </a:solidFill>
              </a:rPr>
              <a:t>sdi.py</a:t>
            </a:r>
            <a:endParaRPr sz="800" i="1" dirty="0">
              <a:solidFill>
                <a:srgbClr val="546E7A"/>
              </a:solidFill>
            </a:endParaRPr>
          </a:p>
        </p:txBody>
      </p:sp>
      <p:sp>
        <p:nvSpPr>
          <p:cNvPr id="22" name="Rectangle 21"/>
          <p:cNvSpPr/>
          <p:nvPr/>
        </p:nvSpPr>
        <p:spPr>
          <a:xfrm>
            <a:off x="6597396" y="2571134"/>
            <a:ext cx="2212848" cy="416209"/>
          </a:xfrm>
          <a:prstGeom prst="rect">
            <a:avLst/>
          </a:prstGeom>
          <a:solidFill>
            <a:srgbClr val="D8F3DC"/>
          </a:solidFill>
          <a:ln>
            <a:solidFill>
              <a:srgbClr val="D8F3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a:solidFill>
                  <a:srgbClr val="1A1A2E"/>
                </a:solidFill>
              </a:rPr>
              <a:t>Zonal Statistics</a:t>
            </a:r>
          </a:p>
          <a:p>
            <a:pPr algn="ctr"/>
            <a:r>
              <a:rPr sz="800" i="1">
                <a:solidFill>
                  <a:srgbClr val="546E7A"/>
                </a:solidFill>
              </a:rPr>
              <a:t>analysis/zonal.py</a:t>
            </a:r>
          </a:p>
        </p:txBody>
      </p:sp>
      <p:sp>
        <p:nvSpPr>
          <p:cNvPr id="23" name="Rectangle 22"/>
          <p:cNvSpPr/>
          <p:nvPr/>
        </p:nvSpPr>
        <p:spPr>
          <a:xfrm>
            <a:off x="201168" y="4389120"/>
            <a:ext cx="8741664" cy="566928"/>
          </a:xfrm>
          <a:prstGeom prst="rect">
            <a:avLst/>
          </a:prstGeom>
          <a:solidFill>
            <a:srgbClr val="ECEFF1"/>
          </a:solidFill>
          <a:ln>
            <a:solidFill>
              <a:srgbClr val="DEE2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15468" y="4428563"/>
            <a:ext cx="854654" cy="461665"/>
          </a:xfrm>
          <a:prstGeom prst="rect">
            <a:avLst/>
          </a:prstGeom>
          <a:noFill/>
        </p:spPr>
        <p:txBody>
          <a:bodyPr wrap="square">
            <a:spAutoFit/>
          </a:bodyPr>
          <a:lstStyle/>
          <a:p>
            <a:pPr algn="l"/>
            <a:r>
              <a:rPr lang="en-US" sz="800" b="1" i="0" dirty="0">
                <a:solidFill>
                  <a:srgbClr val="90A4AE"/>
                </a:solidFill>
                <a:latin typeface="Calibri"/>
              </a:rPr>
              <a:t>Other not-yet-implemented (for example)</a:t>
            </a:r>
            <a:endParaRPr sz="800" b="1" i="0" dirty="0">
              <a:solidFill>
                <a:srgbClr val="90A4AE"/>
              </a:solidFill>
              <a:latin typeface="Calibri"/>
            </a:endParaRPr>
          </a:p>
        </p:txBody>
      </p:sp>
      <p:sp>
        <p:nvSpPr>
          <p:cNvPr id="25" name="Rectangle 24"/>
          <p:cNvSpPr/>
          <p:nvPr/>
        </p:nvSpPr>
        <p:spPr>
          <a:xfrm>
            <a:off x="3493007" y="2516530"/>
            <a:ext cx="2194560" cy="438912"/>
          </a:xfrm>
          <a:prstGeom prst="rect">
            <a:avLst/>
          </a:prstGeom>
          <a:solidFill>
            <a:srgbClr val="ECEFF1"/>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0" i="1" dirty="0">
                <a:solidFill>
                  <a:srgbClr val="90A4AE"/>
                </a:solidFill>
                <a:latin typeface="Calibri"/>
              </a:rPr>
              <a:t>Cell2Fire</a:t>
            </a:r>
          </a:p>
        </p:txBody>
      </p:sp>
      <p:sp>
        <p:nvSpPr>
          <p:cNvPr id="26" name="Rectangle 25"/>
          <p:cNvSpPr/>
          <p:nvPr/>
        </p:nvSpPr>
        <p:spPr>
          <a:xfrm>
            <a:off x="3493008" y="3043907"/>
            <a:ext cx="2194559" cy="438912"/>
          </a:xfrm>
          <a:prstGeom prst="rect">
            <a:avLst/>
          </a:prstGeom>
          <a:solidFill>
            <a:srgbClr val="ECEFF1"/>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0" i="1" dirty="0" err="1">
                <a:solidFill>
                  <a:srgbClr val="90A4AE"/>
                </a:solidFill>
                <a:latin typeface="Calibri"/>
              </a:rPr>
              <a:t>WindNinja</a:t>
            </a:r>
            <a:endParaRPr sz="1000" b="0" i="1" dirty="0">
              <a:solidFill>
                <a:srgbClr val="90A4AE"/>
              </a:solidFill>
              <a:latin typeface="Calibri"/>
            </a:endParaRPr>
          </a:p>
        </p:txBody>
      </p:sp>
      <p:sp>
        <p:nvSpPr>
          <p:cNvPr id="27" name="Rectangle 26"/>
          <p:cNvSpPr/>
          <p:nvPr/>
        </p:nvSpPr>
        <p:spPr>
          <a:xfrm>
            <a:off x="5809099" y="4449527"/>
            <a:ext cx="1324589" cy="438912"/>
          </a:xfrm>
          <a:prstGeom prst="rect">
            <a:avLst/>
          </a:prstGeom>
          <a:solidFill>
            <a:srgbClr val="ECEFF1"/>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0" i="1" dirty="0">
                <a:solidFill>
                  <a:srgbClr val="90A4AE"/>
                </a:solidFill>
                <a:latin typeface="Calibri"/>
              </a:rPr>
              <a:t>End-to-end test suite</a:t>
            </a:r>
            <a:r>
              <a:rPr lang="en-US" sz="1000" b="0" i="1" dirty="0">
                <a:solidFill>
                  <a:srgbClr val="90A4AE"/>
                </a:solidFill>
                <a:latin typeface="Calibri"/>
              </a:rPr>
              <a:t> / training notebooks</a:t>
            </a:r>
            <a:endParaRPr sz="1000" b="0" i="1" dirty="0">
              <a:solidFill>
                <a:srgbClr val="90A4AE"/>
              </a:solidFill>
              <a:latin typeface="Calibri"/>
            </a:endParaRPr>
          </a:p>
        </p:txBody>
      </p:sp>
      <p:sp>
        <p:nvSpPr>
          <p:cNvPr id="29" name="Rectangle 28">
            <a:extLst>
              <a:ext uri="{FF2B5EF4-FFF2-40B4-BE49-F238E27FC236}">
                <a16:creationId xmlns:a16="http://schemas.microsoft.com/office/drawing/2014/main" id="{CEB08327-0080-687F-F24F-555F26C6C844}"/>
              </a:ext>
            </a:extLst>
          </p:cNvPr>
          <p:cNvSpPr/>
          <p:nvPr/>
        </p:nvSpPr>
        <p:spPr>
          <a:xfrm>
            <a:off x="315468" y="3517728"/>
            <a:ext cx="2194560" cy="419384"/>
          </a:xfrm>
          <a:prstGeom prst="rect">
            <a:avLst/>
          </a:prstGeom>
          <a:solidFill>
            <a:schemeClr val="accent6">
              <a:lumMod val="60000"/>
              <a:lumOff val="40000"/>
            </a:schemeClr>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dirty="0">
                <a:solidFill>
                  <a:sysClr val="windowText" lastClr="000000"/>
                </a:solidFill>
              </a:rPr>
              <a:t>ArcGIS REST Services</a:t>
            </a:r>
            <a:endParaRPr sz="1100" b="1" dirty="0">
              <a:solidFill>
                <a:sysClr val="windowText" lastClr="000000"/>
              </a:solidFill>
            </a:endParaRPr>
          </a:p>
          <a:p>
            <a:pPr algn="ctr"/>
            <a:r>
              <a:rPr lang="en-US" sz="800" i="1" dirty="0">
                <a:solidFill>
                  <a:sysClr val="windowText" lastClr="000000"/>
                </a:solidFill>
              </a:rPr>
              <a:t>utils</a:t>
            </a:r>
            <a:r>
              <a:rPr sz="800" i="1" dirty="0">
                <a:solidFill>
                  <a:sysClr val="windowText" lastClr="000000"/>
                </a:solidFill>
              </a:rPr>
              <a:t>/</a:t>
            </a:r>
            <a:r>
              <a:rPr lang="en-US" sz="800" i="1" dirty="0" err="1">
                <a:solidFill>
                  <a:sysClr val="windowText" lastClr="000000"/>
                </a:solidFill>
              </a:rPr>
              <a:t>rest_api</a:t>
            </a:r>
            <a:endParaRPr sz="800" i="1" dirty="0">
              <a:solidFill>
                <a:sysClr val="windowText" lastClr="000000"/>
              </a:solidFill>
            </a:endParaRPr>
          </a:p>
        </p:txBody>
      </p:sp>
      <p:sp>
        <p:nvSpPr>
          <p:cNvPr id="30" name="Rectangle 29">
            <a:extLst>
              <a:ext uri="{FF2B5EF4-FFF2-40B4-BE49-F238E27FC236}">
                <a16:creationId xmlns:a16="http://schemas.microsoft.com/office/drawing/2014/main" id="{B1AF1B4D-4D03-A6F2-D0CA-ED12BE81569B}"/>
              </a:ext>
            </a:extLst>
          </p:cNvPr>
          <p:cNvSpPr/>
          <p:nvPr/>
        </p:nvSpPr>
        <p:spPr>
          <a:xfrm>
            <a:off x="315468" y="3032825"/>
            <a:ext cx="2194560" cy="419384"/>
          </a:xfrm>
          <a:prstGeom prst="rect">
            <a:avLst/>
          </a:prstGeom>
          <a:solidFill>
            <a:schemeClr val="accent6">
              <a:lumMod val="60000"/>
              <a:lumOff val="40000"/>
            </a:schemeClr>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dirty="0">
                <a:solidFill>
                  <a:sysClr val="windowText" lastClr="000000"/>
                </a:solidFill>
              </a:rPr>
              <a:t>OpenStreetMap</a:t>
            </a:r>
            <a:endParaRPr sz="1100" b="1" dirty="0">
              <a:solidFill>
                <a:sysClr val="windowText" lastClr="000000"/>
              </a:solidFill>
            </a:endParaRPr>
          </a:p>
          <a:p>
            <a:pPr algn="ctr"/>
            <a:r>
              <a:rPr lang="en-US" sz="800" i="1" dirty="0">
                <a:solidFill>
                  <a:sysClr val="windowText" lastClr="000000"/>
                </a:solidFill>
              </a:rPr>
              <a:t>suppression</a:t>
            </a:r>
            <a:r>
              <a:rPr sz="800" i="1" dirty="0">
                <a:solidFill>
                  <a:sysClr val="windowText" lastClr="000000"/>
                </a:solidFill>
              </a:rPr>
              <a:t>/</a:t>
            </a:r>
            <a:r>
              <a:rPr lang="en-US" sz="800" i="1" dirty="0" err="1">
                <a:solidFill>
                  <a:sysClr val="windowText" lastClr="000000"/>
                </a:solidFill>
              </a:rPr>
              <a:t>roads.py</a:t>
            </a:r>
            <a:endParaRPr sz="800" i="1" dirty="0">
              <a:solidFill>
                <a:sysClr val="windowText" lastClr="000000"/>
              </a:solidFill>
            </a:endParaRPr>
          </a:p>
        </p:txBody>
      </p:sp>
      <p:sp>
        <p:nvSpPr>
          <p:cNvPr id="31" name="Rectangle 30">
            <a:extLst>
              <a:ext uri="{FF2B5EF4-FFF2-40B4-BE49-F238E27FC236}">
                <a16:creationId xmlns:a16="http://schemas.microsoft.com/office/drawing/2014/main" id="{A73E56D9-735C-AD88-1036-23A3443443C3}"/>
              </a:ext>
            </a:extLst>
          </p:cNvPr>
          <p:cNvSpPr/>
          <p:nvPr/>
        </p:nvSpPr>
        <p:spPr>
          <a:xfrm>
            <a:off x="6597396" y="3077087"/>
            <a:ext cx="2212848" cy="416209"/>
          </a:xfrm>
          <a:prstGeom prst="rect">
            <a:avLst/>
          </a:prstGeom>
          <a:solidFill>
            <a:srgbClr val="D8F3DC"/>
          </a:solidFill>
          <a:ln>
            <a:solidFill>
              <a:srgbClr val="D8F3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rgbClr val="1A1A2E"/>
                </a:solidFill>
              </a:rPr>
              <a:t>Geospatial Utilities</a:t>
            </a:r>
            <a:endParaRPr sz="1000" b="1" dirty="0">
              <a:solidFill>
                <a:srgbClr val="1A1A2E"/>
              </a:solidFill>
            </a:endParaRPr>
          </a:p>
          <a:p>
            <a:pPr algn="ctr"/>
            <a:r>
              <a:rPr lang="en-US" sz="800" i="1" dirty="0">
                <a:solidFill>
                  <a:srgbClr val="546E7A"/>
                </a:solidFill>
              </a:rPr>
              <a:t>utils/</a:t>
            </a:r>
            <a:r>
              <a:rPr lang="en-US" sz="800" i="1" dirty="0" err="1">
                <a:solidFill>
                  <a:srgbClr val="546E7A"/>
                </a:solidFill>
              </a:rPr>
              <a:t>geo.py</a:t>
            </a:r>
            <a:endParaRPr sz="800" i="1" dirty="0">
              <a:solidFill>
                <a:srgbClr val="546E7A"/>
              </a:solidFill>
            </a:endParaRPr>
          </a:p>
        </p:txBody>
      </p:sp>
      <p:sp>
        <p:nvSpPr>
          <p:cNvPr id="32" name="Rectangle 31">
            <a:extLst>
              <a:ext uri="{FF2B5EF4-FFF2-40B4-BE49-F238E27FC236}">
                <a16:creationId xmlns:a16="http://schemas.microsoft.com/office/drawing/2014/main" id="{24217C70-A1A7-E317-4ACB-C33AD774A5E2}"/>
              </a:ext>
            </a:extLst>
          </p:cNvPr>
          <p:cNvSpPr/>
          <p:nvPr/>
        </p:nvSpPr>
        <p:spPr>
          <a:xfrm>
            <a:off x="3493008" y="3580012"/>
            <a:ext cx="2194559" cy="438912"/>
          </a:xfrm>
          <a:prstGeom prst="rect">
            <a:avLst/>
          </a:prstGeom>
          <a:solidFill>
            <a:srgbClr val="ECEFF1"/>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0" i="1" dirty="0" err="1">
                <a:solidFill>
                  <a:srgbClr val="90A4AE"/>
                </a:solidFill>
                <a:latin typeface="Calibri"/>
              </a:rPr>
              <a:t>QuicFire</a:t>
            </a:r>
            <a:endParaRPr sz="1000" b="0" i="1" dirty="0">
              <a:solidFill>
                <a:srgbClr val="90A4AE"/>
              </a:solidFill>
              <a:latin typeface="Calibri"/>
            </a:endParaRPr>
          </a:p>
        </p:txBody>
      </p:sp>
      <p:sp>
        <p:nvSpPr>
          <p:cNvPr id="34" name="Rectangle 33">
            <a:extLst>
              <a:ext uri="{FF2B5EF4-FFF2-40B4-BE49-F238E27FC236}">
                <a16:creationId xmlns:a16="http://schemas.microsoft.com/office/drawing/2014/main" id="{0DCAFAEA-E8C0-0FB1-CDB5-484C15BA16A1}"/>
              </a:ext>
            </a:extLst>
          </p:cNvPr>
          <p:cNvSpPr/>
          <p:nvPr/>
        </p:nvSpPr>
        <p:spPr>
          <a:xfrm>
            <a:off x="6597396" y="3586754"/>
            <a:ext cx="2212848" cy="416209"/>
          </a:xfrm>
          <a:prstGeom prst="rect">
            <a:avLst/>
          </a:prstGeom>
          <a:solidFill>
            <a:srgbClr val="D8F3DC"/>
          </a:solidFill>
          <a:ln>
            <a:solidFill>
              <a:srgbClr val="D8F3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1" dirty="0">
                <a:solidFill>
                  <a:srgbClr val="1A1A2E"/>
                </a:solidFill>
              </a:rPr>
              <a:t>Plotting</a:t>
            </a:r>
            <a:endParaRPr sz="1000" b="1" dirty="0">
              <a:solidFill>
                <a:srgbClr val="1A1A2E"/>
              </a:solidFill>
            </a:endParaRPr>
          </a:p>
          <a:p>
            <a:pPr algn="ctr"/>
            <a:r>
              <a:rPr lang="en-US" sz="800" i="1" dirty="0">
                <a:solidFill>
                  <a:srgbClr val="546E7A"/>
                </a:solidFill>
              </a:rPr>
              <a:t>utils/</a:t>
            </a:r>
            <a:r>
              <a:rPr lang="en-US" sz="800" i="1" dirty="0" err="1">
                <a:solidFill>
                  <a:srgbClr val="546E7A"/>
                </a:solidFill>
              </a:rPr>
              <a:t>plot.py</a:t>
            </a:r>
            <a:r>
              <a:rPr lang="en-US" sz="800" i="1" dirty="0">
                <a:solidFill>
                  <a:srgbClr val="546E7A"/>
                </a:solidFill>
              </a:rPr>
              <a:t> + plotting/</a:t>
            </a:r>
            <a:endParaRPr sz="800" i="1" dirty="0">
              <a:solidFill>
                <a:srgbClr val="546E7A"/>
              </a:solidFill>
            </a:endParaRPr>
          </a:p>
        </p:txBody>
      </p:sp>
      <p:sp>
        <p:nvSpPr>
          <p:cNvPr id="35" name="Rectangle 34">
            <a:extLst>
              <a:ext uri="{FF2B5EF4-FFF2-40B4-BE49-F238E27FC236}">
                <a16:creationId xmlns:a16="http://schemas.microsoft.com/office/drawing/2014/main" id="{AADC2260-8946-6F59-50C6-C12A6B27ECF3}"/>
              </a:ext>
            </a:extLst>
          </p:cNvPr>
          <p:cNvSpPr/>
          <p:nvPr/>
        </p:nvSpPr>
        <p:spPr>
          <a:xfrm>
            <a:off x="3493007" y="2525145"/>
            <a:ext cx="2194560" cy="431240"/>
          </a:xfrm>
          <a:prstGeom prst="rect">
            <a:avLst/>
          </a:prstGeom>
          <a:noFill/>
          <a:ln w="19050">
            <a:solidFill>
              <a:schemeClr val="tx1">
                <a:lumMod val="65000"/>
                <a:lumOff val="35000"/>
              </a:schemeClr>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2BB42C1-6BAA-6FF8-0CBF-A5BA4F08FED4}"/>
              </a:ext>
            </a:extLst>
          </p:cNvPr>
          <p:cNvSpPr/>
          <p:nvPr/>
        </p:nvSpPr>
        <p:spPr>
          <a:xfrm>
            <a:off x="3493007" y="3049693"/>
            <a:ext cx="2194560" cy="431240"/>
          </a:xfrm>
          <a:prstGeom prst="rect">
            <a:avLst/>
          </a:prstGeom>
          <a:noFill/>
          <a:ln w="19050">
            <a:solidFill>
              <a:schemeClr val="tx1">
                <a:lumMod val="65000"/>
                <a:lumOff val="35000"/>
              </a:schemeClr>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F5678CCB-E12B-9E5C-12ED-B1D805F4AE58}"/>
              </a:ext>
            </a:extLst>
          </p:cNvPr>
          <p:cNvSpPr/>
          <p:nvPr/>
        </p:nvSpPr>
        <p:spPr>
          <a:xfrm>
            <a:off x="3493007" y="3579238"/>
            <a:ext cx="2194560" cy="431240"/>
          </a:xfrm>
          <a:prstGeom prst="rect">
            <a:avLst/>
          </a:prstGeom>
          <a:noFill/>
          <a:ln w="19050">
            <a:solidFill>
              <a:schemeClr val="tx1">
                <a:lumMod val="65000"/>
                <a:lumOff val="35000"/>
              </a:schemeClr>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38" name="Rectangle 37">
            <a:extLst>
              <a:ext uri="{FF2B5EF4-FFF2-40B4-BE49-F238E27FC236}">
                <a16:creationId xmlns:a16="http://schemas.microsoft.com/office/drawing/2014/main" id="{E2160D88-0454-BC2D-87BF-5D5BD99B2B1F}"/>
              </a:ext>
            </a:extLst>
          </p:cNvPr>
          <p:cNvSpPr/>
          <p:nvPr/>
        </p:nvSpPr>
        <p:spPr>
          <a:xfrm>
            <a:off x="1224884" y="4441540"/>
            <a:ext cx="1324588" cy="438912"/>
          </a:xfrm>
          <a:prstGeom prst="rect">
            <a:avLst/>
          </a:prstGeom>
          <a:solidFill>
            <a:srgbClr val="ECEFF1"/>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0" i="1" dirty="0">
                <a:solidFill>
                  <a:srgbClr val="90A4AE"/>
                </a:solidFill>
                <a:latin typeface="Calibri"/>
              </a:rPr>
              <a:t>RAWS data scraping</a:t>
            </a:r>
            <a:endParaRPr sz="1000" b="0" i="1" dirty="0">
              <a:solidFill>
                <a:srgbClr val="90A4AE"/>
              </a:solidFill>
              <a:latin typeface="Calibri"/>
            </a:endParaRPr>
          </a:p>
        </p:txBody>
      </p:sp>
      <p:sp>
        <p:nvSpPr>
          <p:cNvPr id="39" name="Rectangle 38">
            <a:extLst>
              <a:ext uri="{FF2B5EF4-FFF2-40B4-BE49-F238E27FC236}">
                <a16:creationId xmlns:a16="http://schemas.microsoft.com/office/drawing/2014/main" id="{911F3426-287C-BF92-0FE4-3FBB947DF221}"/>
              </a:ext>
            </a:extLst>
          </p:cNvPr>
          <p:cNvSpPr/>
          <p:nvPr/>
        </p:nvSpPr>
        <p:spPr>
          <a:xfrm>
            <a:off x="2757781" y="4449527"/>
            <a:ext cx="1324588" cy="438912"/>
          </a:xfrm>
          <a:prstGeom prst="rect">
            <a:avLst/>
          </a:prstGeom>
          <a:solidFill>
            <a:srgbClr val="ECEFF1"/>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i="1" dirty="0" err="1">
                <a:solidFill>
                  <a:srgbClr val="90A4AE"/>
                </a:solidFill>
                <a:latin typeface="Calibri"/>
              </a:rPr>
              <a:t>r</a:t>
            </a:r>
            <a:r>
              <a:rPr lang="en-US" sz="1000" b="0" i="1" dirty="0" err="1">
                <a:solidFill>
                  <a:srgbClr val="90A4AE"/>
                </a:solidFill>
                <a:latin typeface="Calibri"/>
              </a:rPr>
              <a:t>astertools</a:t>
            </a:r>
            <a:r>
              <a:rPr lang="en-US" sz="1000" b="0" i="1" dirty="0">
                <a:solidFill>
                  <a:srgbClr val="90A4AE"/>
                </a:solidFill>
                <a:latin typeface="Calibri"/>
              </a:rPr>
              <a:t> (USFS) integration</a:t>
            </a:r>
            <a:endParaRPr sz="1000" b="0" i="1" dirty="0">
              <a:solidFill>
                <a:srgbClr val="90A4AE"/>
              </a:solidFill>
              <a:latin typeface="Calibri"/>
            </a:endParaRPr>
          </a:p>
        </p:txBody>
      </p:sp>
      <p:sp>
        <p:nvSpPr>
          <p:cNvPr id="40" name="Rectangle 39">
            <a:extLst>
              <a:ext uri="{FF2B5EF4-FFF2-40B4-BE49-F238E27FC236}">
                <a16:creationId xmlns:a16="http://schemas.microsoft.com/office/drawing/2014/main" id="{914210D3-E0C6-8448-99F7-43F92C8E5E0A}"/>
              </a:ext>
            </a:extLst>
          </p:cNvPr>
          <p:cNvSpPr/>
          <p:nvPr/>
        </p:nvSpPr>
        <p:spPr>
          <a:xfrm>
            <a:off x="4290678" y="4449527"/>
            <a:ext cx="1324589" cy="438912"/>
          </a:xfrm>
          <a:prstGeom prst="rect">
            <a:avLst/>
          </a:prstGeom>
          <a:solidFill>
            <a:srgbClr val="ECEFF1"/>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b="0" i="1" dirty="0">
                <a:solidFill>
                  <a:srgbClr val="90A4AE"/>
                </a:solidFill>
                <a:latin typeface="Calibri"/>
              </a:rPr>
              <a:t>MacOS compatibility (for fire models)</a:t>
            </a:r>
            <a:endParaRPr sz="1000" b="0" i="1" dirty="0">
              <a:solidFill>
                <a:srgbClr val="90A4AE"/>
              </a:solidFill>
              <a:latin typeface="Calibri"/>
            </a:endParaRPr>
          </a:p>
        </p:txBody>
      </p:sp>
      <p:sp>
        <p:nvSpPr>
          <p:cNvPr id="41" name="Rectangle 40">
            <a:extLst>
              <a:ext uri="{FF2B5EF4-FFF2-40B4-BE49-F238E27FC236}">
                <a16:creationId xmlns:a16="http://schemas.microsoft.com/office/drawing/2014/main" id="{82AF286B-E15B-DBFF-04C5-695FB3D963F6}"/>
              </a:ext>
            </a:extLst>
          </p:cNvPr>
          <p:cNvSpPr/>
          <p:nvPr/>
        </p:nvSpPr>
        <p:spPr>
          <a:xfrm>
            <a:off x="7327520" y="4438207"/>
            <a:ext cx="1324589" cy="438912"/>
          </a:xfrm>
          <a:prstGeom prst="rect">
            <a:avLst/>
          </a:prstGeom>
          <a:solidFill>
            <a:srgbClr val="ECEFF1"/>
          </a:solidFill>
          <a:ln>
            <a:solidFill>
              <a:srgbClr val="CFD8DC"/>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000" i="1" dirty="0">
                <a:solidFill>
                  <a:srgbClr val="90A4AE"/>
                </a:solidFill>
                <a:latin typeface="Calibri"/>
              </a:rPr>
              <a:t>Ember cast models</a:t>
            </a:r>
            <a:endParaRPr sz="1000" b="0" i="1" dirty="0">
              <a:solidFill>
                <a:srgbClr val="90A4AE"/>
              </a:solidFill>
              <a:latin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01168"/>
            <a:ext cx="8412480" cy="523220"/>
          </a:xfrm>
          <a:prstGeom prst="rect">
            <a:avLst/>
          </a:prstGeom>
          <a:noFill/>
        </p:spPr>
        <p:txBody>
          <a:bodyPr wrap="square">
            <a:spAutoFit/>
          </a:bodyPr>
          <a:lstStyle/>
          <a:p>
            <a:pPr algn="l"/>
            <a:r>
              <a:rPr lang="en-US" sz="2800" b="1" i="0" dirty="0">
                <a:solidFill>
                  <a:srgbClr val="1A1A2E"/>
                </a:solidFill>
                <a:latin typeface="Calibri"/>
              </a:rPr>
              <a:t>Implemented </a:t>
            </a:r>
            <a:r>
              <a:rPr sz="2800" b="1" i="0" dirty="0">
                <a:solidFill>
                  <a:srgbClr val="1A1A2E"/>
                </a:solidFill>
                <a:latin typeface="Calibri"/>
              </a:rPr>
              <a:t>Methods</a:t>
            </a:r>
          </a:p>
        </p:txBody>
      </p:sp>
      <p:sp>
        <p:nvSpPr>
          <p:cNvPr id="3" name="Rectangle 2"/>
          <p:cNvSpPr/>
          <p:nvPr/>
        </p:nvSpPr>
        <p:spPr>
          <a:xfrm>
            <a:off x="292608" y="822960"/>
            <a:ext cx="4279392" cy="12618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292608" y="822960"/>
            <a:ext cx="164592" cy="1261872"/>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896112"/>
            <a:ext cx="3840480" cy="256032"/>
          </a:xfrm>
          <a:prstGeom prst="rect">
            <a:avLst/>
          </a:prstGeom>
          <a:noFill/>
        </p:spPr>
        <p:txBody>
          <a:bodyPr wrap="square">
            <a:spAutoFit/>
          </a:bodyPr>
          <a:lstStyle/>
          <a:p>
            <a:pPr algn="l"/>
            <a:r>
              <a:rPr sz="1200" b="1" i="0">
                <a:solidFill>
                  <a:srgbClr val="2C6E49"/>
                </a:solidFill>
                <a:latin typeface="Courier New"/>
              </a:rPr>
              <a:t>fuelscape/</a:t>
            </a:r>
          </a:p>
        </p:txBody>
      </p:sp>
      <p:sp>
        <p:nvSpPr>
          <p:cNvPr id="6" name="TextBox 5"/>
          <p:cNvSpPr txBox="1"/>
          <p:nvPr/>
        </p:nvSpPr>
        <p:spPr>
          <a:xfrm>
            <a:off x="585216" y="1207008"/>
            <a:ext cx="3749039" cy="237744"/>
          </a:xfrm>
          <a:prstGeom prst="rect">
            <a:avLst/>
          </a:prstGeom>
          <a:noFill/>
        </p:spPr>
        <p:txBody>
          <a:bodyPr wrap="square">
            <a:spAutoFit/>
          </a:bodyPr>
          <a:lstStyle/>
          <a:p>
            <a:pPr algn="l"/>
            <a:r>
              <a:rPr sz="1000" b="0" i="0">
                <a:solidFill>
                  <a:srgbClr val="1A1A2E"/>
                </a:solidFill>
                <a:latin typeface="Calibri"/>
              </a:rPr>
              <a:t>• LANDFIRE download (LFPS REST API)</a:t>
            </a:r>
          </a:p>
        </p:txBody>
      </p:sp>
      <p:sp>
        <p:nvSpPr>
          <p:cNvPr id="7" name="TextBox 6"/>
          <p:cNvSpPr txBox="1"/>
          <p:nvPr/>
        </p:nvSpPr>
        <p:spPr>
          <a:xfrm>
            <a:off x="585216" y="1481328"/>
            <a:ext cx="3749039" cy="237744"/>
          </a:xfrm>
          <a:prstGeom prst="rect">
            <a:avLst/>
          </a:prstGeom>
          <a:noFill/>
        </p:spPr>
        <p:txBody>
          <a:bodyPr wrap="square">
            <a:spAutoFit/>
          </a:bodyPr>
          <a:lstStyle/>
          <a:p>
            <a:pPr algn="l"/>
            <a:r>
              <a:rPr sz="1000" b="0" i="0">
                <a:solidFill>
                  <a:srgbClr val="1A1A2E"/>
                </a:solidFill>
                <a:latin typeface="Calibri"/>
              </a:rPr>
              <a:t>• LCP raster stacking</a:t>
            </a:r>
          </a:p>
        </p:txBody>
      </p:sp>
      <p:sp>
        <p:nvSpPr>
          <p:cNvPr id="8" name="TextBox 7"/>
          <p:cNvSpPr txBox="1"/>
          <p:nvPr/>
        </p:nvSpPr>
        <p:spPr>
          <a:xfrm>
            <a:off x="585216" y="1755648"/>
            <a:ext cx="3749039" cy="237744"/>
          </a:xfrm>
          <a:prstGeom prst="rect">
            <a:avLst/>
          </a:prstGeom>
          <a:noFill/>
        </p:spPr>
        <p:txBody>
          <a:bodyPr wrap="square">
            <a:spAutoFit/>
          </a:bodyPr>
          <a:lstStyle/>
          <a:p>
            <a:pPr algn="l"/>
            <a:r>
              <a:rPr sz="1000" b="0" i="0">
                <a:solidFill>
                  <a:srgbClr val="1A1A2E"/>
                </a:solidFill>
                <a:latin typeface="Calibri"/>
              </a:rPr>
              <a:t>• Fuel treatment adjustments</a:t>
            </a:r>
          </a:p>
        </p:txBody>
      </p:sp>
      <p:sp>
        <p:nvSpPr>
          <p:cNvPr id="9" name="Rectangle 8"/>
          <p:cNvSpPr/>
          <p:nvPr/>
        </p:nvSpPr>
        <p:spPr>
          <a:xfrm>
            <a:off x="4773168" y="822960"/>
            <a:ext cx="4279392" cy="12618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773168" y="822960"/>
            <a:ext cx="164592" cy="126187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029200" y="896112"/>
            <a:ext cx="3840480" cy="256032"/>
          </a:xfrm>
          <a:prstGeom prst="rect">
            <a:avLst/>
          </a:prstGeom>
          <a:noFill/>
        </p:spPr>
        <p:txBody>
          <a:bodyPr wrap="square">
            <a:spAutoFit/>
          </a:bodyPr>
          <a:lstStyle/>
          <a:p>
            <a:pPr algn="l"/>
            <a:r>
              <a:rPr sz="1200" b="1" i="0">
                <a:solidFill>
                  <a:srgbClr val="1B6CA8"/>
                </a:solidFill>
                <a:latin typeface="Courier New"/>
              </a:rPr>
              <a:t>models/</a:t>
            </a:r>
          </a:p>
        </p:txBody>
      </p:sp>
      <p:sp>
        <p:nvSpPr>
          <p:cNvPr id="12" name="TextBox 11"/>
          <p:cNvSpPr txBox="1"/>
          <p:nvPr/>
        </p:nvSpPr>
        <p:spPr>
          <a:xfrm>
            <a:off x="5065776" y="1207008"/>
            <a:ext cx="3749039" cy="246221"/>
          </a:xfrm>
          <a:prstGeom prst="rect">
            <a:avLst/>
          </a:prstGeom>
          <a:noFill/>
        </p:spPr>
        <p:txBody>
          <a:bodyPr wrap="square">
            <a:spAutoFit/>
          </a:bodyPr>
          <a:lstStyle/>
          <a:p>
            <a:r>
              <a:rPr sz="1000" b="0" i="0" dirty="0">
                <a:solidFill>
                  <a:srgbClr val="1A1A2E"/>
                </a:solidFill>
                <a:latin typeface="Calibri"/>
              </a:rPr>
              <a:t>• FlamMap/MTT batch scenarios</a:t>
            </a:r>
            <a:r>
              <a:rPr lang="en-US" sz="1000" dirty="0">
                <a:solidFill>
                  <a:srgbClr val="1A1A2E"/>
                </a:solidFill>
              </a:rPr>
              <a:t> [</a:t>
            </a:r>
            <a:r>
              <a:rPr lang="en-US" sz="1000" dirty="0" err="1">
                <a:solidFill>
                  <a:srgbClr val="1A1A2E"/>
                </a:solidFill>
              </a:rPr>
              <a:t>run_batch</a:t>
            </a:r>
            <a:r>
              <a:rPr lang="en-US" sz="1000" dirty="0">
                <a:solidFill>
                  <a:srgbClr val="1A1A2E"/>
                </a:solidFill>
              </a:rPr>
              <a:t>()]</a:t>
            </a:r>
            <a:endParaRPr sz="1000" b="0" i="0" dirty="0">
              <a:solidFill>
                <a:srgbClr val="1A1A2E"/>
              </a:solidFill>
              <a:latin typeface="Calibri"/>
            </a:endParaRPr>
          </a:p>
        </p:txBody>
      </p:sp>
      <p:sp>
        <p:nvSpPr>
          <p:cNvPr id="13" name="TextBox 12"/>
          <p:cNvSpPr txBox="1"/>
          <p:nvPr/>
        </p:nvSpPr>
        <p:spPr>
          <a:xfrm>
            <a:off x="5065776" y="1481328"/>
            <a:ext cx="3749039" cy="246221"/>
          </a:xfrm>
          <a:prstGeom prst="rect">
            <a:avLst/>
          </a:prstGeom>
          <a:noFill/>
        </p:spPr>
        <p:txBody>
          <a:bodyPr wrap="square">
            <a:spAutoFit/>
          </a:bodyPr>
          <a:lstStyle/>
          <a:p>
            <a:pPr algn="l"/>
            <a:r>
              <a:rPr sz="1000" b="0" i="0" dirty="0">
                <a:solidFill>
                  <a:srgbClr val="1A1A2E"/>
                </a:solidFill>
                <a:latin typeface="Calibri"/>
              </a:rPr>
              <a:t>• </a:t>
            </a:r>
            <a:r>
              <a:rPr sz="1000" b="0" i="0" dirty="0" err="1">
                <a:solidFill>
                  <a:srgbClr val="1A1A2E"/>
                </a:solidFill>
                <a:latin typeface="Calibri"/>
              </a:rPr>
              <a:t>FSPro</a:t>
            </a:r>
            <a:r>
              <a:rPr sz="1000" b="0" i="0" dirty="0">
                <a:solidFill>
                  <a:srgbClr val="1A1A2E"/>
                </a:solidFill>
                <a:latin typeface="Calibri"/>
              </a:rPr>
              <a:t> counterfactual pairs</a:t>
            </a:r>
            <a:r>
              <a:rPr lang="en-US" sz="1000" b="0" i="0" dirty="0">
                <a:solidFill>
                  <a:srgbClr val="1A1A2E"/>
                </a:solidFill>
                <a:latin typeface="Calibri"/>
              </a:rPr>
              <a:t> [treated/un-treated]</a:t>
            </a:r>
            <a:endParaRPr sz="1000" b="0" i="0" dirty="0">
              <a:solidFill>
                <a:srgbClr val="1A1A2E"/>
              </a:solidFill>
              <a:latin typeface="Calibri"/>
            </a:endParaRPr>
          </a:p>
        </p:txBody>
      </p:sp>
      <p:sp>
        <p:nvSpPr>
          <p:cNvPr id="15" name="Rectangle 14"/>
          <p:cNvSpPr/>
          <p:nvPr/>
        </p:nvSpPr>
        <p:spPr>
          <a:xfrm>
            <a:off x="292608" y="2240280"/>
            <a:ext cx="4279392" cy="12618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92608" y="2240280"/>
            <a:ext cx="164592" cy="126187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48640" y="2313432"/>
            <a:ext cx="3840480" cy="256032"/>
          </a:xfrm>
          <a:prstGeom prst="rect">
            <a:avLst/>
          </a:prstGeom>
          <a:noFill/>
        </p:spPr>
        <p:txBody>
          <a:bodyPr wrap="square">
            <a:spAutoFit/>
          </a:bodyPr>
          <a:lstStyle/>
          <a:p>
            <a:pPr algn="l"/>
            <a:r>
              <a:rPr sz="1200" b="1" i="0">
                <a:solidFill>
                  <a:srgbClr val="D4622A"/>
                </a:solidFill>
                <a:latin typeface="Courier New"/>
              </a:rPr>
              <a:t>weather/</a:t>
            </a:r>
          </a:p>
        </p:txBody>
      </p:sp>
      <p:sp>
        <p:nvSpPr>
          <p:cNvPr id="18" name="TextBox 17"/>
          <p:cNvSpPr txBox="1"/>
          <p:nvPr/>
        </p:nvSpPr>
        <p:spPr>
          <a:xfrm>
            <a:off x="585216" y="2624328"/>
            <a:ext cx="3749039" cy="246221"/>
          </a:xfrm>
          <a:prstGeom prst="rect">
            <a:avLst/>
          </a:prstGeom>
          <a:noFill/>
        </p:spPr>
        <p:txBody>
          <a:bodyPr wrap="square">
            <a:spAutoFit/>
          </a:bodyPr>
          <a:lstStyle/>
          <a:p>
            <a:pPr algn="l"/>
            <a:r>
              <a:rPr sz="1000" b="0" i="0" dirty="0">
                <a:solidFill>
                  <a:srgbClr val="1A1A2E"/>
                </a:solidFill>
                <a:latin typeface="Calibri"/>
              </a:rPr>
              <a:t>• HRRR wind climatology</a:t>
            </a:r>
            <a:r>
              <a:rPr lang="en-US" sz="1000" b="0" i="0" dirty="0">
                <a:solidFill>
                  <a:srgbClr val="1A1A2E"/>
                </a:solidFill>
                <a:latin typeface="Calibri"/>
              </a:rPr>
              <a:t> (via HERBIE)</a:t>
            </a:r>
            <a:endParaRPr sz="1000" b="0" i="0" dirty="0">
              <a:solidFill>
                <a:srgbClr val="1A1A2E"/>
              </a:solidFill>
              <a:latin typeface="Calibri"/>
            </a:endParaRPr>
          </a:p>
        </p:txBody>
      </p:sp>
      <p:sp>
        <p:nvSpPr>
          <p:cNvPr id="19" name="TextBox 18"/>
          <p:cNvSpPr txBox="1"/>
          <p:nvPr/>
        </p:nvSpPr>
        <p:spPr>
          <a:xfrm>
            <a:off x="585216" y="2898648"/>
            <a:ext cx="3749039" cy="246221"/>
          </a:xfrm>
          <a:prstGeom prst="rect">
            <a:avLst/>
          </a:prstGeom>
          <a:noFill/>
        </p:spPr>
        <p:txBody>
          <a:bodyPr wrap="square">
            <a:spAutoFit/>
          </a:bodyPr>
          <a:lstStyle/>
          <a:p>
            <a:pPr algn="l"/>
            <a:r>
              <a:rPr sz="1000" b="0" i="0" dirty="0">
                <a:solidFill>
                  <a:srgbClr val="1A1A2E"/>
                </a:solidFill>
                <a:latin typeface="Calibri"/>
              </a:rPr>
              <a:t>• GridMET ERC climatology + classes</a:t>
            </a:r>
            <a:r>
              <a:rPr lang="en-US" sz="1000" b="0" i="0" dirty="0">
                <a:solidFill>
                  <a:srgbClr val="1A1A2E"/>
                </a:solidFill>
                <a:latin typeface="Calibri"/>
              </a:rPr>
              <a:t> (via GEE)</a:t>
            </a:r>
            <a:endParaRPr sz="1000" b="0" i="0" dirty="0">
              <a:solidFill>
                <a:srgbClr val="1A1A2E"/>
              </a:solidFill>
              <a:latin typeface="Calibri"/>
            </a:endParaRPr>
          </a:p>
        </p:txBody>
      </p:sp>
      <p:sp>
        <p:nvSpPr>
          <p:cNvPr id="20" name="TextBox 19"/>
          <p:cNvSpPr txBox="1"/>
          <p:nvPr/>
        </p:nvSpPr>
        <p:spPr>
          <a:xfrm>
            <a:off x="585216" y="3172968"/>
            <a:ext cx="3749039" cy="246221"/>
          </a:xfrm>
          <a:prstGeom prst="rect">
            <a:avLst/>
          </a:prstGeom>
          <a:noFill/>
        </p:spPr>
        <p:txBody>
          <a:bodyPr wrap="square">
            <a:spAutoFit/>
          </a:bodyPr>
          <a:lstStyle/>
          <a:p>
            <a:pPr algn="l"/>
            <a:r>
              <a:rPr sz="1000" b="0" i="0" dirty="0">
                <a:solidFill>
                  <a:srgbClr val="1A1A2E"/>
                </a:solidFill>
                <a:latin typeface="Calibri"/>
              </a:rPr>
              <a:t>• </a:t>
            </a:r>
            <a:r>
              <a:rPr sz="1000" b="1" i="0" dirty="0">
                <a:solidFill>
                  <a:srgbClr val="1A1A2E"/>
                </a:solidFill>
                <a:latin typeface="Calibri"/>
              </a:rPr>
              <a:t>RTMA hourly dead FM &amp; live FM</a:t>
            </a:r>
            <a:r>
              <a:rPr lang="en-US" sz="1000" b="1" i="0" dirty="0">
                <a:solidFill>
                  <a:srgbClr val="1A1A2E"/>
                </a:solidFill>
                <a:latin typeface="Calibri"/>
              </a:rPr>
              <a:t> (via GEE)</a:t>
            </a:r>
            <a:endParaRPr sz="1000" b="1" i="0" dirty="0">
              <a:solidFill>
                <a:srgbClr val="1A1A2E"/>
              </a:solidFill>
              <a:latin typeface="Calibri"/>
            </a:endParaRPr>
          </a:p>
        </p:txBody>
      </p:sp>
      <p:sp>
        <p:nvSpPr>
          <p:cNvPr id="21" name="Rectangle 20"/>
          <p:cNvSpPr/>
          <p:nvPr/>
        </p:nvSpPr>
        <p:spPr>
          <a:xfrm>
            <a:off x="4773168" y="2240280"/>
            <a:ext cx="4279392" cy="12618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4773168" y="2240280"/>
            <a:ext cx="164592" cy="126187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029200" y="2313432"/>
            <a:ext cx="3840480" cy="256032"/>
          </a:xfrm>
          <a:prstGeom prst="rect">
            <a:avLst/>
          </a:prstGeom>
          <a:noFill/>
        </p:spPr>
        <p:txBody>
          <a:bodyPr wrap="square">
            <a:spAutoFit/>
          </a:bodyPr>
          <a:lstStyle/>
          <a:p>
            <a:pPr algn="l"/>
            <a:r>
              <a:rPr sz="1200" b="1" i="0">
                <a:solidFill>
                  <a:srgbClr val="52B788"/>
                </a:solidFill>
                <a:latin typeface="Courier New"/>
              </a:rPr>
              <a:t>spread/</a:t>
            </a:r>
          </a:p>
        </p:txBody>
      </p:sp>
      <p:sp>
        <p:nvSpPr>
          <p:cNvPr id="24" name="TextBox 23"/>
          <p:cNvSpPr txBox="1"/>
          <p:nvPr/>
        </p:nvSpPr>
        <p:spPr>
          <a:xfrm>
            <a:off x="5065776" y="2624328"/>
            <a:ext cx="3749039" cy="246221"/>
          </a:xfrm>
          <a:prstGeom prst="rect">
            <a:avLst/>
          </a:prstGeom>
          <a:noFill/>
        </p:spPr>
        <p:txBody>
          <a:bodyPr wrap="square">
            <a:spAutoFit/>
          </a:bodyPr>
          <a:lstStyle/>
          <a:p>
            <a:pPr algn="l"/>
            <a:r>
              <a:rPr sz="1000" b="0" i="0" dirty="0">
                <a:solidFill>
                  <a:srgbClr val="1A1A2E"/>
                </a:solidFill>
                <a:latin typeface="Calibri"/>
              </a:rPr>
              <a:t>• Delta burn probability</a:t>
            </a:r>
            <a:r>
              <a:rPr lang="en-US" sz="1000" b="0" i="0" dirty="0">
                <a:solidFill>
                  <a:srgbClr val="1A1A2E"/>
                </a:solidFill>
                <a:latin typeface="Calibri"/>
              </a:rPr>
              <a:t> (‘upwind’ from value)</a:t>
            </a:r>
            <a:endParaRPr sz="1000" b="0" i="0" dirty="0">
              <a:solidFill>
                <a:srgbClr val="1A1A2E"/>
              </a:solidFill>
              <a:latin typeface="Calibri"/>
            </a:endParaRPr>
          </a:p>
        </p:txBody>
      </p:sp>
      <p:sp>
        <p:nvSpPr>
          <p:cNvPr id="25" name="TextBox 24"/>
          <p:cNvSpPr txBox="1"/>
          <p:nvPr/>
        </p:nvSpPr>
        <p:spPr>
          <a:xfrm>
            <a:off x="5065776" y="2898648"/>
            <a:ext cx="3749039" cy="246221"/>
          </a:xfrm>
          <a:prstGeom prst="rect">
            <a:avLst/>
          </a:prstGeom>
          <a:noFill/>
        </p:spPr>
        <p:txBody>
          <a:bodyPr wrap="square">
            <a:spAutoFit/>
          </a:bodyPr>
          <a:lstStyle/>
          <a:p>
            <a:pPr algn="l"/>
            <a:r>
              <a:rPr sz="1000" b="0" i="0" dirty="0">
                <a:solidFill>
                  <a:srgbClr val="1A1A2E"/>
                </a:solidFill>
                <a:latin typeface="Calibri"/>
              </a:rPr>
              <a:t>• </a:t>
            </a:r>
            <a:r>
              <a:rPr lang="en-US" sz="1000" b="0" i="0" dirty="0">
                <a:solidFill>
                  <a:srgbClr val="1A1A2E"/>
                </a:solidFill>
                <a:latin typeface="Calibri"/>
              </a:rPr>
              <a:t>Delta arrival time (to value)</a:t>
            </a:r>
            <a:endParaRPr sz="1000" b="0" i="0" dirty="0">
              <a:solidFill>
                <a:srgbClr val="1A1A2E"/>
              </a:solidFill>
              <a:latin typeface="Calibri"/>
            </a:endParaRPr>
          </a:p>
        </p:txBody>
      </p:sp>
      <p:sp>
        <p:nvSpPr>
          <p:cNvPr id="26" name="Rectangle 25"/>
          <p:cNvSpPr/>
          <p:nvPr/>
        </p:nvSpPr>
        <p:spPr>
          <a:xfrm>
            <a:off x="292608" y="3657600"/>
            <a:ext cx="4279392" cy="12618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292608" y="3657600"/>
            <a:ext cx="164592" cy="126187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48640" y="3730752"/>
            <a:ext cx="3840480" cy="256032"/>
          </a:xfrm>
          <a:prstGeom prst="rect">
            <a:avLst/>
          </a:prstGeom>
          <a:noFill/>
        </p:spPr>
        <p:txBody>
          <a:bodyPr wrap="square">
            <a:spAutoFit/>
          </a:bodyPr>
          <a:lstStyle/>
          <a:p>
            <a:pPr algn="l"/>
            <a:r>
              <a:rPr sz="1200" b="1" i="0">
                <a:solidFill>
                  <a:srgbClr val="6D4C41"/>
                </a:solidFill>
                <a:latin typeface="Courier New"/>
              </a:rPr>
              <a:t>suppression/</a:t>
            </a:r>
          </a:p>
        </p:txBody>
      </p:sp>
      <p:sp>
        <p:nvSpPr>
          <p:cNvPr id="29" name="TextBox 28"/>
          <p:cNvSpPr txBox="1"/>
          <p:nvPr/>
        </p:nvSpPr>
        <p:spPr>
          <a:xfrm>
            <a:off x="585216" y="4041648"/>
            <a:ext cx="3749039" cy="237744"/>
          </a:xfrm>
          <a:prstGeom prst="rect">
            <a:avLst/>
          </a:prstGeom>
          <a:noFill/>
        </p:spPr>
        <p:txBody>
          <a:bodyPr wrap="square">
            <a:spAutoFit/>
          </a:bodyPr>
          <a:lstStyle/>
          <a:p>
            <a:pPr algn="l"/>
            <a:r>
              <a:rPr sz="1000" b="0" i="0">
                <a:solidFill>
                  <a:srgbClr val="1A1A2E"/>
                </a:solidFill>
                <a:latin typeface="Calibri"/>
              </a:rPr>
              <a:t>• calculate_sdi() — SDI raster</a:t>
            </a:r>
          </a:p>
        </p:txBody>
      </p:sp>
      <p:sp>
        <p:nvSpPr>
          <p:cNvPr id="30" name="TextBox 29"/>
          <p:cNvSpPr txBox="1"/>
          <p:nvPr/>
        </p:nvSpPr>
        <p:spPr>
          <a:xfrm>
            <a:off x="585216" y="4315968"/>
            <a:ext cx="3749039" cy="237744"/>
          </a:xfrm>
          <a:prstGeom prst="rect">
            <a:avLst/>
          </a:prstGeom>
          <a:noFill/>
        </p:spPr>
        <p:txBody>
          <a:bodyPr wrap="square">
            <a:spAutoFit/>
          </a:bodyPr>
          <a:lstStyle/>
          <a:p>
            <a:pPr algn="l"/>
            <a:r>
              <a:rPr sz="1000" b="0" i="0" dirty="0">
                <a:solidFill>
                  <a:srgbClr val="1A1A2E"/>
                </a:solidFill>
                <a:latin typeface="Calibri"/>
              </a:rPr>
              <a:t>• </a:t>
            </a:r>
            <a:r>
              <a:rPr sz="1000" b="0" i="0" dirty="0" err="1">
                <a:solidFill>
                  <a:srgbClr val="1A1A2E"/>
                </a:solidFill>
                <a:latin typeface="Calibri"/>
              </a:rPr>
              <a:t>calculate_delta_sdi</a:t>
            </a:r>
            <a:r>
              <a:rPr sz="1000" b="0" i="0" dirty="0">
                <a:solidFill>
                  <a:srgbClr val="1A1A2E"/>
                </a:solidFill>
                <a:latin typeface="Calibri"/>
              </a:rPr>
              <a:t>() — treatment delta</a:t>
            </a:r>
          </a:p>
        </p:txBody>
      </p:sp>
      <p:sp>
        <p:nvSpPr>
          <p:cNvPr id="31" name="Rectangle 30"/>
          <p:cNvSpPr/>
          <p:nvPr/>
        </p:nvSpPr>
        <p:spPr>
          <a:xfrm>
            <a:off x="4773168" y="3657600"/>
            <a:ext cx="4279392" cy="12618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2" name="Rectangle 31"/>
          <p:cNvSpPr/>
          <p:nvPr/>
        </p:nvSpPr>
        <p:spPr>
          <a:xfrm>
            <a:off x="4773168" y="3657600"/>
            <a:ext cx="164592" cy="1261872"/>
          </a:xfrm>
          <a:prstGeom prst="rect">
            <a:avLst/>
          </a:prstGeom>
          <a:solidFill>
            <a:srgbClr val="8E44AD"/>
          </a:solidFill>
          <a:ln>
            <a:solidFill>
              <a:srgbClr val="8E44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5029200" y="3730752"/>
            <a:ext cx="3840480" cy="276999"/>
          </a:xfrm>
          <a:prstGeom prst="rect">
            <a:avLst/>
          </a:prstGeom>
          <a:noFill/>
        </p:spPr>
        <p:txBody>
          <a:bodyPr wrap="square">
            <a:spAutoFit/>
          </a:bodyPr>
          <a:lstStyle/>
          <a:p>
            <a:pPr algn="l"/>
            <a:r>
              <a:rPr sz="1200" b="1" i="0" dirty="0">
                <a:solidFill>
                  <a:srgbClr val="8E44AD"/>
                </a:solidFill>
                <a:latin typeface="Courier New"/>
              </a:rPr>
              <a:t>analysis/</a:t>
            </a:r>
            <a:r>
              <a:rPr lang="en-US" sz="1200" b="1" i="0" dirty="0">
                <a:solidFill>
                  <a:srgbClr val="8E44AD"/>
                </a:solidFill>
                <a:latin typeface="Courier New"/>
              </a:rPr>
              <a:t> &amp; utils/</a:t>
            </a:r>
            <a:endParaRPr sz="1200" b="1" i="0" dirty="0">
              <a:solidFill>
                <a:srgbClr val="8E44AD"/>
              </a:solidFill>
              <a:latin typeface="Courier New"/>
            </a:endParaRPr>
          </a:p>
        </p:txBody>
      </p:sp>
      <p:sp>
        <p:nvSpPr>
          <p:cNvPr id="34" name="TextBox 33"/>
          <p:cNvSpPr txBox="1"/>
          <p:nvPr/>
        </p:nvSpPr>
        <p:spPr>
          <a:xfrm>
            <a:off x="5065776" y="4041648"/>
            <a:ext cx="3749039" cy="246221"/>
          </a:xfrm>
          <a:prstGeom prst="rect">
            <a:avLst/>
          </a:prstGeom>
          <a:noFill/>
        </p:spPr>
        <p:txBody>
          <a:bodyPr wrap="square">
            <a:spAutoFit/>
          </a:bodyPr>
          <a:lstStyle/>
          <a:p>
            <a:pPr algn="l"/>
            <a:r>
              <a:rPr sz="1000" b="0" i="0" dirty="0">
                <a:solidFill>
                  <a:srgbClr val="1A1A2E"/>
                </a:solidFill>
                <a:latin typeface="Calibri"/>
              </a:rPr>
              <a:t>• Zonal statistics helpers</a:t>
            </a:r>
            <a:endParaRPr lang="en-US" sz="1000" b="0" i="0" dirty="0">
              <a:solidFill>
                <a:srgbClr val="1A1A2E"/>
              </a:solidFill>
              <a:latin typeface="Calibri"/>
            </a:endParaRPr>
          </a:p>
        </p:txBody>
      </p:sp>
      <p:sp>
        <p:nvSpPr>
          <p:cNvPr id="35" name="TextBox 34">
            <a:extLst>
              <a:ext uri="{FF2B5EF4-FFF2-40B4-BE49-F238E27FC236}">
                <a16:creationId xmlns:a16="http://schemas.microsoft.com/office/drawing/2014/main" id="{E1024F24-F8D7-EA7E-FA64-4788738799A0}"/>
              </a:ext>
            </a:extLst>
          </p:cNvPr>
          <p:cNvSpPr txBox="1"/>
          <p:nvPr/>
        </p:nvSpPr>
        <p:spPr>
          <a:xfrm>
            <a:off x="5074920" y="3181445"/>
            <a:ext cx="3749039" cy="246221"/>
          </a:xfrm>
          <a:prstGeom prst="rect">
            <a:avLst/>
          </a:prstGeom>
          <a:noFill/>
        </p:spPr>
        <p:txBody>
          <a:bodyPr wrap="square">
            <a:spAutoFit/>
          </a:bodyPr>
          <a:lstStyle/>
          <a:p>
            <a:pPr algn="l"/>
            <a:r>
              <a:rPr sz="1000" b="0" i="0" dirty="0">
                <a:solidFill>
                  <a:srgbClr val="1A1A2E"/>
                </a:solidFill>
                <a:latin typeface="Calibri"/>
              </a:rPr>
              <a:t>• </a:t>
            </a:r>
            <a:r>
              <a:rPr lang="en-US" sz="1000" b="0" i="0" dirty="0">
                <a:solidFill>
                  <a:srgbClr val="1A1A2E"/>
                </a:solidFill>
                <a:latin typeface="Calibri"/>
              </a:rPr>
              <a:t>P</a:t>
            </a:r>
            <a:r>
              <a:rPr sz="1000" b="0" i="0" dirty="0">
                <a:solidFill>
                  <a:srgbClr val="1A1A2E"/>
                </a:solidFill>
                <a:latin typeface="Calibri"/>
              </a:rPr>
              <a:t>erimeter</a:t>
            </a:r>
            <a:r>
              <a:rPr lang="en-US" sz="1000" dirty="0">
                <a:solidFill>
                  <a:srgbClr val="1A1A2E"/>
                </a:solidFill>
                <a:latin typeface="Calibri"/>
              </a:rPr>
              <a:t> set (</a:t>
            </a:r>
            <a:r>
              <a:rPr lang="en-US" sz="1000" dirty="0" err="1">
                <a:solidFill>
                  <a:srgbClr val="1A1A2E"/>
                </a:solidFill>
                <a:latin typeface="Calibri"/>
              </a:rPr>
              <a:t>FSPro</a:t>
            </a:r>
            <a:r>
              <a:rPr lang="en-US" sz="1000" dirty="0">
                <a:solidFill>
                  <a:srgbClr val="1A1A2E"/>
                </a:solidFill>
                <a:latin typeface="Calibri"/>
              </a:rPr>
              <a:t>/</a:t>
            </a:r>
            <a:r>
              <a:rPr lang="en-US" sz="1000" dirty="0" err="1">
                <a:solidFill>
                  <a:srgbClr val="1A1A2E"/>
                </a:solidFill>
                <a:latin typeface="Calibri"/>
              </a:rPr>
              <a:t>Fsim</a:t>
            </a:r>
            <a:r>
              <a:rPr lang="en-US" sz="1000" dirty="0">
                <a:solidFill>
                  <a:srgbClr val="1A1A2E"/>
                </a:solidFill>
                <a:latin typeface="Calibri"/>
              </a:rPr>
              <a:t>) analysis</a:t>
            </a:r>
            <a:r>
              <a:rPr lang="en-US" sz="1000" b="0" i="0" dirty="0">
                <a:solidFill>
                  <a:srgbClr val="1A1A2E"/>
                </a:solidFill>
                <a:latin typeface="Calibri"/>
              </a:rPr>
              <a:t> [size, shape, etc.]</a:t>
            </a:r>
            <a:endParaRPr sz="1000" b="0" i="0" dirty="0">
              <a:solidFill>
                <a:srgbClr val="1A1A2E"/>
              </a:solidFill>
              <a:latin typeface="Calibri"/>
            </a:endParaRPr>
          </a:p>
        </p:txBody>
      </p:sp>
      <p:sp>
        <p:nvSpPr>
          <p:cNvPr id="37" name="TextBox 36">
            <a:extLst>
              <a:ext uri="{FF2B5EF4-FFF2-40B4-BE49-F238E27FC236}">
                <a16:creationId xmlns:a16="http://schemas.microsoft.com/office/drawing/2014/main" id="{E2370DFE-2BBE-DC52-0062-C5904544076C}"/>
              </a:ext>
            </a:extLst>
          </p:cNvPr>
          <p:cNvSpPr txBox="1"/>
          <p:nvPr/>
        </p:nvSpPr>
        <p:spPr>
          <a:xfrm>
            <a:off x="5074920" y="4315968"/>
            <a:ext cx="1906292" cy="246221"/>
          </a:xfrm>
          <a:prstGeom prst="rect">
            <a:avLst/>
          </a:prstGeom>
          <a:noFill/>
        </p:spPr>
        <p:txBody>
          <a:bodyPr wrap="square">
            <a:spAutoFit/>
          </a:bodyPr>
          <a:lstStyle/>
          <a:p>
            <a:r>
              <a:rPr lang="en-US" sz="1000" dirty="0">
                <a:solidFill>
                  <a:srgbClr val="1A1A2E"/>
                </a:solidFill>
              </a:rPr>
              <a:t>• Raster and vector processing</a:t>
            </a:r>
          </a:p>
        </p:txBody>
      </p:sp>
      <p:sp>
        <p:nvSpPr>
          <p:cNvPr id="38" name="TextBox 37">
            <a:extLst>
              <a:ext uri="{FF2B5EF4-FFF2-40B4-BE49-F238E27FC236}">
                <a16:creationId xmlns:a16="http://schemas.microsoft.com/office/drawing/2014/main" id="{C0D9AE5D-243C-A25E-CBD0-AFEE84759712}"/>
              </a:ext>
            </a:extLst>
          </p:cNvPr>
          <p:cNvSpPr txBox="1"/>
          <p:nvPr/>
        </p:nvSpPr>
        <p:spPr>
          <a:xfrm>
            <a:off x="5088868" y="4596797"/>
            <a:ext cx="1906292" cy="246221"/>
          </a:xfrm>
          <a:prstGeom prst="rect">
            <a:avLst/>
          </a:prstGeom>
          <a:noFill/>
        </p:spPr>
        <p:txBody>
          <a:bodyPr wrap="square">
            <a:spAutoFit/>
          </a:bodyPr>
          <a:lstStyle/>
          <a:p>
            <a:r>
              <a:rPr lang="en-US" sz="1000" dirty="0">
                <a:solidFill>
                  <a:srgbClr val="1A1A2E"/>
                </a:solidFill>
              </a:rPr>
              <a:t>• Plotting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56032" y="864573"/>
            <a:ext cx="2697480" cy="731520"/>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i="0" dirty="0">
                <a:solidFill>
                  <a:srgbClr val="ECF0F1"/>
                </a:solidFill>
                <a:latin typeface="Calibri"/>
              </a:rPr>
              <a:t>HRRR</a:t>
            </a:r>
          </a:p>
        </p:txBody>
      </p:sp>
      <p:sp>
        <p:nvSpPr>
          <p:cNvPr id="4" name="TextBox 3"/>
          <p:cNvSpPr txBox="1"/>
          <p:nvPr/>
        </p:nvSpPr>
        <p:spPr>
          <a:xfrm>
            <a:off x="256032" y="1321773"/>
            <a:ext cx="2697480" cy="201168"/>
          </a:xfrm>
          <a:prstGeom prst="rect">
            <a:avLst/>
          </a:prstGeom>
          <a:noFill/>
        </p:spPr>
        <p:txBody>
          <a:bodyPr wrap="square">
            <a:spAutoFit/>
          </a:bodyPr>
          <a:lstStyle/>
          <a:p>
            <a:pPr algn="ctr"/>
            <a:r>
              <a:rPr sz="900" b="0" i="1" dirty="0">
                <a:solidFill>
                  <a:srgbClr val="ECF0F1"/>
                </a:solidFill>
                <a:latin typeface="Calibri"/>
              </a:rPr>
              <a:t>Hourly · via Herbie</a:t>
            </a:r>
          </a:p>
        </p:txBody>
      </p:sp>
      <p:sp>
        <p:nvSpPr>
          <p:cNvPr id="5" name="Rectangle 4"/>
          <p:cNvSpPr/>
          <p:nvPr/>
        </p:nvSpPr>
        <p:spPr>
          <a:xfrm>
            <a:off x="256032" y="1632669"/>
            <a:ext cx="2697480" cy="2267712"/>
          </a:xfrm>
          <a:prstGeom prst="rect">
            <a:avLst/>
          </a:prstGeom>
          <a:solidFill>
            <a:srgbClr val="D6E8F7"/>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47472" y="1705821"/>
            <a:ext cx="2514600" cy="219456"/>
          </a:xfrm>
          <a:prstGeom prst="rect">
            <a:avLst/>
          </a:prstGeom>
          <a:noFill/>
        </p:spPr>
        <p:txBody>
          <a:bodyPr wrap="square">
            <a:spAutoFit/>
          </a:bodyPr>
          <a:lstStyle/>
          <a:p>
            <a:pPr algn="l"/>
            <a:r>
              <a:rPr sz="900" b="1" i="0">
                <a:solidFill>
                  <a:srgbClr val="546E7A"/>
                </a:solidFill>
                <a:latin typeface="Calibri"/>
              </a:rPr>
              <a:t>Variables</a:t>
            </a:r>
          </a:p>
        </p:txBody>
      </p:sp>
      <p:sp>
        <p:nvSpPr>
          <p:cNvPr id="7" name="TextBox 6"/>
          <p:cNvSpPr txBox="1"/>
          <p:nvPr/>
        </p:nvSpPr>
        <p:spPr>
          <a:xfrm>
            <a:off x="393192" y="1943565"/>
            <a:ext cx="2468880" cy="256032"/>
          </a:xfrm>
          <a:prstGeom prst="rect">
            <a:avLst/>
          </a:prstGeom>
          <a:noFill/>
        </p:spPr>
        <p:txBody>
          <a:bodyPr wrap="square">
            <a:spAutoFit/>
          </a:bodyPr>
          <a:lstStyle/>
          <a:p>
            <a:pPr algn="l"/>
            <a:r>
              <a:rPr sz="1100" b="0" i="0">
                <a:solidFill>
                  <a:srgbClr val="1A1A2E"/>
                </a:solidFill>
                <a:latin typeface="Calibri"/>
              </a:rPr>
              <a:t>• Wind speed</a:t>
            </a:r>
          </a:p>
        </p:txBody>
      </p:sp>
      <p:sp>
        <p:nvSpPr>
          <p:cNvPr id="8" name="TextBox 7"/>
          <p:cNvSpPr txBox="1"/>
          <p:nvPr/>
        </p:nvSpPr>
        <p:spPr>
          <a:xfrm>
            <a:off x="393192" y="2254461"/>
            <a:ext cx="2468880" cy="256032"/>
          </a:xfrm>
          <a:prstGeom prst="rect">
            <a:avLst/>
          </a:prstGeom>
          <a:noFill/>
        </p:spPr>
        <p:txBody>
          <a:bodyPr wrap="square">
            <a:spAutoFit/>
          </a:bodyPr>
          <a:lstStyle/>
          <a:p>
            <a:pPr algn="l"/>
            <a:r>
              <a:rPr sz="1100" b="0" i="0">
                <a:solidFill>
                  <a:srgbClr val="1A1A2E"/>
                </a:solidFill>
                <a:latin typeface="Calibri"/>
              </a:rPr>
              <a:t>• Wind direction</a:t>
            </a:r>
          </a:p>
        </p:txBody>
      </p:sp>
      <p:sp>
        <p:nvSpPr>
          <p:cNvPr id="9" name="Rectangle 8"/>
          <p:cNvSpPr/>
          <p:nvPr/>
        </p:nvSpPr>
        <p:spPr>
          <a:xfrm>
            <a:off x="347472" y="3095709"/>
            <a:ext cx="2514600" cy="25603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1B6CA8"/>
                </a:solidFill>
                <a:latin typeface="Courier New"/>
              </a:rPr>
              <a:t>weather/hrrr.py</a:t>
            </a:r>
          </a:p>
        </p:txBody>
      </p:sp>
      <p:sp>
        <p:nvSpPr>
          <p:cNvPr id="10" name="Rectangle 9"/>
          <p:cNvSpPr/>
          <p:nvPr/>
        </p:nvSpPr>
        <p:spPr>
          <a:xfrm>
            <a:off x="347472" y="3424893"/>
            <a:ext cx="2514600" cy="25603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i="1">
                <a:solidFill>
                  <a:srgbClr val="546E7A"/>
                </a:solidFill>
                <a:latin typeface="Courier New"/>
              </a:rPr>
              <a:t>build_flammap_wind_data()</a:t>
            </a:r>
          </a:p>
        </p:txBody>
      </p:sp>
      <p:sp>
        <p:nvSpPr>
          <p:cNvPr id="11" name="Rectangle 10"/>
          <p:cNvSpPr/>
          <p:nvPr/>
        </p:nvSpPr>
        <p:spPr>
          <a:xfrm>
            <a:off x="3154680" y="864573"/>
            <a:ext cx="2697480" cy="731520"/>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i="0">
                <a:solidFill>
                  <a:srgbClr val="ECF0F1"/>
                </a:solidFill>
                <a:latin typeface="Calibri"/>
              </a:rPr>
              <a:t>GridMET</a:t>
            </a:r>
          </a:p>
        </p:txBody>
      </p:sp>
      <p:sp>
        <p:nvSpPr>
          <p:cNvPr id="12" name="TextBox 11"/>
          <p:cNvSpPr txBox="1"/>
          <p:nvPr/>
        </p:nvSpPr>
        <p:spPr>
          <a:xfrm>
            <a:off x="3154680" y="1348431"/>
            <a:ext cx="2697480" cy="201168"/>
          </a:xfrm>
          <a:prstGeom prst="rect">
            <a:avLst/>
          </a:prstGeom>
          <a:noFill/>
        </p:spPr>
        <p:txBody>
          <a:bodyPr wrap="square">
            <a:spAutoFit/>
          </a:bodyPr>
          <a:lstStyle/>
          <a:p>
            <a:pPr algn="ctr"/>
            <a:r>
              <a:rPr sz="900" b="0" i="1" dirty="0">
                <a:solidFill>
                  <a:srgbClr val="ECF0F1"/>
                </a:solidFill>
                <a:latin typeface="Calibri"/>
              </a:rPr>
              <a:t>Daily · GEE export</a:t>
            </a:r>
          </a:p>
        </p:txBody>
      </p:sp>
      <p:sp>
        <p:nvSpPr>
          <p:cNvPr id="13" name="Rectangle 12"/>
          <p:cNvSpPr/>
          <p:nvPr/>
        </p:nvSpPr>
        <p:spPr>
          <a:xfrm>
            <a:off x="3154680" y="1632669"/>
            <a:ext cx="2697480" cy="2267712"/>
          </a:xfrm>
          <a:prstGeom prst="rect">
            <a:avLst/>
          </a:prstGeom>
          <a:solidFill>
            <a:srgbClr val="D8F3DC"/>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3246120" y="1705821"/>
            <a:ext cx="2514600" cy="219456"/>
          </a:xfrm>
          <a:prstGeom prst="rect">
            <a:avLst/>
          </a:prstGeom>
          <a:noFill/>
        </p:spPr>
        <p:txBody>
          <a:bodyPr wrap="square">
            <a:spAutoFit/>
          </a:bodyPr>
          <a:lstStyle/>
          <a:p>
            <a:pPr algn="l"/>
            <a:r>
              <a:rPr sz="900" b="1" i="0">
                <a:solidFill>
                  <a:srgbClr val="546E7A"/>
                </a:solidFill>
                <a:latin typeface="Calibri"/>
              </a:rPr>
              <a:t>Variables</a:t>
            </a:r>
          </a:p>
        </p:txBody>
      </p:sp>
      <p:sp>
        <p:nvSpPr>
          <p:cNvPr id="15" name="TextBox 14"/>
          <p:cNvSpPr txBox="1"/>
          <p:nvPr/>
        </p:nvSpPr>
        <p:spPr>
          <a:xfrm>
            <a:off x="3291840" y="1943565"/>
            <a:ext cx="2468880" cy="256032"/>
          </a:xfrm>
          <a:prstGeom prst="rect">
            <a:avLst/>
          </a:prstGeom>
          <a:noFill/>
        </p:spPr>
        <p:txBody>
          <a:bodyPr wrap="square">
            <a:spAutoFit/>
          </a:bodyPr>
          <a:lstStyle/>
          <a:p>
            <a:pPr algn="l"/>
            <a:r>
              <a:rPr sz="1100" b="0" i="0">
                <a:solidFill>
                  <a:srgbClr val="1A1A2E"/>
                </a:solidFill>
                <a:latin typeface="Calibri"/>
              </a:rPr>
              <a:t>• ERC climatology</a:t>
            </a:r>
          </a:p>
        </p:txBody>
      </p:sp>
      <p:sp>
        <p:nvSpPr>
          <p:cNvPr id="16" name="TextBox 15"/>
          <p:cNvSpPr txBox="1"/>
          <p:nvPr/>
        </p:nvSpPr>
        <p:spPr>
          <a:xfrm>
            <a:off x="3291840" y="2254461"/>
            <a:ext cx="2468880" cy="256032"/>
          </a:xfrm>
          <a:prstGeom prst="rect">
            <a:avLst/>
          </a:prstGeom>
          <a:noFill/>
        </p:spPr>
        <p:txBody>
          <a:bodyPr wrap="square">
            <a:spAutoFit/>
          </a:bodyPr>
          <a:lstStyle/>
          <a:p>
            <a:pPr algn="l"/>
            <a:r>
              <a:rPr sz="1100" b="0" i="0">
                <a:solidFill>
                  <a:srgbClr val="1A1A2E"/>
                </a:solidFill>
                <a:latin typeface="Calibri"/>
              </a:rPr>
              <a:t>• ERC classes (5 bands)</a:t>
            </a:r>
          </a:p>
        </p:txBody>
      </p:sp>
      <p:sp>
        <p:nvSpPr>
          <p:cNvPr id="17" name="TextBox 16"/>
          <p:cNvSpPr txBox="1"/>
          <p:nvPr/>
        </p:nvSpPr>
        <p:spPr>
          <a:xfrm>
            <a:off x="3291840" y="2565357"/>
            <a:ext cx="2468880" cy="256032"/>
          </a:xfrm>
          <a:prstGeom prst="rect">
            <a:avLst/>
          </a:prstGeom>
          <a:noFill/>
        </p:spPr>
        <p:txBody>
          <a:bodyPr wrap="square">
            <a:spAutoFit/>
          </a:bodyPr>
          <a:lstStyle/>
          <a:p>
            <a:pPr algn="l"/>
            <a:r>
              <a:rPr sz="1100" b="0" i="0">
                <a:solidFill>
                  <a:srgbClr val="1A1A2E"/>
                </a:solidFill>
                <a:latin typeface="Calibri"/>
              </a:rPr>
              <a:t>• FM100/FM1000</a:t>
            </a:r>
          </a:p>
        </p:txBody>
      </p:sp>
      <p:sp>
        <p:nvSpPr>
          <p:cNvPr id="18" name="Rectangle 17"/>
          <p:cNvSpPr/>
          <p:nvPr/>
        </p:nvSpPr>
        <p:spPr>
          <a:xfrm>
            <a:off x="3246120" y="3095709"/>
            <a:ext cx="2514600" cy="25603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2C6E49"/>
                </a:solidFill>
                <a:latin typeface="Courier New"/>
              </a:rPr>
              <a:t>weather/gridmet.py</a:t>
            </a:r>
          </a:p>
        </p:txBody>
      </p:sp>
      <p:sp>
        <p:nvSpPr>
          <p:cNvPr id="19" name="Rectangle 18"/>
          <p:cNvSpPr/>
          <p:nvPr/>
        </p:nvSpPr>
        <p:spPr>
          <a:xfrm>
            <a:off x="3246120" y="3424893"/>
            <a:ext cx="2514600" cy="25603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i="1">
                <a:solidFill>
                  <a:srgbClr val="546E7A"/>
                </a:solidFill>
                <a:latin typeface="Courier New"/>
              </a:rPr>
              <a:t>build_flammap_scenario_cache()</a:t>
            </a:r>
          </a:p>
        </p:txBody>
      </p:sp>
      <p:sp>
        <p:nvSpPr>
          <p:cNvPr id="20" name="Rectangle 19"/>
          <p:cNvSpPr/>
          <p:nvPr/>
        </p:nvSpPr>
        <p:spPr>
          <a:xfrm>
            <a:off x="6053328" y="864573"/>
            <a:ext cx="2697480" cy="731520"/>
          </a:xfrm>
          <a:prstGeom prst="rect">
            <a:avLst/>
          </a:prstGeom>
          <a:solidFill>
            <a:srgbClr val="D56229"/>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2200" b="1" i="0">
                <a:solidFill>
                  <a:srgbClr val="ECF0F1"/>
                </a:solidFill>
                <a:latin typeface="Calibri"/>
              </a:rPr>
              <a:t>NWS RTMA</a:t>
            </a:r>
          </a:p>
        </p:txBody>
      </p:sp>
      <p:sp>
        <p:nvSpPr>
          <p:cNvPr id="21" name="TextBox 20"/>
          <p:cNvSpPr txBox="1"/>
          <p:nvPr/>
        </p:nvSpPr>
        <p:spPr>
          <a:xfrm>
            <a:off x="6053328" y="1348431"/>
            <a:ext cx="2697480" cy="201168"/>
          </a:xfrm>
          <a:prstGeom prst="rect">
            <a:avLst/>
          </a:prstGeom>
          <a:noFill/>
        </p:spPr>
        <p:txBody>
          <a:bodyPr wrap="square">
            <a:spAutoFit/>
          </a:bodyPr>
          <a:lstStyle/>
          <a:p>
            <a:pPr algn="ctr"/>
            <a:r>
              <a:rPr sz="900" b="0" i="1" dirty="0">
                <a:solidFill>
                  <a:srgbClr val="ECF0F1"/>
                </a:solidFill>
                <a:latin typeface="Calibri"/>
              </a:rPr>
              <a:t>Hourly · GEE · 2.5 km</a:t>
            </a:r>
          </a:p>
        </p:txBody>
      </p:sp>
      <p:sp>
        <p:nvSpPr>
          <p:cNvPr id="22" name="Rectangle 21"/>
          <p:cNvSpPr/>
          <p:nvPr/>
        </p:nvSpPr>
        <p:spPr>
          <a:xfrm>
            <a:off x="6053328" y="1632669"/>
            <a:ext cx="2697480" cy="2267712"/>
          </a:xfrm>
          <a:prstGeom prst="rect">
            <a:avLst/>
          </a:prstGeom>
          <a:solidFill>
            <a:srgbClr val="FDE9D6"/>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144768" y="1705821"/>
            <a:ext cx="2514600" cy="219456"/>
          </a:xfrm>
          <a:prstGeom prst="rect">
            <a:avLst/>
          </a:prstGeom>
          <a:noFill/>
        </p:spPr>
        <p:txBody>
          <a:bodyPr wrap="square">
            <a:spAutoFit/>
          </a:bodyPr>
          <a:lstStyle/>
          <a:p>
            <a:pPr algn="l"/>
            <a:r>
              <a:rPr sz="900" b="1" i="0">
                <a:solidFill>
                  <a:srgbClr val="546E7A"/>
                </a:solidFill>
                <a:latin typeface="Calibri"/>
              </a:rPr>
              <a:t>Variables</a:t>
            </a:r>
          </a:p>
        </p:txBody>
      </p:sp>
      <p:sp>
        <p:nvSpPr>
          <p:cNvPr id="24" name="TextBox 23"/>
          <p:cNvSpPr txBox="1"/>
          <p:nvPr/>
        </p:nvSpPr>
        <p:spPr>
          <a:xfrm>
            <a:off x="6190488" y="1943565"/>
            <a:ext cx="2468880" cy="256032"/>
          </a:xfrm>
          <a:prstGeom prst="rect">
            <a:avLst/>
          </a:prstGeom>
          <a:noFill/>
        </p:spPr>
        <p:txBody>
          <a:bodyPr wrap="square">
            <a:spAutoFit/>
          </a:bodyPr>
          <a:lstStyle/>
          <a:p>
            <a:pPr algn="l"/>
            <a:r>
              <a:rPr sz="1100" b="0" i="0">
                <a:solidFill>
                  <a:srgbClr val="1A1A2E"/>
                </a:solidFill>
                <a:latin typeface="Calibri"/>
              </a:rPr>
              <a:t>• FM1/FM10/FM100 (dead)</a:t>
            </a:r>
          </a:p>
        </p:txBody>
      </p:sp>
      <p:sp>
        <p:nvSpPr>
          <p:cNvPr id="25" name="TextBox 24"/>
          <p:cNvSpPr txBox="1"/>
          <p:nvPr/>
        </p:nvSpPr>
        <p:spPr>
          <a:xfrm>
            <a:off x="6190488" y="2254461"/>
            <a:ext cx="2468880" cy="256032"/>
          </a:xfrm>
          <a:prstGeom prst="rect">
            <a:avLst/>
          </a:prstGeom>
          <a:noFill/>
        </p:spPr>
        <p:txBody>
          <a:bodyPr wrap="square">
            <a:spAutoFit/>
          </a:bodyPr>
          <a:lstStyle/>
          <a:p>
            <a:pPr algn="l"/>
            <a:r>
              <a:rPr sz="1100" b="0" i="0">
                <a:solidFill>
                  <a:srgbClr val="1A1A2E"/>
                </a:solidFill>
                <a:latin typeface="Calibri"/>
              </a:rPr>
              <a:t>• FM_herb/FM_woody (live)</a:t>
            </a:r>
          </a:p>
        </p:txBody>
      </p:sp>
      <p:sp>
        <p:nvSpPr>
          <p:cNvPr id="26" name="TextBox 25"/>
          <p:cNvSpPr txBox="1"/>
          <p:nvPr/>
        </p:nvSpPr>
        <p:spPr>
          <a:xfrm>
            <a:off x="6190488" y="2565357"/>
            <a:ext cx="2468880" cy="256032"/>
          </a:xfrm>
          <a:prstGeom prst="rect">
            <a:avLst/>
          </a:prstGeom>
          <a:noFill/>
        </p:spPr>
        <p:txBody>
          <a:bodyPr wrap="square">
            <a:spAutoFit/>
          </a:bodyPr>
          <a:lstStyle/>
          <a:p>
            <a:pPr algn="l"/>
            <a:r>
              <a:rPr sz="1100" b="0" i="0">
                <a:solidFill>
                  <a:srgbClr val="1A1A2E"/>
                </a:solidFill>
                <a:latin typeface="Calibri"/>
              </a:rPr>
              <a:t>• Fire-masked pyrome means</a:t>
            </a:r>
          </a:p>
        </p:txBody>
      </p:sp>
      <p:sp>
        <p:nvSpPr>
          <p:cNvPr id="27" name="Rectangle 26"/>
          <p:cNvSpPr/>
          <p:nvPr/>
        </p:nvSpPr>
        <p:spPr>
          <a:xfrm>
            <a:off x="6144768" y="3095709"/>
            <a:ext cx="2514600" cy="25603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D4622A"/>
                </a:solidFill>
                <a:latin typeface="Courier New"/>
              </a:rPr>
              <a:t>weather/rtma.py</a:t>
            </a:r>
          </a:p>
        </p:txBody>
      </p:sp>
      <p:sp>
        <p:nvSpPr>
          <p:cNvPr id="28" name="Rectangle 27"/>
          <p:cNvSpPr/>
          <p:nvPr/>
        </p:nvSpPr>
        <p:spPr>
          <a:xfrm>
            <a:off x="6144768" y="3424893"/>
            <a:ext cx="2514600" cy="25603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800" b="0" i="1">
                <a:solidFill>
                  <a:srgbClr val="546E7A"/>
                </a:solidFill>
                <a:latin typeface="Courier New"/>
              </a:rPr>
              <a:t>build_rtma_scenario_fm()</a:t>
            </a:r>
          </a:p>
        </p:txBody>
      </p:sp>
      <p:sp>
        <p:nvSpPr>
          <p:cNvPr id="29" name="Rectangle 28"/>
          <p:cNvSpPr/>
          <p:nvPr/>
        </p:nvSpPr>
        <p:spPr>
          <a:xfrm>
            <a:off x="256032" y="4081710"/>
            <a:ext cx="8522208" cy="915949"/>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13572" y="4218517"/>
            <a:ext cx="8302752" cy="276999"/>
          </a:xfrm>
          <a:prstGeom prst="rect">
            <a:avLst/>
          </a:prstGeom>
          <a:noFill/>
        </p:spPr>
        <p:txBody>
          <a:bodyPr wrap="square">
            <a:spAutoFit/>
          </a:bodyPr>
          <a:lstStyle/>
          <a:p>
            <a:pPr algn="l"/>
            <a:r>
              <a:rPr sz="1200" b="1" i="0" dirty="0">
                <a:solidFill>
                  <a:srgbClr val="1A1A2E"/>
                </a:solidFill>
                <a:latin typeface="Calibri"/>
              </a:rPr>
              <a:t>ERC GridMET-derived — the </a:t>
            </a:r>
            <a:r>
              <a:rPr sz="1200" b="1" i="0" dirty="0" err="1">
                <a:solidFill>
                  <a:srgbClr val="1A1A2E"/>
                </a:solidFill>
                <a:latin typeface="Calibri"/>
              </a:rPr>
              <a:t>FSPro</a:t>
            </a:r>
            <a:r>
              <a:rPr sz="1200" b="1" i="0" dirty="0">
                <a:solidFill>
                  <a:srgbClr val="1A1A2E"/>
                </a:solidFill>
                <a:latin typeface="Calibri"/>
              </a:rPr>
              <a:t>/FSim daily-climatology</a:t>
            </a:r>
          </a:p>
        </p:txBody>
      </p:sp>
      <p:sp>
        <p:nvSpPr>
          <p:cNvPr id="31" name="TextBox 30"/>
          <p:cNvSpPr txBox="1"/>
          <p:nvPr/>
        </p:nvSpPr>
        <p:spPr>
          <a:xfrm>
            <a:off x="420624" y="4586181"/>
            <a:ext cx="8302752" cy="420624"/>
          </a:xfrm>
          <a:prstGeom prst="rect">
            <a:avLst/>
          </a:prstGeom>
          <a:noFill/>
        </p:spPr>
        <p:txBody>
          <a:bodyPr wrap="square">
            <a:spAutoFit/>
          </a:bodyPr>
          <a:lstStyle/>
          <a:p>
            <a:pPr algn="l"/>
            <a:r>
              <a:rPr sz="1100" b="0" i="0" dirty="0">
                <a:solidFill>
                  <a:srgbClr val="546E7A"/>
                </a:solidFill>
                <a:latin typeface="Calibri"/>
              </a:rPr>
              <a:t>RTMA upgrades the dead-FM and live-FM legs of FlamMap percentile scenarios via NFDRS78 time-lag recursion and GSI at 1-hour time steps.</a:t>
            </a:r>
          </a:p>
        </p:txBody>
      </p:sp>
      <p:sp>
        <p:nvSpPr>
          <p:cNvPr id="33" name="Rectangle 32">
            <a:extLst>
              <a:ext uri="{FF2B5EF4-FFF2-40B4-BE49-F238E27FC236}">
                <a16:creationId xmlns:a16="http://schemas.microsoft.com/office/drawing/2014/main" id="{47E616B6-AA41-9242-1F66-E995F40A903E}"/>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34" name="Rectangle 33">
            <a:extLst>
              <a:ext uri="{FF2B5EF4-FFF2-40B4-BE49-F238E27FC236}">
                <a16:creationId xmlns:a16="http://schemas.microsoft.com/office/drawing/2014/main" id="{8AB38178-CA1D-29CB-1DD6-2A4FD987E171}"/>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models/</a:t>
            </a:r>
          </a:p>
        </p:txBody>
      </p:sp>
      <p:sp>
        <p:nvSpPr>
          <p:cNvPr id="35" name="Rectangle 34">
            <a:extLst>
              <a:ext uri="{FF2B5EF4-FFF2-40B4-BE49-F238E27FC236}">
                <a16:creationId xmlns:a16="http://schemas.microsoft.com/office/drawing/2014/main" id="{7E17A9E2-2A43-BA35-E6FA-4A7D137ECA99}"/>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6" name="Rectangle 35">
            <a:extLst>
              <a:ext uri="{FF2B5EF4-FFF2-40B4-BE49-F238E27FC236}">
                <a16:creationId xmlns:a16="http://schemas.microsoft.com/office/drawing/2014/main" id="{CAC91280-6255-FF89-5CD3-68FFC3A622E4}"/>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7" name="Rectangle 36">
            <a:extLst>
              <a:ext uri="{FF2B5EF4-FFF2-40B4-BE49-F238E27FC236}">
                <a16:creationId xmlns:a16="http://schemas.microsoft.com/office/drawing/2014/main" id="{67185D79-5716-006A-A2AF-A783111D78CB}"/>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8" name="Rectangle 37">
            <a:extLst>
              <a:ext uri="{FF2B5EF4-FFF2-40B4-BE49-F238E27FC236}">
                <a16:creationId xmlns:a16="http://schemas.microsoft.com/office/drawing/2014/main" id="{4D14E8E9-7B82-C21E-A800-B3359EB1A0CC}"/>
              </a:ext>
            </a:extLst>
          </p:cNvPr>
          <p:cNvSpPr/>
          <p:nvPr/>
        </p:nvSpPr>
        <p:spPr>
          <a:xfrm>
            <a:off x="2011640"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9" name="Rectangle 38">
            <a:extLst>
              <a:ext uri="{FF2B5EF4-FFF2-40B4-BE49-F238E27FC236}">
                <a16:creationId xmlns:a16="http://schemas.microsoft.com/office/drawing/2014/main" id="{D0F96A85-9E1A-0DF1-8F27-F1E60AC79046}"/>
              </a:ext>
            </a:extLst>
          </p:cNvPr>
          <p:cNvSpPr/>
          <p:nvPr/>
        </p:nvSpPr>
        <p:spPr>
          <a:xfrm>
            <a:off x="252234" y="90975"/>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0" name="Rectangle 39">
            <a:extLst>
              <a:ext uri="{FF2B5EF4-FFF2-40B4-BE49-F238E27FC236}">
                <a16:creationId xmlns:a16="http://schemas.microsoft.com/office/drawing/2014/main" id="{8E5C3299-87D2-5DB7-CC57-86C4FFC62685}"/>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 name="Rectangle 40">
            <a:extLst>
              <a:ext uri="{FF2B5EF4-FFF2-40B4-BE49-F238E27FC236}">
                <a16:creationId xmlns:a16="http://schemas.microsoft.com/office/drawing/2014/main" id="{9CA303F4-3E9F-9D0D-04FB-28F7CCDB9BEB}"/>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Rectangle 41">
            <a:extLst>
              <a:ext uri="{FF2B5EF4-FFF2-40B4-BE49-F238E27FC236}">
                <a16:creationId xmlns:a16="http://schemas.microsoft.com/office/drawing/2014/main" id="{E5797F1D-3246-2AED-E942-C34077C772B0}"/>
              </a:ext>
            </a:extLst>
          </p:cNvPr>
          <p:cNvSpPr/>
          <p:nvPr/>
        </p:nvSpPr>
        <p:spPr>
          <a:xfrm>
            <a:off x="3051425" y="708918"/>
            <a:ext cx="2887038" cy="3282128"/>
          </a:xfrm>
          <a:prstGeom prst="rect">
            <a:avLst/>
          </a:prstGeom>
          <a:solidFill>
            <a:srgbClr val="FFFFFF">
              <a:alpha val="50980"/>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472" y="500517"/>
            <a:ext cx="8412480" cy="475488"/>
          </a:xfrm>
          <a:prstGeom prst="rect">
            <a:avLst/>
          </a:prstGeom>
          <a:noFill/>
        </p:spPr>
        <p:txBody>
          <a:bodyPr wrap="square">
            <a:spAutoFit/>
          </a:bodyPr>
          <a:lstStyle/>
          <a:p>
            <a:pPr algn="l"/>
            <a:r>
              <a:rPr sz="2800" b="1" i="0" dirty="0">
                <a:solidFill>
                  <a:srgbClr val="1A1A2E"/>
                </a:solidFill>
                <a:latin typeface="Calibri"/>
              </a:rPr>
              <a:t>What is NWS RTMA?</a:t>
            </a:r>
          </a:p>
        </p:txBody>
      </p:sp>
      <p:sp>
        <p:nvSpPr>
          <p:cNvPr id="3" name="TextBox 2"/>
          <p:cNvSpPr txBox="1"/>
          <p:nvPr/>
        </p:nvSpPr>
        <p:spPr>
          <a:xfrm>
            <a:off x="347472" y="956349"/>
            <a:ext cx="4937760" cy="323165"/>
          </a:xfrm>
          <a:prstGeom prst="rect">
            <a:avLst/>
          </a:prstGeom>
          <a:noFill/>
        </p:spPr>
        <p:txBody>
          <a:bodyPr wrap="square">
            <a:spAutoFit/>
          </a:bodyPr>
          <a:lstStyle/>
          <a:p>
            <a:pPr algn="l"/>
            <a:r>
              <a:rPr lang="en-US" sz="1500" b="1" i="0" dirty="0">
                <a:solidFill>
                  <a:srgbClr val="1A1A2E"/>
                </a:solidFill>
                <a:latin typeface="Calibri"/>
              </a:rPr>
              <a:t>NOAA / NWS</a:t>
            </a:r>
            <a:r>
              <a:rPr sz="1500" b="1" i="0" dirty="0">
                <a:solidFill>
                  <a:srgbClr val="1A1A2E"/>
                </a:solidFill>
                <a:latin typeface="Calibri"/>
              </a:rPr>
              <a:t> Real-Time Mesoscale Analysis</a:t>
            </a:r>
          </a:p>
        </p:txBody>
      </p:sp>
      <p:sp>
        <p:nvSpPr>
          <p:cNvPr id="4" name="TextBox 3"/>
          <p:cNvSpPr txBox="1"/>
          <p:nvPr/>
        </p:nvSpPr>
        <p:spPr>
          <a:xfrm>
            <a:off x="347472" y="1335024"/>
            <a:ext cx="4937760" cy="658368"/>
          </a:xfrm>
          <a:prstGeom prst="rect">
            <a:avLst/>
          </a:prstGeom>
          <a:noFill/>
        </p:spPr>
        <p:txBody>
          <a:bodyPr wrap="square">
            <a:spAutoFit/>
          </a:bodyPr>
          <a:lstStyle/>
          <a:p>
            <a:pPr algn="l"/>
            <a:r>
              <a:rPr sz="1100" b="0" i="0">
                <a:solidFill>
                  <a:srgbClr val="546E7A"/>
                </a:solidFill>
                <a:latin typeface="Calibri"/>
              </a:rPr>
              <a:t>Produced by NOAA/NWS using the Rapid Refresh (RAP) assimilation system. Ingests surface observations, radar, satellite, and NWP model output to produce a gridded, analysis-quality surface weather field at hourly cadence.</a:t>
            </a:r>
          </a:p>
        </p:txBody>
      </p:sp>
      <p:sp>
        <p:nvSpPr>
          <p:cNvPr id="5" name="TextBox 4"/>
          <p:cNvSpPr txBox="1"/>
          <p:nvPr/>
        </p:nvSpPr>
        <p:spPr>
          <a:xfrm>
            <a:off x="347472" y="2103120"/>
            <a:ext cx="4937760" cy="420624"/>
          </a:xfrm>
          <a:prstGeom prst="rect">
            <a:avLst/>
          </a:prstGeom>
          <a:noFill/>
        </p:spPr>
        <p:txBody>
          <a:bodyPr wrap="square">
            <a:spAutoFit/>
          </a:bodyPr>
          <a:lstStyle/>
          <a:p>
            <a:pPr algn="l"/>
            <a:r>
              <a:rPr sz="1100" b="0" i="0">
                <a:solidFill>
                  <a:srgbClr val="1A1A2E"/>
                </a:solidFill>
                <a:latin typeface="Calibri"/>
              </a:rPr>
              <a:t>• Continuous hourly archive from 2011 to present</a:t>
            </a:r>
          </a:p>
        </p:txBody>
      </p:sp>
      <p:sp>
        <p:nvSpPr>
          <p:cNvPr id="6" name="TextBox 5"/>
          <p:cNvSpPr txBox="1"/>
          <p:nvPr/>
        </p:nvSpPr>
        <p:spPr>
          <a:xfrm>
            <a:off x="347472" y="2578608"/>
            <a:ext cx="4937760" cy="420624"/>
          </a:xfrm>
          <a:prstGeom prst="rect">
            <a:avLst/>
          </a:prstGeom>
          <a:noFill/>
        </p:spPr>
        <p:txBody>
          <a:bodyPr wrap="square">
            <a:spAutoFit/>
          </a:bodyPr>
          <a:lstStyle/>
          <a:p>
            <a:pPr algn="l"/>
            <a:r>
              <a:rPr sz="1100" b="0" i="0">
                <a:solidFill>
                  <a:srgbClr val="1A1A2E"/>
                </a:solidFill>
                <a:latin typeface="Calibri"/>
              </a:rPr>
              <a:t>• CONUS coverage at native 2.5 km resolution</a:t>
            </a:r>
          </a:p>
        </p:txBody>
      </p:sp>
      <p:sp>
        <p:nvSpPr>
          <p:cNvPr id="7" name="TextBox 6"/>
          <p:cNvSpPr txBox="1"/>
          <p:nvPr/>
        </p:nvSpPr>
        <p:spPr>
          <a:xfrm>
            <a:off x="347472" y="3054096"/>
            <a:ext cx="4937760" cy="420624"/>
          </a:xfrm>
          <a:prstGeom prst="rect">
            <a:avLst/>
          </a:prstGeom>
          <a:noFill/>
        </p:spPr>
        <p:txBody>
          <a:bodyPr wrap="square">
            <a:spAutoFit/>
          </a:bodyPr>
          <a:lstStyle/>
          <a:p>
            <a:pPr algn="l"/>
            <a:r>
              <a:rPr sz="1100" b="0" i="0">
                <a:solidFill>
                  <a:srgbClr val="1A1A2E"/>
                </a:solidFill>
                <a:latin typeface="Calibri"/>
              </a:rPr>
              <a:t>• Available via Google Earth Engine: NOAA/NWS/RTMA</a:t>
            </a:r>
          </a:p>
        </p:txBody>
      </p:sp>
      <p:sp>
        <p:nvSpPr>
          <p:cNvPr id="8" name="TextBox 7"/>
          <p:cNvSpPr txBox="1"/>
          <p:nvPr/>
        </p:nvSpPr>
        <p:spPr>
          <a:xfrm>
            <a:off x="347472" y="3529584"/>
            <a:ext cx="4937760" cy="420624"/>
          </a:xfrm>
          <a:prstGeom prst="rect">
            <a:avLst/>
          </a:prstGeom>
          <a:noFill/>
        </p:spPr>
        <p:txBody>
          <a:bodyPr wrap="square">
            <a:spAutoFit/>
          </a:bodyPr>
          <a:lstStyle/>
          <a:p>
            <a:pPr algn="l"/>
            <a:r>
              <a:rPr sz="1100" b="0" i="0">
                <a:solidFill>
                  <a:srgbClr val="1A1A2E"/>
                </a:solidFill>
                <a:latin typeface="Calibri"/>
              </a:rPr>
              <a:t>• Key bands: TMP (°C), DPT (°C), ACPC01 (precip, mm/hr)</a:t>
            </a:r>
          </a:p>
        </p:txBody>
      </p:sp>
      <p:sp>
        <p:nvSpPr>
          <p:cNvPr id="9" name="TextBox 8"/>
          <p:cNvSpPr txBox="1"/>
          <p:nvPr/>
        </p:nvSpPr>
        <p:spPr>
          <a:xfrm>
            <a:off x="347472" y="4005072"/>
            <a:ext cx="4937760" cy="420624"/>
          </a:xfrm>
          <a:prstGeom prst="rect">
            <a:avLst/>
          </a:prstGeom>
          <a:noFill/>
        </p:spPr>
        <p:txBody>
          <a:bodyPr wrap="square">
            <a:spAutoFit/>
          </a:bodyPr>
          <a:lstStyle/>
          <a:p>
            <a:pPr algn="l"/>
            <a:r>
              <a:rPr sz="1100" b="0" i="0">
                <a:solidFill>
                  <a:srgbClr val="1A1A2E"/>
                </a:solidFill>
                <a:latin typeface="Calibri"/>
              </a:rPr>
              <a:t>• Derived: RH (%), VPD (Pa), EMC (%) computed per-pixel in GEE</a:t>
            </a:r>
          </a:p>
        </p:txBody>
      </p:sp>
      <p:sp>
        <p:nvSpPr>
          <p:cNvPr id="10" name="Rectangle 9"/>
          <p:cNvSpPr/>
          <p:nvPr/>
        </p:nvSpPr>
        <p:spPr>
          <a:xfrm>
            <a:off x="5486400" y="749808"/>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5486400" y="749808"/>
            <a:ext cx="146304" cy="603504"/>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687568" y="795528"/>
            <a:ext cx="2971800" cy="228600"/>
          </a:xfrm>
          <a:prstGeom prst="rect">
            <a:avLst/>
          </a:prstGeom>
          <a:noFill/>
        </p:spPr>
        <p:txBody>
          <a:bodyPr wrap="square">
            <a:spAutoFit/>
          </a:bodyPr>
          <a:lstStyle/>
          <a:p>
            <a:pPr algn="l"/>
            <a:r>
              <a:rPr sz="1000" b="1" i="0">
                <a:solidFill>
                  <a:srgbClr val="546E7A"/>
                </a:solidFill>
                <a:latin typeface="Calibri"/>
              </a:rPr>
              <a:t>Resolution</a:t>
            </a:r>
          </a:p>
        </p:txBody>
      </p:sp>
      <p:sp>
        <p:nvSpPr>
          <p:cNvPr id="13" name="TextBox 12"/>
          <p:cNvSpPr txBox="1"/>
          <p:nvPr/>
        </p:nvSpPr>
        <p:spPr>
          <a:xfrm>
            <a:off x="5687568" y="1042415"/>
            <a:ext cx="2971800" cy="256032"/>
          </a:xfrm>
          <a:prstGeom prst="rect">
            <a:avLst/>
          </a:prstGeom>
          <a:noFill/>
        </p:spPr>
        <p:txBody>
          <a:bodyPr wrap="square">
            <a:spAutoFit/>
          </a:bodyPr>
          <a:lstStyle/>
          <a:p>
            <a:pPr algn="l"/>
            <a:r>
              <a:rPr sz="1200" b="1" i="0">
                <a:solidFill>
                  <a:srgbClr val="1A1A2E"/>
                </a:solidFill>
                <a:latin typeface="Courier New"/>
              </a:rPr>
              <a:t>2.5 km (CONUS)</a:t>
            </a:r>
          </a:p>
        </p:txBody>
      </p:sp>
      <p:sp>
        <p:nvSpPr>
          <p:cNvPr id="14" name="Rectangle 13"/>
          <p:cNvSpPr/>
          <p:nvPr/>
        </p:nvSpPr>
        <p:spPr>
          <a:xfrm>
            <a:off x="5486400" y="1463040"/>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486400" y="1463040"/>
            <a:ext cx="146304" cy="603504"/>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687568" y="1508760"/>
            <a:ext cx="2971800" cy="228600"/>
          </a:xfrm>
          <a:prstGeom prst="rect">
            <a:avLst/>
          </a:prstGeom>
          <a:noFill/>
        </p:spPr>
        <p:txBody>
          <a:bodyPr wrap="square">
            <a:spAutoFit/>
          </a:bodyPr>
          <a:lstStyle/>
          <a:p>
            <a:pPr algn="l"/>
            <a:r>
              <a:rPr sz="1000" b="1" i="0">
                <a:solidFill>
                  <a:srgbClr val="546E7A"/>
                </a:solidFill>
                <a:latin typeface="Calibri"/>
              </a:rPr>
              <a:t>Cadence</a:t>
            </a:r>
          </a:p>
        </p:txBody>
      </p:sp>
      <p:sp>
        <p:nvSpPr>
          <p:cNvPr id="17" name="TextBox 16"/>
          <p:cNvSpPr txBox="1"/>
          <p:nvPr/>
        </p:nvSpPr>
        <p:spPr>
          <a:xfrm>
            <a:off x="5687568" y="1755648"/>
            <a:ext cx="2971800" cy="256032"/>
          </a:xfrm>
          <a:prstGeom prst="rect">
            <a:avLst/>
          </a:prstGeom>
          <a:noFill/>
        </p:spPr>
        <p:txBody>
          <a:bodyPr wrap="square">
            <a:spAutoFit/>
          </a:bodyPr>
          <a:lstStyle/>
          <a:p>
            <a:pPr algn="l"/>
            <a:r>
              <a:rPr sz="1200" b="1" i="0">
                <a:solidFill>
                  <a:srgbClr val="1A1A2E"/>
                </a:solidFill>
                <a:latin typeface="Courier New"/>
              </a:rPr>
              <a:t>Hourly</a:t>
            </a:r>
          </a:p>
        </p:txBody>
      </p:sp>
      <p:sp>
        <p:nvSpPr>
          <p:cNvPr id="18" name="Rectangle 17"/>
          <p:cNvSpPr/>
          <p:nvPr/>
        </p:nvSpPr>
        <p:spPr>
          <a:xfrm>
            <a:off x="5486400" y="2176272"/>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5486400" y="2176272"/>
            <a:ext cx="146304" cy="603504"/>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687568" y="2221991"/>
            <a:ext cx="2971800" cy="228600"/>
          </a:xfrm>
          <a:prstGeom prst="rect">
            <a:avLst/>
          </a:prstGeom>
          <a:noFill/>
        </p:spPr>
        <p:txBody>
          <a:bodyPr wrap="square">
            <a:spAutoFit/>
          </a:bodyPr>
          <a:lstStyle/>
          <a:p>
            <a:pPr algn="l"/>
            <a:r>
              <a:rPr sz="1000" b="1" i="0">
                <a:solidFill>
                  <a:srgbClr val="546E7A"/>
                </a:solidFill>
                <a:latin typeface="Calibri"/>
              </a:rPr>
              <a:t>Archive</a:t>
            </a:r>
          </a:p>
        </p:txBody>
      </p:sp>
      <p:sp>
        <p:nvSpPr>
          <p:cNvPr id="21" name="TextBox 20"/>
          <p:cNvSpPr txBox="1"/>
          <p:nvPr/>
        </p:nvSpPr>
        <p:spPr>
          <a:xfrm>
            <a:off x="5687568" y="2468879"/>
            <a:ext cx="2971800" cy="256032"/>
          </a:xfrm>
          <a:prstGeom prst="rect">
            <a:avLst/>
          </a:prstGeom>
          <a:noFill/>
        </p:spPr>
        <p:txBody>
          <a:bodyPr wrap="square">
            <a:spAutoFit/>
          </a:bodyPr>
          <a:lstStyle/>
          <a:p>
            <a:pPr algn="l"/>
            <a:r>
              <a:rPr sz="1200" b="1" i="0">
                <a:solidFill>
                  <a:srgbClr val="1A1A2E"/>
                </a:solidFill>
                <a:latin typeface="Courier New"/>
              </a:rPr>
              <a:t>2011–present (15 years)</a:t>
            </a:r>
          </a:p>
        </p:txBody>
      </p:sp>
      <p:sp>
        <p:nvSpPr>
          <p:cNvPr id="22" name="Rectangle 21"/>
          <p:cNvSpPr/>
          <p:nvPr/>
        </p:nvSpPr>
        <p:spPr>
          <a:xfrm>
            <a:off x="5486400" y="2889503"/>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5486400" y="2889503"/>
            <a:ext cx="146304" cy="603504"/>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687568" y="2935223"/>
            <a:ext cx="2971800" cy="228600"/>
          </a:xfrm>
          <a:prstGeom prst="rect">
            <a:avLst/>
          </a:prstGeom>
          <a:noFill/>
        </p:spPr>
        <p:txBody>
          <a:bodyPr wrap="square">
            <a:spAutoFit/>
          </a:bodyPr>
          <a:lstStyle/>
          <a:p>
            <a:pPr algn="l"/>
            <a:r>
              <a:rPr sz="1000" b="1" i="0">
                <a:solidFill>
                  <a:srgbClr val="546E7A"/>
                </a:solidFill>
                <a:latin typeface="Calibri"/>
              </a:rPr>
              <a:t>GEE</a:t>
            </a:r>
          </a:p>
        </p:txBody>
      </p:sp>
      <p:sp>
        <p:nvSpPr>
          <p:cNvPr id="25" name="TextBox 24"/>
          <p:cNvSpPr txBox="1"/>
          <p:nvPr/>
        </p:nvSpPr>
        <p:spPr>
          <a:xfrm>
            <a:off x="5687568" y="3182111"/>
            <a:ext cx="2971800" cy="256032"/>
          </a:xfrm>
          <a:prstGeom prst="rect">
            <a:avLst/>
          </a:prstGeom>
          <a:noFill/>
        </p:spPr>
        <p:txBody>
          <a:bodyPr wrap="square">
            <a:spAutoFit/>
          </a:bodyPr>
          <a:lstStyle/>
          <a:p>
            <a:pPr algn="l"/>
            <a:r>
              <a:rPr sz="1200" b="1" i="0">
                <a:solidFill>
                  <a:srgbClr val="1A1A2E"/>
                </a:solidFill>
                <a:latin typeface="Courier New"/>
              </a:rPr>
              <a:t>NOAA/NWS/RTMA</a:t>
            </a:r>
          </a:p>
        </p:txBody>
      </p:sp>
      <p:sp>
        <p:nvSpPr>
          <p:cNvPr id="26" name="Rectangle 25"/>
          <p:cNvSpPr/>
          <p:nvPr/>
        </p:nvSpPr>
        <p:spPr>
          <a:xfrm>
            <a:off x="5486400" y="3602736"/>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5486400" y="3602736"/>
            <a:ext cx="146304" cy="60350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5687568" y="3648456"/>
            <a:ext cx="2971800" cy="228600"/>
          </a:xfrm>
          <a:prstGeom prst="rect">
            <a:avLst/>
          </a:prstGeom>
          <a:noFill/>
        </p:spPr>
        <p:txBody>
          <a:bodyPr wrap="square">
            <a:spAutoFit/>
          </a:bodyPr>
          <a:lstStyle/>
          <a:p>
            <a:pPr algn="l"/>
            <a:r>
              <a:rPr sz="1000" b="1" i="0" dirty="0">
                <a:solidFill>
                  <a:srgbClr val="546E7A"/>
                </a:solidFill>
                <a:latin typeface="Calibri"/>
              </a:rPr>
              <a:t>CO </a:t>
            </a:r>
            <a:r>
              <a:rPr sz="1000" b="1" i="0" dirty="0" err="1">
                <a:solidFill>
                  <a:srgbClr val="546E7A"/>
                </a:solidFill>
                <a:latin typeface="Calibri"/>
              </a:rPr>
              <a:t>Pyromes</a:t>
            </a:r>
            <a:endParaRPr sz="1000" b="1" i="0" dirty="0">
              <a:solidFill>
                <a:srgbClr val="546E7A"/>
              </a:solidFill>
              <a:latin typeface="Calibri"/>
            </a:endParaRPr>
          </a:p>
        </p:txBody>
      </p:sp>
      <p:sp>
        <p:nvSpPr>
          <p:cNvPr id="29" name="TextBox 28"/>
          <p:cNvSpPr txBox="1"/>
          <p:nvPr/>
        </p:nvSpPr>
        <p:spPr>
          <a:xfrm>
            <a:off x="5687568" y="3895344"/>
            <a:ext cx="2971800" cy="253916"/>
          </a:xfrm>
          <a:prstGeom prst="rect">
            <a:avLst/>
          </a:prstGeom>
          <a:noFill/>
        </p:spPr>
        <p:txBody>
          <a:bodyPr wrap="square">
            <a:spAutoFit/>
          </a:bodyPr>
          <a:lstStyle/>
          <a:p>
            <a:pPr algn="l"/>
            <a:r>
              <a:rPr sz="1050" b="1" i="0" dirty="0">
                <a:solidFill>
                  <a:srgbClr val="1A1A2E"/>
                </a:solidFill>
                <a:latin typeface="Courier New"/>
              </a:rPr>
              <a:t>42, 43, 45, 46, 47, 52, 53, 56, 128</a:t>
            </a:r>
          </a:p>
        </p:txBody>
      </p:sp>
      <p:sp>
        <p:nvSpPr>
          <p:cNvPr id="30" name="Rectangle 29"/>
          <p:cNvSpPr/>
          <p:nvPr/>
        </p:nvSpPr>
        <p:spPr>
          <a:xfrm>
            <a:off x="5486400" y="4315968"/>
            <a:ext cx="3310128" cy="60350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ectangle 30"/>
          <p:cNvSpPr/>
          <p:nvPr/>
        </p:nvSpPr>
        <p:spPr>
          <a:xfrm>
            <a:off x="5486400" y="4315968"/>
            <a:ext cx="146304" cy="60350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5687568" y="4361688"/>
            <a:ext cx="2971800" cy="228600"/>
          </a:xfrm>
          <a:prstGeom prst="rect">
            <a:avLst/>
          </a:prstGeom>
          <a:noFill/>
        </p:spPr>
        <p:txBody>
          <a:bodyPr wrap="square">
            <a:spAutoFit/>
          </a:bodyPr>
          <a:lstStyle/>
          <a:p>
            <a:pPr algn="l"/>
            <a:r>
              <a:rPr sz="1000" b="1" i="0">
                <a:solidFill>
                  <a:srgbClr val="546E7A"/>
                </a:solidFill>
                <a:latin typeface="Calibri"/>
              </a:rPr>
              <a:t>Fire season</a:t>
            </a:r>
          </a:p>
        </p:txBody>
      </p:sp>
      <p:sp>
        <p:nvSpPr>
          <p:cNvPr id="33" name="TextBox 32"/>
          <p:cNvSpPr txBox="1"/>
          <p:nvPr/>
        </p:nvSpPr>
        <p:spPr>
          <a:xfrm>
            <a:off x="5687568" y="4608576"/>
            <a:ext cx="2971800" cy="256032"/>
          </a:xfrm>
          <a:prstGeom prst="rect">
            <a:avLst/>
          </a:prstGeom>
          <a:noFill/>
        </p:spPr>
        <p:txBody>
          <a:bodyPr wrap="square">
            <a:spAutoFit/>
          </a:bodyPr>
          <a:lstStyle/>
          <a:p>
            <a:pPr algn="l"/>
            <a:r>
              <a:rPr sz="1200" b="1" i="0">
                <a:solidFill>
                  <a:srgbClr val="1A1A2E"/>
                </a:solidFill>
                <a:latin typeface="Courier New"/>
              </a:rPr>
              <a:t>April 1 – October 31</a:t>
            </a:r>
          </a:p>
        </p:txBody>
      </p:sp>
      <p:pic>
        <p:nvPicPr>
          <p:cNvPr id="34" name="Picture 33">
            <a:extLst>
              <a:ext uri="{FF2B5EF4-FFF2-40B4-BE49-F238E27FC236}">
                <a16:creationId xmlns:a16="http://schemas.microsoft.com/office/drawing/2014/main" id="{98782EC4-1AFC-2ED7-5A72-586B4E02693A}"/>
              </a:ext>
            </a:extLst>
          </p:cNvPr>
          <p:cNvPicPr>
            <a:picLocks noChangeAspect="1"/>
          </p:cNvPicPr>
          <p:nvPr/>
        </p:nvPicPr>
        <p:blipFill>
          <a:blip r:embed="rId2"/>
          <a:srcRect/>
          <a:stretch/>
        </p:blipFill>
        <p:spPr>
          <a:xfrm>
            <a:off x="347472" y="1353311"/>
            <a:ext cx="4831431" cy="3653493"/>
          </a:xfrm>
          <a:prstGeom prst="rect">
            <a:avLst/>
          </a:prstGeom>
          <a:ln>
            <a:noFill/>
          </a:ln>
          <a:effectLst>
            <a:outerShdw blurRad="190500" algn="tl" rotWithShape="0">
              <a:srgbClr val="000000">
                <a:alpha val="70000"/>
              </a:srgbClr>
            </a:outerShdw>
          </a:effectLst>
        </p:spPr>
      </p:pic>
      <p:cxnSp>
        <p:nvCxnSpPr>
          <p:cNvPr id="36" name="Straight Arrow Connector 35">
            <a:extLst>
              <a:ext uri="{FF2B5EF4-FFF2-40B4-BE49-F238E27FC236}">
                <a16:creationId xmlns:a16="http://schemas.microsoft.com/office/drawing/2014/main" id="{2435DF0D-6ECA-B3E4-5126-213131E7D633}"/>
              </a:ext>
            </a:extLst>
          </p:cNvPr>
          <p:cNvCxnSpPr>
            <a:cxnSpLocks/>
            <a:stCxn id="27" idx="1"/>
            <a:endCxn id="34" idx="3"/>
          </p:cNvCxnSpPr>
          <p:nvPr/>
        </p:nvCxnSpPr>
        <p:spPr>
          <a:xfrm flipH="1" flipV="1">
            <a:off x="5178903" y="3180058"/>
            <a:ext cx="307497" cy="72443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37" name="Rectangle 36">
            <a:extLst>
              <a:ext uri="{FF2B5EF4-FFF2-40B4-BE49-F238E27FC236}">
                <a16:creationId xmlns:a16="http://schemas.microsoft.com/office/drawing/2014/main" id="{5737D7D4-F2ED-E6C4-78B2-B4CAC8E6D517}"/>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38" name="Rectangle 37">
            <a:extLst>
              <a:ext uri="{FF2B5EF4-FFF2-40B4-BE49-F238E27FC236}">
                <a16:creationId xmlns:a16="http://schemas.microsoft.com/office/drawing/2014/main" id="{C7308E70-2558-8FFA-82AC-32FD465972CF}"/>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39" name="Rectangle 38">
            <a:extLst>
              <a:ext uri="{FF2B5EF4-FFF2-40B4-BE49-F238E27FC236}">
                <a16:creationId xmlns:a16="http://schemas.microsoft.com/office/drawing/2014/main" id="{85425196-843E-E5C6-E4B7-7C2CED797DA9}"/>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40" name="Rectangle 39">
            <a:extLst>
              <a:ext uri="{FF2B5EF4-FFF2-40B4-BE49-F238E27FC236}">
                <a16:creationId xmlns:a16="http://schemas.microsoft.com/office/drawing/2014/main" id="{79F8DA84-92A4-ED77-7CF4-6514E765B738}"/>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41" name="Rectangle 40">
            <a:extLst>
              <a:ext uri="{FF2B5EF4-FFF2-40B4-BE49-F238E27FC236}">
                <a16:creationId xmlns:a16="http://schemas.microsoft.com/office/drawing/2014/main" id="{CD57CAAC-9E5E-07DB-6E70-D3EF1F824991}"/>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42" name="Rectangle 41">
            <a:extLst>
              <a:ext uri="{FF2B5EF4-FFF2-40B4-BE49-F238E27FC236}">
                <a16:creationId xmlns:a16="http://schemas.microsoft.com/office/drawing/2014/main" id="{0FE637AE-0998-7696-4688-87B9027612FB}"/>
              </a:ext>
            </a:extLst>
          </p:cNvPr>
          <p:cNvSpPr/>
          <p:nvPr/>
        </p:nvSpPr>
        <p:spPr>
          <a:xfrm>
            <a:off x="1974250" y="73152"/>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3" name="Rectangle 42">
            <a:extLst>
              <a:ext uri="{FF2B5EF4-FFF2-40B4-BE49-F238E27FC236}">
                <a16:creationId xmlns:a16="http://schemas.microsoft.com/office/drawing/2014/main" id="{A2684999-853C-65BC-7E20-95F7D82D62AB}"/>
              </a:ext>
            </a:extLst>
          </p:cNvPr>
          <p:cNvSpPr/>
          <p:nvPr/>
        </p:nvSpPr>
        <p:spPr>
          <a:xfrm>
            <a:off x="252234" y="90975"/>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D7D6B1AD-E191-E279-3917-D572F86BFE1D}"/>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A90E0A82-21CB-26E2-7BF3-B7FEA028D1D7}"/>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480060"/>
            <a:ext cx="8412480" cy="457200"/>
          </a:xfrm>
          <a:prstGeom prst="rect">
            <a:avLst/>
          </a:prstGeom>
          <a:noFill/>
        </p:spPr>
        <p:txBody>
          <a:bodyPr wrap="square">
            <a:spAutoFit/>
          </a:bodyPr>
          <a:lstStyle/>
          <a:p>
            <a:pPr algn="l"/>
            <a:r>
              <a:rPr sz="2400" b="1" i="0" dirty="0">
                <a:solidFill>
                  <a:srgbClr val="1A1A2E"/>
                </a:solidFill>
                <a:latin typeface="Calibri"/>
              </a:rPr>
              <a:t>NWS RTMA Fuel Moisture Pipeline</a:t>
            </a:r>
          </a:p>
        </p:txBody>
      </p:sp>
      <p:sp>
        <p:nvSpPr>
          <p:cNvPr id="3" name="Oval 2"/>
          <p:cNvSpPr/>
          <p:nvPr/>
        </p:nvSpPr>
        <p:spPr>
          <a:xfrm>
            <a:off x="237744" y="1101852"/>
            <a:ext cx="365760" cy="36576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1</a:t>
            </a:r>
          </a:p>
        </p:txBody>
      </p:sp>
      <p:cxnSp>
        <p:nvCxnSpPr>
          <p:cNvPr id="4" name="Connector 3"/>
          <p:cNvCxnSpPr/>
          <p:nvPr/>
        </p:nvCxnSpPr>
        <p:spPr>
          <a:xfrm>
            <a:off x="420624" y="1467612"/>
            <a:ext cx="0" cy="402335"/>
          </a:xfrm>
          <a:prstGeom prst="line">
            <a:avLst/>
          </a:prstGeom>
          <a:ln w="12700">
            <a:solidFill>
              <a:srgbClr val="FFCC99"/>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749808" y="1065275"/>
            <a:ext cx="3474720" cy="274320"/>
          </a:xfrm>
          <a:prstGeom prst="rect">
            <a:avLst/>
          </a:prstGeom>
          <a:noFill/>
        </p:spPr>
        <p:txBody>
          <a:bodyPr wrap="square">
            <a:spAutoFit/>
          </a:bodyPr>
          <a:lstStyle/>
          <a:p>
            <a:pPr algn="l"/>
            <a:r>
              <a:rPr sz="1300" b="1" i="0">
                <a:solidFill>
                  <a:srgbClr val="1A1A2E"/>
                </a:solidFill>
                <a:latin typeface="Calibri"/>
              </a:rPr>
              <a:t>GEE Export</a:t>
            </a:r>
          </a:p>
        </p:txBody>
      </p:sp>
      <p:sp>
        <p:nvSpPr>
          <p:cNvPr id="6" name="TextBox 5"/>
          <p:cNvSpPr txBox="1"/>
          <p:nvPr/>
        </p:nvSpPr>
        <p:spPr>
          <a:xfrm>
            <a:off x="749808" y="1339596"/>
            <a:ext cx="3474720" cy="365760"/>
          </a:xfrm>
          <a:prstGeom prst="rect">
            <a:avLst/>
          </a:prstGeom>
          <a:noFill/>
        </p:spPr>
        <p:txBody>
          <a:bodyPr wrap="square">
            <a:spAutoFit/>
          </a:bodyPr>
          <a:lstStyle/>
          <a:p>
            <a:pPr algn="l"/>
            <a:r>
              <a:rPr sz="1000" b="0" i="0">
                <a:solidFill>
                  <a:srgbClr val="546E7A"/>
                </a:solidFill>
                <a:latin typeface="Calibri"/>
              </a:rPr>
              <a:t>Hourly RTMA (2.5 km, 2011–present) → pyrome-mean CSV, fire-masked to MODIS 2001–2022</a:t>
            </a:r>
          </a:p>
        </p:txBody>
      </p:sp>
      <p:sp>
        <p:nvSpPr>
          <p:cNvPr id="7" name="Rectangle 6"/>
          <p:cNvSpPr/>
          <p:nvPr/>
        </p:nvSpPr>
        <p:spPr>
          <a:xfrm>
            <a:off x="4572000" y="1101852"/>
            <a:ext cx="4279392" cy="530352"/>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EMC per-pixel in GEE before spatial averaging — avoids EMC(mean T, mean RH) bias</a:t>
            </a:r>
          </a:p>
        </p:txBody>
      </p:sp>
      <p:sp>
        <p:nvSpPr>
          <p:cNvPr id="8" name="Oval 7"/>
          <p:cNvSpPr/>
          <p:nvPr/>
        </p:nvSpPr>
        <p:spPr>
          <a:xfrm>
            <a:off x="237744" y="1924812"/>
            <a:ext cx="365760" cy="36576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2</a:t>
            </a:r>
          </a:p>
        </p:txBody>
      </p:sp>
      <p:cxnSp>
        <p:nvCxnSpPr>
          <p:cNvPr id="9" name="Connector 8"/>
          <p:cNvCxnSpPr/>
          <p:nvPr/>
        </p:nvCxnSpPr>
        <p:spPr>
          <a:xfrm>
            <a:off x="420624" y="2290571"/>
            <a:ext cx="0" cy="402336"/>
          </a:xfrm>
          <a:prstGeom prst="line">
            <a:avLst/>
          </a:prstGeom>
          <a:ln w="12700">
            <a:solidFill>
              <a:srgbClr val="FFCC99"/>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749808" y="1888236"/>
            <a:ext cx="3474720" cy="274320"/>
          </a:xfrm>
          <a:prstGeom prst="rect">
            <a:avLst/>
          </a:prstGeom>
          <a:noFill/>
        </p:spPr>
        <p:txBody>
          <a:bodyPr wrap="square">
            <a:spAutoFit/>
          </a:bodyPr>
          <a:lstStyle/>
          <a:p>
            <a:pPr algn="l"/>
            <a:r>
              <a:rPr sz="1300" b="1" i="0">
                <a:solidFill>
                  <a:srgbClr val="1A1A2E"/>
                </a:solidFill>
                <a:latin typeface="Calibri"/>
              </a:rPr>
              <a:t>Dead FM</a:t>
            </a:r>
          </a:p>
        </p:txBody>
      </p:sp>
      <p:sp>
        <p:nvSpPr>
          <p:cNvPr id="11" name="TextBox 10"/>
          <p:cNvSpPr txBox="1"/>
          <p:nvPr/>
        </p:nvSpPr>
        <p:spPr>
          <a:xfrm>
            <a:off x="749808" y="2162556"/>
            <a:ext cx="3474720" cy="553998"/>
          </a:xfrm>
          <a:prstGeom prst="rect">
            <a:avLst/>
          </a:prstGeom>
          <a:noFill/>
        </p:spPr>
        <p:txBody>
          <a:bodyPr wrap="square">
            <a:spAutoFit/>
          </a:bodyPr>
          <a:lstStyle/>
          <a:p>
            <a:pPr algn="l"/>
            <a:r>
              <a:rPr sz="1000" b="0" i="0" dirty="0">
                <a:solidFill>
                  <a:srgbClr val="546E7A"/>
                </a:solidFill>
                <a:latin typeface="Calibri"/>
              </a:rPr>
              <a:t>NFDRS78 time-lag recursion at 1-hr steps · saturation-stall </a:t>
            </a:r>
            <a:r>
              <a:rPr sz="1000" b="0" i="0" dirty="0" err="1">
                <a:solidFill>
                  <a:srgbClr val="546E7A"/>
                </a:solidFill>
                <a:latin typeface="Calibri"/>
              </a:rPr>
              <a:t>precip</a:t>
            </a:r>
            <a:r>
              <a:rPr sz="1000" b="0" i="0" dirty="0">
                <a:solidFill>
                  <a:srgbClr val="546E7A"/>
                </a:solidFill>
                <a:latin typeface="Calibri"/>
              </a:rPr>
              <a:t> handling (Bradshaw 1984)</a:t>
            </a:r>
            <a:r>
              <a:rPr lang="en-US" sz="1000" b="0" i="0" dirty="0">
                <a:solidFill>
                  <a:srgbClr val="546E7A"/>
                </a:solidFill>
                <a:latin typeface="Calibri"/>
              </a:rPr>
              <a:t> – follows National Fire Danger Rating Index (NFDRS)</a:t>
            </a:r>
            <a:endParaRPr sz="1000" b="0" i="0" dirty="0">
              <a:solidFill>
                <a:srgbClr val="546E7A"/>
              </a:solidFill>
              <a:latin typeface="Calibri"/>
            </a:endParaRPr>
          </a:p>
        </p:txBody>
      </p:sp>
      <p:sp>
        <p:nvSpPr>
          <p:cNvPr id="12" name="Rectangle 11"/>
          <p:cNvSpPr/>
          <p:nvPr/>
        </p:nvSpPr>
        <p:spPr>
          <a:xfrm>
            <a:off x="4572000" y="1924812"/>
            <a:ext cx="4279392" cy="530352"/>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build_rtma_dead_fm() → FM1 / FM10 / FM100</a:t>
            </a:r>
          </a:p>
        </p:txBody>
      </p:sp>
      <p:sp>
        <p:nvSpPr>
          <p:cNvPr id="13" name="Oval 12"/>
          <p:cNvSpPr/>
          <p:nvPr/>
        </p:nvSpPr>
        <p:spPr>
          <a:xfrm>
            <a:off x="237744" y="2747772"/>
            <a:ext cx="365760" cy="36576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3</a:t>
            </a:r>
          </a:p>
        </p:txBody>
      </p:sp>
      <p:cxnSp>
        <p:nvCxnSpPr>
          <p:cNvPr id="14" name="Connector 13"/>
          <p:cNvCxnSpPr/>
          <p:nvPr/>
        </p:nvCxnSpPr>
        <p:spPr>
          <a:xfrm>
            <a:off x="420624" y="3113532"/>
            <a:ext cx="0" cy="402336"/>
          </a:xfrm>
          <a:prstGeom prst="line">
            <a:avLst/>
          </a:prstGeom>
          <a:ln w="12700">
            <a:solidFill>
              <a:srgbClr val="FFCC99"/>
            </a:solidFill>
          </a:ln>
        </p:spPr>
        <p:style>
          <a:lnRef idx="2">
            <a:schemeClr val="accent1"/>
          </a:lnRef>
          <a:fillRef idx="0">
            <a:schemeClr val="accent1"/>
          </a:fillRef>
          <a:effectRef idx="1">
            <a:schemeClr val="accent1"/>
          </a:effectRef>
          <a:fontRef idx="minor">
            <a:schemeClr val="tx1"/>
          </a:fontRef>
        </p:style>
      </p:cxnSp>
      <p:sp>
        <p:nvSpPr>
          <p:cNvPr id="15" name="TextBox 14"/>
          <p:cNvSpPr txBox="1"/>
          <p:nvPr/>
        </p:nvSpPr>
        <p:spPr>
          <a:xfrm>
            <a:off x="749808" y="2711196"/>
            <a:ext cx="3474720" cy="274320"/>
          </a:xfrm>
          <a:prstGeom prst="rect">
            <a:avLst/>
          </a:prstGeom>
          <a:noFill/>
        </p:spPr>
        <p:txBody>
          <a:bodyPr wrap="square">
            <a:spAutoFit/>
          </a:bodyPr>
          <a:lstStyle/>
          <a:p>
            <a:pPr algn="l"/>
            <a:r>
              <a:rPr sz="1300" b="1" i="0">
                <a:solidFill>
                  <a:srgbClr val="1A1A2E"/>
                </a:solidFill>
                <a:latin typeface="Calibri"/>
              </a:rPr>
              <a:t>Live FM</a:t>
            </a:r>
          </a:p>
        </p:txBody>
      </p:sp>
      <p:sp>
        <p:nvSpPr>
          <p:cNvPr id="16" name="TextBox 15"/>
          <p:cNvSpPr txBox="1"/>
          <p:nvPr/>
        </p:nvSpPr>
        <p:spPr>
          <a:xfrm>
            <a:off x="749807" y="2985516"/>
            <a:ext cx="3621019" cy="400110"/>
          </a:xfrm>
          <a:prstGeom prst="rect">
            <a:avLst/>
          </a:prstGeom>
          <a:noFill/>
        </p:spPr>
        <p:txBody>
          <a:bodyPr wrap="square">
            <a:spAutoFit/>
          </a:bodyPr>
          <a:lstStyle/>
          <a:p>
            <a:pPr algn="l"/>
            <a:r>
              <a:rPr lang="en-US" sz="1000" b="0" i="0" dirty="0">
                <a:solidFill>
                  <a:srgbClr val="546E7A"/>
                </a:solidFill>
                <a:latin typeface="Calibri"/>
              </a:rPr>
              <a:t>Growing Season Index (GSI)-based</a:t>
            </a:r>
            <a:r>
              <a:rPr sz="1000" b="0" i="0" dirty="0">
                <a:solidFill>
                  <a:srgbClr val="546E7A"/>
                </a:solidFill>
                <a:latin typeface="Calibri"/>
              </a:rPr>
              <a:t> herb/woody using daytime VPD window 13:00–16:00 LST and daily </a:t>
            </a:r>
            <a:r>
              <a:rPr sz="1000" b="0" i="0" dirty="0" err="1">
                <a:solidFill>
                  <a:srgbClr val="546E7A"/>
                </a:solidFill>
                <a:latin typeface="Calibri"/>
              </a:rPr>
              <a:t>Tmin</a:t>
            </a:r>
            <a:r>
              <a:rPr lang="en-US" sz="1000" b="0" i="0" dirty="0">
                <a:solidFill>
                  <a:srgbClr val="546E7A"/>
                </a:solidFill>
                <a:latin typeface="Calibri"/>
              </a:rPr>
              <a:t> (Jolly et al 2005, 2024)</a:t>
            </a:r>
            <a:endParaRPr sz="1000" b="0" i="0" dirty="0">
              <a:solidFill>
                <a:srgbClr val="546E7A"/>
              </a:solidFill>
              <a:latin typeface="Calibri"/>
            </a:endParaRPr>
          </a:p>
        </p:txBody>
      </p:sp>
      <p:sp>
        <p:nvSpPr>
          <p:cNvPr id="17" name="Rectangle 16"/>
          <p:cNvSpPr/>
          <p:nvPr/>
        </p:nvSpPr>
        <p:spPr>
          <a:xfrm>
            <a:off x="4572000" y="2747772"/>
            <a:ext cx="4279392" cy="530352"/>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build_rtma_live_fm() → FM_herb / FM_woody</a:t>
            </a:r>
          </a:p>
        </p:txBody>
      </p:sp>
      <p:sp>
        <p:nvSpPr>
          <p:cNvPr id="18" name="Oval 17"/>
          <p:cNvSpPr/>
          <p:nvPr/>
        </p:nvSpPr>
        <p:spPr>
          <a:xfrm>
            <a:off x="237744" y="3570732"/>
            <a:ext cx="365760" cy="36576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4</a:t>
            </a:r>
          </a:p>
        </p:txBody>
      </p:sp>
      <p:cxnSp>
        <p:nvCxnSpPr>
          <p:cNvPr id="19" name="Connector 18"/>
          <p:cNvCxnSpPr/>
          <p:nvPr/>
        </p:nvCxnSpPr>
        <p:spPr>
          <a:xfrm>
            <a:off x="420624" y="3936492"/>
            <a:ext cx="0" cy="402336"/>
          </a:xfrm>
          <a:prstGeom prst="line">
            <a:avLst/>
          </a:prstGeom>
          <a:ln w="12700">
            <a:solidFill>
              <a:srgbClr val="FFCC99"/>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749808" y="3534156"/>
            <a:ext cx="3474720" cy="274320"/>
          </a:xfrm>
          <a:prstGeom prst="rect">
            <a:avLst/>
          </a:prstGeom>
          <a:noFill/>
        </p:spPr>
        <p:txBody>
          <a:bodyPr wrap="square">
            <a:spAutoFit/>
          </a:bodyPr>
          <a:lstStyle/>
          <a:p>
            <a:pPr algn="l"/>
            <a:r>
              <a:rPr sz="1300" b="1" i="0">
                <a:solidFill>
                  <a:srgbClr val="1A1A2E"/>
                </a:solidFill>
                <a:latin typeface="Calibri"/>
              </a:rPr>
              <a:t>Peak-Hour Collapse</a:t>
            </a:r>
          </a:p>
        </p:txBody>
      </p:sp>
      <p:sp>
        <p:nvSpPr>
          <p:cNvPr id="21" name="TextBox 20"/>
          <p:cNvSpPr txBox="1"/>
          <p:nvPr/>
        </p:nvSpPr>
        <p:spPr>
          <a:xfrm>
            <a:off x="749808" y="3808476"/>
            <a:ext cx="3474720" cy="365760"/>
          </a:xfrm>
          <a:prstGeom prst="rect">
            <a:avLst/>
          </a:prstGeom>
          <a:noFill/>
        </p:spPr>
        <p:txBody>
          <a:bodyPr wrap="square">
            <a:spAutoFit/>
          </a:bodyPr>
          <a:lstStyle/>
          <a:p>
            <a:pPr algn="l"/>
            <a:r>
              <a:rPr sz="1000" b="0" i="0" dirty="0">
                <a:solidFill>
                  <a:srgbClr val="546E7A"/>
                </a:solidFill>
                <a:latin typeface="Calibri"/>
              </a:rPr>
              <a:t>Resample to daily rows at 14:00 LST to match RAWS / </a:t>
            </a:r>
            <a:r>
              <a:rPr sz="1000" b="0" i="0" dirty="0" err="1">
                <a:solidFill>
                  <a:srgbClr val="546E7A"/>
                </a:solidFill>
                <a:latin typeface="Calibri"/>
              </a:rPr>
              <a:t>FireFamilyPlus</a:t>
            </a:r>
            <a:r>
              <a:rPr sz="1000" b="0" i="0" dirty="0">
                <a:solidFill>
                  <a:srgbClr val="546E7A"/>
                </a:solidFill>
                <a:latin typeface="Calibri"/>
              </a:rPr>
              <a:t> convention</a:t>
            </a:r>
          </a:p>
        </p:txBody>
      </p:sp>
      <p:sp>
        <p:nvSpPr>
          <p:cNvPr id="22" name="Rectangle 21"/>
          <p:cNvSpPr/>
          <p:nvPr/>
        </p:nvSpPr>
        <p:spPr>
          <a:xfrm>
            <a:off x="4572000" y="3570732"/>
            <a:ext cx="4279392" cy="530352"/>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collapse_to_peak_hour()</a:t>
            </a:r>
          </a:p>
        </p:txBody>
      </p:sp>
      <p:sp>
        <p:nvSpPr>
          <p:cNvPr id="23" name="Oval 22"/>
          <p:cNvSpPr/>
          <p:nvPr/>
        </p:nvSpPr>
        <p:spPr>
          <a:xfrm>
            <a:off x="237744" y="4393691"/>
            <a:ext cx="365760" cy="36576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5</a:t>
            </a:r>
          </a:p>
        </p:txBody>
      </p:sp>
      <p:sp>
        <p:nvSpPr>
          <p:cNvPr id="24" name="TextBox 23"/>
          <p:cNvSpPr txBox="1"/>
          <p:nvPr/>
        </p:nvSpPr>
        <p:spPr>
          <a:xfrm>
            <a:off x="749808" y="4357115"/>
            <a:ext cx="3474720" cy="274320"/>
          </a:xfrm>
          <a:prstGeom prst="rect">
            <a:avLst/>
          </a:prstGeom>
          <a:noFill/>
        </p:spPr>
        <p:txBody>
          <a:bodyPr wrap="square">
            <a:spAutoFit/>
          </a:bodyPr>
          <a:lstStyle/>
          <a:p>
            <a:pPr algn="l"/>
            <a:r>
              <a:rPr sz="1300" b="1" i="0">
                <a:solidFill>
                  <a:srgbClr val="1A1A2E"/>
                </a:solidFill>
                <a:latin typeface="Calibri"/>
              </a:rPr>
              <a:t>Scenario Medians</a:t>
            </a:r>
          </a:p>
        </p:txBody>
      </p:sp>
      <p:sp>
        <p:nvSpPr>
          <p:cNvPr id="25" name="TextBox 24"/>
          <p:cNvSpPr txBox="1"/>
          <p:nvPr/>
        </p:nvSpPr>
        <p:spPr>
          <a:xfrm>
            <a:off x="749808" y="4631436"/>
            <a:ext cx="3474720" cy="365760"/>
          </a:xfrm>
          <a:prstGeom prst="rect">
            <a:avLst/>
          </a:prstGeom>
          <a:noFill/>
        </p:spPr>
        <p:txBody>
          <a:bodyPr wrap="square">
            <a:spAutoFit/>
          </a:bodyPr>
          <a:lstStyle/>
          <a:p>
            <a:pPr algn="l"/>
            <a:r>
              <a:rPr sz="1000" b="0" i="0" dirty="0">
                <a:solidFill>
                  <a:srgbClr val="546E7A"/>
                </a:solidFill>
                <a:latin typeface="Calibri"/>
              </a:rPr>
              <a:t>Per-</a:t>
            </a:r>
            <a:r>
              <a:rPr sz="1000" b="0" i="0" dirty="0" err="1">
                <a:solidFill>
                  <a:srgbClr val="546E7A"/>
                </a:solidFill>
                <a:latin typeface="Calibri"/>
              </a:rPr>
              <a:t>pyrome</a:t>
            </a:r>
            <a:r>
              <a:rPr sz="1000" b="0" i="0" dirty="0">
                <a:solidFill>
                  <a:srgbClr val="546E7A"/>
                </a:solidFill>
                <a:latin typeface="Calibri"/>
              </a:rPr>
              <a:t>, per-ERC-band FM medians → consumed by FlamMap scenario builder</a:t>
            </a:r>
          </a:p>
        </p:txBody>
      </p:sp>
      <p:sp>
        <p:nvSpPr>
          <p:cNvPr id="26" name="Rectangle 25"/>
          <p:cNvSpPr/>
          <p:nvPr/>
        </p:nvSpPr>
        <p:spPr>
          <a:xfrm>
            <a:off x="4572000" y="4393691"/>
            <a:ext cx="4279392" cy="530352"/>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build_rtma_scenario_fm() — used when dead_fm_source='rtma'</a:t>
            </a:r>
          </a:p>
        </p:txBody>
      </p:sp>
      <p:sp>
        <p:nvSpPr>
          <p:cNvPr id="27" name="Rectangle 26">
            <a:extLst>
              <a:ext uri="{FF2B5EF4-FFF2-40B4-BE49-F238E27FC236}">
                <a16:creationId xmlns:a16="http://schemas.microsoft.com/office/drawing/2014/main" id="{74D66A9F-61DB-9A90-E1B6-3727CA1C2F92}"/>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28" name="Rectangle 27">
            <a:extLst>
              <a:ext uri="{FF2B5EF4-FFF2-40B4-BE49-F238E27FC236}">
                <a16:creationId xmlns:a16="http://schemas.microsoft.com/office/drawing/2014/main" id="{7149B6DA-17BD-64C4-0446-E8661932F198}"/>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29" name="Rectangle 28">
            <a:extLst>
              <a:ext uri="{FF2B5EF4-FFF2-40B4-BE49-F238E27FC236}">
                <a16:creationId xmlns:a16="http://schemas.microsoft.com/office/drawing/2014/main" id="{CF6B64D9-B6C0-B3E3-5EAB-D0FC0075AC58}"/>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0" name="Rectangle 29">
            <a:extLst>
              <a:ext uri="{FF2B5EF4-FFF2-40B4-BE49-F238E27FC236}">
                <a16:creationId xmlns:a16="http://schemas.microsoft.com/office/drawing/2014/main" id="{AD553331-B7B3-F629-FD2D-32F4BF17588C}"/>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1" name="Rectangle 30">
            <a:extLst>
              <a:ext uri="{FF2B5EF4-FFF2-40B4-BE49-F238E27FC236}">
                <a16:creationId xmlns:a16="http://schemas.microsoft.com/office/drawing/2014/main" id="{447FFCB3-CAD4-0D07-EFC6-5E23B4C0442C}"/>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2" name="Rectangle 31">
            <a:extLst>
              <a:ext uri="{FF2B5EF4-FFF2-40B4-BE49-F238E27FC236}">
                <a16:creationId xmlns:a16="http://schemas.microsoft.com/office/drawing/2014/main" id="{B7CF54D1-061F-4B3E-F9CC-579CE21183A4}"/>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F4B36D0E-3EF4-12D0-4EC3-F19C259C0D7E}"/>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1D4705E8-7CFD-54D5-F102-47706EC73302}"/>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17D207EC-192B-C876-DBE0-CBCA33C339A7}"/>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2899E0-701D-097B-506D-3B0842924F26}"/>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544DFD7F-6908-2634-48EE-56FABD870C3C}"/>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28" name="Rectangle 27">
            <a:extLst>
              <a:ext uri="{FF2B5EF4-FFF2-40B4-BE49-F238E27FC236}">
                <a16:creationId xmlns:a16="http://schemas.microsoft.com/office/drawing/2014/main" id="{0D4E8133-3EC0-EC1A-70B9-FF10018E0447}"/>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29" name="Rectangle 28">
            <a:extLst>
              <a:ext uri="{FF2B5EF4-FFF2-40B4-BE49-F238E27FC236}">
                <a16:creationId xmlns:a16="http://schemas.microsoft.com/office/drawing/2014/main" id="{2A05A860-993C-9E2F-A8A4-2FB6D100F60F}"/>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0" name="Rectangle 29">
            <a:extLst>
              <a:ext uri="{FF2B5EF4-FFF2-40B4-BE49-F238E27FC236}">
                <a16:creationId xmlns:a16="http://schemas.microsoft.com/office/drawing/2014/main" id="{6769CA23-4302-D754-1107-BC6A2E3113D0}"/>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1" name="Rectangle 30">
            <a:extLst>
              <a:ext uri="{FF2B5EF4-FFF2-40B4-BE49-F238E27FC236}">
                <a16:creationId xmlns:a16="http://schemas.microsoft.com/office/drawing/2014/main" id="{B07DB852-0A23-DD41-22A2-477C0DC0CD89}"/>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2" name="Rectangle 31">
            <a:extLst>
              <a:ext uri="{FF2B5EF4-FFF2-40B4-BE49-F238E27FC236}">
                <a16:creationId xmlns:a16="http://schemas.microsoft.com/office/drawing/2014/main" id="{C62F35E1-597C-A4B5-0E65-73F26E07F5DF}"/>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6DF3586A-BC81-8BB8-080B-F157D68D0E23}"/>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DD4DFF12-E7C9-AF7D-B6AB-E2C77F858FCA}"/>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1EC771D1-89E2-2B55-DB67-52AC309ADCB3}"/>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55CD119F-08DD-6440-A621-44F9E6DEC776}"/>
              </a:ext>
            </a:extLst>
          </p:cNvPr>
          <p:cNvSpPr txBox="1"/>
          <p:nvPr/>
        </p:nvSpPr>
        <p:spPr>
          <a:xfrm>
            <a:off x="365760" y="443251"/>
            <a:ext cx="8412480" cy="457200"/>
          </a:xfrm>
          <a:prstGeom prst="rect">
            <a:avLst/>
          </a:prstGeom>
          <a:noFill/>
        </p:spPr>
        <p:txBody>
          <a:bodyPr wrap="square">
            <a:spAutoFit/>
          </a:bodyPr>
          <a:lstStyle/>
          <a:p>
            <a:pPr algn="l"/>
            <a:r>
              <a:rPr sz="2600" b="1" i="0" dirty="0">
                <a:solidFill>
                  <a:srgbClr val="1A1A2E"/>
                </a:solidFill>
                <a:latin typeface="Calibri"/>
              </a:rPr>
              <a:t>GEE Export Pipeline</a:t>
            </a:r>
          </a:p>
        </p:txBody>
      </p:sp>
      <p:sp>
        <p:nvSpPr>
          <p:cNvPr id="38" name="Oval 37">
            <a:extLst>
              <a:ext uri="{FF2B5EF4-FFF2-40B4-BE49-F238E27FC236}">
                <a16:creationId xmlns:a16="http://schemas.microsoft.com/office/drawing/2014/main" id="{37E5DCE0-E452-675E-D8CE-E9F93852C9FB}"/>
              </a:ext>
            </a:extLst>
          </p:cNvPr>
          <p:cNvSpPr/>
          <p:nvPr/>
        </p:nvSpPr>
        <p:spPr>
          <a:xfrm>
            <a:off x="256032" y="1099450"/>
            <a:ext cx="365760" cy="365760"/>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1</a:t>
            </a:r>
          </a:p>
        </p:txBody>
      </p:sp>
      <p:sp>
        <p:nvSpPr>
          <p:cNvPr id="39" name="TextBox 38">
            <a:extLst>
              <a:ext uri="{FF2B5EF4-FFF2-40B4-BE49-F238E27FC236}">
                <a16:creationId xmlns:a16="http://schemas.microsoft.com/office/drawing/2014/main" id="{15011958-09F2-3580-D9C0-CF415500DE55}"/>
              </a:ext>
            </a:extLst>
          </p:cNvPr>
          <p:cNvSpPr txBox="1"/>
          <p:nvPr/>
        </p:nvSpPr>
        <p:spPr>
          <a:xfrm>
            <a:off x="768096" y="1062874"/>
            <a:ext cx="5212080" cy="274320"/>
          </a:xfrm>
          <a:prstGeom prst="rect">
            <a:avLst/>
          </a:prstGeom>
          <a:noFill/>
        </p:spPr>
        <p:txBody>
          <a:bodyPr wrap="square">
            <a:spAutoFit/>
          </a:bodyPr>
          <a:lstStyle/>
          <a:p>
            <a:pPr algn="l"/>
            <a:r>
              <a:rPr sz="1300" b="1" i="0">
                <a:solidFill>
                  <a:srgbClr val="1A1A2E"/>
                </a:solidFill>
                <a:latin typeface="Calibri"/>
              </a:rPr>
              <a:t>Pull RTMA Collection</a:t>
            </a:r>
          </a:p>
        </p:txBody>
      </p:sp>
      <p:sp>
        <p:nvSpPr>
          <p:cNvPr id="40" name="TextBox 39">
            <a:extLst>
              <a:ext uri="{FF2B5EF4-FFF2-40B4-BE49-F238E27FC236}">
                <a16:creationId xmlns:a16="http://schemas.microsoft.com/office/drawing/2014/main" id="{C7DE0C6E-FD44-9CD5-CEF0-A0E1B38833EE}"/>
              </a:ext>
            </a:extLst>
          </p:cNvPr>
          <p:cNvSpPr txBox="1"/>
          <p:nvPr/>
        </p:nvSpPr>
        <p:spPr>
          <a:xfrm>
            <a:off x="768096" y="1337193"/>
            <a:ext cx="5212080" cy="347472"/>
          </a:xfrm>
          <a:prstGeom prst="rect">
            <a:avLst/>
          </a:prstGeom>
          <a:noFill/>
        </p:spPr>
        <p:txBody>
          <a:bodyPr wrap="square">
            <a:spAutoFit/>
          </a:bodyPr>
          <a:lstStyle/>
          <a:p>
            <a:pPr algn="l"/>
            <a:r>
              <a:rPr sz="1000" b="0" i="0">
                <a:solidFill>
                  <a:srgbClr val="546E7A"/>
                </a:solidFill>
                <a:latin typeface="Calibri"/>
              </a:rPr>
              <a:t>NOAA/NWS/RTMA filtered to CO pyrome bounds · April 1 – October 31 · one year per export task</a:t>
            </a:r>
          </a:p>
        </p:txBody>
      </p:sp>
      <p:sp>
        <p:nvSpPr>
          <p:cNvPr id="41" name="Rectangle 40">
            <a:extLst>
              <a:ext uri="{FF2B5EF4-FFF2-40B4-BE49-F238E27FC236}">
                <a16:creationId xmlns:a16="http://schemas.microsoft.com/office/drawing/2014/main" id="{49D47E40-5ABC-5FE5-E6E2-BB60FDE8DE15}"/>
              </a:ext>
            </a:extLst>
          </p:cNvPr>
          <p:cNvSpPr/>
          <p:nvPr/>
        </p:nvSpPr>
        <p:spPr>
          <a:xfrm>
            <a:off x="6144768" y="1005840"/>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Bands kept: TMP, DPT, ACPC01 (drop unused bands early for speed)</a:t>
            </a:r>
          </a:p>
        </p:txBody>
      </p:sp>
      <p:cxnSp>
        <p:nvCxnSpPr>
          <p:cNvPr id="42" name="Connector 7">
            <a:extLst>
              <a:ext uri="{FF2B5EF4-FFF2-40B4-BE49-F238E27FC236}">
                <a16:creationId xmlns:a16="http://schemas.microsoft.com/office/drawing/2014/main" id="{E55969B9-8CBF-AC06-CA38-3F5B4D5488AA}"/>
              </a:ext>
            </a:extLst>
          </p:cNvPr>
          <p:cNvCxnSpPr>
            <a:cxnSpLocks/>
            <a:stCxn id="38" idx="4"/>
          </p:cNvCxnSpPr>
          <p:nvPr/>
        </p:nvCxnSpPr>
        <p:spPr>
          <a:xfrm>
            <a:off x="438912" y="1465210"/>
            <a:ext cx="0" cy="253862"/>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3" name="Oval 42">
            <a:extLst>
              <a:ext uri="{FF2B5EF4-FFF2-40B4-BE49-F238E27FC236}">
                <a16:creationId xmlns:a16="http://schemas.microsoft.com/office/drawing/2014/main" id="{269C38D5-B8A1-4B4D-2781-EE7EBFB0D7E5}"/>
              </a:ext>
            </a:extLst>
          </p:cNvPr>
          <p:cNvSpPr/>
          <p:nvPr/>
        </p:nvSpPr>
        <p:spPr>
          <a:xfrm>
            <a:off x="256032" y="1773936"/>
            <a:ext cx="365760" cy="36576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2</a:t>
            </a:r>
          </a:p>
        </p:txBody>
      </p:sp>
      <p:sp>
        <p:nvSpPr>
          <p:cNvPr id="44" name="TextBox 43">
            <a:extLst>
              <a:ext uri="{FF2B5EF4-FFF2-40B4-BE49-F238E27FC236}">
                <a16:creationId xmlns:a16="http://schemas.microsoft.com/office/drawing/2014/main" id="{C221DF74-F7DA-557A-A120-9FD052294DC6}"/>
              </a:ext>
            </a:extLst>
          </p:cNvPr>
          <p:cNvSpPr txBox="1"/>
          <p:nvPr/>
        </p:nvSpPr>
        <p:spPr>
          <a:xfrm>
            <a:off x="768096" y="1737360"/>
            <a:ext cx="5212080" cy="274320"/>
          </a:xfrm>
          <a:prstGeom prst="rect">
            <a:avLst/>
          </a:prstGeom>
          <a:noFill/>
        </p:spPr>
        <p:txBody>
          <a:bodyPr wrap="square">
            <a:spAutoFit/>
          </a:bodyPr>
          <a:lstStyle/>
          <a:p>
            <a:pPr algn="l"/>
            <a:r>
              <a:rPr sz="1300" b="1" i="0">
                <a:solidFill>
                  <a:srgbClr val="1A1A2E"/>
                </a:solidFill>
                <a:latin typeface="Calibri"/>
              </a:rPr>
              <a:t>Per-pixel Derived Bands</a:t>
            </a:r>
          </a:p>
        </p:txBody>
      </p:sp>
      <p:sp>
        <p:nvSpPr>
          <p:cNvPr id="45" name="TextBox 44">
            <a:extLst>
              <a:ext uri="{FF2B5EF4-FFF2-40B4-BE49-F238E27FC236}">
                <a16:creationId xmlns:a16="http://schemas.microsoft.com/office/drawing/2014/main" id="{340241C2-71AD-5E5F-D475-67BDB9DA4962}"/>
              </a:ext>
            </a:extLst>
          </p:cNvPr>
          <p:cNvSpPr txBox="1"/>
          <p:nvPr/>
        </p:nvSpPr>
        <p:spPr>
          <a:xfrm>
            <a:off x="768096" y="2011679"/>
            <a:ext cx="5212080" cy="347472"/>
          </a:xfrm>
          <a:prstGeom prst="rect">
            <a:avLst/>
          </a:prstGeom>
          <a:noFill/>
        </p:spPr>
        <p:txBody>
          <a:bodyPr wrap="square">
            <a:spAutoFit/>
          </a:bodyPr>
          <a:lstStyle/>
          <a:p>
            <a:pPr algn="l"/>
            <a:r>
              <a:rPr sz="1000" b="0" i="0">
                <a:solidFill>
                  <a:srgbClr val="546E7A"/>
                </a:solidFill>
                <a:latin typeface="Calibri"/>
              </a:rPr>
              <a:t>T°C → T°F · Magnus formula → RH (%) and VPD (Pa) · 3-regime NFDRS EMC (Cohen &amp; Deeming 1985)</a:t>
            </a:r>
          </a:p>
        </p:txBody>
      </p:sp>
      <p:sp>
        <p:nvSpPr>
          <p:cNvPr id="46" name="Rectangle 45">
            <a:extLst>
              <a:ext uri="{FF2B5EF4-FFF2-40B4-BE49-F238E27FC236}">
                <a16:creationId xmlns:a16="http://schemas.microsoft.com/office/drawing/2014/main" id="{F1CA67B6-B38F-4772-E53D-4AAFB89CBAA1}"/>
              </a:ext>
            </a:extLst>
          </p:cNvPr>
          <p:cNvSpPr/>
          <p:nvPr/>
        </p:nvSpPr>
        <p:spPr>
          <a:xfrm>
            <a:off x="6144768" y="1792224"/>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EMC per pixel BEFORE spatial averaging — avoids EMC(mean T, mean RH) nonlinear bias</a:t>
            </a:r>
          </a:p>
        </p:txBody>
      </p:sp>
      <p:cxnSp>
        <p:nvCxnSpPr>
          <p:cNvPr id="47" name="Connector 12">
            <a:extLst>
              <a:ext uri="{FF2B5EF4-FFF2-40B4-BE49-F238E27FC236}">
                <a16:creationId xmlns:a16="http://schemas.microsoft.com/office/drawing/2014/main" id="{BA3CA2B7-B52F-FCC2-0AD4-3DD708528BAD}"/>
              </a:ext>
            </a:extLst>
          </p:cNvPr>
          <p:cNvCxnSpPr/>
          <p:nvPr/>
        </p:nvCxnSpPr>
        <p:spPr>
          <a:xfrm>
            <a:off x="438912" y="2139696"/>
            <a:ext cx="0" cy="36576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48" name="Oval 47">
            <a:extLst>
              <a:ext uri="{FF2B5EF4-FFF2-40B4-BE49-F238E27FC236}">
                <a16:creationId xmlns:a16="http://schemas.microsoft.com/office/drawing/2014/main" id="{10743AEC-453A-3393-FC39-C372C7C449E1}"/>
              </a:ext>
            </a:extLst>
          </p:cNvPr>
          <p:cNvSpPr/>
          <p:nvPr/>
        </p:nvSpPr>
        <p:spPr>
          <a:xfrm>
            <a:off x="256032" y="2560320"/>
            <a:ext cx="365760" cy="365760"/>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3</a:t>
            </a:r>
          </a:p>
        </p:txBody>
      </p:sp>
      <p:sp>
        <p:nvSpPr>
          <p:cNvPr id="49" name="TextBox 48">
            <a:extLst>
              <a:ext uri="{FF2B5EF4-FFF2-40B4-BE49-F238E27FC236}">
                <a16:creationId xmlns:a16="http://schemas.microsoft.com/office/drawing/2014/main" id="{BA0D36C7-38A0-EBDE-50C2-0B1C9DE6FD5E}"/>
              </a:ext>
            </a:extLst>
          </p:cNvPr>
          <p:cNvSpPr txBox="1"/>
          <p:nvPr/>
        </p:nvSpPr>
        <p:spPr>
          <a:xfrm>
            <a:off x="768096" y="2523744"/>
            <a:ext cx="5212080" cy="274320"/>
          </a:xfrm>
          <a:prstGeom prst="rect">
            <a:avLst/>
          </a:prstGeom>
          <a:noFill/>
        </p:spPr>
        <p:txBody>
          <a:bodyPr wrap="square">
            <a:spAutoFit/>
          </a:bodyPr>
          <a:lstStyle/>
          <a:p>
            <a:pPr algn="l"/>
            <a:r>
              <a:rPr sz="1300" b="1" i="0">
                <a:solidFill>
                  <a:srgbClr val="1A1A2E"/>
                </a:solidFill>
                <a:latin typeface="Calibri"/>
              </a:rPr>
              <a:t>Apply MODIS Fire Mask</a:t>
            </a:r>
          </a:p>
        </p:txBody>
      </p:sp>
      <p:sp>
        <p:nvSpPr>
          <p:cNvPr id="50" name="TextBox 49">
            <a:extLst>
              <a:ext uri="{FF2B5EF4-FFF2-40B4-BE49-F238E27FC236}">
                <a16:creationId xmlns:a16="http://schemas.microsoft.com/office/drawing/2014/main" id="{A759FB3F-3443-A36C-92D8-C3C90D7B248C}"/>
              </a:ext>
            </a:extLst>
          </p:cNvPr>
          <p:cNvSpPr txBox="1"/>
          <p:nvPr/>
        </p:nvSpPr>
        <p:spPr>
          <a:xfrm>
            <a:off x="768096" y="2798064"/>
            <a:ext cx="5212080" cy="347472"/>
          </a:xfrm>
          <a:prstGeom prst="rect">
            <a:avLst/>
          </a:prstGeom>
          <a:noFill/>
        </p:spPr>
        <p:txBody>
          <a:bodyPr wrap="square">
            <a:spAutoFit/>
          </a:bodyPr>
          <a:lstStyle/>
          <a:p>
            <a:pPr algn="l"/>
            <a:r>
              <a:rPr sz="1000" b="0" i="0">
                <a:solidFill>
                  <a:srgbClr val="546E7A"/>
                </a:solidFill>
                <a:latin typeface="Calibri"/>
              </a:rPr>
              <a:t>MCD64A1 burned area 2001–2022 → ever_burned_500m → aggregated to 2.5 km via reduceResolution</a:t>
            </a:r>
          </a:p>
        </p:txBody>
      </p:sp>
      <p:sp>
        <p:nvSpPr>
          <p:cNvPr id="51" name="Rectangle 50">
            <a:extLst>
              <a:ext uri="{FF2B5EF4-FFF2-40B4-BE49-F238E27FC236}">
                <a16:creationId xmlns:a16="http://schemas.microsoft.com/office/drawing/2014/main" id="{2AB9F402-486C-18A7-BEFD-90D7F2C7E901}"/>
              </a:ext>
            </a:extLst>
          </p:cNvPr>
          <p:cNvSpPr/>
          <p:nvPr/>
        </p:nvSpPr>
        <p:spPr>
          <a:xfrm>
            <a:off x="6144768" y="2578608"/>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Restricts all pyrome reductions to historically burnable pixels</a:t>
            </a:r>
          </a:p>
        </p:txBody>
      </p:sp>
      <p:cxnSp>
        <p:nvCxnSpPr>
          <p:cNvPr id="52" name="Connector 17">
            <a:extLst>
              <a:ext uri="{FF2B5EF4-FFF2-40B4-BE49-F238E27FC236}">
                <a16:creationId xmlns:a16="http://schemas.microsoft.com/office/drawing/2014/main" id="{E2D1A3F8-3515-DE21-D617-D68CC66A66AA}"/>
              </a:ext>
            </a:extLst>
          </p:cNvPr>
          <p:cNvCxnSpPr/>
          <p:nvPr/>
        </p:nvCxnSpPr>
        <p:spPr>
          <a:xfrm>
            <a:off x="438912" y="2926080"/>
            <a:ext cx="0" cy="36576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53" name="Oval 52">
            <a:extLst>
              <a:ext uri="{FF2B5EF4-FFF2-40B4-BE49-F238E27FC236}">
                <a16:creationId xmlns:a16="http://schemas.microsoft.com/office/drawing/2014/main" id="{FFF98841-BBE0-81CA-296A-9DFD0E3AC6CE}"/>
              </a:ext>
            </a:extLst>
          </p:cNvPr>
          <p:cNvSpPr/>
          <p:nvPr/>
        </p:nvSpPr>
        <p:spPr>
          <a:xfrm>
            <a:off x="256032" y="3346704"/>
            <a:ext cx="365760" cy="365760"/>
          </a:xfrm>
          <a:prstGeom prst="ellipse">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4</a:t>
            </a:r>
          </a:p>
        </p:txBody>
      </p:sp>
      <p:sp>
        <p:nvSpPr>
          <p:cNvPr id="54" name="TextBox 53">
            <a:extLst>
              <a:ext uri="{FF2B5EF4-FFF2-40B4-BE49-F238E27FC236}">
                <a16:creationId xmlns:a16="http://schemas.microsoft.com/office/drawing/2014/main" id="{4E488F33-30BF-CD2E-A795-DFCB717FBF05}"/>
              </a:ext>
            </a:extLst>
          </p:cNvPr>
          <p:cNvSpPr txBox="1"/>
          <p:nvPr/>
        </p:nvSpPr>
        <p:spPr>
          <a:xfrm>
            <a:off x="768096" y="3310128"/>
            <a:ext cx="5212080" cy="274320"/>
          </a:xfrm>
          <a:prstGeom prst="rect">
            <a:avLst/>
          </a:prstGeom>
          <a:noFill/>
        </p:spPr>
        <p:txBody>
          <a:bodyPr wrap="square">
            <a:spAutoFit/>
          </a:bodyPr>
          <a:lstStyle/>
          <a:p>
            <a:pPr algn="l"/>
            <a:r>
              <a:rPr sz="1300" b="1" i="0">
                <a:solidFill>
                  <a:srgbClr val="1A1A2E"/>
                </a:solidFill>
                <a:latin typeface="Calibri"/>
              </a:rPr>
              <a:t>Batch Reduce to Pyrome Means</a:t>
            </a:r>
          </a:p>
        </p:txBody>
      </p:sp>
      <p:sp>
        <p:nvSpPr>
          <p:cNvPr id="55" name="TextBox 54">
            <a:extLst>
              <a:ext uri="{FF2B5EF4-FFF2-40B4-BE49-F238E27FC236}">
                <a16:creationId xmlns:a16="http://schemas.microsoft.com/office/drawing/2014/main" id="{69EB64A5-5EEF-F68A-9C1A-CD85C82D74D6}"/>
              </a:ext>
            </a:extLst>
          </p:cNvPr>
          <p:cNvSpPr txBox="1"/>
          <p:nvPr/>
        </p:nvSpPr>
        <p:spPr>
          <a:xfrm>
            <a:off x="768096" y="3584448"/>
            <a:ext cx="5212080" cy="347472"/>
          </a:xfrm>
          <a:prstGeom prst="rect">
            <a:avLst/>
          </a:prstGeom>
          <a:noFill/>
        </p:spPr>
        <p:txBody>
          <a:bodyPr wrap="square">
            <a:spAutoFit/>
          </a:bodyPr>
          <a:lstStyle/>
          <a:p>
            <a:pPr algn="l"/>
            <a:r>
              <a:rPr sz="1000" b="0" i="0">
                <a:solidFill>
                  <a:srgbClr val="546E7A"/>
                </a:solidFill>
                <a:latin typeface="Calibri"/>
              </a:rPr>
              <a:t>reduceRegions across 9 CO pyromes in one server operation (replaced 9 serial reduceRegion calls)</a:t>
            </a:r>
          </a:p>
        </p:txBody>
      </p:sp>
      <p:sp>
        <p:nvSpPr>
          <p:cNvPr id="56" name="Rectangle 55">
            <a:extLst>
              <a:ext uri="{FF2B5EF4-FFF2-40B4-BE49-F238E27FC236}">
                <a16:creationId xmlns:a16="http://schemas.microsoft.com/office/drawing/2014/main" id="{FAD77070-7EF2-92B3-02CB-6E28F9B5CBB1}"/>
              </a:ext>
            </a:extLst>
          </p:cNvPr>
          <p:cNvSpPr/>
          <p:nvPr/>
        </p:nvSpPr>
        <p:spPr>
          <a:xfrm>
            <a:off x="6144768" y="3364992"/>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tileScale=4 prevents memory-limit errors on large pyrome geometries</a:t>
            </a:r>
          </a:p>
        </p:txBody>
      </p:sp>
      <p:cxnSp>
        <p:nvCxnSpPr>
          <p:cNvPr id="57" name="Connector 22">
            <a:extLst>
              <a:ext uri="{FF2B5EF4-FFF2-40B4-BE49-F238E27FC236}">
                <a16:creationId xmlns:a16="http://schemas.microsoft.com/office/drawing/2014/main" id="{DE55A955-4FFD-065B-8923-58ACA913736E}"/>
              </a:ext>
            </a:extLst>
          </p:cNvPr>
          <p:cNvCxnSpPr/>
          <p:nvPr/>
        </p:nvCxnSpPr>
        <p:spPr>
          <a:xfrm>
            <a:off x="438912" y="3712464"/>
            <a:ext cx="0" cy="365760"/>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58" name="Oval 57">
            <a:extLst>
              <a:ext uri="{FF2B5EF4-FFF2-40B4-BE49-F238E27FC236}">
                <a16:creationId xmlns:a16="http://schemas.microsoft.com/office/drawing/2014/main" id="{C50E6608-C505-819B-95ED-E964AC7C586D}"/>
              </a:ext>
            </a:extLst>
          </p:cNvPr>
          <p:cNvSpPr/>
          <p:nvPr/>
        </p:nvSpPr>
        <p:spPr>
          <a:xfrm>
            <a:off x="256032" y="4133087"/>
            <a:ext cx="365760" cy="365760"/>
          </a:xfrm>
          <a:prstGeom prst="ellipse">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5</a:t>
            </a:r>
          </a:p>
        </p:txBody>
      </p:sp>
      <p:sp>
        <p:nvSpPr>
          <p:cNvPr id="59" name="TextBox 58">
            <a:extLst>
              <a:ext uri="{FF2B5EF4-FFF2-40B4-BE49-F238E27FC236}">
                <a16:creationId xmlns:a16="http://schemas.microsoft.com/office/drawing/2014/main" id="{A1D0AD4E-1E86-4002-2CAE-F91654BF5FD3}"/>
              </a:ext>
            </a:extLst>
          </p:cNvPr>
          <p:cNvSpPr txBox="1"/>
          <p:nvPr/>
        </p:nvSpPr>
        <p:spPr>
          <a:xfrm>
            <a:off x="768096" y="4096511"/>
            <a:ext cx="5212080" cy="274320"/>
          </a:xfrm>
          <a:prstGeom prst="rect">
            <a:avLst/>
          </a:prstGeom>
          <a:noFill/>
        </p:spPr>
        <p:txBody>
          <a:bodyPr wrap="square">
            <a:spAutoFit/>
          </a:bodyPr>
          <a:lstStyle/>
          <a:p>
            <a:pPr algn="l"/>
            <a:r>
              <a:rPr sz="1300" b="1" i="0">
                <a:solidFill>
                  <a:srgbClr val="1A1A2E"/>
                </a:solidFill>
                <a:latin typeface="Calibri"/>
              </a:rPr>
              <a:t>Export CSV to Google Drive</a:t>
            </a:r>
          </a:p>
        </p:txBody>
      </p:sp>
      <p:sp>
        <p:nvSpPr>
          <p:cNvPr id="60" name="TextBox 59">
            <a:extLst>
              <a:ext uri="{FF2B5EF4-FFF2-40B4-BE49-F238E27FC236}">
                <a16:creationId xmlns:a16="http://schemas.microsoft.com/office/drawing/2014/main" id="{4C09B8C0-2E02-327B-F149-E329892D066A}"/>
              </a:ext>
            </a:extLst>
          </p:cNvPr>
          <p:cNvSpPr txBox="1"/>
          <p:nvPr/>
        </p:nvSpPr>
        <p:spPr>
          <a:xfrm>
            <a:off x="768096" y="4370832"/>
            <a:ext cx="5212080" cy="347472"/>
          </a:xfrm>
          <a:prstGeom prst="rect">
            <a:avLst/>
          </a:prstGeom>
          <a:noFill/>
        </p:spPr>
        <p:txBody>
          <a:bodyPr wrap="square">
            <a:spAutoFit/>
          </a:bodyPr>
          <a:lstStyle/>
          <a:p>
            <a:pPr algn="l"/>
            <a:r>
              <a:rPr sz="1000" b="0" i="0">
                <a:solidFill>
                  <a:srgbClr val="546E7A"/>
                </a:solidFill>
                <a:latin typeface="Calibri"/>
              </a:rPr>
              <a:t>One task per year → fb_tools_weather/rtma_hourly_CO_pyromes_YYYY.csv</a:t>
            </a:r>
          </a:p>
        </p:txBody>
      </p:sp>
      <p:sp>
        <p:nvSpPr>
          <p:cNvPr id="61" name="Rectangle 60">
            <a:extLst>
              <a:ext uri="{FF2B5EF4-FFF2-40B4-BE49-F238E27FC236}">
                <a16:creationId xmlns:a16="http://schemas.microsoft.com/office/drawing/2014/main" id="{9EB58125-FCF9-670A-2BE4-E0CC3CC29D75}"/>
              </a:ext>
            </a:extLst>
          </p:cNvPr>
          <p:cNvSpPr/>
          <p:nvPr/>
        </p:nvSpPr>
        <p:spPr>
          <a:xfrm>
            <a:off x="6144768" y="4151376"/>
            <a:ext cx="2697480" cy="38404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Schema: pyrome_id, datetime_utc, tmp_f, rh_pct, emc_pct, vpd_pa, pcp_mm_hr</a:t>
            </a:r>
          </a:p>
        </p:txBody>
      </p:sp>
      <p:sp>
        <p:nvSpPr>
          <p:cNvPr id="62" name="Rectangle 61">
            <a:extLst>
              <a:ext uri="{FF2B5EF4-FFF2-40B4-BE49-F238E27FC236}">
                <a16:creationId xmlns:a16="http://schemas.microsoft.com/office/drawing/2014/main" id="{38219712-A839-023D-8F35-2EF80974A4AC}"/>
              </a:ext>
            </a:extLst>
          </p:cNvPr>
          <p:cNvSpPr/>
          <p:nvPr/>
        </p:nvSpPr>
        <p:spPr>
          <a:xfrm>
            <a:off x="292608" y="4773168"/>
            <a:ext cx="8558784" cy="256032"/>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6D4C41"/>
                </a:solidFill>
                <a:latin typeface="Calibri"/>
              </a:rPr>
              <a:t>Output: 15 yearly CSVs · 683,676 hourly rows · 9 CO pyromes · 2011–2025</a:t>
            </a:r>
          </a:p>
        </p:txBody>
      </p:sp>
    </p:spTree>
    <p:extLst>
      <p:ext uri="{BB962C8B-B14F-4D97-AF65-F5344CB8AC3E}">
        <p14:creationId xmlns:p14="http://schemas.microsoft.com/office/powerpoint/2010/main" val="10301520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95A77-07CC-85C5-D21C-148704C5637B}"/>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269EC27C-06B4-D1D0-739C-1A76D761FF4F}"/>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28" name="Rectangle 27">
            <a:extLst>
              <a:ext uri="{FF2B5EF4-FFF2-40B4-BE49-F238E27FC236}">
                <a16:creationId xmlns:a16="http://schemas.microsoft.com/office/drawing/2014/main" id="{04518776-13D6-5FA0-253C-031AA9D92239}"/>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29" name="Rectangle 28">
            <a:extLst>
              <a:ext uri="{FF2B5EF4-FFF2-40B4-BE49-F238E27FC236}">
                <a16:creationId xmlns:a16="http://schemas.microsoft.com/office/drawing/2014/main" id="{6B9BC21E-3111-7730-86FA-1A05C27309E1}"/>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0" name="Rectangle 29">
            <a:extLst>
              <a:ext uri="{FF2B5EF4-FFF2-40B4-BE49-F238E27FC236}">
                <a16:creationId xmlns:a16="http://schemas.microsoft.com/office/drawing/2014/main" id="{09E43282-D93C-AD8A-677B-67D44CBBA0D3}"/>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1" name="Rectangle 30">
            <a:extLst>
              <a:ext uri="{FF2B5EF4-FFF2-40B4-BE49-F238E27FC236}">
                <a16:creationId xmlns:a16="http://schemas.microsoft.com/office/drawing/2014/main" id="{6B81B46C-94FD-196D-9AE0-C9CDE6B2BCC0}"/>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2" name="Rectangle 31">
            <a:extLst>
              <a:ext uri="{FF2B5EF4-FFF2-40B4-BE49-F238E27FC236}">
                <a16:creationId xmlns:a16="http://schemas.microsoft.com/office/drawing/2014/main" id="{D90A267F-E9FC-C076-82AE-4A8836719F9D}"/>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B5760C80-9721-6B34-A205-AF173FAFA4F7}"/>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A54B7630-AD7F-B306-9D34-8F107EA18715}"/>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DE886B68-A9DB-5CB6-1366-E685777D8100}"/>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2FD95B12-AD59-4834-421F-8A81216815F3}"/>
              </a:ext>
            </a:extLst>
          </p:cNvPr>
          <p:cNvSpPr txBox="1"/>
          <p:nvPr/>
        </p:nvSpPr>
        <p:spPr>
          <a:xfrm>
            <a:off x="365760" y="499045"/>
            <a:ext cx="8412480" cy="461665"/>
          </a:xfrm>
          <a:prstGeom prst="rect">
            <a:avLst/>
          </a:prstGeom>
          <a:noFill/>
        </p:spPr>
        <p:txBody>
          <a:bodyPr wrap="square">
            <a:spAutoFit/>
          </a:bodyPr>
          <a:lstStyle/>
          <a:p>
            <a:r>
              <a:rPr lang="en-US" sz="2400" b="1" i="0" dirty="0">
                <a:solidFill>
                  <a:srgbClr val="1A1A2E"/>
                </a:solidFill>
                <a:latin typeface="Calibri"/>
              </a:rPr>
              <a:t>Dead</a:t>
            </a:r>
            <a:r>
              <a:rPr sz="2400" b="1" i="0" dirty="0">
                <a:solidFill>
                  <a:srgbClr val="1A1A2E"/>
                </a:solidFill>
                <a:latin typeface="Calibri"/>
              </a:rPr>
              <a:t> Fuel Moisture — </a:t>
            </a:r>
            <a:r>
              <a:rPr lang="en-US" sz="2400" b="1" i="0" dirty="0">
                <a:solidFill>
                  <a:srgbClr val="1A1A2E"/>
                </a:solidFill>
                <a:latin typeface="Calibri"/>
              </a:rPr>
              <a:t>Equilibrium Moisture Content (EMC)</a:t>
            </a:r>
            <a:endParaRPr sz="2400" b="1" i="0" dirty="0">
              <a:solidFill>
                <a:srgbClr val="1A1A2E"/>
              </a:solidFill>
              <a:latin typeface="Calibri"/>
            </a:endParaRPr>
          </a:p>
        </p:txBody>
      </p:sp>
      <p:sp>
        <p:nvSpPr>
          <p:cNvPr id="78" name="Rectangle 77">
            <a:extLst>
              <a:ext uri="{FF2B5EF4-FFF2-40B4-BE49-F238E27FC236}">
                <a16:creationId xmlns:a16="http://schemas.microsoft.com/office/drawing/2014/main" id="{80555E01-0909-8CB4-ECFC-A733B44AF24A}"/>
              </a:ext>
            </a:extLst>
          </p:cNvPr>
          <p:cNvSpPr/>
          <p:nvPr/>
        </p:nvSpPr>
        <p:spPr>
          <a:xfrm>
            <a:off x="274320" y="1349281"/>
            <a:ext cx="1883664" cy="1664208"/>
          </a:xfrm>
          <a:prstGeom prst="rect">
            <a:avLst/>
          </a:prstGeom>
          <a:solidFill>
            <a:schemeClr val="bg1">
              <a:lumMod val="95000"/>
            </a:schemeClr>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a:extLst>
              <a:ext uri="{FF2B5EF4-FFF2-40B4-BE49-F238E27FC236}">
                <a16:creationId xmlns:a16="http://schemas.microsoft.com/office/drawing/2014/main" id="{52EAF055-92CB-9175-4B6A-B1E781B857D2}"/>
              </a:ext>
            </a:extLst>
          </p:cNvPr>
          <p:cNvSpPr txBox="1"/>
          <p:nvPr/>
        </p:nvSpPr>
        <p:spPr>
          <a:xfrm>
            <a:off x="475488" y="1440721"/>
            <a:ext cx="1627632" cy="256032"/>
          </a:xfrm>
          <a:prstGeom prst="rect">
            <a:avLst/>
          </a:prstGeom>
          <a:noFill/>
        </p:spPr>
        <p:txBody>
          <a:bodyPr wrap="square">
            <a:spAutoFit/>
          </a:bodyPr>
          <a:lstStyle/>
          <a:p>
            <a:pPr algn="l"/>
            <a:r>
              <a:rPr sz="1100" b="1" i="0" dirty="0">
                <a:solidFill>
                  <a:srgbClr val="D4622A"/>
                </a:solidFill>
                <a:latin typeface="Calibri"/>
              </a:rPr>
              <a:t>① RTMA  Inputs</a:t>
            </a:r>
          </a:p>
        </p:txBody>
      </p:sp>
      <p:sp>
        <p:nvSpPr>
          <p:cNvPr id="81" name="TextBox 80">
            <a:extLst>
              <a:ext uri="{FF2B5EF4-FFF2-40B4-BE49-F238E27FC236}">
                <a16:creationId xmlns:a16="http://schemas.microsoft.com/office/drawing/2014/main" id="{1173195B-F499-586D-F80F-EFCD5504E47A}"/>
              </a:ext>
            </a:extLst>
          </p:cNvPr>
          <p:cNvSpPr txBox="1"/>
          <p:nvPr/>
        </p:nvSpPr>
        <p:spPr>
          <a:xfrm>
            <a:off x="475488" y="1751617"/>
            <a:ext cx="1627632" cy="274320"/>
          </a:xfrm>
          <a:prstGeom prst="rect">
            <a:avLst/>
          </a:prstGeom>
          <a:noFill/>
        </p:spPr>
        <p:txBody>
          <a:bodyPr wrap="square">
            <a:spAutoFit/>
          </a:bodyPr>
          <a:lstStyle/>
          <a:p>
            <a:pPr algn="l"/>
            <a:r>
              <a:rPr sz="1000" b="0" i="0">
                <a:solidFill>
                  <a:srgbClr val="1A1A2E"/>
                </a:solidFill>
                <a:latin typeface="Calibri"/>
              </a:rPr>
              <a:t>T (°F)  — TMP band</a:t>
            </a:r>
          </a:p>
        </p:txBody>
      </p:sp>
      <p:sp>
        <p:nvSpPr>
          <p:cNvPr id="82" name="TextBox 81">
            <a:extLst>
              <a:ext uri="{FF2B5EF4-FFF2-40B4-BE49-F238E27FC236}">
                <a16:creationId xmlns:a16="http://schemas.microsoft.com/office/drawing/2014/main" id="{C956BB2D-FBD6-F4BA-F612-BFBA6ECF6909}"/>
              </a:ext>
            </a:extLst>
          </p:cNvPr>
          <p:cNvSpPr txBox="1"/>
          <p:nvPr/>
        </p:nvSpPr>
        <p:spPr>
          <a:xfrm>
            <a:off x="475488" y="2053369"/>
            <a:ext cx="1773936" cy="246221"/>
          </a:xfrm>
          <a:prstGeom prst="rect">
            <a:avLst/>
          </a:prstGeom>
          <a:noFill/>
        </p:spPr>
        <p:txBody>
          <a:bodyPr wrap="square">
            <a:spAutoFit/>
          </a:bodyPr>
          <a:lstStyle/>
          <a:p>
            <a:pPr algn="l"/>
            <a:r>
              <a:rPr sz="1000" b="0" i="0" dirty="0">
                <a:solidFill>
                  <a:srgbClr val="1A1A2E"/>
                </a:solidFill>
                <a:latin typeface="Calibri"/>
              </a:rPr>
              <a:t>RH (%)  — from T / Td</a:t>
            </a:r>
            <a:r>
              <a:rPr lang="en-US" sz="1000" b="0" i="0" dirty="0">
                <a:solidFill>
                  <a:srgbClr val="1A1A2E"/>
                </a:solidFill>
                <a:latin typeface="Calibri"/>
              </a:rPr>
              <a:t> bands</a:t>
            </a:r>
            <a:endParaRPr sz="1000" b="0" i="0" dirty="0">
              <a:solidFill>
                <a:srgbClr val="1A1A2E"/>
              </a:solidFill>
              <a:latin typeface="Calibri"/>
            </a:endParaRPr>
          </a:p>
        </p:txBody>
      </p:sp>
      <p:sp>
        <p:nvSpPr>
          <p:cNvPr id="83" name="TextBox 82">
            <a:extLst>
              <a:ext uri="{FF2B5EF4-FFF2-40B4-BE49-F238E27FC236}">
                <a16:creationId xmlns:a16="http://schemas.microsoft.com/office/drawing/2014/main" id="{EB8F569A-6C83-A202-ED90-09A298FB4F81}"/>
              </a:ext>
            </a:extLst>
          </p:cNvPr>
          <p:cNvSpPr txBox="1"/>
          <p:nvPr/>
        </p:nvSpPr>
        <p:spPr>
          <a:xfrm>
            <a:off x="475488" y="2355120"/>
            <a:ext cx="1627632" cy="400110"/>
          </a:xfrm>
          <a:prstGeom prst="rect">
            <a:avLst/>
          </a:prstGeom>
          <a:noFill/>
        </p:spPr>
        <p:txBody>
          <a:bodyPr wrap="square">
            <a:spAutoFit/>
          </a:bodyPr>
          <a:lstStyle/>
          <a:p>
            <a:pPr algn="l"/>
            <a:r>
              <a:rPr sz="1000" b="0" i="0" dirty="0" err="1">
                <a:solidFill>
                  <a:srgbClr val="1A1A2E"/>
                </a:solidFill>
                <a:latin typeface="Calibri"/>
              </a:rPr>
              <a:t>Precip</a:t>
            </a:r>
            <a:r>
              <a:rPr sz="1000" b="0" i="0" dirty="0">
                <a:solidFill>
                  <a:srgbClr val="1A1A2E"/>
                </a:solidFill>
                <a:latin typeface="Calibri"/>
              </a:rPr>
              <a:t> (mm/</a:t>
            </a:r>
            <a:r>
              <a:rPr sz="1000" b="0" i="0" dirty="0" err="1">
                <a:solidFill>
                  <a:srgbClr val="1A1A2E"/>
                </a:solidFill>
                <a:latin typeface="Calibri"/>
              </a:rPr>
              <a:t>hr</a:t>
            </a:r>
            <a:r>
              <a:rPr sz="1000" b="0" i="0" dirty="0">
                <a:solidFill>
                  <a:srgbClr val="1A1A2E"/>
                </a:solidFill>
                <a:latin typeface="Calibri"/>
              </a:rPr>
              <a:t>) — ACPC01</a:t>
            </a:r>
            <a:r>
              <a:rPr lang="en-US" sz="1000" b="0" i="0" dirty="0">
                <a:solidFill>
                  <a:srgbClr val="1A1A2E"/>
                </a:solidFill>
                <a:latin typeface="Calibri"/>
              </a:rPr>
              <a:t> band</a:t>
            </a:r>
            <a:endParaRPr sz="1000" b="0" i="0" dirty="0">
              <a:solidFill>
                <a:srgbClr val="1A1A2E"/>
              </a:solidFill>
              <a:latin typeface="Calibri"/>
            </a:endParaRPr>
          </a:p>
        </p:txBody>
      </p:sp>
      <p:sp>
        <p:nvSpPr>
          <p:cNvPr id="84" name="TextBox 83">
            <a:extLst>
              <a:ext uri="{FF2B5EF4-FFF2-40B4-BE49-F238E27FC236}">
                <a16:creationId xmlns:a16="http://schemas.microsoft.com/office/drawing/2014/main" id="{F3A64B98-DAB6-7ECA-0FE3-253EAE428BBB}"/>
              </a:ext>
            </a:extLst>
          </p:cNvPr>
          <p:cNvSpPr txBox="1"/>
          <p:nvPr/>
        </p:nvSpPr>
        <p:spPr>
          <a:xfrm>
            <a:off x="475488" y="2718654"/>
            <a:ext cx="1627632" cy="274320"/>
          </a:xfrm>
          <a:prstGeom prst="rect">
            <a:avLst/>
          </a:prstGeom>
          <a:noFill/>
        </p:spPr>
        <p:txBody>
          <a:bodyPr wrap="square">
            <a:spAutoFit/>
          </a:bodyPr>
          <a:lstStyle/>
          <a:p>
            <a:pPr algn="l"/>
            <a:r>
              <a:rPr sz="1000" b="0" i="0" dirty="0">
                <a:solidFill>
                  <a:srgbClr val="1A1A2E"/>
                </a:solidFill>
                <a:latin typeface="Calibri"/>
              </a:rPr>
              <a:t>Hourly · 2.5 km · GEE</a:t>
            </a:r>
          </a:p>
        </p:txBody>
      </p:sp>
      <p:sp>
        <p:nvSpPr>
          <p:cNvPr id="85" name="TextBox 84">
            <a:extLst>
              <a:ext uri="{FF2B5EF4-FFF2-40B4-BE49-F238E27FC236}">
                <a16:creationId xmlns:a16="http://schemas.microsoft.com/office/drawing/2014/main" id="{BE74ABFA-7C7D-A69E-D80E-D00C342A964A}"/>
              </a:ext>
            </a:extLst>
          </p:cNvPr>
          <p:cNvSpPr txBox="1"/>
          <p:nvPr/>
        </p:nvSpPr>
        <p:spPr>
          <a:xfrm>
            <a:off x="2194560" y="2044225"/>
            <a:ext cx="256032" cy="256032"/>
          </a:xfrm>
          <a:prstGeom prst="rect">
            <a:avLst/>
          </a:prstGeom>
          <a:noFill/>
        </p:spPr>
        <p:txBody>
          <a:bodyPr wrap="square">
            <a:spAutoFit/>
          </a:bodyPr>
          <a:lstStyle/>
          <a:p>
            <a:pPr algn="ctr"/>
            <a:r>
              <a:rPr sz="1800" b="1" i="0">
                <a:solidFill>
                  <a:srgbClr val="90A4AE"/>
                </a:solidFill>
                <a:latin typeface="Calibri"/>
              </a:rPr>
              <a:t>→</a:t>
            </a:r>
          </a:p>
        </p:txBody>
      </p:sp>
      <p:sp>
        <p:nvSpPr>
          <p:cNvPr id="86" name="Rectangle 85">
            <a:extLst>
              <a:ext uri="{FF2B5EF4-FFF2-40B4-BE49-F238E27FC236}">
                <a16:creationId xmlns:a16="http://schemas.microsoft.com/office/drawing/2014/main" id="{3E772165-04D4-A869-A3B2-5A3AB7C9E636}"/>
              </a:ext>
            </a:extLst>
          </p:cNvPr>
          <p:cNvSpPr/>
          <p:nvPr/>
        </p:nvSpPr>
        <p:spPr>
          <a:xfrm>
            <a:off x="2468880" y="1349281"/>
            <a:ext cx="1956816" cy="1664208"/>
          </a:xfrm>
          <a:prstGeom prst="rect">
            <a:avLst/>
          </a:prstGeom>
          <a:solidFill>
            <a:schemeClr val="bg1">
              <a:lumMod val="95000"/>
            </a:schemeClr>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TextBox 87">
            <a:extLst>
              <a:ext uri="{FF2B5EF4-FFF2-40B4-BE49-F238E27FC236}">
                <a16:creationId xmlns:a16="http://schemas.microsoft.com/office/drawing/2014/main" id="{05408547-35AE-2DDC-A784-7B911DCA3EDF}"/>
              </a:ext>
            </a:extLst>
          </p:cNvPr>
          <p:cNvSpPr txBox="1"/>
          <p:nvPr/>
        </p:nvSpPr>
        <p:spPr>
          <a:xfrm>
            <a:off x="2670048" y="1440721"/>
            <a:ext cx="1700784" cy="256032"/>
          </a:xfrm>
          <a:prstGeom prst="rect">
            <a:avLst/>
          </a:prstGeom>
          <a:noFill/>
        </p:spPr>
        <p:txBody>
          <a:bodyPr wrap="square">
            <a:spAutoFit/>
          </a:bodyPr>
          <a:lstStyle/>
          <a:p>
            <a:pPr algn="l"/>
            <a:r>
              <a:rPr sz="1100" b="1" i="0">
                <a:solidFill>
                  <a:srgbClr val="1B6CA8"/>
                </a:solidFill>
                <a:latin typeface="Calibri"/>
              </a:rPr>
              <a:t>② EMC  (per pixel, GEE)</a:t>
            </a:r>
          </a:p>
        </p:txBody>
      </p:sp>
      <p:sp>
        <p:nvSpPr>
          <p:cNvPr id="89" name="TextBox 88">
            <a:extLst>
              <a:ext uri="{FF2B5EF4-FFF2-40B4-BE49-F238E27FC236}">
                <a16:creationId xmlns:a16="http://schemas.microsoft.com/office/drawing/2014/main" id="{F5D5AEA6-74DC-B2F2-362B-D6A64F785A67}"/>
              </a:ext>
            </a:extLst>
          </p:cNvPr>
          <p:cNvSpPr txBox="1"/>
          <p:nvPr/>
        </p:nvSpPr>
        <p:spPr>
          <a:xfrm>
            <a:off x="2670048" y="1751617"/>
            <a:ext cx="1700784" cy="274320"/>
          </a:xfrm>
          <a:prstGeom prst="rect">
            <a:avLst/>
          </a:prstGeom>
          <a:noFill/>
        </p:spPr>
        <p:txBody>
          <a:bodyPr wrap="square">
            <a:spAutoFit/>
          </a:bodyPr>
          <a:lstStyle/>
          <a:p>
            <a:pPr algn="l"/>
            <a:r>
              <a:rPr sz="1000" b="0" i="0">
                <a:solidFill>
                  <a:srgbClr val="1A1A2E"/>
                </a:solidFill>
                <a:latin typeface="Calibri"/>
              </a:rPr>
              <a:t>Cohen &amp; Deeming (1985)</a:t>
            </a:r>
          </a:p>
        </p:txBody>
      </p:sp>
      <p:sp>
        <p:nvSpPr>
          <p:cNvPr id="90" name="TextBox 89">
            <a:extLst>
              <a:ext uri="{FF2B5EF4-FFF2-40B4-BE49-F238E27FC236}">
                <a16:creationId xmlns:a16="http://schemas.microsoft.com/office/drawing/2014/main" id="{9F80496F-DDA6-F244-83A8-2D9631286A61}"/>
              </a:ext>
            </a:extLst>
          </p:cNvPr>
          <p:cNvSpPr txBox="1"/>
          <p:nvPr/>
        </p:nvSpPr>
        <p:spPr>
          <a:xfrm>
            <a:off x="2670048" y="2053369"/>
            <a:ext cx="1700784" cy="274320"/>
          </a:xfrm>
          <a:prstGeom prst="rect">
            <a:avLst/>
          </a:prstGeom>
          <a:noFill/>
        </p:spPr>
        <p:txBody>
          <a:bodyPr wrap="square">
            <a:spAutoFit/>
          </a:bodyPr>
          <a:lstStyle/>
          <a:p>
            <a:pPr algn="l"/>
            <a:r>
              <a:rPr sz="1000" b="0" i="0">
                <a:solidFill>
                  <a:srgbClr val="1A1A2E"/>
                </a:solidFill>
                <a:latin typeface="Calibri"/>
              </a:rPr>
              <a:t>3-regime piecewise in T, RH</a:t>
            </a:r>
          </a:p>
        </p:txBody>
      </p:sp>
      <p:sp>
        <p:nvSpPr>
          <p:cNvPr id="91" name="TextBox 90">
            <a:extLst>
              <a:ext uri="{FF2B5EF4-FFF2-40B4-BE49-F238E27FC236}">
                <a16:creationId xmlns:a16="http://schemas.microsoft.com/office/drawing/2014/main" id="{44B12310-F7DE-DF85-5029-D4AF6CC2715E}"/>
              </a:ext>
            </a:extLst>
          </p:cNvPr>
          <p:cNvSpPr txBox="1"/>
          <p:nvPr/>
        </p:nvSpPr>
        <p:spPr>
          <a:xfrm>
            <a:off x="2670048" y="2355120"/>
            <a:ext cx="1700784" cy="274320"/>
          </a:xfrm>
          <a:prstGeom prst="rect">
            <a:avLst/>
          </a:prstGeom>
          <a:noFill/>
        </p:spPr>
        <p:txBody>
          <a:bodyPr wrap="square">
            <a:spAutoFit/>
          </a:bodyPr>
          <a:lstStyle/>
          <a:p>
            <a:pPr algn="l"/>
            <a:r>
              <a:rPr sz="1000" b="0" i="0" dirty="0">
                <a:solidFill>
                  <a:srgbClr val="1A1A2E"/>
                </a:solidFill>
                <a:latin typeface="Calibri"/>
              </a:rPr>
              <a:t>"moisture fuels aim for"</a:t>
            </a:r>
          </a:p>
        </p:txBody>
      </p:sp>
      <p:sp>
        <p:nvSpPr>
          <p:cNvPr id="92" name="TextBox 91">
            <a:extLst>
              <a:ext uri="{FF2B5EF4-FFF2-40B4-BE49-F238E27FC236}">
                <a16:creationId xmlns:a16="http://schemas.microsoft.com/office/drawing/2014/main" id="{9B5C03AE-4721-9C41-1931-04521FDB4C70}"/>
              </a:ext>
            </a:extLst>
          </p:cNvPr>
          <p:cNvSpPr txBox="1"/>
          <p:nvPr/>
        </p:nvSpPr>
        <p:spPr>
          <a:xfrm>
            <a:off x="2670048" y="2656873"/>
            <a:ext cx="1700784" cy="274320"/>
          </a:xfrm>
          <a:prstGeom prst="rect">
            <a:avLst/>
          </a:prstGeom>
          <a:noFill/>
        </p:spPr>
        <p:txBody>
          <a:bodyPr wrap="square">
            <a:spAutoFit/>
          </a:bodyPr>
          <a:lstStyle/>
          <a:p>
            <a:pPr algn="l"/>
            <a:r>
              <a:rPr sz="1000" b="0" i="0" dirty="0">
                <a:solidFill>
                  <a:srgbClr val="1A1A2E"/>
                </a:solidFill>
                <a:latin typeface="Calibri"/>
              </a:rPr>
              <a:t>→ per pixel before avg</a:t>
            </a:r>
          </a:p>
        </p:txBody>
      </p:sp>
      <p:sp>
        <p:nvSpPr>
          <p:cNvPr id="93" name="TextBox 92">
            <a:extLst>
              <a:ext uri="{FF2B5EF4-FFF2-40B4-BE49-F238E27FC236}">
                <a16:creationId xmlns:a16="http://schemas.microsoft.com/office/drawing/2014/main" id="{24BAE733-BBF7-D108-B697-FDDFC38CCEE9}"/>
              </a:ext>
            </a:extLst>
          </p:cNvPr>
          <p:cNvSpPr txBox="1"/>
          <p:nvPr/>
        </p:nvSpPr>
        <p:spPr>
          <a:xfrm>
            <a:off x="4462272" y="2044225"/>
            <a:ext cx="256032" cy="256032"/>
          </a:xfrm>
          <a:prstGeom prst="rect">
            <a:avLst/>
          </a:prstGeom>
          <a:noFill/>
        </p:spPr>
        <p:txBody>
          <a:bodyPr wrap="square">
            <a:spAutoFit/>
          </a:bodyPr>
          <a:lstStyle/>
          <a:p>
            <a:pPr algn="ctr"/>
            <a:r>
              <a:rPr sz="1800" b="1" i="0">
                <a:solidFill>
                  <a:srgbClr val="90A4AE"/>
                </a:solidFill>
                <a:latin typeface="Calibri"/>
              </a:rPr>
              <a:t>→</a:t>
            </a:r>
          </a:p>
        </p:txBody>
      </p:sp>
      <p:sp>
        <p:nvSpPr>
          <p:cNvPr id="94" name="Rectangle 93">
            <a:extLst>
              <a:ext uri="{FF2B5EF4-FFF2-40B4-BE49-F238E27FC236}">
                <a16:creationId xmlns:a16="http://schemas.microsoft.com/office/drawing/2014/main" id="{98E52ACF-2C18-A7B1-BD2E-50B31C351266}"/>
              </a:ext>
            </a:extLst>
          </p:cNvPr>
          <p:cNvSpPr/>
          <p:nvPr/>
        </p:nvSpPr>
        <p:spPr>
          <a:xfrm>
            <a:off x="4736592" y="1349281"/>
            <a:ext cx="2816352" cy="1664208"/>
          </a:xfrm>
          <a:prstGeom prst="rect">
            <a:avLst/>
          </a:prstGeom>
          <a:solidFill>
            <a:schemeClr val="bg1">
              <a:lumMod val="95000"/>
            </a:schemeClr>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TextBox 95">
            <a:extLst>
              <a:ext uri="{FF2B5EF4-FFF2-40B4-BE49-F238E27FC236}">
                <a16:creationId xmlns:a16="http://schemas.microsoft.com/office/drawing/2014/main" id="{E269775B-0D36-92CE-BD09-F04928316DB0}"/>
              </a:ext>
            </a:extLst>
          </p:cNvPr>
          <p:cNvSpPr txBox="1"/>
          <p:nvPr/>
        </p:nvSpPr>
        <p:spPr>
          <a:xfrm>
            <a:off x="4937758" y="1440721"/>
            <a:ext cx="2816351" cy="261610"/>
          </a:xfrm>
          <a:prstGeom prst="rect">
            <a:avLst/>
          </a:prstGeom>
          <a:noFill/>
        </p:spPr>
        <p:txBody>
          <a:bodyPr wrap="square">
            <a:spAutoFit/>
          </a:bodyPr>
          <a:lstStyle/>
          <a:p>
            <a:pPr algn="l"/>
            <a:r>
              <a:rPr sz="1100" b="1" i="0" dirty="0">
                <a:solidFill>
                  <a:srgbClr val="2C6E49"/>
                </a:solidFill>
                <a:latin typeface="Calibri"/>
              </a:rPr>
              <a:t>③ NFDRS78  Time-Lag</a:t>
            </a:r>
          </a:p>
        </p:txBody>
      </p:sp>
      <p:sp>
        <p:nvSpPr>
          <p:cNvPr id="100" name="TextBox 99">
            <a:extLst>
              <a:ext uri="{FF2B5EF4-FFF2-40B4-BE49-F238E27FC236}">
                <a16:creationId xmlns:a16="http://schemas.microsoft.com/office/drawing/2014/main" id="{5D2AB121-5EEE-4275-728E-39E0E68EB18F}"/>
              </a:ext>
            </a:extLst>
          </p:cNvPr>
          <p:cNvSpPr txBox="1"/>
          <p:nvPr/>
        </p:nvSpPr>
        <p:spPr>
          <a:xfrm>
            <a:off x="7589520" y="2044225"/>
            <a:ext cx="256032" cy="256032"/>
          </a:xfrm>
          <a:prstGeom prst="rect">
            <a:avLst/>
          </a:prstGeom>
          <a:noFill/>
        </p:spPr>
        <p:txBody>
          <a:bodyPr wrap="square">
            <a:spAutoFit/>
          </a:bodyPr>
          <a:lstStyle/>
          <a:p>
            <a:pPr algn="ctr"/>
            <a:r>
              <a:rPr sz="1800" b="1" i="0">
                <a:solidFill>
                  <a:srgbClr val="90A4AE"/>
                </a:solidFill>
                <a:latin typeface="Calibri"/>
              </a:rPr>
              <a:t>→</a:t>
            </a:r>
          </a:p>
        </p:txBody>
      </p:sp>
      <p:sp>
        <p:nvSpPr>
          <p:cNvPr id="101" name="Rectangle 100">
            <a:extLst>
              <a:ext uri="{FF2B5EF4-FFF2-40B4-BE49-F238E27FC236}">
                <a16:creationId xmlns:a16="http://schemas.microsoft.com/office/drawing/2014/main" id="{906D0B79-286C-1561-B4BE-E009E7BB9335}"/>
              </a:ext>
            </a:extLst>
          </p:cNvPr>
          <p:cNvSpPr/>
          <p:nvPr/>
        </p:nvSpPr>
        <p:spPr>
          <a:xfrm>
            <a:off x="7863840" y="1349281"/>
            <a:ext cx="1152144" cy="1664208"/>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TextBox 101">
            <a:extLst>
              <a:ext uri="{FF2B5EF4-FFF2-40B4-BE49-F238E27FC236}">
                <a16:creationId xmlns:a16="http://schemas.microsoft.com/office/drawing/2014/main" id="{44813AE5-478E-B4A3-7585-5B9EE452AAE6}"/>
              </a:ext>
            </a:extLst>
          </p:cNvPr>
          <p:cNvSpPr txBox="1"/>
          <p:nvPr/>
        </p:nvSpPr>
        <p:spPr>
          <a:xfrm>
            <a:off x="7936992" y="1422433"/>
            <a:ext cx="1024128" cy="237744"/>
          </a:xfrm>
          <a:prstGeom prst="rect">
            <a:avLst/>
          </a:prstGeom>
          <a:noFill/>
        </p:spPr>
        <p:txBody>
          <a:bodyPr wrap="square">
            <a:spAutoFit/>
          </a:bodyPr>
          <a:lstStyle/>
          <a:p>
            <a:pPr algn="ctr"/>
            <a:r>
              <a:rPr sz="1000" b="1" i="0">
                <a:solidFill>
                  <a:srgbClr val="546E7A"/>
                </a:solidFill>
                <a:latin typeface="Calibri"/>
              </a:rPr>
              <a:t>Outputs</a:t>
            </a:r>
          </a:p>
        </p:txBody>
      </p:sp>
      <p:sp>
        <p:nvSpPr>
          <p:cNvPr id="103" name="Rectangle 102">
            <a:extLst>
              <a:ext uri="{FF2B5EF4-FFF2-40B4-BE49-F238E27FC236}">
                <a16:creationId xmlns:a16="http://schemas.microsoft.com/office/drawing/2014/main" id="{2F90E230-0CBF-4494-309A-4D75E2542825}"/>
              </a:ext>
            </a:extLst>
          </p:cNvPr>
          <p:cNvSpPr/>
          <p:nvPr/>
        </p:nvSpPr>
        <p:spPr>
          <a:xfrm>
            <a:off x="7936992" y="1733329"/>
            <a:ext cx="1024128" cy="329184"/>
          </a:xfrm>
          <a:prstGeom prst="rect">
            <a:avLst/>
          </a:prstGeom>
          <a:solidFill>
            <a:srgbClr val="FAD7D3"/>
          </a:solidFill>
          <a:ln>
            <a:solidFill>
              <a:srgbClr val="C0392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C0392B"/>
                </a:solidFill>
                <a:latin typeface="Calibri"/>
              </a:rPr>
              <a:t>FM1</a:t>
            </a:r>
          </a:p>
        </p:txBody>
      </p:sp>
      <p:sp>
        <p:nvSpPr>
          <p:cNvPr id="104" name="Rectangle 103">
            <a:extLst>
              <a:ext uri="{FF2B5EF4-FFF2-40B4-BE49-F238E27FC236}">
                <a16:creationId xmlns:a16="http://schemas.microsoft.com/office/drawing/2014/main" id="{855D30D5-D764-710F-D8E0-60A9060CE209}"/>
              </a:ext>
            </a:extLst>
          </p:cNvPr>
          <p:cNvSpPr/>
          <p:nvPr/>
        </p:nvSpPr>
        <p:spPr>
          <a:xfrm>
            <a:off x="7936992" y="2135664"/>
            <a:ext cx="1024128" cy="329184"/>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D4622A"/>
                </a:solidFill>
                <a:latin typeface="Calibri"/>
              </a:rPr>
              <a:t>FM10</a:t>
            </a:r>
          </a:p>
        </p:txBody>
      </p:sp>
      <p:sp>
        <p:nvSpPr>
          <p:cNvPr id="105" name="Rectangle 104">
            <a:extLst>
              <a:ext uri="{FF2B5EF4-FFF2-40B4-BE49-F238E27FC236}">
                <a16:creationId xmlns:a16="http://schemas.microsoft.com/office/drawing/2014/main" id="{FAFADBFF-356A-7D75-C944-66572D0478E2}"/>
              </a:ext>
            </a:extLst>
          </p:cNvPr>
          <p:cNvSpPr/>
          <p:nvPr/>
        </p:nvSpPr>
        <p:spPr>
          <a:xfrm>
            <a:off x="7936992" y="2538001"/>
            <a:ext cx="1024128" cy="329184"/>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1B6CA8"/>
                </a:solidFill>
                <a:latin typeface="Calibri"/>
              </a:rPr>
              <a:t>FM100</a:t>
            </a:r>
          </a:p>
        </p:txBody>
      </p:sp>
      <p:sp>
        <p:nvSpPr>
          <p:cNvPr id="106" name="TextBox 105">
            <a:extLst>
              <a:ext uri="{FF2B5EF4-FFF2-40B4-BE49-F238E27FC236}">
                <a16:creationId xmlns:a16="http://schemas.microsoft.com/office/drawing/2014/main" id="{A42B0BB6-904B-2168-03A0-A5C7E67ACC98}"/>
              </a:ext>
            </a:extLst>
          </p:cNvPr>
          <p:cNvSpPr txBox="1"/>
          <p:nvPr/>
        </p:nvSpPr>
        <p:spPr>
          <a:xfrm>
            <a:off x="370332" y="3271506"/>
            <a:ext cx="8732520" cy="237744"/>
          </a:xfrm>
          <a:prstGeom prst="rect">
            <a:avLst/>
          </a:prstGeom>
          <a:noFill/>
        </p:spPr>
        <p:txBody>
          <a:bodyPr wrap="square">
            <a:spAutoFit/>
          </a:bodyPr>
          <a:lstStyle/>
          <a:p>
            <a:pPr algn="l"/>
            <a:r>
              <a:rPr sz="1000" b="1" i="0" dirty="0">
                <a:solidFill>
                  <a:srgbClr val="546E7A"/>
                </a:solidFill>
                <a:latin typeface="Calibri"/>
              </a:rPr>
              <a:t>How fast does each fuel class respond?</a:t>
            </a:r>
          </a:p>
        </p:txBody>
      </p:sp>
      <p:sp>
        <p:nvSpPr>
          <p:cNvPr id="107" name="Rectangle 106">
            <a:extLst>
              <a:ext uri="{FF2B5EF4-FFF2-40B4-BE49-F238E27FC236}">
                <a16:creationId xmlns:a16="http://schemas.microsoft.com/office/drawing/2014/main" id="{FE724798-D4E3-A550-4722-1EB311C5CF8A}"/>
              </a:ext>
            </a:extLst>
          </p:cNvPr>
          <p:cNvSpPr/>
          <p:nvPr/>
        </p:nvSpPr>
        <p:spPr>
          <a:xfrm>
            <a:off x="237744" y="3606244"/>
            <a:ext cx="2798064" cy="1158467"/>
          </a:xfrm>
          <a:prstGeom prst="rect">
            <a:avLst/>
          </a:prstGeom>
          <a:solidFill>
            <a:srgbClr val="FAD7D3"/>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9" name="Rectangle 108">
            <a:extLst>
              <a:ext uri="{FF2B5EF4-FFF2-40B4-BE49-F238E27FC236}">
                <a16:creationId xmlns:a16="http://schemas.microsoft.com/office/drawing/2014/main" id="{6AA3429C-D545-7652-9A6F-6D5F0CBE885D}"/>
              </a:ext>
            </a:extLst>
          </p:cNvPr>
          <p:cNvSpPr/>
          <p:nvPr/>
        </p:nvSpPr>
        <p:spPr>
          <a:xfrm>
            <a:off x="237744" y="3600014"/>
            <a:ext cx="804672" cy="457200"/>
          </a:xfrm>
          <a:prstGeom prst="rect">
            <a:avLst/>
          </a:prstGeom>
          <a:solidFill>
            <a:srgbClr val="C0392B"/>
          </a:solidFill>
          <a:ln>
            <a:solidFill>
              <a:srgbClr val="C0392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a:solidFill>
                  <a:srgbClr val="FFFFFF"/>
                </a:solidFill>
                <a:latin typeface="Calibri"/>
              </a:rPr>
              <a:t>FM1</a:t>
            </a:r>
          </a:p>
        </p:txBody>
      </p:sp>
      <p:sp>
        <p:nvSpPr>
          <p:cNvPr id="110" name="TextBox 109">
            <a:extLst>
              <a:ext uri="{FF2B5EF4-FFF2-40B4-BE49-F238E27FC236}">
                <a16:creationId xmlns:a16="http://schemas.microsoft.com/office/drawing/2014/main" id="{330F9A32-E12D-F800-0099-0EF1EBC3F9B9}"/>
              </a:ext>
            </a:extLst>
          </p:cNvPr>
          <p:cNvSpPr txBox="1"/>
          <p:nvPr/>
        </p:nvSpPr>
        <p:spPr>
          <a:xfrm>
            <a:off x="1307592" y="3630856"/>
            <a:ext cx="1700784" cy="256032"/>
          </a:xfrm>
          <a:prstGeom prst="rect">
            <a:avLst/>
          </a:prstGeom>
          <a:noFill/>
        </p:spPr>
        <p:txBody>
          <a:bodyPr wrap="square">
            <a:spAutoFit/>
          </a:bodyPr>
          <a:lstStyle/>
          <a:p>
            <a:pPr algn="l"/>
            <a:r>
              <a:rPr sz="1400" b="1" i="0">
                <a:solidFill>
                  <a:srgbClr val="C0392B"/>
                </a:solidFill>
                <a:latin typeface="Courier New"/>
              </a:rPr>
              <a:t>τ = 1 hr</a:t>
            </a:r>
          </a:p>
        </p:txBody>
      </p:sp>
      <p:sp>
        <p:nvSpPr>
          <p:cNvPr id="111" name="TextBox 110">
            <a:extLst>
              <a:ext uri="{FF2B5EF4-FFF2-40B4-BE49-F238E27FC236}">
                <a16:creationId xmlns:a16="http://schemas.microsoft.com/office/drawing/2014/main" id="{734DB1C7-FD7D-A708-913F-15935E1765CB}"/>
              </a:ext>
            </a:extLst>
          </p:cNvPr>
          <p:cNvSpPr txBox="1"/>
          <p:nvPr/>
        </p:nvSpPr>
        <p:spPr>
          <a:xfrm>
            <a:off x="1307592" y="3886888"/>
            <a:ext cx="1700784" cy="201168"/>
          </a:xfrm>
          <a:prstGeom prst="rect">
            <a:avLst/>
          </a:prstGeom>
          <a:noFill/>
        </p:spPr>
        <p:txBody>
          <a:bodyPr wrap="square">
            <a:spAutoFit/>
          </a:bodyPr>
          <a:lstStyle/>
          <a:p>
            <a:pPr algn="l"/>
            <a:r>
              <a:rPr sz="900" b="0" i="1">
                <a:solidFill>
                  <a:srgbClr val="546E7A"/>
                </a:solidFill>
                <a:latin typeface="Courier New"/>
              </a:rPr>
              <a:t>α ≈ 0.63/hr</a:t>
            </a:r>
          </a:p>
        </p:txBody>
      </p:sp>
      <p:sp>
        <p:nvSpPr>
          <p:cNvPr id="112" name="TextBox 111">
            <a:extLst>
              <a:ext uri="{FF2B5EF4-FFF2-40B4-BE49-F238E27FC236}">
                <a16:creationId xmlns:a16="http://schemas.microsoft.com/office/drawing/2014/main" id="{A307DBE1-E9FD-6738-3952-E727F0A3E2E3}"/>
              </a:ext>
            </a:extLst>
          </p:cNvPr>
          <p:cNvSpPr txBox="1"/>
          <p:nvPr/>
        </p:nvSpPr>
        <p:spPr>
          <a:xfrm>
            <a:off x="329185" y="4116002"/>
            <a:ext cx="2578608" cy="713232"/>
          </a:xfrm>
          <a:prstGeom prst="rect">
            <a:avLst/>
          </a:prstGeom>
          <a:noFill/>
        </p:spPr>
        <p:txBody>
          <a:bodyPr wrap="square">
            <a:spAutoFit/>
          </a:bodyPr>
          <a:lstStyle/>
          <a:p>
            <a:pPr algn="l"/>
            <a:r>
              <a:rPr sz="1000" b="0" i="0" dirty="0">
                <a:solidFill>
                  <a:srgbClr val="1A1A2E"/>
                </a:solidFill>
                <a:latin typeface="Calibri"/>
              </a:rPr>
              <a:t>Responds within 1–2 hours.
Tracks EMC almost instantly — very sensitive to afternoon drying.</a:t>
            </a:r>
          </a:p>
        </p:txBody>
      </p:sp>
      <p:sp>
        <p:nvSpPr>
          <p:cNvPr id="113" name="Rectangle 112">
            <a:extLst>
              <a:ext uri="{FF2B5EF4-FFF2-40B4-BE49-F238E27FC236}">
                <a16:creationId xmlns:a16="http://schemas.microsoft.com/office/drawing/2014/main" id="{CA14503C-7D09-8C77-D64D-A760EE8E5D50}"/>
              </a:ext>
            </a:extLst>
          </p:cNvPr>
          <p:cNvSpPr/>
          <p:nvPr/>
        </p:nvSpPr>
        <p:spPr>
          <a:xfrm>
            <a:off x="3218688" y="3606244"/>
            <a:ext cx="2798064" cy="1158468"/>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5" name="Rectangle 114">
            <a:extLst>
              <a:ext uri="{FF2B5EF4-FFF2-40B4-BE49-F238E27FC236}">
                <a16:creationId xmlns:a16="http://schemas.microsoft.com/office/drawing/2014/main" id="{8F625C07-674F-6763-38FD-1C4C7405B0B4}"/>
              </a:ext>
            </a:extLst>
          </p:cNvPr>
          <p:cNvSpPr/>
          <p:nvPr/>
        </p:nvSpPr>
        <p:spPr>
          <a:xfrm>
            <a:off x="3218688" y="3607100"/>
            <a:ext cx="804672" cy="457200"/>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dirty="0">
                <a:solidFill>
                  <a:srgbClr val="FFFFFF"/>
                </a:solidFill>
                <a:latin typeface="Calibri"/>
              </a:rPr>
              <a:t>FM10</a:t>
            </a:r>
          </a:p>
        </p:txBody>
      </p:sp>
      <p:sp>
        <p:nvSpPr>
          <p:cNvPr id="116" name="TextBox 115">
            <a:extLst>
              <a:ext uri="{FF2B5EF4-FFF2-40B4-BE49-F238E27FC236}">
                <a16:creationId xmlns:a16="http://schemas.microsoft.com/office/drawing/2014/main" id="{D9FFA997-BE2C-BFD7-2F1E-3E9C38178CE5}"/>
              </a:ext>
            </a:extLst>
          </p:cNvPr>
          <p:cNvSpPr txBox="1"/>
          <p:nvPr/>
        </p:nvSpPr>
        <p:spPr>
          <a:xfrm>
            <a:off x="4192524" y="3642095"/>
            <a:ext cx="1700784" cy="256032"/>
          </a:xfrm>
          <a:prstGeom prst="rect">
            <a:avLst/>
          </a:prstGeom>
          <a:noFill/>
        </p:spPr>
        <p:txBody>
          <a:bodyPr wrap="square">
            <a:spAutoFit/>
          </a:bodyPr>
          <a:lstStyle/>
          <a:p>
            <a:pPr algn="l"/>
            <a:r>
              <a:rPr sz="1400" b="1" i="0" dirty="0" err="1">
                <a:solidFill>
                  <a:srgbClr val="D4622A"/>
                </a:solidFill>
                <a:latin typeface="Courier New"/>
              </a:rPr>
              <a:t>τ</a:t>
            </a:r>
            <a:r>
              <a:rPr sz="1400" b="1" i="0" dirty="0">
                <a:solidFill>
                  <a:srgbClr val="D4622A"/>
                </a:solidFill>
                <a:latin typeface="Courier New"/>
              </a:rPr>
              <a:t> = 10 </a:t>
            </a:r>
            <a:r>
              <a:rPr sz="1400" b="1" i="0" dirty="0" err="1">
                <a:solidFill>
                  <a:srgbClr val="D4622A"/>
                </a:solidFill>
                <a:latin typeface="Courier New"/>
              </a:rPr>
              <a:t>hr</a:t>
            </a:r>
            <a:endParaRPr sz="1400" b="1" i="0" dirty="0">
              <a:solidFill>
                <a:srgbClr val="D4622A"/>
              </a:solidFill>
              <a:latin typeface="Courier New"/>
            </a:endParaRPr>
          </a:p>
        </p:txBody>
      </p:sp>
      <p:sp>
        <p:nvSpPr>
          <p:cNvPr id="117" name="TextBox 116">
            <a:extLst>
              <a:ext uri="{FF2B5EF4-FFF2-40B4-BE49-F238E27FC236}">
                <a16:creationId xmlns:a16="http://schemas.microsoft.com/office/drawing/2014/main" id="{567C9286-F74D-8F91-F0A0-C3A1FF47BF98}"/>
              </a:ext>
            </a:extLst>
          </p:cNvPr>
          <p:cNvSpPr txBox="1"/>
          <p:nvPr/>
        </p:nvSpPr>
        <p:spPr>
          <a:xfrm>
            <a:off x="4192524" y="3898127"/>
            <a:ext cx="1700784" cy="201168"/>
          </a:xfrm>
          <a:prstGeom prst="rect">
            <a:avLst/>
          </a:prstGeom>
          <a:noFill/>
        </p:spPr>
        <p:txBody>
          <a:bodyPr wrap="square">
            <a:spAutoFit/>
          </a:bodyPr>
          <a:lstStyle/>
          <a:p>
            <a:pPr algn="l"/>
            <a:r>
              <a:rPr sz="900" b="0" i="1" dirty="0">
                <a:solidFill>
                  <a:srgbClr val="546E7A"/>
                </a:solidFill>
                <a:latin typeface="Courier New"/>
              </a:rPr>
              <a:t>α ≈ 0.095/</a:t>
            </a:r>
            <a:r>
              <a:rPr sz="900" b="0" i="1" dirty="0" err="1">
                <a:solidFill>
                  <a:srgbClr val="546E7A"/>
                </a:solidFill>
                <a:latin typeface="Courier New"/>
              </a:rPr>
              <a:t>hr</a:t>
            </a:r>
            <a:endParaRPr sz="900" b="0" i="1" dirty="0">
              <a:solidFill>
                <a:srgbClr val="546E7A"/>
              </a:solidFill>
              <a:latin typeface="Courier New"/>
            </a:endParaRPr>
          </a:p>
        </p:txBody>
      </p:sp>
      <p:sp>
        <p:nvSpPr>
          <p:cNvPr id="118" name="TextBox 117">
            <a:extLst>
              <a:ext uri="{FF2B5EF4-FFF2-40B4-BE49-F238E27FC236}">
                <a16:creationId xmlns:a16="http://schemas.microsoft.com/office/drawing/2014/main" id="{52840D2E-5283-FA0A-A110-465E8A00E7CA}"/>
              </a:ext>
            </a:extLst>
          </p:cNvPr>
          <p:cNvSpPr txBox="1"/>
          <p:nvPr/>
        </p:nvSpPr>
        <p:spPr>
          <a:xfrm>
            <a:off x="3314700" y="4189154"/>
            <a:ext cx="2578608" cy="713232"/>
          </a:xfrm>
          <a:prstGeom prst="rect">
            <a:avLst/>
          </a:prstGeom>
          <a:noFill/>
        </p:spPr>
        <p:txBody>
          <a:bodyPr wrap="square">
            <a:spAutoFit/>
          </a:bodyPr>
          <a:lstStyle/>
          <a:p>
            <a:pPr algn="l"/>
            <a:r>
              <a:rPr sz="1000" b="0" i="0" dirty="0">
                <a:solidFill>
                  <a:srgbClr val="1A1A2E"/>
                </a:solidFill>
                <a:latin typeface="Calibri"/>
              </a:rPr>
              <a:t>~1-day memory. Smooths the diurnal cycle; rises overnight, falls through the afternoon.</a:t>
            </a:r>
          </a:p>
        </p:txBody>
      </p:sp>
      <p:sp>
        <p:nvSpPr>
          <p:cNvPr id="119" name="Rectangle 118">
            <a:extLst>
              <a:ext uri="{FF2B5EF4-FFF2-40B4-BE49-F238E27FC236}">
                <a16:creationId xmlns:a16="http://schemas.microsoft.com/office/drawing/2014/main" id="{D2AFB26B-47F9-A644-5E19-170A113A2C0F}"/>
              </a:ext>
            </a:extLst>
          </p:cNvPr>
          <p:cNvSpPr/>
          <p:nvPr/>
        </p:nvSpPr>
        <p:spPr>
          <a:xfrm>
            <a:off x="6199631" y="3588266"/>
            <a:ext cx="2798064" cy="1176446"/>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1" name="Rectangle 120">
            <a:extLst>
              <a:ext uri="{FF2B5EF4-FFF2-40B4-BE49-F238E27FC236}">
                <a16:creationId xmlns:a16="http://schemas.microsoft.com/office/drawing/2014/main" id="{A4569EB8-7B66-6731-29CA-8881625EBE43}"/>
              </a:ext>
            </a:extLst>
          </p:cNvPr>
          <p:cNvSpPr/>
          <p:nvPr/>
        </p:nvSpPr>
        <p:spPr>
          <a:xfrm>
            <a:off x="6208775" y="3588266"/>
            <a:ext cx="804672" cy="457200"/>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600" b="1" i="0" dirty="0">
                <a:solidFill>
                  <a:srgbClr val="FFFFFF"/>
                </a:solidFill>
                <a:latin typeface="Calibri"/>
              </a:rPr>
              <a:t>FM100</a:t>
            </a:r>
          </a:p>
        </p:txBody>
      </p:sp>
      <p:sp>
        <p:nvSpPr>
          <p:cNvPr id="122" name="TextBox 121">
            <a:extLst>
              <a:ext uri="{FF2B5EF4-FFF2-40B4-BE49-F238E27FC236}">
                <a16:creationId xmlns:a16="http://schemas.microsoft.com/office/drawing/2014/main" id="{B052CA63-3F4B-1063-4D04-D4EA5721D4B6}"/>
              </a:ext>
            </a:extLst>
          </p:cNvPr>
          <p:cNvSpPr txBox="1"/>
          <p:nvPr/>
        </p:nvSpPr>
        <p:spPr>
          <a:xfrm>
            <a:off x="7245747" y="3636060"/>
            <a:ext cx="1700784" cy="256032"/>
          </a:xfrm>
          <a:prstGeom prst="rect">
            <a:avLst/>
          </a:prstGeom>
          <a:noFill/>
        </p:spPr>
        <p:txBody>
          <a:bodyPr wrap="square">
            <a:spAutoFit/>
          </a:bodyPr>
          <a:lstStyle/>
          <a:p>
            <a:pPr algn="l"/>
            <a:r>
              <a:rPr sz="1400" b="1" i="0" dirty="0" err="1">
                <a:solidFill>
                  <a:srgbClr val="1B6CA8"/>
                </a:solidFill>
                <a:latin typeface="Courier New"/>
              </a:rPr>
              <a:t>τ</a:t>
            </a:r>
            <a:r>
              <a:rPr sz="1400" b="1" i="0" dirty="0">
                <a:solidFill>
                  <a:srgbClr val="1B6CA8"/>
                </a:solidFill>
                <a:latin typeface="Courier New"/>
              </a:rPr>
              <a:t> = 100 </a:t>
            </a:r>
            <a:r>
              <a:rPr sz="1400" b="1" i="0" dirty="0" err="1">
                <a:solidFill>
                  <a:srgbClr val="1B6CA8"/>
                </a:solidFill>
                <a:latin typeface="Courier New"/>
              </a:rPr>
              <a:t>hr</a:t>
            </a:r>
            <a:endParaRPr sz="1400" b="1" i="0" dirty="0">
              <a:solidFill>
                <a:srgbClr val="1B6CA8"/>
              </a:solidFill>
              <a:latin typeface="Courier New"/>
            </a:endParaRPr>
          </a:p>
        </p:txBody>
      </p:sp>
      <p:sp>
        <p:nvSpPr>
          <p:cNvPr id="123" name="TextBox 122">
            <a:extLst>
              <a:ext uri="{FF2B5EF4-FFF2-40B4-BE49-F238E27FC236}">
                <a16:creationId xmlns:a16="http://schemas.microsoft.com/office/drawing/2014/main" id="{4E453DCE-0E5E-177C-F3D0-2AA10B949C73}"/>
              </a:ext>
            </a:extLst>
          </p:cNvPr>
          <p:cNvSpPr txBox="1"/>
          <p:nvPr/>
        </p:nvSpPr>
        <p:spPr>
          <a:xfrm>
            <a:off x="7245747" y="3892092"/>
            <a:ext cx="1700784" cy="201168"/>
          </a:xfrm>
          <a:prstGeom prst="rect">
            <a:avLst/>
          </a:prstGeom>
          <a:noFill/>
        </p:spPr>
        <p:txBody>
          <a:bodyPr wrap="square">
            <a:spAutoFit/>
          </a:bodyPr>
          <a:lstStyle/>
          <a:p>
            <a:pPr algn="l"/>
            <a:r>
              <a:rPr sz="900" b="0" i="1" dirty="0">
                <a:solidFill>
                  <a:srgbClr val="546E7A"/>
                </a:solidFill>
                <a:latin typeface="Courier New"/>
              </a:rPr>
              <a:t>α ≈ 0.010/</a:t>
            </a:r>
            <a:r>
              <a:rPr sz="900" b="0" i="1" dirty="0" err="1">
                <a:solidFill>
                  <a:srgbClr val="546E7A"/>
                </a:solidFill>
                <a:latin typeface="Courier New"/>
              </a:rPr>
              <a:t>hr</a:t>
            </a:r>
            <a:endParaRPr sz="900" b="0" i="1" dirty="0">
              <a:solidFill>
                <a:srgbClr val="546E7A"/>
              </a:solidFill>
              <a:latin typeface="Courier New"/>
            </a:endParaRPr>
          </a:p>
        </p:txBody>
      </p:sp>
      <p:sp>
        <p:nvSpPr>
          <p:cNvPr id="124" name="TextBox 123">
            <a:extLst>
              <a:ext uri="{FF2B5EF4-FFF2-40B4-BE49-F238E27FC236}">
                <a16:creationId xmlns:a16="http://schemas.microsoft.com/office/drawing/2014/main" id="{F304A5BF-79B2-05A1-A43B-39C9E4D79099}"/>
              </a:ext>
            </a:extLst>
          </p:cNvPr>
          <p:cNvSpPr txBox="1"/>
          <p:nvPr/>
        </p:nvSpPr>
        <p:spPr>
          <a:xfrm>
            <a:off x="6309359" y="4189154"/>
            <a:ext cx="2578608" cy="713232"/>
          </a:xfrm>
          <a:prstGeom prst="rect">
            <a:avLst/>
          </a:prstGeom>
          <a:noFill/>
        </p:spPr>
        <p:txBody>
          <a:bodyPr wrap="square">
            <a:spAutoFit/>
          </a:bodyPr>
          <a:lstStyle/>
          <a:p>
            <a:pPr algn="l"/>
            <a:r>
              <a:rPr sz="1000" b="0" i="0" dirty="0">
                <a:solidFill>
                  <a:srgbClr val="1A1A2E"/>
                </a:solidFill>
                <a:latin typeface="Calibri"/>
              </a:rPr>
              <a:t>~3-week memory. Reflects antecedent drought history — slow to dry, slow to recover.</a:t>
            </a:r>
          </a:p>
        </p:txBody>
      </p:sp>
      <p:sp>
        <p:nvSpPr>
          <p:cNvPr id="128" name="TextBox 127">
            <a:extLst>
              <a:ext uri="{FF2B5EF4-FFF2-40B4-BE49-F238E27FC236}">
                <a16:creationId xmlns:a16="http://schemas.microsoft.com/office/drawing/2014/main" id="{AEC11256-4EE8-1F46-D986-DA7EF122DF13}"/>
              </a:ext>
            </a:extLst>
          </p:cNvPr>
          <p:cNvSpPr txBox="1"/>
          <p:nvPr/>
        </p:nvSpPr>
        <p:spPr>
          <a:xfrm>
            <a:off x="365760" y="974533"/>
            <a:ext cx="8412480" cy="246221"/>
          </a:xfrm>
          <a:prstGeom prst="rect">
            <a:avLst/>
          </a:prstGeom>
          <a:noFill/>
        </p:spPr>
        <p:txBody>
          <a:bodyPr wrap="square">
            <a:spAutoFit/>
          </a:bodyPr>
          <a:lstStyle/>
          <a:p>
            <a:pPr algn="l"/>
            <a:r>
              <a:rPr lang="en-US" sz="1000" i="1" dirty="0">
                <a:solidFill>
                  <a:srgbClr val="546E7A"/>
                </a:solidFill>
                <a:latin typeface="Calibri"/>
              </a:rPr>
              <a:t>National Fire Danger Rating System (NFDRS) standard equations based on the EMC (Cohen &amp; Deeming, 1985)</a:t>
            </a:r>
            <a:endParaRPr sz="1000" b="0" i="1" dirty="0">
              <a:solidFill>
                <a:srgbClr val="546E7A"/>
              </a:solidFill>
              <a:latin typeface="Calibri"/>
            </a:endParaRPr>
          </a:p>
        </p:txBody>
      </p:sp>
      <p:sp>
        <p:nvSpPr>
          <p:cNvPr id="129" name="TextBox 128">
            <a:extLst>
              <a:ext uri="{FF2B5EF4-FFF2-40B4-BE49-F238E27FC236}">
                <a16:creationId xmlns:a16="http://schemas.microsoft.com/office/drawing/2014/main" id="{40BC09BC-075A-A4CD-5D37-86B29A0CC1CB}"/>
              </a:ext>
            </a:extLst>
          </p:cNvPr>
          <p:cNvSpPr txBox="1"/>
          <p:nvPr/>
        </p:nvSpPr>
        <p:spPr>
          <a:xfrm>
            <a:off x="4992624" y="1748269"/>
            <a:ext cx="2560320" cy="274320"/>
          </a:xfrm>
          <a:prstGeom prst="rect">
            <a:avLst/>
          </a:prstGeom>
          <a:noFill/>
        </p:spPr>
        <p:txBody>
          <a:bodyPr wrap="square">
            <a:spAutoFit/>
          </a:bodyPr>
          <a:lstStyle/>
          <a:p>
            <a:pPr algn="l"/>
            <a:r>
              <a:rPr sz="1000" b="0" i="0">
                <a:solidFill>
                  <a:srgbClr val="1A1A2E"/>
                </a:solidFill>
                <a:latin typeface="Calibri"/>
              </a:rPr>
              <a:t>Each hour: fuel moisture nudges toward EMC</a:t>
            </a:r>
          </a:p>
        </p:txBody>
      </p:sp>
      <p:sp>
        <p:nvSpPr>
          <p:cNvPr id="130" name="TextBox 129">
            <a:extLst>
              <a:ext uri="{FF2B5EF4-FFF2-40B4-BE49-F238E27FC236}">
                <a16:creationId xmlns:a16="http://schemas.microsoft.com/office/drawing/2014/main" id="{496D87A8-06CD-01F3-A301-DE215060AC7C}"/>
              </a:ext>
            </a:extLst>
          </p:cNvPr>
          <p:cNvSpPr txBox="1"/>
          <p:nvPr/>
        </p:nvSpPr>
        <p:spPr>
          <a:xfrm>
            <a:off x="4992624" y="2050021"/>
            <a:ext cx="2560320" cy="274320"/>
          </a:xfrm>
          <a:prstGeom prst="rect">
            <a:avLst/>
          </a:prstGeom>
          <a:noFill/>
        </p:spPr>
        <p:txBody>
          <a:bodyPr wrap="square">
            <a:spAutoFit/>
          </a:bodyPr>
          <a:lstStyle/>
          <a:p>
            <a:pPr algn="l"/>
            <a:r>
              <a:rPr sz="1000" b="0" i="0" dirty="0">
                <a:solidFill>
                  <a:srgbClr val="1A1A2E"/>
                </a:solidFill>
                <a:latin typeface="Calibri"/>
              </a:rPr>
              <a:t>How fast depends on the time constant (</a:t>
            </a:r>
            <a:r>
              <a:rPr sz="1000" b="0" i="0" dirty="0" err="1">
                <a:solidFill>
                  <a:srgbClr val="1A1A2E"/>
                </a:solidFill>
                <a:latin typeface="Calibri"/>
              </a:rPr>
              <a:t>τ</a:t>
            </a:r>
            <a:r>
              <a:rPr sz="1000" b="0" i="0" dirty="0">
                <a:solidFill>
                  <a:srgbClr val="1A1A2E"/>
                </a:solidFill>
                <a:latin typeface="Calibri"/>
              </a:rPr>
              <a:t>)</a:t>
            </a:r>
          </a:p>
        </p:txBody>
      </p:sp>
      <p:sp>
        <p:nvSpPr>
          <p:cNvPr id="131" name="TextBox 130">
            <a:extLst>
              <a:ext uri="{FF2B5EF4-FFF2-40B4-BE49-F238E27FC236}">
                <a16:creationId xmlns:a16="http://schemas.microsoft.com/office/drawing/2014/main" id="{0B9AF481-7A8A-E86E-F94C-06E7346D7263}"/>
              </a:ext>
            </a:extLst>
          </p:cNvPr>
          <p:cNvSpPr txBox="1"/>
          <p:nvPr/>
        </p:nvSpPr>
        <p:spPr>
          <a:xfrm>
            <a:off x="4992624" y="2289346"/>
            <a:ext cx="2560320" cy="274320"/>
          </a:xfrm>
          <a:prstGeom prst="rect">
            <a:avLst/>
          </a:prstGeom>
          <a:noFill/>
        </p:spPr>
        <p:txBody>
          <a:bodyPr wrap="square">
            <a:spAutoFit/>
          </a:bodyPr>
          <a:lstStyle/>
          <a:p>
            <a:pPr algn="l"/>
            <a:r>
              <a:rPr sz="1000" b="0" i="0" dirty="0">
                <a:solidFill>
                  <a:srgbClr val="1A1A2E"/>
                </a:solidFill>
                <a:latin typeface="Calibri"/>
              </a:rPr>
              <a:t>FM1 nearly tracks EMC; FM100 integrates weeks</a:t>
            </a:r>
          </a:p>
        </p:txBody>
      </p:sp>
      <p:sp>
        <p:nvSpPr>
          <p:cNvPr id="132" name="TextBox 131">
            <a:extLst>
              <a:ext uri="{FF2B5EF4-FFF2-40B4-BE49-F238E27FC236}">
                <a16:creationId xmlns:a16="http://schemas.microsoft.com/office/drawing/2014/main" id="{B4B10381-A981-A937-11B0-C8B48887B7D1}"/>
              </a:ext>
            </a:extLst>
          </p:cNvPr>
          <p:cNvSpPr txBox="1"/>
          <p:nvPr/>
        </p:nvSpPr>
        <p:spPr>
          <a:xfrm>
            <a:off x="4992624" y="2653525"/>
            <a:ext cx="2560320" cy="274320"/>
          </a:xfrm>
          <a:prstGeom prst="rect">
            <a:avLst/>
          </a:prstGeom>
          <a:noFill/>
        </p:spPr>
        <p:txBody>
          <a:bodyPr wrap="square">
            <a:spAutoFit/>
          </a:bodyPr>
          <a:lstStyle/>
          <a:p>
            <a:pPr algn="l"/>
            <a:r>
              <a:rPr sz="1000" b="0" i="0">
                <a:solidFill>
                  <a:srgbClr val="1A1A2E"/>
                </a:solidFill>
                <a:latin typeface="Calibri"/>
              </a:rPr>
              <a:t>Run hourly per-pyrome on the RTMA export</a:t>
            </a:r>
          </a:p>
        </p:txBody>
      </p:sp>
      <p:cxnSp>
        <p:nvCxnSpPr>
          <p:cNvPr id="134" name="Straight Arrow Connector 133">
            <a:extLst>
              <a:ext uri="{FF2B5EF4-FFF2-40B4-BE49-F238E27FC236}">
                <a16:creationId xmlns:a16="http://schemas.microsoft.com/office/drawing/2014/main" id="{A0CAE712-DAD1-AE6F-58B8-70FC9DDC74D8}"/>
              </a:ext>
            </a:extLst>
          </p:cNvPr>
          <p:cNvCxnSpPr>
            <a:stCxn id="94" idx="2"/>
            <a:endCxn id="106" idx="2"/>
          </p:cNvCxnSpPr>
          <p:nvPr/>
        </p:nvCxnSpPr>
        <p:spPr>
          <a:xfrm flipH="1">
            <a:off x="4736592" y="3013489"/>
            <a:ext cx="1408176" cy="495761"/>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547427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98791-F16F-7767-DF23-A9454BEA3F68}"/>
            </a:ext>
          </a:extLst>
        </p:cNvPr>
        <p:cNvGrpSpPr/>
        <p:nvPr/>
      </p:nvGrpSpPr>
      <p:grpSpPr>
        <a:xfrm>
          <a:off x="0" y="0"/>
          <a:ext cx="0" cy="0"/>
          <a:chOff x="0" y="0"/>
          <a:chExt cx="0" cy="0"/>
        </a:xfrm>
      </p:grpSpPr>
      <p:sp>
        <p:nvSpPr>
          <p:cNvPr id="27" name="Rectangle 26">
            <a:extLst>
              <a:ext uri="{FF2B5EF4-FFF2-40B4-BE49-F238E27FC236}">
                <a16:creationId xmlns:a16="http://schemas.microsoft.com/office/drawing/2014/main" id="{2469E258-0C96-BAE5-895F-9F113CD38F49}"/>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28" name="Rectangle 27">
            <a:extLst>
              <a:ext uri="{FF2B5EF4-FFF2-40B4-BE49-F238E27FC236}">
                <a16:creationId xmlns:a16="http://schemas.microsoft.com/office/drawing/2014/main" id="{5A8138B2-1FCD-B9B7-95F6-C8F0664AB16F}"/>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29" name="Rectangle 28">
            <a:extLst>
              <a:ext uri="{FF2B5EF4-FFF2-40B4-BE49-F238E27FC236}">
                <a16:creationId xmlns:a16="http://schemas.microsoft.com/office/drawing/2014/main" id="{86F2408C-3963-D63B-B7A6-8C724A00EF71}"/>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0" name="Rectangle 29">
            <a:extLst>
              <a:ext uri="{FF2B5EF4-FFF2-40B4-BE49-F238E27FC236}">
                <a16:creationId xmlns:a16="http://schemas.microsoft.com/office/drawing/2014/main" id="{D569ECED-D578-C28F-1146-76FE031B6E36}"/>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1" name="Rectangle 30">
            <a:extLst>
              <a:ext uri="{FF2B5EF4-FFF2-40B4-BE49-F238E27FC236}">
                <a16:creationId xmlns:a16="http://schemas.microsoft.com/office/drawing/2014/main" id="{20A4C094-58B1-E52A-A2AF-02E66109F5E0}"/>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2" name="Rectangle 31">
            <a:extLst>
              <a:ext uri="{FF2B5EF4-FFF2-40B4-BE49-F238E27FC236}">
                <a16:creationId xmlns:a16="http://schemas.microsoft.com/office/drawing/2014/main" id="{FC8D8665-9582-7C6C-E8CD-DCFC03C60217}"/>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188E97E5-497E-71E7-FCF6-76A20347E98C}"/>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0EF1FD7E-06AF-6F3D-CF3B-65D73A31CE8A}"/>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0C47AA5B-982B-2C0D-181E-C8B71377D2C3}"/>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E3E83DAB-35B9-A85E-E760-4CCF467840ED}"/>
              </a:ext>
            </a:extLst>
          </p:cNvPr>
          <p:cNvSpPr txBox="1"/>
          <p:nvPr/>
        </p:nvSpPr>
        <p:spPr>
          <a:xfrm>
            <a:off x="365760" y="499045"/>
            <a:ext cx="8412480" cy="420624"/>
          </a:xfrm>
          <a:prstGeom prst="rect">
            <a:avLst/>
          </a:prstGeom>
          <a:noFill/>
        </p:spPr>
        <p:txBody>
          <a:bodyPr wrap="square">
            <a:spAutoFit/>
          </a:bodyPr>
          <a:lstStyle/>
          <a:p>
            <a:pPr algn="l"/>
            <a:r>
              <a:rPr sz="2400" b="1" i="0" dirty="0">
                <a:solidFill>
                  <a:srgbClr val="1A1A2E"/>
                </a:solidFill>
                <a:latin typeface="Calibri"/>
              </a:rPr>
              <a:t>Live Fuel Moisture — Growing Season Index (GSI)</a:t>
            </a:r>
          </a:p>
        </p:txBody>
      </p:sp>
      <p:sp>
        <p:nvSpPr>
          <p:cNvPr id="37" name="TextBox 36">
            <a:extLst>
              <a:ext uri="{FF2B5EF4-FFF2-40B4-BE49-F238E27FC236}">
                <a16:creationId xmlns:a16="http://schemas.microsoft.com/office/drawing/2014/main" id="{F4C9516C-C265-437D-8202-6C27C006BA60}"/>
              </a:ext>
            </a:extLst>
          </p:cNvPr>
          <p:cNvSpPr txBox="1"/>
          <p:nvPr/>
        </p:nvSpPr>
        <p:spPr>
          <a:xfrm>
            <a:off x="365760" y="974533"/>
            <a:ext cx="8412480" cy="246221"/>
          </a:xfrm>
          <a:prstGeom prst="rect">
            <a:avLst/>
          </a:prstGeom>
          <a:noFill/>
        </p:spPr>
        <p:txBody>
          <a:bodyPr wrap="square">
            <a:spAutoFit/>
          </a:bodyPr>
          <a:lstStyle/>
          <a:p>
            <a:pPr algn="l"/>
            <a:r>
              <a:rPr sz="1000" b="0" i="1" dirty="0">
                <a:solidFill>
                  <a:srgbClr val="546E7A"/>
                </a:solidFill>
                <a:latin typeface="Calibri"/>
              </a:rPr>
              <a:t>Three </a:t>
            </a:r>
            <a:r>
              <a:rPr lang="en-US" sz="1000" b="0" i="1" dirty="0">
                <a:solidFill>
                  <a:srgbClr val="546E7A"/>
                </a:solidFill>
                <a:latin typeface="Calibri"/>
              </a:rPr>
              <a:t>weather attributes </a:t>
            </a:r>
            <a:r>
              <a:rPr sz="1000" b="0" i="1" dirty="0">
                <a:solidFill>
                  <a:srgbClr val="546E7A"/>
                </a:solidFill>
                <a:latin typeface="Calibri"/>
              </a:rPr>
              <a:t>multiply to give a 0–1 greenness index  (Jolly et al. 2005</a:t>
            </a:r>
            <a:r>
              <a:rPr lang="en-US" sz="1000" b="0" i="1" dirty="0">
                <a:solidFill>
                  <a:srgbClr val="546E7A"/>
                </a:solidFill>
                <a:latin typeface="Calibri"/>
              </a:rPr>
              <a:t>, 2024</a:t>
            </a:r>
            <a:r>
              <a:rPr sz="1000" b="0" i="1" dirty="0">
                <a:solidFill>
                  <a:srgbClr val="546E7A"/>
                </a:solidFill>
                <a:latin typeface="Calibri"/>
              </a:rPr>
              <a:t>)</a:t>
            </a:r>
          </a:p>
        </p:txBody>
      </p:sp>
      <p:sp>
        <p:nvSpPr>
          <p:cNvPr id="38" name="Rectangle 37">
            <a:extLst>
              <a:ext uri="{FF2B5EF4-FFF2-40B4-BE49-F238E27FC236}">
                <a16:creationId xmlns:a16="http://schemas.microsoft.com/office/drawing/2014/main" id="{AA0FDDE4-1BDC-BE42-1EF5-4F688A7FDB54}"/>
              </a:ext>
            </a:extLst>
          </p:cNvPr>
          <p:cNvSpPr/>
          <p:nvPr/>
        </p:nvSpPr>
        <p:spPr>
          <a:xfrm>
            <a:off x="374904" y="1389191"/>
            <a:ext cx="3968496" cy="1097280"/>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a:extLst>
              <a:ext uri="{FF2B5EF4-FFF2-40B4-BE49-F238E27FC236}">
                <a16:creationId xmlns:a16="http://schemas.microsoft.com/office/drawing/2014/main" id="{3B24BCD2-B932-B6CD-2E1D-25C9CF31C175}"/>
              </a:ext>
            </a:extLst>
          </p:cNvPr>
          <p:cNvSpPr/>
          <p:nvPr/>
        </p:nvSpPr>
        <p:spPr>
          <a:xfrm>
            <a:off x="374904" y="1389191"/>
            <a:ext cx="128016" cy="1097280"/>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97BA646F-CD0A-28C8-F41F-0638FCE1A756}"/>
              </a:ext>
            </a:extLst>
          </p:cNvPr>
          <p:cNvSpPr txBox="1"/>
          <p:nvPr/>
        </p:nvSpPr>
        <p:spPr>
          <a:xfrm>
            <a:off x="557784" y="1462343"/>
            <a:ext cx="960120" cy="256032"/>
          </a:xfrm>
          <a:prstGeom prst="rect">
            <a:avLst/>
          </a:prstGeom>
          <a:noFill/>
        </p:spPr>
        <p:txBody>
          <a:bodyPr wrap="square">
            <a:spAutoFit/>
          </a:bodyPr>
          <a:lstStyle/>
          <a:p>
            <a:pPr algn="l"/>
            <a:r>
              <a:rPr sz="1200" b="1" i="0">
                <a:solidFill>
                  <a:srgbClr val="1B6CA8"/>
                </a:solidFill>
                <a:latin typeface="Courier New"/>
              </a:rPr>
              <a:t>i_Tmin</a:t>
            </a:r>
          </a:p>
        </p:txBody>
      </p:sp>
      <p:sp>
        <p:nvSpPr>
          <p:cNvPr id="41" name="TextBox 40">
            <a:extLst>
              <a:ext uri="{FF2B5EF4-FFF2-40B4-BE49-F238E27FC236}">
                <a16:creationId xmlns:a16="http://schemas.microsoft.com/office/drawing/2014/main" id="{85D00C7B-8DA9-A4FE-3F13-341F76335959}"/>
              </a:ext>
            </a:extLst>
          </p:cNvPr>
          <p:cNvSpPr txBox="1"/>
          <p:nvPr/>
        </p:nvSpPr>
        <p:spPr>
          <a:xfrm>
            <a:off x="1563624" y="1462343"/>
            <a:ext cx="2980944" cy="256032"/>
          </a:xfrm>
          <a:prstGeom prst="rect">
            <a:avLst/>
          </a:prstGeom>
          <a:noFill/>
        </p:spPr>
        <p:txBody>
          <a:bodyPr wrap="square">
            <a:spAutoFit/>
          </a:bodyPr>
          <a:lstStyle/>
          <a:p>
            <a:pPr algn="l"/>
            <a:r>
              <a:rPr sz="1200" b="1" i="0">
                <a:solidFill>
                  <a:srgbClr val="1A1A2E"/>
                </a:solidFill>
                <a:latin typeface="Calibri"/>
              </a:rPr>
              <a:t>Minimum Temperature</a:t>
            </a:r>
          </a:p>
        </p:txBody>
      </p:sp>
      <p:sp>
        <p:nvSpPr>
          <p:cNvPr id="42" name="TextBox 41">
            <a:extLst>
              <a:ext uri="{FF2B5EF4-FFF2-40B4-BE49-F238E27FC236}">
                <a16:creationId xmlns:a16="http://schemas.microsoft.com/office/drawing/2014/main" id="{B35C2798-3BAB-C971-1C80-74B6CD4BC2EE}"/>
              </a:ext>
            </a:extLst>
          </p:cNvPr>
          <p:cNvSpPr txBox="1"/>
          <p:nvPr/>
        </p:nvSpPr>
        <p:spPr>
          <a:xfrm>
            <a:off x="557784" y="1754951"/>
            <a:ext cx="3968496" cy="201168"/>
          </a:xfrm>
          <a:prstGeom prst="rect">
            <a:avLst/>
          </a:prstGeom>
          <a:noFill/>
        </p:spPr>
        <p:txBody>
          <a:bodyPr wrap="square">
            <a:spAutoFit/>
          </a:bodyPr>
          <a:lstStyle/>
          <a:p>
            <a:pPr algn="l"/>
            <a:r>
              <a:rPr sz="1000" b="0" i="1">
                <a:solidFill>
                  <a:srgbClr val="546E7A"/>
                </a:solidFill>
                <a:latin typeface="Calibri"/>
              </a:rPr>
              <a:t>Daily Tmin</a:t>
            </a:r>
          </a:p>
        </p:txBody>
      </p:sp>
      <p:sp>
        <p:nvSpPr>
          <p:cNvPr id="43" name="TextBox 42">
            <a:extLst>
              <a:ext uri="{FF2B5EF4-FFF2-40B4-BE49-F238E27FC236}">
                <a16:creationId xmlns:a16="http://schemas.microsoft.com/office/drawing/2014/main" id="{A5A6068E-8E3F-801E-932A-C8A4EC7BEC3C}"/>
              </a:ext>
            </a:extLst>
          </p:cNvPr>
          <p:cNvSpPr txBox="1"/>
          <p:nvPr/>
        </p:nvSpPr>
        <p:spPr>
          <a:xfrm>
            <a:off x="557784" y="1974407"/>
            <a:ext cx="3968496" cy="201168"/>
          </a:xfrm>
          <a:prstGeom prst="rect">
            <a:avLst/>
          </a:prstGeom>
          <a:noFill/>
        </p:spPr>
        <p:txBody>
          <a:bodyPr wrap="square">
            <a:spAutoFit/>
          </a:bodyPr>
          <a:lstStyle/>
          <a:p>
            <a:pPr algn="l"/>
            <a:r>
              <a:rPr sz="1000" b="0" i="0">
                <a:solidFill>
                  <a:srgbClr val="1A1A2E"/>
                </a:solidFill>
                <a:latin typeface="Calibri"/>
              </a:rPr>
              <a:t>Freezing → dormant:  ≤ −2°C  →  i = 0</a:t>
            </a:r>
          </a:p>
        </p:txBody>
      </p:sp>
      <p:sp>
        <p:nvSpPr>
          <p:cNvPr id="44" name="TextBox 43">
            <a:extLst>
              <a:ext uri="{FF2B5EF4-FFF2-40B4-BE49-F238E27FC236}">
                <a16:creationId xmlns:a16="http://schemas.microsoft.com/office/drawing/2014/main" id="{27302D22-672D-FF24-1CBB-237E18B5A04B}"/>
              </a:ext>
            </a:extLst>
          </p:cNvPr>
          <p:cNvSpPr txBox="1"/>
          <p:nvPr/>
        </p:nvSpPr>
        <p:spPr>
          <a:xfrm>
            <a:off x="557784" y="2193863"/>
            <a:ext cx="3968496" cy="201168"/>
          </a:xfrm>
          <a:prstGeom prst="rect">
            <a:avLst/>
          </a:prstGeom>
          <a:noFill/>
        </p:spPr>
        <p:txBody>
          <a:bodyPr wrap="square">
            <a:spAutoFit/>
          </a:bodyPr>
          <a:lstStyle/>
          <a:p>
            <a:pPr algn="l"/>
            <a:r>
              <a:rPr sz="1000" b="0" i="0">
                <a:solidFill>
                  <a:srgbClr val="1A1A2E"/>
                </a:solidFill>
                <a:latin typeface="Calibri"/>
              </a:rPr>
              <a:t>Warm enough → active:  ≥  5°C  →  i = 1</a:t>
            </a:r>
          </a:p>
        </p:txBody>
      </p:sp>
      <p:sp>
        <p:nvSpPr>
          <p:cNvPr id="45" name="TextBox 44">
            <a:extLst>
              <a:ext uri="{FF2B5EF4-FFF2-40B4-BE49-F238E27FC236}">
                <a16:creationId xmlns:a16="http://schemas.microsoft.com/office/drawing/2014/main" id="{8DFFC936-FEBF-E0D7-282C-BEDB192EEDF0}"/>
              </a:ext>
            </a:extLst>
          </p:cNvPr>
          <p:cNvSpPr txBox="1"/>
          <p:nvPr/>
        </p:nvSpPr>
        <p:spPr>
          <a:xfrm>
            <a:off x="2093976" y="2449895"/>
            <a:ext cx="402336" cy="237744"/>
          </a:xfrm>
          <a:prstGeom prst="rect">
            <a:avLst/>
          </a:prstGeom>
          <a:noFill/>
        </p:spPr>
        <p:txBody>
          <a:bodyPr wrap="square">
            <a:spAutoFit/>
          </a:bodyPr>
          <a:lstStyle/>
          <a:p>
            <a:pPr algn="ctr"/>
            <a:r>
              <a:rPr sz="1600" b="1" i="0">
                <a:solidFill>
                  <a:srgbClr val="90A4AE"/>
                </a:solidFill>
                <a:latin typeface="Calibri"/>
              </a:rPr>
              <a:t>×</a:t>
            </a:r>
          </a:p>
        </p:txBody>
      </p:sp>
      <p:sp>
        <p:nvSpPr>
          <p:cNvPr id="46" name="Rectangle 45">
            <a:extLst>
              <a:ext uri="{FF2B5EF4-FFF2-40B4-BE49-F238E27FC236}">
                <a16:creationId xmlns:a16="http://schemas.microsoft.com/office/drawing/2014/main" id="{CA721C91-18C5-DD61-3A35-3431E829294D}"/>
              </a:ext>
            </a:extLst>
          </p:cNvPr>
          <p:cNvSpPr/>
          <p:nvPr/>
        </p:nvSpPr>
        <p:spPr>
          <a:xfrm>
            <a:off x="374904" y="2614487"/>
            <a:ext cx="3968496" cy="1097280"/>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a:extLst>
              <a:ext uri="{FF2B5EF4-FFF2-40B4-BE49-F238E27FC236}">
                <a16:creationId xmlns:a16="http://schemas.microsoft.com/office/drawing/2014/main" id="{3D3FCA17-0A81-BE0E-6FFA-6407C971EEBF}"/>
              </a:ext>
            </a:extLst>
          </p:cNvPr>
          <p:cNvSpPr/>
          <p:nvPr/>
        </p:nvSpPr>
        <p:spPr>
          <a:xfrm>
            <a:off x="374904" y="2614487"/>
            <a:ext cx="128016" cy="1097280"/>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03F1DDEC-FB32-BFD5-2641-60C6C5AE74AD}"/>
              </a:ext>
            </a:extLst>
          </p:cNvPr>
          <p:cNvSpPr txBox="1"/>
          <p:nvPr/>
        </p:nvSpPr>
        <p:spPr>
          <a:xfrm>
            <a:off x="557784" y="2687639"/>
            <a:ext cx="960120" cy="256032"/>
          </a:xfrm>
          <a:prstGeom prst="rect">
            <a:avLst/>
          </a:prstGeom>
          <a:noFill/>
        </p:spPr>
        <p:txBody>
          <a:bodyPr wrap="square">
            <a:spAutoFit/>
          </a:bodyPr>
          <a:lstStyle/>
          <a:p>
            <a:pPr algn="l"/>
            <a:r>
              <a:rPr sz="1200" b="1" i="0">
                <a:solidFill>
                  <a:srgbClr val="D4622A"/>
                </a:solidFill>
                <a:latin typeface="Courier New"/>
              </a:rPr>
              <a:t>i_VPD</a:t>
            </a:r>
          </a:p>
        </p:txBody>
      </p:sp>
      <p:sp>
        <p:nvSpPr>
          <p:cNvPr id="49" name="TextBox 48">
            <a:extLst>
              <a:ext uri="{FF2B5EF4-FFF2-40B4-BE49-F238E27FC236}">
                <a16:creationId xmlns:a16="http://schemas.microsoft.com/office/drawing/2014/main" id="{D5D7F10A-B0FB-C887-6011-A96727DBBA57}"/>
              </a:ext>
            </a:extLst>
          </p:cNvPr>
          <p:cNvSpPr txBox="1"/>
          <p:nvPr/>
        </p:nvSpPr>
        <p:spPr>
          <a:xfrm>
            <a:off x="1563624" y="2687639"/>
            <a:ext cx="2980944" cy="256032"/>
          </a:xfrm>
          <a:prstGeom prst="rect">
            <a:avLst/>
          </a:prstGeom>
          <a:noFill/>
        </p:spPr>
        <p:txBody>
          <a:bodyPr wrap="square">
            <a:spAutoFit/>
          </a:bodyPr>
          <a:lstStyle/>
          <a:p>
            <a:pPr algn="l"/>
            <a:r>
              <a:rPr sz="1200" b="1" i="0">
                <a:solidFill>
                  <a:srgbClr val="1A1A2E"/>
                </a:solidFill>
                <a:latin typeface="Calibri"/>
              </a:rPr>
              <a:t>Vapour Pressure Deficit</a:t>
            </a:r>
          </a:p>
        </p:txBody>
      </p:sp>
      <p:sp>
        <p:nvSpPr>
          <p:cNvPr id="50" name="TextBox 49">
            <a:extLst>
              <a:ext uri="{FF2B5EF4-FFF2-40B4-BE49-F238E27FC236}">
                <a16:creationId xmlns:a16="http://schemas.microsoft.com/office/drawing/2014/main" id="{5579353A-FFD4-B761-89AE-F47C29266E9C}"/>
              </a:ext>
            </a:extLst>
          </p:cNvPr>
          <p:cNvSpPr txBox="1"/>
          <p:nvPr/>
        </p:nvSpPr>
        <p:spPr>
          <a:xfrm>
            <a:off x="557784" y="2980247"/>
            <a:ext cx="3968496" cy="201168"/>
          </a:xfrm>
          <a:prstGeom prst="rect">
            <a:avLst/>
          </a:prstGeom>
          <a:noFill/>
        </p:spPr>
        <p:txBody>
          <a:bodyPr wrap="square">
            <a:spAutoFit/>
          </a:bodyPr>
          <a:lstStyle/>
          <a:p>
            <a:pPr algn="l"/>
            <a:r>
              <a:rPr sz="1000" b="0" i="1">
                <a:solidFill>
                  <a:srgbClr val="546E7A"/>
                </a:solidFill>
                <a:latin typeface="Calibri"/>
              </a:rPr>
              <a:t>Mean VPD  13:00–16:00 LST</a:t>
            </a:r>
          </a:p>
        </p:txBody>
      </p:sp>
      <p:sp>
        <p:nvSpPr>
          <p:cNvPr id="51" name="TextBox 50">
            <a:extLst>
              <a:ext uri="{FF2B5EF4-FFF2-40B4-BE49-F238E27FC236}">
                <a16:creationId xmlns:a16="http://schemas.microsoft.com/office/drawing/2014/main" id="{8E8F045F-09C2-75A3-B160-E92800CEF67D}"/>
              </a:ext>
            </a:extLst>
          </p:cNvPr>
          <p:cNvSpPr txBox="1"/>
          <p:nvPr/>
        </p:nvSpPr>
        <p:spPr>
          <a:xfrm>
            <a:off x="557784" y="3199703"/>
            <a:ext cx="3968496" cy="201168"/>
          </a:xfrm>
          <a:prstGeom prst="rect">
            <a:avLst/>
          </a:prstGeom>
          <a:noFill/>
        </p:spPr>
        <p:txBody>
          <a:bodyPr wrap="square">
            <a:spAutoFit/>
          </a:bodyPr>
          <a:lstStyle/>
          <a:p>
            <a:pPr algn="l"/>
            <a:r>
              <a:rPr sz="1000" b="0" i="0">
                <a:solidFill>
                  <a:srgbClr val="1A1A2E"/>
                </a:solidFill>
                <a:latin typeface="Calibri"/>
              </a:rPr>
              <a:t>Very dry → stomata close:  ≥ 4100 Pa  →  i = 0</a:t>
            </a:r>
          </a:p>
        </p:txBody>
      </p:sp>
      <p:sp>
        <p:nvSpPr>
          <p:cNvPr id="52" name="TextBox 51">
            <a:extLst>
              <a:ext uri="{FF2B5EF4-FFF2-40B4-BE49-F238E27FC236}">
                <a16:creationId xmlns:a16="http://schemas.microsoft.com/office/drawing/2014/main" id="{D79EA904-F845-0F2F-EC86-2C60734D906A}"/>
              </a:ext>
            </a:extLst>
          </p:cNvPr>
          <p:cNvSpPr txBox="1"/>
          <p:nvPr/>
        </p:nvSpPr>
        <p:spPr>
          <a:xfrm>
            <a:off x="557784" y="3419159"/>
            <a:ext cx="3968496" cy="201168"/>
          </a:xfrm>
          <a:prstGeom prst="rect">
            <a:avLst/>
          </a:prstGeom>
          <a:noFill/>
        </p:spPr>
        <p:txBody>
          <a:bodyPr wrap="square">
            <a:spAutoFit/>
          </a:bodyPr>
          <a:lstStyle/>
          <a:p>
            <a:pPr algn="l"/>
            <a:r>
              <a:rPr sz="1000" b="0" i="0">
                <a:solidFill>
                  <a:srgbClr val="1A1A2E"/>
                </a:solidFill>
                <a:latin typeface="Calibri"/>
              </a:rPr>
              <a:t>Moist enough → active:    ≤  900 Pa  →  i = 1</a:t>
            </a:r>
          </a:p>
        </p:txBody>
      </p:sp>
      <p:sp>
        <p:nvSpPr>
          <p:cNvPr id="53" name="TextBox 52">
            <a:extLst>
              <a:ext uri="{FF2B5EF4-FFF2-40B4-BE49-F238E27FC236}">
                <a16:creationId xmlns:a16="http://schemas.microsoft.com/office/drawing/2014/main" id="{FE7AABD3-E7DF-0B40-06DC-D40ACAF8D8B7}"/>
              </a:ext>
            </a:extLst>
          </p:cNvPr>
          <p:cNvSpPr txBox="1"/>
          <p:nvPr/>
        </p:nvSpPr>
        <p:spPr>
          <a:xfrm>
            <a:off x="2093976" y="3675191"/>
            <a:ext cx="402336" cy="237744"/>
          </a:xfrm>
          <a:prstGeom prst="rect">
            <a:avLst/>
          </a:prstGeom>
          <a:noFill/>
        </p:spPr>
        <p:txBody>
          <a:bodyPr wrap="square">
            <a:spAutoFit/>
          </a:bodyPr>
          <a:lstStyle/>
          <a:p>
            <a:pPr algn="ctr"/>
            <a:r>
              <a:rPr sz="1600" b="1" i="0">
                <a:solidFill>
                  <a:srgbClr val="90A4AE"/>
                </a:solidFill>
                <a:latin typeface="Calibri"/>
              </a:rPr>
              <a:t>×</a:t>
            </a:r>
          </a:p>
        </p:txBody>
      </p:sp>
      <p:sp>
        <p:nvSpPr>
          <p:cNvPr id="54" name="Rectangle 53">
            <a:extLst>
              <a:ext uri="{FF2B5EF4-FFF2-40B4-BE49-F238E27FC236}">
                <a16:creationId xmlns:a16="http://schemas.microsoft.com/office/drawing/2014/main" id="{1A7C2ABF-D531-8352-3779-10F795734FB0}"/>
              </a:ext>
            </a:extLst>
          </p:cNvPr>
          <p:cNvSpPr/>
          <p:nvPr/>
        </p:nvSpPr>
        <p:spPr>
          <a:xfrm>
            <a:off x="374904" y="3839783"/>
            <a:ext cx="3968496" cy="1097280"/>
          </a:xfrm>
          <a:prstGeom prst="rect">
            <a:avLst/>
          </a:prstGeom>
          <a:solidFill>
            <a:srgbClr val="D8F3DC"/>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ectangle 54">
            <a:extLst>
              <a:ext uri="{FF2B5EF4-FFF2-40B4-BE49-F238E27FC236}">
                <a16:creationId xmlns:a16="http://schemas.microsoft.com/office/drawing/2014/main" id="{44B38048-F841-A955-6347-51E270A434C1}"/>
              </a:ext>
            </a:extLst>
          </p:cNvPr>
          <p:cNvSpPr/>
          <p:nvPr/>
        </p:nvSpPr>
        <p:spPr>
          <a:xfrm>
            <a:off x="374904" y="3839783"/>
            <a:ext cx="128016" cy="1097280"/>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EEF672C3-3698-29DB-C32C-9C8EBCE2AE61}"/>
              </a:ext>
            </a:extLst>
          </p:cNvPr>
          <p:cNvSpPr txBox="1"/>
          <p:nvPr/>
        </p:nvSpPr>
        <p:spPr>
          <a:xfrm>
            <a:off x="557784" y="3912935"/>
            <a:ext cx="960120" cy="256032"/>
          </a:xfrm>
          <a:prstGeom prst="rect">
            <a:avLst/>
          </a:prstGeom>
          <a:noFill/>
        </p:spPr>
        <p:txBody>
          <a:bodyPr wrap="square">
            <a:spAutoFit/>
          </a:bodyPr>
          <a:lstStyle/>
          <a:p>
            <a:pPr algn="l"/>
            <a:r>
              <a:rPr sz="1200" b="1" i="0">
                <a:solidFill>
                  <a:srgbClr val="2C6E49"/>
                </a:solidFill>
                <a:latin typeface="Courier New"/>
              </a:rPr>
              <a:t>i_Photo</a:t>
            </a:r>
          </a:p>
        </p:txBody>
      </p:sp>
      <p:sp>
        <p:nvSpPr>
          <p:cNvPr id="57" name="TextBox 56">
            <a:extLst>
              <a:ext uri="{FF2B5EF4-FFF2-40B4-BE49-F238E27FC236}">
                <a16:creationId xmlns:a16="http://schemas.microsoft.com/office/drawing/2014/main" id="{D2F0CE38-6482-60FA-6B99-843CD2921312}"/>
              </a:ext>
            </a:extLst>
          </p:cNvPr>
          <p:cNvSpPr txBox="1"/>
          <p:nvPr/>
        </p:nvSpPr>
        <p:spPr>
          <a:xfrm>
            <a:off x="1563624" y="3912935"/>
            <a:ext cx="2980944" cy="256032"/>
          </a:xfrm>
          <a:prstGeom prst="rect">
            <a:avLst/>
          </a:prstGeom>
          <a:noFill/>
        </p:spPr>
        <p:txBody>
          <a:bodyPr wrap="square">
            <a:spAutoFit/>
          </a:bodyPr>
          <a:lstStyle/>
          <a:p>
            <a:pPr algn="l"/>
            <a:r>
              <a:rPr sz="1200" b="1" i="0">
                <a:solidFill>
                  <a:srgbClr val="1A1A2E"/>
                </a:solidFill>
                <a:latin typeface="Calibri"/>
              </a:rPr>
              <a:t>Daylength</a:t>
            </a:r>
          </a:p>
        </p:txBody>
      </p:sp>
      <p:sp>
        <p:nvSpPr>
          <p:cNvPr id="58" name="TextBox 57">
            <a:extLst>
              <a:ext uri="{FF2B5EF4-FFF2-40B4-BE49-F238E27FC236}">
                <a16:creationId xmlns:a16="http://schemas.microsoft.com/office/drawing/2014/main" id="{0DADFBEE-3BFB-C77B-DF62-1473608E91B5}"/>
              </a:ext>
            </a:extLst>
          </p:cNvPr>
          <p:cNvSpPr txBox="1"/>
          <p:nvPr/>
        </p:nvSpPr>
        <p:spPr>
          <a:xfrm>
            <a:off x="557784" y="4205543"/>
            <a:ext cx="3968496" cy="201168"/>
          </a:xfrm>
          <a:prstGeom prst="rect">
            <a:avLst/>
          </a:prstGeom>
          <a:noFill/>
        </p:spPr>
        <p:txBody>
          <a:bodyPr wrap="square">
            <a:spAutoFit/>
          </a:bodyPr>
          <a:lstStyle/>
          <a:p>
            <a:pPr algn="l"/>
            <a:r>
              <a:rPr sz="1000" b="0" i="1">
                <a:solidFill>
                  <a:srgbClr val="546E7A"/>
                </a:solidFill>
                <a:latin typeface="Calibri"/>
              </a:rPr>
              <a:t>Photoperiod (sunrise → sunset)</a:t>
            </a:r>
          </a:p>
        </p:txBody>
      </p:sp>
      <p:sp>
        <p:nvSpPr>
          <p:cNvPr id="59" name="TextBox 58">
            <a:extLst>
              <a:ext uri="{FF2B5EF4-FFF2-40B4-BE49-F238E27FC236}">
                <a16:creationId xmlns:a16="http://schemas.microsoft.com/office/drawing/2014/main" id="{380E246B-F058-88B2-87C2-4D5F14FD65E3}"/>
              </a:ext>
            </a:extLst>
          </p:cNvPr>
          <p:cNvSpPr txBox="1"/>
          <p:nvPr/>
        </p:nvSpPr>
        <p:spPr>
          <a:xfrm>
            <a:off x="557784" y="4424999"/>
            <a:ext cx="3968496" cy="201168"/>
          </a:xfrm>
          <a:prstGeom prst="rect">
            <a:avLst/>
          </a:prstGeom>
          <a:noFill/>
        </p:spPr>
        <p:txBody>
          <a:bodyPr wrap="square">
            <a:spAutoFit/>
          </a:bodyPr>
          <a:lstStyle/>
          <a:p>
            <a:pPr algn="l"/>
            <a:r>
              <a:rPr sz="1000" b="0" i="0">
                <a:solidFill>
                  <a:srgbClr val="1A1A2E"/>
                </a:solidFill>
                <a:latin typeface="Calibri"/>
              </a:rPr>
              <a:t>Short days → dormant:  ≤ 10 hr  →  i = 0</a:t>
            </a:r>
          </a:p>
        </p:txBody>
      </p:sp>
      <p:sp>
        <p:nvSpPr>
          <p:cNvPr id="60" name="TextBox 59">
            <a:extLst>
              <a:ext uri="{FF2B5EF4-FFF2-40B4-BE49-F238E27FC236}">
                <a16:creationId xmlns:a16="http://schemas.microsoft.com/office/drawing/2014/main" id="{28681AC3-6BA6-38B4-587B-B18D87CCBE46}"/>
              </a:ext>
            </a:extLst>
          </p:cNvPr>
          <p:cNvSpPr txBox="1"/>
          <p:nvPr/>
        </p:nvSpPr>
        <p:spPr>
          <a:xfrm>
            <a:off x="557784" y="4644455"/>
            <a:ext cx="3968496" cy="201168"/>
          </a:xfrm>
          <a:prstGeom prst="rect">
            <a:avLst/>
          </a:prstGeom>
          <a:noFill/>
        </p:spPr>
        <p:txBody>
          <a:bodyPr wrap="square">
            <a:spAutoFit/>
          </a:bodyPr>
          <a:lstStyle/>
          <a:p>
            <a:pPr algn="l"/>
            <a:r>
              <a:rPr sz="1000" b="0" i="0">
                <a:solidFill>
                  <a:srgbClr val="1A1A2E"/>
                </a:solidFill>
                <a:latin typeface="Calibri"/>
              </a:rPr>
              <a:t>Long days → active:    ≥ 11 hr  →  i = 1</a:t>
            </a:r>
          </a:p>
        </p:txBody>
      </p:sp>
      <p:sp>
        <p:nvSpPr>
          <p:cNvPr id="61" name="TextBox 60">
            <a:extLst>
              <a:ext uri="{FF2B5EF4-FFF2-40B4-BE49-F238E27FC236}">
                <a16:creationId xmlns:a16="http://schemas.microsoft.com/office/drawing/2014/main" id="{8F32A6C7-64D7-E939-1717-49A876386B59}"/>
              </a:ext>
            </a:extLst>
          </p:cNvPr>
          <p:cNvSpPr txBox="1"/>
          <p:nvPr/>
        </p:nvSpPr>
        <p:spPr>
          <a:xfrm>
            <a:off x="4519499" y="1828103"/>
            <a:ext cx="256032" cy="237744"/>
          </a:xfrm>
          <a:prstGeom prst="rect">
            <a:avLst/>
          </a:prstGeom>
          <a:noFill/>
        </p:spPr>
        <p:txBody>
          <a:bodyPr wrap="square">
            <a:spAutoFit/>
          </a:bodyPr>
          <a:lstStyle/>
          <a:p>
            <a:pPr algn="ctr"/>
            <a:r>
              <a:rPr sz="1800" b="1" i="0" dirty="0">
                <a:solidFill>
                  <a:srgbClr val="90A4AE"/>
                </a:solidFill>
                <a:latin typeface="Calibri"/>
              </a:rPr>
              <a:t>→</a:t>
            </a:r>
          </a:p>
        </p:txBody>
      </p:sp>
      <p:sp>
        <p:nvSpPr>
          <p:cNvPr id="62" name="Rectangle 61">
            <a:extLst>
              <a:ext uri="{FF2B5EF4-FFF2-40B4-BE49-F238E27FC236}">
                <a16:creationId xmlns:a16="http://schemas.microsoft.com/office/drawing/2014/main" id="{71FF7B30-FBEC-FC78-8D25-1B0E2FC13A5D}"/>
              </a:ext>
            </a:extLst>
          </p:cNvPr>
          <p:cNvSpPr/>
          <p:nvPr/>
        </p:nvSpPr>
        <p:spPr>
          <a:xfrm>
            <a:off x="4919472" y="1669477"/>
            <a:ext cx="1572768" cy="1536192"/>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100" b="1" i="0">
                <a:solidFill>
                  <a:srgbClr val="FFFFFF"/>
                </a:solidFill>
                <a:latin typeface="Calibri"/>
              </a:rPr>
              <a:t>GSI
i_Tmin
× i_VPD
× i_Photo
(0 – 1)</a:t>
            </a:r>
          </a:p>
        </p:txBody>
      </p:sp>
      <p:sp>
        <p:nvSpPr>
          <p:cNvPr id="63" name="TextBox 62">
            <a:extLst>
              <a:ext uri="{FF2B5EF4-FFF2-40B4-BE49-F238E27FC236}">
                <a16:creationId xmlns:a16="http://schemas.microsoft.com/office/drawing/2014/main" id="{85A869E1-E272-7BB9-C252-7084797F58C1}"/>
              </a:ext>
            </a:extLst>
          </p:cNvPr>
          <p:cNvSpPr txBox="1"/>
          <p:nvPr/>
        </p:nvSpPr>
        <p:spPr>
          <a:xfrm>
            <a:off x="4919472" y="3278821"/>
            <a:ext cx="1572768" cy="274320"/>
          </a:xfrm>
          <a:prstGeom prst="rect">
            <a:avLst/>
          </a:prstGeom>
          <a:noFill/>
        </p:spPr>
        <p:txBody>
          <a:bodyPr wrap="square">
            <a:spAutoFit/>
          </a:bodyPr>
          <a:lstStyle/>
          <a:p>
            <a:pPr algn="ctr"/>
            <a:r>
              <a:rPr sz="900" b="0" i="1">
                <a:solidFill>
                  <a:srgbClr val="546E7A"/>
                </a:solidFill>
                <a:latin typeface="Calibri"/>
              </a:rPr>
              <a:t>0 = dormant
1 = fully green</a:t>
            </a:r>
          </a:p>
        </p:txBody>
      </p:sp>
      <p:sp>
        <p:nvSpPr>
          <p:cNvPr id="64" name="TextBox 63">
            <a:extLst>
              <a:ext uri="{FF2B5EF4-FFF2-40B4-BE49-F238E27FC236}">
                <a16:creationId xmlns:a16="http://schemas.microsoft.com/office/drawing/2014/main" id="{2AA3583F-092B-904E-9E18-27C10BEE7060}"/>
              </a:ext>
            </a:extLst>
          </p:cNvPr>
          <p:cNvSpPr txBox="1"/>
          <p:nvPr/>
        </p:nvSpPr>
        <p:spPr>
          <a:xfrm>
            <a:off x="6528816" y="2382709"/>
            <a:ext cx="256032" cy="237744"/>
          </a:xfrm>
          <a:prstGeom prst="rect">
            <a:avLst/>
          </a:prstGeom>
          <a:noFill/>
        </p:spPr>
        <p:txBody>
          <a:bodyPr wrap="square">
            <a:spAutoFit/>
          </a:bodyPr>
          <a:lstStyle/>
          <a:p>
            <a:pPr algn="ctr"/>
            <a:r>
              <a:rPr sz="1800" b="1" i="0">
                <a:solidFill>
                  <a:srgbClr val="90A4AE"/>
                </a:solidFill>
                <a:latin typeface="Calibri"/>
              </a:rPr>
              <a:t>→</a:t>
            </a:r>
          </a:p>
        </p:txBody>
      </p:sp>
      <p:sp>
        <p:nvSpPr>
          <p:cNvPr id="65" name="TextBox 64">
            <a:extLst>
              <a:ext uri="{FF2B5EF4-FFF2-40B4-BE49-F238E27FC236}">
                <a16:creationId xmlns:a16="http://schemas.microsoft.com/office/drawing/2014/main" id="{22D7A258-769B-6F17-90F1-FA9E4D6AF5D5}"/>
              </a:ext>
            </a:extLst>
          </p:cNvPr>
          <p:cNvSpPr txBox="1"/>
          <p:nvPr/>
        </p:nvSpPr>
        <p:spPr>
          <a:xfrm>
            <a:off x="6821424" y="1578037"/>
            <a:ext cx="2139696" cy="237744"/>
          </a:xfrm>
          <a:prstGeom prst="rect">
            <a:avLst/>
          </a:prstGeom>
          <a:noFill/>
        </p:spPr>
        <p:txBody>
          <a:bodyPr wrap="square">
            <a:spAutoFit/>
          </a:bodyPr>
          <a:lstStyle/>
          <a:p>
            <a:pPr algn="l"/>
            <a:r>
              <a:rPr sz="1100" b="1" i="0">
                <a:solidFill>
                  <a:srgbClr val="546E7A"/>
                </a:solidFill>
                <a:latin typeface="Calibri"/>
              </a:rPr>
              <a:t>FM outputs</a:t>
            </a:r>
          </a:p>
        </p:txBody>
      </p:sp>
      <p:sp>
        <p:nvSpPr>
          <p:cNvPr id="66" name="Rectangle 65">
            <a:extLst>
              <a:ext uri="{FF2B5EF4-FFF2-40B4-BE49-F238E27FC236}">
                <a16:creationId xmlns:a16="http://schemas.microsoft.com/office/drawing/2014/main" id="{529BF294-4C5C-E7D9-969A-B75ADED2DD7D}"/>
              </a:ext>
            </a:extLst>
          </p:cNvPr>
          <p:cNvSpPr/>
          <p:nvPr/>
        </p:nvSpPr>
        <p:spPr>
          <a:xfrm>
            <a:off x="6821424" y="1888933"/>
            <a:ext cx="2139696" cy="1005840"/>
          </a:xfrm>
          <a:prstGeom prst="rect">
            <a:avLst/>
          </a:prstGeom>
          <a:solidFill>
            <a:srgbClr val="D8F3DC"/>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ectangle 66">
            <a:extLst>
              <a:ext uri="{FF2B5EF4-FFF2-40B4-BE49-F238E27FC236}">
                <a16:creationId xmlns:a16="http://schemas.microsoft.com/office/drawing/2014/main" id="{DB10B24F-1FDF-8B72-527B-3850CD727CF2}"/>
              </a:ext>
            </a:extLst>
          </p:cNvPr>
          <p:cNvSpPr/>
          <p:nvPr/>
        </p:nvSpPr>
        <p:spPr>
          <a:xfrm>
            <a:off x="6821424" y="1888933"/>
            <a:ext cx="128016" cy="1005840"/>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a:extLst>
              <a:ext uri="{FF2B5EF4-FFF2-40B4-BE49-F238E27FC236}">
                <a16:creationId xmlns:a16="http://schemas.microsoft.com/office/drawing/2014/main" id="{08B368A6-C95E-F6AD-9457-417DDA975EA8}"/>
              </a:ext>
            </a:extLst>
          </p:cNvPr>
          <p:cNvSpPr txBox="1"/>
          <p:nvPr/>
        </p:nvSpPr>
        <p:spPr>
          <a:xfrm>
            <a:off x="7004304" y="1962085"/>
            <a:ext cx="1901952" cy="237744"/>
          </a:xfrm>
          <a:prstGeom prst="rect">
            <a:avLst/>
          </a:prstGeom>
          <a:noFill/>
        </p:spPr>
        <p:txBody>
          <a:bodyPr wrap="square">
            <a:spAutoFit/>
          </a:bodyPr>
          <a:lstStyle/>
          <a:p>
            <a:pPr algn="l"/>
            <a:r>
              <a:rPr sz="1200" b="1" i="0">
                <a:solidFill>
                  <a:srgbClr val="2C6E49"/>
                </a:solidFill>
                <a:latin typeface="Courier New"/>
              </a:rPr>
              <a:t>FM_herb</a:t>
            </a:r>
          </a:p>
        </p:txBody>
      </p:sp>
      <p:sp>
        <p:nvSpPr>
          <p:cNvPr id="69" name="TextBox 68">
            <a:extLst>
              <a:ext uri="{FF2B5EF4-FFF2-40B4-BE49-F238E27FC236}">
                <a16:creationId xmlns:a16="http://schemas.microsoft.com/office/drawing/2014/main" id="{D7945E2B-C2D8-72AF-00C9-A95834A6A35E}"/>
              </a:ext>
            </a:extLst>
          </p:cNvPr>
          <p:cNvSpPr txBox="1"/>
          <p:nvPr/>
        </p:nvSpPr>
        <p:spPr>
          <a:xfrm>
            <a:off x="7004304" y="2199829"/>
            <a:ext cx="1901952" cy="201168"/>
          </a:xfrm>
          <a:prstGeom prst="rect">
            <a:avLst/>
          </a:prstGeom>
          <a:noFill/>
        </p:spPr>
        <p:txBody>
          <a:bodyPr wrap="square">
            <a:spAutoFit/>
          </a:bodyPr>
          <a:lstStyle/>
          <a:p>
            <a:pPr algn="l"/>
            <a:r>
              <a:rPr sz="1000" b="0" i="1">
                <a:solidFill>
                  <a:srgbClr val="546E7A"/>
                </a:solidFill>
                <a:latin typeface="Calibri"/>
              </a:rPr>
              <a:t>Herbaceous</a:t>
            </a:r>
          </a:p>
        </p:txBody>
      </p:sp>
      <p:sp>
        <p:nvSpPr>
          <p:cNvPr id="70" name="TextBox 69">
            <a:extLst>
              <a:ext uri="{FF2B5EF4-FFF2-40B4-BE49-F238E27FC236}">
                <a16:creationId xmlns:a16="http://schemas.microsoft.com/office/drawing/2014/main" id="{7416F11F-304E-4A28-B5C3-65D0D72B6FE7}"/>
              </a:ext>
            </a:extLst>
          </p:cNvPr>
          <p:cNvSpPr txBox="1"/>
          <p:nvPr/>
        </p:nvSpPr>
        <p:spPr>
          <a:xfrm>
            <a:off x="7004304" y="2419285"/>
            <a:ext cx="1901952" cy="201168"/>
          </a:xfrm>
          <a:prstGeom prst="rect">
            <a:avLst/>
          </a:prstGeom>
          <a:noFill/>
        </p:spPr>
        <p:txBody>
          <a:bodyPr wrap="square">
            <a:spAutoFit/>
          </a:bodyPr>
          <a:lstStyle/>
          <a:p>
            <a:pPr algn="l"/>
            <a:r>
              <a:rPr sz="1000" b="0" i="0">
                <a:solidFill>
                  <a:srgbClr val="1A1A2E"/>
                </a:solidFill>
                <a:latin typeface="Calibri"/>
              </a:rPr>
              <a:t>GSI = 0  →   30%  (dormant)</a:t>
            </a:r>
          </a:p>
        </p:txBody>
      </p:sp>
      <p:sp>
        <p:nvSpPr>
          <p:cNvPr id="71" name="TextBox 70">
            <a:extLst>
              <a:ext uri="{FF2B5EF4-FFF2-40B4-BE49-F238E27FC236}">
                <a16:creationId xmlns:a16="http://schemas.microsoft.com/office/drawing/2014/main" id="{B8970A43-99ED-18F5-BF58-5546D91368D1}"/>
              </a:ext>
            </a:extLst>
          </p:cNvPr>
          <p:cNvSpPr txBox="1"/>
          <p:nvPr/>
        </p:nvSpPr>
        <p:spPr>
          <a:xfrm>
            <a:off x="7004304" y="2620453"/>
            <a:ext cx="1901952" cy="201168"/>
          </a:xfrm>
          <a:prstGeom prst="rect">
            <a:avLst/>
          </a:prstGeom>
          <a:noFill/>
        </p:spPr>
        <p:txBody>
          <a:bodyPr wrap="square">
            <a:spAutoFit/>
          </a:bodyPr>
          <a:lstStyle/>
          <a:p>
            <a:pPr algn="l"/>
            <a:r>
              <a:rPr sz="1000" b="0" i="0">
                <a:solidFill>
                  <a:srgbClr val="1A1A2E"/>
                </a:solidFill>
                <a:latin typeface="Calibri"/>
              </a:rPr>
              <a:t>GSI = 1  → 250%  (fully green)</a:t>
            </a:r>
          </a:p>
        </p:txBody>
      </p:sp>
      <p:sp>
        <p:nvSpPr>
          <p:cNvPr id="72" name="Rectangle 71">
            <a:extLst>
              <a:ext uri="{FF2B5EF4-FFF2-40B4-BE49-F238E27FC236}">
                <a16:creationId xmlns:a16="http://schemas.microsoft.com/office/drawing/2014/main" id="{02CD01ED-BB64-39DD-7DB1-520978C3DEE7}"/>
              </a:ext>
            </a:extLst>
          </p:cNvPr>
          <p:cNvSpPr/>
          <p:nvPr/>
        </p:nvSpPr>
        <p:spPr>
          <a:xfrm>
            <a:off x="6821424" y="3059365"/>
            <a:ext cx="2139696" cy="1005840"/>
          </a:xfrm>
          <a:prstGeom prst="rect">
            <a:avLst/>
          </a:prstGeom>
          <a:solidFill>
            <a:srgbClr val="D4EDEB"/>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a:extLst>
              <a:ext uri="{FF2B5EF4-FFF2-40B4-BE49-F238E27FC236}">
                <a16:creationId xmlns:a16="http://schemas.microsoft.com/office/drawing/2014/main" id="{9C3333B5-DF2C-E713-D672-8407EB35D1D7}"/>
              </a:ext>
            </a:extLst>
          </p:cNvPr>
          <p:cNvSpPr/>
          <p:nvPr/>
        </p:nvSpPr>
        <p:spPr>
          <a:xfrm>
            <a:off x="6821424" y="3059365"/>
            <a:ext cx="128016" cy="1005840"/>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TextBox 73">
            <a:extLst>
              <a:ext uri="{FF2B5EF4-FFF2-40B4-BE49-F238E27FC236}">
                <a16:creationId xmlns:a16="http://schemas.microsoft.com/office/drawing/2014/main" id="{897C52B2-B090-B4FA-9812-02CDF2F9DFF3}"/>
              </a:ext>
            </a:extLst>
          </p:cNvPr>
          <p:cNvSpPr txBox="1"/>
          <p:nvPr/>
        </p:nvSpPr>
        <p:spPr>
          <a:xfrm>
            <a:off x="7004304" y="3132517"/>
            <a:ext cx="1901952" cy="237744"/>
          </a:xfrm>
          <a:prstGeom prst="rect">
            <a:avLst/>
          </a:prstGeom>
          <a:noFill/>
        </p:spPr>
        <p:txBody>
          <a:bodyPr wrap="square">
            <a:spAutoFit/>
          </a:bodyPr>
          <a:lstStyle/>
          <a:p>
            <a:pPr algn="l"/>
            <a:r>
              <a:rPr sz="1200" b="1" i="0">
                <a:solidFill>
                  <a:srgbClr val="1A7A6E"/>
                </a:solidFill>
                <a:latin typeface="Courier New"/>
              </a:rPr>
              <a:t>FM_woody</a:t>
            </a:r>
          </a:p>
        </p:txBody>
      </p:sp>
      <p:sp>
        <p:nvSpPr>
          <p:cNvPr id="75" name="TextBox 74">
            <a:extLst>
              <a:ext uri="{FF2B5EF4-FFF2-40B4-BE49-F238E27FC236}">
                <a16:creationId xmlns:a16="http://schemas.microsoft.com/office/drawing/2014/main" id="{8ED8FC29-7C9D-75FE-B23C-A34D67AE5021}"/>
              </a:ext>
            </a:extLst>
          </p:cNvPr>
          <p:cNvSpPr txBox="1"/>
          <p:nvPr/>
        </p:nvSpPr>
        <p:spPr>
          <a:xfrm>
            <a:off x="7004304" y="3370261"/>
            <a:ext cx="1901952" cy="201168"/>
          </a:xfrm>
          <a:prstGeom prst="rect">
            <a:avLst/>
          </a:prstGeom>
          <a:noFill/>
        </p:spPr>
        <p:txBody>
          <a:bodyPr wrap="square">
            <a:spAutoFit/>
          </a:bodyPr>
          <a:lstStyle/>
          <a:p>
            <a:pPr algn="l"/>
            <a:r>
              <a:rPr sz="1000" b="0" i="1">
                <a:solidFill>
                  <a:srgbClr val="546E7A"/>
                </a:solidFill>
                <a:latin typeface="Calibri"/>
              </a:rPr>
              <a:t>Woody</a:t>
            </a:r>
          </a:p>
        </p:txBody>
      </p:sp>
      <p:sp>
        <p:nvSpPr>
          <p:cNvPr id="76" name="TextBox 75">
            <a:extLst>
              <a:ext uri="{FF2B5EF4-FFF2-40B4-BE49-F238E27FC236}">
                <a16:creationId xmlns:a16="http://schemas.microsoft.com/office/drawing/2014/main" id="{4900DFDF-6615-5074-3EC4-9589CF4A19B8}"/>
              </a:ext>
            </a:extLst>
          </p:cNvPr>
          <p:cNvSpPr txBox="1"/>
          <p:nvPr/>
        </p:nvSpPr>
        <p:spPr>
          <a:xfrm>
            <a:off x="7004304" y="3589717"/>
            <a:ext cx="1901952" cy="201168"/>
          </a:xfrm>
          <a:prstGeom prst="rect">
            <a:avLst/>
          </a:prstGeom>
          <a:noFill/>
        </p:spPr>
        <p:txBody>
          <a:bodyPr wrap="square">
            <a:spAutoFit/>
          </a:bodyPr>
          <a:lstStyle/>
          <a:p>
            <a:pPr algn="l"/>
            <a:r>
              <a:rPr sz="1000" b="0" i="0">
                <a:solidFill>
                  <a:srgbClr val="1A1A2E"/>
                </a:solidFill>
                <a:latin typeface="Calibri"/>
              </a:rPr>
              <a:t>GSI = 0  →   60%  (dormant)</a:t>
            </a:r>
          </a:p>
        </p:txBody>
      </p:sp>
      <p:sp>
        <p:nvSpPr>
          <p:cNvPr id="77" name="TextBox 76">
            <a:extLst>
              <a:ext uri="{FF2B5EF4-FFF2-40B4-BE49-F238E27FC236}">
                <a16:creationId xmlns:a16="http://schemas.microsoft.com/office/drawing/2014/main" id="{8D511ED3-C4AD-DC56-BCC7-BBD329761ECD}"/>
              </a:ext>
            </a:extLst>
          </p:cNvPr>
          <p:cNvSpPr txBox="1"/>
          <p:nvPr/>
        </p:nvSpPr>
        <p:spPr>
          <a:xfrm>
            <a:off x="7004304" y="3790885"/>
            <a:ext cx="1901952" cy="201168"/>
          </a:xfrm>
          <a:prstGeom prst="rect">
            <a:avLst/>
          </a:prstGeom>
          <a:noFill/>
        </p:spPr>
        <p:txBody>
          <a:bodyPr wrap="square">
            <a:spAutoFit/>
          </a:bodyPr>
          <a:lstStyle/>
          <a:p>
            <a:pPr algn="l"/>
            <a:r>
              <a:rPr sz="1000" b="0" i="0">
                <a:solidFill>
                  <a:srgbClr val="1A1A2E"/>
                </a:solidFill>
                <a:latin typeface="Calibri"/>
              </a:rPr>
              <a:t>GSI = 1  → 200%  (fully green)</a:t>
            </a:r>
          </a:p>
        </p:txBody>
      </p:sp>
    </p:spTree>
    <p:extLst>
      <p:ext uri="{BB962C8B-B14F-4D97-AF65-F5344CB8AC3E}">
        <p14:creationId xmlns:p14="http://schemas.microsoft.com/office/powerpoint/2010/main" val="251243374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878C21-0BC1-3D81-981F-65DB705EEBD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C39572-588F-B339-79CB-929ED6DED311}"/>
              </a:ext>
            </a:extLst>
          </p:cNvPr>
          <p:cNvSpPr txBox="1"/>
          <p:nvPr/>
        </p:nvSpPr>
        <p:spPr>
          <a:xfrm>
            <a:off x="365760" y="480060"/>
            <a:ext cx="8412480" cy="457200"/>
          </a:xfrm>
          <a:prstGeom prst="rect">
            <a:avLst/>
          </a:prstGeom>
          <a:noFill/>
        </p:spPr>
        <p:txBody>
          <a:bodyPr wrap="square">
            <a:spAutoFit/>
          </a:bodyPr>
          <a:lstStyle/>
          <a:p>
            <a:pPr algn="l"/>
            <a:r>
              <a:rPr sz="2400" b="1" i="0" dirty="0">
                <a:solidFill>
                  <a:srgbClr val="1A1A2E"/>
                </a:solidFill>
                <a:latin typeface="Calibri"/>
              </a:rPr>
              <a:t>NWS RTMA </a:t>
            </a:r>
            <a:r>
              <a:rPr lang="en-US" sz="2400" b="1" i="0" dirty="0">
                <a:solidFill>
                  <a:srgbClr val="1A1A2E"/>
                </a:solidFill>
                <a:latin typeface="Calibri"/>
              </a:rPr>
              <a:t>Dead </a:t>
            </a:r>
            <a:r>
              <a:rPr sz="2400" b="1" i="0" dirty="0">
                <a:solidFill>
                  <a:srgbClr val="1A1A2E"/>
                </a:solidFill>
                <a:latin typeface="Calibri"/>
              </a:rPr>
              <a:t>Fuel Moisture</a:t>
            </a:r>
            <a:r>
              <a:rPr lang="en-US" sz="2400" b="1" i="0" dirty="0">
                <a:solidFill>
                  <a:srgbClr val="1A1A2E"/>
                </a:solidFill>
                <a:latin typeface="Calibri"/>
              </a:rPr>
              <a:t> (NFDRS-based)</a:t>
            </a:r>
            <a:endParaRPr sz="2400" b="1" i="0" dirty="0">
              <a:solidFill>
                <a:srgbClr val="1A1A2E"/>
              </a:solidFill>
              <a:latin typeface="Calibri"/>
            </a:endParaRPr>
          </a:p>
        </p:txBody>
      </p:sp>
      <p:sp>
        <p:nvSpPr>
          <p:cNvPr id="27" name="Rectangle 26">
            <a:extLst>
              <a:ext uri="{FF2B5EF4-FFF2-40B4-BE49-F238E27FC236}">
                <a16:creationId xmlns:a16="http://schemas.microsoft.com/office/drawing/2014/main" id="{D37D6A7D-59CA-1586-6C7D-99514322C918}"/>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28" name="Rectangle 27">
            <a:extLst>
              <a:ext uri="{FF2B5EF4-FFF2-40B4-BE49-F238E27FC236}">
                <a16:creationId xmlns:a16="http://schemas.microsoft.com/office/drawing/2014/main" id="{C22521DE-AA0F-D21A-D853-C0740CCDE804}"/>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29" name="Rectangle 28">
            <a:extLst>
              <a:ext uri="{FF2B5EF4-FFF2-40B4-BE49-F238E27FC236}">
                <a16:creationId xmlns:a16="http://schemas.microsoft.com/office/drawing/2014/main" id="{C207449A-06C6-CD3C-21F7-8AA078126FE2}"/>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0" name="Rectangle 29">
            <a:extLst>
              <a:ext uri="{FF2B5EF4-FFF2-40B4-BE49-F238E27FC236}">
                <a16:creationId xmlns:a16="http://schemas.microsoft.com/office/drawing/2014/main" id="{2AFB69DA-F4DF-E108-5029-80B8242F8029}"/>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1" name="Rectangle 30">
            <a:extLst>
              <a:ext uri="{FF2B5EF4-FFF2-40B4-BE49-F238E27FC236}">
                <a16:creationId xmlns:a16="http://schemas.microsoft.com/office/drawing/2014/main" id="{284108E1-A7B7-30AB-6C5C-B25A4E53D205}"/>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2" name="Rectangle 31">
            <a:extLst>
              <a:ext uri="{FF2B5EF4-FFF2-40B4-BE49-F238E27FC236}">
                <a16:creationId xmlns:a16="http://schemas.microsoft.com/office/drawing/2014/main" id="{5A5B0F2F-63E3-3D01-8291-B6264C56E17A}"/>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6D4F3BDF-8C64-1D0D-19D5-9140253726E8}"/>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8E5A1A00-6E69-E195-C139-3537DDC5C05B}"/>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4132D3C4-C391-1CEC-5B5C-8B2BDFE0D675}"/>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8" name="TextBox 37">
            <a:extLst>
              <a:ext uri="{FF2B5EF4-FFF2-40B4-BE49-F238E27FC236}">
                <a16:creationId xmlns:a16="http://schemas.microsoft.com/office/drawing/2014/main" id="{F267C992-F4EA-10FF-A234-35CCA7FF9F7B}"/>
              </a:ext>
            </a:extLst>
          </p:cNvPr>
          <p:cNvSpPr txBox="1"/>
          <p:nvPr/>
        </p:nvSpPr>
        <p:spPr>
          <a:xfrm>
            <a:off x="327014" y="3337518"/>
            <a:ext cx="8503920" cy="256032"/>
          </a:xfrm>
          <a:prstGeom prst="rect">
            <a:avLst/>
          </a:prstGeom>
          <a:noFill/>
        </p:spPr>
        <p:txBody>
          <a:bodyPr wrap="square">
            <a:spAutoFit/>
          </a:bodyPr>
          <a:lstStyle/>
          <a:p>
            <a:pPr algn="l"/>
            <a:r>
              <a:rPr sz="1000" b="0" i="1" dirty="0">
                <a:solidFill>
                  <a:srgbClr val="546E7A"/>
                </a:solidFill>
                <a:latin typeface="Calibri"/>
              </a:rPr>
              <a:t>RTMA scenario FM at p50 / p90 / p97 — </a:t>
            </a:r>
            <a:r>
              <a:rPr sz="1000" b="0" i="1" dirty="0" err="1">
                <a:solidFill>
                  <a:srgbClr val="546E7A"/>
                </a:solidFill>
                <a:latin typeface="Calibri"/>
              </a:rPr>
              <a:t>Pyrome</a:t>
            </a:r>
            <a:r>
              <a:rPr sz="1000" b="0" i="1" dirty="0">
                <a:solidFill>
                  <a:srgbClr val="546E7A"/>
                </a:solidFill>
                <a:latin typeface="Calibri"/>
              </a:rPr>
              <a:t> 46</a:t>
            </a:r>
            <a:r>
              <a:rPr lang="en-US" sz="1000" b="0" i="1" dirty="0">
                <a:solidFill>
                  <a:srgbClr val="546E7A"/>
                </a:solidFill>
                <a:latin typeface="Calibri"/>
              </a:rPr>
              <a:t> (Front Range)</a:t>
            </a:r>
            <a:r>
              <a:rPr sz="1000" b="0" i="1" dirty="0">
                <a:solidFill>
                  <a:srgbClr val="546E7A"/>
                </a:solidFill>
                <a:latin typeface="Calibri"/>
              </a:rPr>
              <a:t> example (from </a:t>
            </a:r>
            <a:r>
              <a:rPr sz="1000" b="0" i="1" dirty="0" err="1">
                <a:solidFill>
                  <a:srgbClr val="546E7A"/>
                </a:solidFill>
                <a:latin typeface="Calibri"/>
              </a:rPr>
              <a:t>build_rtma_scenario_fm</a:t>
            </a:r>
            <a:r>
              <a:rPr sz="1000" b="0" i="1" dirty="0">
                <a:solidFill>
                  <a:srgbClr val="546E7A"/>
                </a:solidFill>
                <a:latin typeface="Calibri"/>
              </a:rPr>
              <a:t>):</a:t>
            </a:r>
          </a:p>
        </p:txBody>
      </p:sp>
      <p:grpSp>
        <p:nvGrpSpPr>
          <p:cNvPr id="9" name="Group 8">
            <a:extLst>
              <a:ext uri="{FF2B5EF4-FFF2-40B4-BE49-F238E27FC236}">
                <a16:creationId xmlns:a16="http://schemas.microsoft.com/office/drawing/2014/main" id="{FE4E21CC-D506-3053-527B-5E9CCC5B9EB0}"/>
              </a:ext>
            </a:extLst>
          </p:cNvPr>
          <p:cNvGrpSpPr/>
          <p:nvPr/>
        </p:nvGrpSpPr>
        <p:grpSpPr>
          <a:xfrm>
            <a:off x="320040" y="3690070"/>
            <a:ext cx="6967728" cy="1316735"/>
            <a:chOff x="324150" y="3525477"/>
            <a:chExt cx="6967728" cy="1316735"/>
          </a:xfrm>
        </p:grpSpPr>
        <p:sp>
          <p:nvSpPr>
            <p:cNvPr id="39" name="Rectangle 38">
              <a:extLst>
                <a:ext uri="{FF2B5EF4-FFF2-40B4-BE49-F238E27FC236}">
                  <a16:creationId xmlns:a16="http://schemas.microsoft.com/office/drawing/2014/main" id="{3684A0B3-A308-9412-817A-227D2E9A7CEC}"/>
                </a:ext>
              </a:extLst>
            </p:cNvPr>
            <p:cNvSpPr/>
            <p:nvPr/>
          </p:nvSpPr>
          <p:spPr>
            <a:xfrm>
              <a:off x="324150" y="3525477"/>
              <a:ext cx="6967728" cy="32918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7D103EA1-3BAA-6F8C-559F-742E78C6AFF6}"/>
                </a:ext>
              </a:extLst>
            </p:cNvPr>
            <p:cNvSpPr txBox="1"/>
            <p:nvPr/>
          </p:nvSpPr>
          <p:spPr>
            <a:xfrm>
              <a:off x="324150" y="3525477"/>
              <a:ext cx="1051560" cy="329184"/>
            </a:xfrm>
            <a:prstGeom prst="rect">
              <a:avLst/>
            </a:prstGeom>
            <a:noFill/>
          </p:spPr>
          <p:txBody>
            <a:bodyPr wrap="square">
              <a:spAutoFit/>
            </a:bodyPr>
            <a:lstStyle/>
            <a:p>
              <a:pPr algn="ctr"/>
              <a:r>
                <a:rPr sz="1000" b="1" i="0">
                  <a:solidFill>
                    <a:srgbClr val="FFFFFF"/>
                  </a:solidFill>
                  <a:latin typeface="Calibri"/>
                </a:rPr>
                <a:t>ERC pct</a:t>
              </a:r>
            </a:p>
          </p:txBody>
        </p:sp>
        <p:sp>
          <p:nvSpPr>
            <p:cNvPr id="41" name="TextBox 40">
              <a:extLst>
                <a:ext uri="{FF2B5EF4-FFF2-40B4-BE49-F238E27FC236}">
                  <a16:creationId xmlns:a16="http://schemas.microsoft.com/office/drawing/2014/main" id="{E59148DA-4031-D217-35B4-65C6C2E1E4E4}"/>
                </a:ext>
              </a:extLst>
            </p:cNvPr>
            <p:cNvSpPr txBox="1"/>
            <p:nvPr/>
          </p:nvSpPr>
          <p:spPr>
            <a:xfrm>
              <a:off x="1448862" y="3525477"/>
              <a:ext cx="694944" cy="329184"/>
            </a:xfrm>
            <a:prstGeom prst="rect">
              <a:avLst/>
            </a:prstGeom>
            <a:noFill/>
          </p:spPr>
          <p:txBody>
            <a:bodyPr wrap="square">
              <a:spAutoFit/>
            </a:bodyPr>
            <a:lstStyle/>
            <a:p>
              <a:pPr algn="ctr"/>
              <a:r>
                <a:rPr sz="1000" b="1" i="0">
                  <a:solidFill>
                    <a:srgbClr val="FFFFFF"/>
                  </a:solidFill>
                  <a:latin typeface="Calibri"/>
                </a:rPr>
                <a:t>FM1</a:t>
              </a:r>
            </a:p>
          </p:txBody>
        </p:sp>
        <p:sp>
          <p:nvSpPr>
            <p:cNvPr id="42" name="TextBox 41">
              <a:extLst>
                <a:ext uri="{FF2B5EF4-FFF2-40B4-BE49-F238E27FC236}">
                  <a16:creationId xmlns:a16="http://schemas.microsoft.com/office/drawing/2014/main" id="{721AC6DE-5D93-F270-9508-44335752900F}"/>
                </a:ext>
              </a:extLst>
            </p:cNvPr>
            <p:cNvSpPr txBox="1"/>
            <p:nvPr/>
          </p:nvSpPr>
          <p:spPr>
            <a:xfrm>
              <a:off x="2216958" y="3525477"/>
              <a:ext cx="694944" cy="329184"/>
            </a:xfrm>
            <a:prstGeom prst="rect">
              <a:avLst/>
            </a:prstGeom>
            <a:noFill/>
          </p:spPr>
          <p:txBody>
            <a:bodyPr wrap="square">
              <a:spAutoFit/>
            </a:bodyPr>
            <a:lstStyle/>
            <a:p>
              <a:pPr algn="ctr"/>
              <a:r>
                <a:rPr sz="1000" b="1" i="0">
                  <a:solidFill>
                    <a:srgbClr val="FFFFFF"/>
                  </a:solidFill>
                  <a:latin typeface="Calibri"/>
                </a:rPr>
                <a:t>FM10</a:t>
              </a:r>
            </a:p>
          </p:txBody>
        </p:sp>
        <p:sp>
          <p:nvSpPr>
            <p:cNvPr id="43" name="TextBox 42">
              <a:extLst>
                <a:ext uri="{FF2B5EF4-FFF2-40B4-BE49-F238E27FC236}">
                  <a16:creationId xmlns:a16="http://schemas.microsoft.com/office/drawing/2014/main" id="{F168CF6E-CD47-4FFF-2143-A78EFCF5767C}"/>
                </a:ext>
              </a:extLst>
            </p:cNvPr>
            <p:cNvSpPr txBox="1"/>
            <p:nvPr/>
          </p:nvSpPr>
          <p:spPr>
            <a:xfrm>
              <a:off x="2985054" y="3525477"/>
              <a:ext cx="768096" cy="329184"/>
            </a:xfrm>
            <a:prstGeom prst="rect">
              <a:avLst/>
            </a:prstGeom>
            <a:noFill/>
          </p:spPr>
          <p:txBody>
            <a:bodyPr wrap="square">
              <a:spAutoFit/>
            </a:bodyPr>
            <a:lstStyle/>
            <a:p>
              <a:pPr algn="ctr"/>
              <a:r>
                <a:rPr sz="1000" b="1" i="0">
                  <a:solidFill>
                    <a:srgbClr val="FFFFFF"/>
                  </a:solidFill>
                  <a:latin typeface="Calibri"/>
                </a:rPr>
                <a:t>FM100</a:t>
              </a:r>
            </a:p>
          </p:txBody>
        </p:sp>
        <p:sp>
          <p:nvSpPr>
            <p:cNvPr id="44" name="TextBox 43">
              <a:extLst>
                <a:ext uri="{FF2B5EF4-FFF2-40B4-BE49-F238E27FC236}">
                  <a16:creationId xmlns:a16="http://schemas.microsoft.com/office/drawing/2014/main" id="{CA480939-1DBC-274C-3583-BEEB51732940}"/>
                </a:ext>
              </a:extLst>
            </p:cNvPr>
            <p:cNvSpPr txBox="1"/>
            <p:nvPr/>
          </p:nvSpPr>
          <p:spPr>
            <a:xfrm>
              <a:off x="3826301" y="3525477"/>
              <a:ext cx="841248" cy="329184"/>
            </a:xfrm>
            <a:prstGeom prst="rect">
              <a:avLst/>
            </a:prstGeom>
            <a:noFill/>
          </p:spPr>
          <p:txBody>
            <a:bodyPr wrap="square">
              <a:spAutoFit/>
            </a:bodyPr>
            <a:lstStyle/>
            <a:p>
              <a:pPr algn="ctr"/>
              <a:r>
                <a:rPr sz="1000" b="1" i="0">
                  <a:solidFill>
                    <a:srgbClr val="FFFFFF"/>
                  </a:solidFill>
                  <a:latin typeface="Calibri"/>
                </a:rPr>
                <a:t>FM_herb</a:t>
              </a:r>
            </a:p>
          </p:txBody>
        </p:sp>
        <p:sp>
          <p:nvSpPr>
            <p:cNvPr id="45" name="TextBox 44">
              <a:extLst>
                <a:ext uri="{FF2B5EF4-FFF2-40B4-BE49-F238E27FC236}">
                  <a16:creationId xmlns:a16="http://schemas.microsoft.com/office/drawing/2014/main" id="{51D48C48-A8F1-242E-870F-115AE88E342E}"/>
                </a:ext>
              </a:extLst>
            </p:cNvPr>
            <p:cNvSpPr txBox="1"/>
            <p:nvPr/>
          </p:nvSpPr>
          <p:spPr>
            <a:xfrm>
              <a:off x="4740702" y="3525477"/>
              <a:ext cx="777240" cy="329184"/>
            </a:xfrm>
            <a:prstGeom prst="rect">
              <a:avLst/>
            </a:prstGeom>
            <a:noFill/>
          </p:spPr>
          <p:txBody>
            <a:bodyPr wrap="square">
              <a:spAutoFit/>
            </a:bodyPr>
            <a:lstStyle/>
            <a:p>
              <a:pPr algn="ctr"/>
              <a:r>
                <a:rPr sz="1000" b="1" i="0">
                  <a:solidFill>
                    <a:srgbClr val="FFFFFF"/>
                  </a:solidFill>
                  <a:latin typeface="Calibri"/>
                </a:rPr>
                <a:t>FM_woody</a:t>
              </a:r>
            </a:p>
          </p:txBody>
        </p:sp>
        <p:sp>
          <p:nvSpPr>
            <p:cNvPr id="46" name="TextBox 45">
              <a:extLst>
                <a:ext uri="{FF2B5EF4-FFF2-40B4-BE49-F238E27FC236}">
                  <a16:creationId xmlns:a16="http://schemas.microsoft.com/office/drawing/2014/main" id="{D929172B-B0F0-01F6-3ECA-AAEA8E296B19}"/>
                </a:ext>
              </a:extLst>
            </p:cNvPr>
            <p:cNvSpPr txBox="1"/>
            <p:nvPr/>
          </p:nvSpPr>
          <p:spPr>
            <a:xfrm>
              <a:off x="5627670" y="3525477"/>
              <a:ext cx="804672" cy="329184"/>
            </a:xfrm>
            <a:prstGeom prst="rect">
              <a:avLst/>
            </a:prstGeom>
            <a:noFill/>
          </p:spPr>
          <p:txBody>
            <a:bodyPr wrap="square">
              <a:spAutoFit/>
            </a:bodyPr>
            <a:lstStyle/>
            <a:p>
              <a:pPr algn="ctr"/>
              <a:r>
                <a:rPr sz="1000" b="1" i="0">
                  <a:solidFill>
                    <a:srgbClr val="FFFFFF"/>
                  </a:solidFill>
                  <a:latin typeface="Calibri"/>
                </a:rPr>
                <a:t>ERC center</a:t>
              </a:r>
            </a:p>
          </p:txBody>
        </p:sp>
        <p:sp>
          <p:nvSpPr>
            <p:cNvPr id="47" name="Rectangle 46">
              <a:extLst>
                <a:ext uri="{FF2B5EF4-FFF2-40B4-BE49-F238E27FC236}">
                  <a16:creationId xmlns:a16="http://schemas.microsoft.com/office/drawing/2014/main" id="{85BC4DAF-4AF4-0E8C-9787-440A8B41D8AA}"/>
                </a:ext>
              </a:extLst>
            </p:cNvPr>
            <p:cNvSpPr/>
            <p:nvPr/>
          </p:nvSpPr>
          <p:spPr>
            <a:xfrm>
              <a:off x="324150" y="3854660"/>
              <a:ext cx="6967728" cy="32918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54047729-8454-6827-F69A-AB086BDFBF71}"/>
                </a:ext>
              </a:extLst>
            </p:cNvPr>
            <p:cNvSpPr txBox="1"/>
            <p:nvPr/>
          </p:nvSpPr>
          <p:spPr>
            <a:xfrm>
              <a:off x="324150" y="3854660"/>
              <a:ext cx="1051560" cy="329184"/>
            </a:xfrm>
            <a:prstGeom prst="rect">
              <a:avLst/>
            </a:prstGeom>
            <a:noFill/>
          </p:spPr>
          <p:txBody>
            <a:bodyPr wrap="square">
              <a:spAutoFit/>
            </a:bodyPr>
            <a:lstStyle/>
            <a:p>
              <a:pPr algn="ctr"/>
              <a:r>
                <a:rPr sz="1000" b="1" i="0">
                  <a:solidFill>
                    <a:srgbClr val="D4622A"/>
                  </a:solidFill>
                  <a:latin typeface="Calibri"/>
                </a:rPr>
                <a:t>p50</a:t>
              </a:r>
            </a:p>
          </p:txBody>
        </p:sp>
        <p:sp>
          <p:nvSpPr>
            <p:cNvPr id="49" name="TextBox 48">
              <a:extLst>
                <a:ext uri="{FF2B5EF4-FFF2-40B4-BE49-F238E27FC236}">
                  <a16:creationId xmlns:a16="http://schemas.microsoft.com/office/drawing/2014/main" id="{132CCD8D-4B80-A304-A64A-EF88AA355153}"/>
                </a:ext>
              </a:extLst>
            </p:cNvPr>
            <p:cNvSpPr txBox="1"/>
            <p:nvPr/>
          </p:nvSpPr>
          <p:spPr>
            <a:xfrm>
              <a:off x="1448862" y="3854660"/>
              <a:ext cx="694944" cy="329184"/>
            </a:xfrm>
            <a:prstGeom prst="rect">
              <a:avLst/>
            </a:prstGeom>
            <a:noFill/>
          </p:spPr>
          <p:txBody>
            <a:bodyPr wrap="square">
              <a:spAutoFit/>
            </a:bodyPr>
            <a:lstStyle/>
            <a:p>
              <a:pPr algn="ctr"/>
              <a:r>
                <a:rPr sz="1000" b="0" i="0">
                  <a:solidFill>
                    <a:srgbClr val="1A1A2E"/>
                  </a:solidFill>
                  <a:latin typeface="Calibri"/>
                </a:rPr>
                <a:t>6.5</a:t>
              </a:r>
            </a:p>
          </p:txBody>
        </p:sp>
        <p:sp>
          <p:nvSpPr>
            <p:cNvPr id="50" name="TextBox 49">
              <a:extLst>
                <a:ext uri="{FF2B5EF4-FFF2-40B4-BE49-F238E27FC236}">
                  <a16:creationId xmlns:a16="http://schemas.microsoft.com/office/drawing/2014/main" id="{BE29C44C-40E6-FE57-31BA-532A26948DE9}"/>
                </a:ext>
              </a:extLst>
            </p:cNvPr>
            <p:cNvSpPr txBox="1"/>
            <p:nvPr/>
          </p:nvSpPr>
          <p:spPr>
            <a:xfrm>
              <a:off x="2216958" y="3854660"/>
              <a:ext cx="694944" cy="329184"/>
            </a:xfrm>
            <a:prstGeom prst="rect">
              <a:avLst/>
            </a:prstGeom>
            <a:noFill/>
          </p:spPr>
          <p:txBody>
            <a:bodyPr wrap="square">
              <a:spAutoFit/>
            </a:bodyPr>
            <a:lstStyle/>
            <a:p>
              <a:pPr algn="ctr"/>
              <a:r>
                <a:rPr sz="1000" b="0" i="0">
                  <a:solidFill>
                    <a:srgbClr val="1A1A2E"/>
                  </a:solidFill>
                  <a:latin typeface="Calibri"/>
                </a:rPr>
                <a:t>10.4</a:t>
              </a:r>
            </a:p>
          </p:txBody>
        </p:sp>
        <p:sp>
          <p:nvSpPr>
            <p:cNvPr id="51" name="TextBox 50">
              <a:extLst>
                <a:ext uri="{FF2B5EF4-FFF2-40B4-BE49-F238E27FC236}">
                  <a16:creationId xmlns:a16="http://schemas.microsoft.com/office/drawing/2014/main" id="{E2A87A25-5956-6404-7A9B-40277F043447}"/>
                </a:ext>
              </a:extLst>
            </p:cNvPr>
            <p:cNvSpPr txBox="1"/>
            <p:nvPr/>
          </p:nvSpPr>
          <p:spPr>
            <a:xfrm>
              <a:off x="2985054" y="3854660"/>
              <a:ext cx="768096" cy="329184"/>
            </a:xfrm>
            <a:prstGeom prst="rect">
              <a:avLst/>
            </a:prstGeom>
            <a:noFill/>
          </p:spPr>
          <p:txBody>
            <a:bodyPr wrap="square">
              <a:spAutoFit/>
            </a:bodyPr>
            <a:lstStyle/>
            <a:p>
              <a:pPr algn="ctr"/>
              <a:r>
                <a:rPr sz="1000" b="0" i="0">
                  <a:solidFill>
                    <a:srgbClr val="1A1A2E"/>
                  </a:solidFill>
                  <a:latin typeface="Calibri"/>
                </a:rPr>
                <a:t>13.2</a:t>
              </a:r>
            </a:p>
          </p:txBody>
        </p:sp>
        <p:sp>
          <p:nvSpPr>
            <p:cNvPr id="52" name="TextBox 51">
              <a:extLst>
                <a:ext uri="{FF2B5EF4-FFF2-40B4-BE49-F238E27FC236}">
                  <a16:creationId xmlns:a16="http://schemas.microsoft.com/office/drawing/2014/main" id="{E3D6D4E9-B4AF-6F51-7329-3E62B8375682}"/>
                </a:ext>
              </a:extLst>
            </p:cNvPr>
            <p:cNvSpPr txBox="1"/>
            <p:nvPr/>
          </p:nvSpPr>
          <p:spPr>
            <a:xfrm>
              <a:off x="3826301" y="3854660"/>
              <a:ext cx="841248" cy="329184"/>
            </a:xfrm>
            <a:prstGeom prst="rect">
              <a:avLst/>
            </a:prstGeom>
            <a:noFill/>
          </p:spPr>
          <p:txBody>
            <a:bodyPr wrap="square">
              <a:spAutoFit/>
            </a:bodyPr>
            <a:lstStyle/>
            <a:p>
              <a:pPr algn="ctr"/>
              <a:r>
                <a:rPr sz="1000" b="0" i="0">
                  <a:solidFill>
                    <a:srgbClr val="1A1A2E"/>
                  </a:solidFill>
                  <a:latin typeface="Calibri"/>
                </a:rPr>
                <a:t>89.1</a:t>
              </a:r>
            </a:p>
          </p:txBody>
        </p:sp>
        <p:sp>
          <p:nvSpPr>
            <p:cNvPr id="53" name="TextBox 52">
              <a:extLst>
                <a:ext uri="{FF2B5EF4-FFF2-40B4-BE49-F238E27FC236}">
                  <a16:creationId xmlns:a16="http://schemas.microsoft.com/office/drawing/2014/main" id="{C6B50F45-4055-0B52-E6B0-E2AA5EB8742C}"/>
                </a:ext>
              </a:extLst>
            </p:cNvPr>
            <p:cNvSpPr txBox="1"/>
            <p:nvPr/>
          </p:nvSpPr>
          <p:spPr>
            <a:xfrm>
              <a:off x="4740702" y="3854660"/>
              <a:ext cx="777240" cy="329184"/>
            </a:xfrm>
            <a:prstGeom prst="rect">
              <a:avLst/>
            </a:prstGeom>
            <a:noFill/>
          </p:spPr>
          <p:txBody>
            <a:bodyPr wrap="square">
              <a:spAutoFit/>
            </a:bodyPr>
            <a:lstStyle/>
            <a:p>
              <a:pPr algn="ctr"/>
              <a:r>
                <a:rPr sz="1000" b="0" i="0">
                  <a:solidFill>
                    <a:srgbClr val="1A1A2E"/>
                  </a:solidFill>
                  <a:latin typeface="Calibri"/>
                </a:rPr>
                <a:t>97.6</a:t>
              </a:r>
            </a:p>
          </p:txBody>
        </p:sp>
        <p:sp>
          <p:nvSpPr>
            <p:cNvPr id="54" name="TextBox 53">
              <a:extLst>
                <a:ext uri="{FF2B5EF4-FFF2-40B4-BE49-F238E27FC236}">
                  <a16:creationId xmlns:a16="http://schemas.microsoft.com/office/drawing/2014/main" id="{764BD35C-B1FD-AE43-248C-FD5525D3B32D}"/>
                </a:ext>
              </a:extLst>
            </p:cNvPr>
            <p:cNvSpPr txBox="1"/>
            <p:nvPr/>
          </p:nvSpPr>
          <p:spPr>
            <a:xfrm>
              <a:off x="5627670" y="3854660"/>
              <a:ext cx="804672" cy="329184"/>
            </a:xfrm>
            <a:prstGeom prst="rect">
              <a:avLst/>
            </a:prstGeom>
            <a:noFill/>
          </p:spPr>
          <p:txBody>
            <a:bodyPr wrap="square">
              <a:spAutoFit/>
            </a:bodyPr>
            <a:lstStyle/>
            <a:p>
              <a:pPr algn="ctr"/>
              <a:r>
                <a:rPr sz="1000" b="0" i="0">
                  <a:solidFill>
                    <a:srgbClr val="1A1A2E"/>
                  </a:solidFill>
                  <a:latin typeface="Calibri"/>
                </a:rPr>
                <a:t>48.0</a:t>
              </a:r>
            </a:p>
          </p:txBody>
        </p:sp>
        <p:sp>
          <p:nvSpPr>
            <p:cNvPr id="55" name="Rectangle 54">
              <a:extLst>
                <a:ext uri="{FF2B5EF4-FFF2-40B4-BE49-F238E27FC236}">
                  <a16:creationId xmlns:a16="http://schemas.microsoft.com/office/drawing/2014/main" id="{0398B6F8-C771-C229-D198-C07D43C600FC}"/>
                </a:ext>
              </a:extLst>
            </p:cNvPr>
            <p:cNvSpPr/>
            <p:nvPr/>
          </p:nvSpPr>
          <p:spPr>
            <a:xfrm>
              <a:off x="324150" y="4183845"/>
              <a:ext cx="6967728" cy="329184"/>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535F2BCF-02CB-439D-051F-8DDBB7DE55B3}"/>
                </a:ext>
              </a:extLst>
            </p:cNvPr>
            <p:cNvSpPr txBox="1"/>
            <p:nvPr/>
          </p:nvSpPr>
          <p:spPr>
            <a:xfrm>
              <a:off x="324150" y="4183845"/>
              <a:ext cx="1051560" cy="329184"/>
            </a:xfrm>
            <a:prstGeom prst="rect">
              <a:avLst/>
            </a:prstGeom>
            <a:noFill/>
          </p:spPr>
          <p:txBody>
            <a:bodyPr wrap="square">
              <a:spAutoFit/>
            </a:bodyPr>
            <a:lstStyle/>
            <a:p>
              <a:pPr algn="ctr"/>
              <a:r>
                <a:rPr sz="1000" b="1" i="0">
                  <a:solidFill>
                    <a:srgbClr val="D4622A"/>
                  </a:solidFill>
                  <a:latin typeface="Calibri"/>
                </a:rPr>
                <a:t>p90</a:t>
              </a:r>
            </a:p>
          </p:txBody>
        </p:sp>
        <p:sp>
          <p:nvSpPr>
            <p:cNvPr id="57" name="TextBox 56">
              <a:extLst>
                <a:ext uri="{FF2B5EF4-FFF2-40B4-BE49-F238E27FC236}">
                  <a16:creationId xmlns:a16="http://schemas.microsoft.com/office/drawing/2014/main" id="{DC5DA73B-D6D9-2744-C88C-B8D817B2B622}"/>
                </a:ext>
              </a:extLst>
            </p:cNvPr>
            <p:cNvSpPr txBox="1"/>
            <p:nvPr/>
          </p:nvSpPr>
          <p:spPr>
            <a:xfrm>
              <a:off x="1448862" y="4183845"/>
              <a:ext cx="694944" cy="329184"/>
            </a:xfrm>
            <a:prstGeom prst="rect">
              <a:avLst/>
            </a:prstGeom>
            <a:noFill/>
          </p:spPr>
          <p:txBody>
            <a:bodyPr wrap="square">
              <a:spAutoFit/>
            </a:bodyPr>
            <a:lstStyle/>
            <a:p>
              <a:pPr algn="ctr"/>
              <a:r>
                <a:rPr sz="1000" b="0" i="0">
                  <a:solidFill>
                    <a:srgbClr val="1A1A2E"/>
                  </a:solidFill>
                  <a:latin typeface="Calibri"/>
                </a:rPr>
                <a:t>4.5</a:t>
              </a:r>
            </a:p>
          </p:txBody>
        </p:sp>
        <p:sp>
          <p:nvSpPr>
            <p:cNvPr id="58" name="TextBox 57">
              <a:extLst>
                <a:ext uri="{FF2B5EF4-FFF2-40B4-BE49-F238E27FC236}">
                  <a16:creationId xmlns:a16="http://schemas.microsoft.com/office/drawing/2014/main" id="{0B4DC2CF-D44A-D7EF-CADD-942047CC10CA}"/>
                </a:ext>
              </a:extLst>
            </p:cNvPr>
            <p:cNvSpPr txBox="1"/>
            <p:nvPr/>
          </p:nvSpPr>
          <p:spPr>
            <a:xfrm>
              <a:off x="2216958" y="4183845"/>
              <a:ext cx="694944" cy="329184"/>
            </a:xfrm>
            <a:prstGeom prst="rect">
              <a:avLst/>
            </a:prstGeom>
            <a:noFill/>
          </p:spPr>
          <p:txBody>
            <a:bodyPr wrap="square">
              <a:spAutoFit/>
            </a:bodyPr>
            <a:lstStyle/>
            <a:p>
              <a:pPr algn="ctr"/>
              <a:r>
                <a:rPr sz="1000" b="0" i="0">
                  <a:solidFill>
                    <a:srgbClr val="1A1A2E"/>
                  </a:solidFill>
                  <a:latin typeface="Calibri"/>
                </a:rPr>
                <a:t>7.4</a:t>
              </a:r>
            </a:p>
          </p:txBody>
        </p:sp>
        <p:sp>
          <p:nvSpPr>
            <p:cNvPr id="59" name="TextBox 58">
              <a:extLst>
                <a:ext uri="{FF2B5EF4-FFF2-40B4-BE49-F238E27FC236}">
                  <a16:creationId xmlns:a16="http://schemas.microsoft.com/office/drawing/2014/main" id="{4A6AC994-35E2-0DEB-6DA5-E480CB40BAD1}"/>
                </a:ext>
              </a:extLst>
            </p:cNvPr>
            <p:cNvSpPr txBox="1"/>
            <p:nvPr/>
          </p:nvSpPr>
          <p:spPr>
            <a:xfrm>
              <a:off x="2985054" y="4183845"/>
              <a:ext cx="768096" cy="329184"/>
            </a:xfrm>
            <a:prstGeom prst="rect">
              <a:avLst/>
            </a:prstGeom>
            <a:noFill/>
          </p:spPr>
          <p:txBody>
            <a:bodyPr wrap="square">
              <a:spAutoFit/>
            </a:bodyPr>
            <a:lstStyle/>
            <a:p>
              <a:pPr algn="ctr"/>
              <a:r>
                <a:rPr sz="1000" b="0" i="0">
                  <a:solidFill>
                    <a:srgbClr val="1A1A2E"/>
                  </a:solidFill>
                  <a:latin typeface="Calibri"/>
                </a:rPr>
                <a:t>10.1</a:t>
              </a:r>
            </a:p>
          </p:txBody>
        </p:sp>
        <p:sp>
          <p:nvSpPr>
            <p:cNvPr id="60" name="TextBox 59">
              <a:extLst>
                <a:ext uri="{FF2B5EF4-FFF2-40B4-BE49-F238E27FC236}">
                  <a16:creationId xmlns:a16="http://schemas.microsoft.com/office/drawing/2014/main" id="{75705D4A-0F7E-A10D-2301-171A1D3988D3}"/>
                </a:ext>
              </a:extLst>
            </p:cNvPr>
            <p:cNvSpPr txBox="1"/>
            <p:nvPr/>
          </p:nvSpPr>
          <p:spPr>
            <a:xfrm>
              <a:off x="3826301" y="4183845"/>
              <a:ext cx="841248" cy="329184"/>
            </a:xfrm>
            <a:prstGeom prst="rect">
              <a:avLst/>
            </a:prstGeom>
            <a:noFill/>
          </p:spPr>
          <p:txBody>
            <a:bodyPr wrap="square">
              <a:spAutoFit/>
            </a:bodyPr>
            <a:lstStyle/>
            <a:p>
              <a:pPr algn="ctr"/>
              <a:r>
                <a:rPr sz="1000" b="0" i="0">
                  <a:solidFill>
                    <a:srgbClr val="1A1A2E"/>
                  </a:solidFill>
                  <a:latin typeface="Calibri"/>
                </a:rPr>
                <a:t>49.3</a:t>
              </a:r>
            </a:p>
          </p:txBody>
        </p:sp>
        <p:sp>
          <p:nvSpPr>
            <p:cNvPr id="61" name="TextBox 60">
              <a:extLst>
                <a:ext uri="{FF2B5EF4-FFF2-40B4-BE49-F238E27FC236}">
                  <a16:creationId xmlns:a16="http://schemas.microsoft.com/office/drawing/2014/main" id="{08C86611-D6CE-5B89-8C53-5947F486C635}"/>
                </a:ext>
              </a:extLst>
            </p:cNvPr>
            <p:cNvSpPr txBox="1"/>
            <p:nvPr/>
          </p:nvSpPr>
          <p:spPr>
            <a:xfrm>
              <a:off x="4740702" y="4183845"/>
              <a:ext cx="777240" cy="329184"/>
            </a:xfrm>
            <a:prstGeom prst="rect">
              <a:avLst/>
            </a:prstGeom>
            <a:noFill/>
          </p:spPr>
          <p:txBody>
            <a:bodyPr wrap="square">
              <a:spAutoFit/>
            </a:bodyPr>
            <a:lstStyle/>
            <a:p>
              <a:pPr algn="ctr"/>
              <a:r>
                <a:rPr sz="1000" b="0" i="0">
                  <a:solidFill>
                    <a:srgbClr val="1A1A2E"/>
                  </a:solidFill>
                  <a:latin typeface="Calibri"/>
                </a:rPr>
                <a:t>72.3</a:t>
              </a:r>
            </a:p>
          </p:txBody>
        </p:sp>
        <p:sp>
          <p:nvSpPr>
            <p:cNvPr id="62" name="TextBox 61">
              <a:extLst>
                <a:ext uri="{FF2B5EF4-FFF2-40B4-BE49-F238E27FC236}">
                  <a16:creationId xmlns:a16="http://schemas.microsoft.com/office/drawing/2014/main" id="{58A2C21B-4629-6DB3-EE92-0D8EBCAAFECB}"/>
                </a:ext>
              </a:extLst>
            </p:cNvPr>
            <p:cNvSpPr txBox="1"/>
            <p:nvPr/>
          </p:nvSpPr>
          <p:spPr>
            <a:xfrm>
              <a:off x="5627670" y="4183845"/>
              <a:ext cx="804672" cy="329184"/>
            </a:xfrm>
            <a:prstGeom prst="rect">
              <a:avLst/>
            </a:prstGeom>
            <a:noFill/>
          </p:spPr>
          <p:txBody>
            <a:bodyPr wrap="square">
              <a:spAutoFit/>
            </a:bodyPr>
            <a:lstStyle/>
            <a:p>
              <a:pPr algn="ctr"/>
              <a:r>
                <a:rPr sz="1000" b="0" i="0">
                  <a:solidFill>
                    <a:srgbClr val="1A1A2E"/>
                  </a:solidFill>
                  <a:latin typeface="Calibri"/>
                </a:rPr>
                <a:t>67.0</a:t>
              </a:r>
            </a:p>
          </p:txBody>
        </p:sp>
        <p:sp>
          <p:nvSpPr>
            <p:cNvPr id="63" name="Rectangle 62">
              <a:extLst>
                <a:ext uri="{FF2B5EF4-FFF2-40B4-BE49-F238E27FC236}">
                  <a16:creationId xmlns:a16="http://schemas.microsoft.com/office/drawing/2014/main" id="{3C2C4256-DCAA-6CC6-1C52-BDF3B9591555}"/>
                </a:ext>
              </a:extLst>
            </p:cNvPr>
            <p:cNvSpPr/>
            <p:nvPr/>
          </p:nvSpPr>
          <p:spPr>
            <a:xfrm>
              <a:off x="324150" y="4513028"/>
              <a:ext cx="6967728" cy="32918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extLst>
                <a:ext uri="{FF2B5EF4-FFF2-40B4-BE49-F238E27FC236}">
                  <a16:creationId xmlns:a16="http://schemas.microsoft.com/office/drawing/2014/main" id="{5618B1E0-86DB-43F2-BACF-A1C507626602}"/>
                </a:ext>
              </a:extLst>
            </p:cNvPr>
            <p:cNvSpPr txBox="1"/>
            <p:nvPr/>
          </p:nvSpPr>
          <p:spPr>
            <a:xfrm>
              <a:off x="324150" y="4513028"/>
              <a:ext cx="1051560" cy="329184"/>
            </a:xfrm>
            <a:prstGeom prst="rect">
              <a:avLst/>
            </a:prstGeom>
            <a:noFill/>
          </p:spPr>
          <p:txBody>
            <a:bodyPr wrap="square">
              <a:spAutoFit/>
            </a:bodyPr>
            <a:lstStyle/>
            <a:p>
              <a:pPr algn="ctr"/>
              <a:r>
                <a:rPr sz="1000" b="1" i="0">
                  <a:solidFill>
                    <a:srgbClr val="D4622A"/>
                  </a:solidFill>
                  <a:latin typeface="Calibri"/>
                </a:rPr>
                <a:t>p97</a:t>
              </a:r>
            </a:p>
          </p:txBody>
        </p:sp>
        <p:sp>
          <p:nvSpPr>
            <p:cNvPr id="65" name="TextBox 64">
              <a:extLst>
                <a:ext uri="{FF2B5EF4-FFF2-40B4-BE49-F238E27FC236}">
                  <a16:creationId xmlns:a16="http://schemas.microsoft.com/office/drawing/2014/main" id="{15EBB0BF-4B2B-309B-CCEB-14391F69F36A}"/>
                </a:ext>
              </a:extLst>
            </p:cNvPr>
            <p:cNvSpPr txBox="1"/>
            <p:nvPr/>
          </p:nvSpPr>
          <p:spPr>
            <a:xfrm>
              <a:off x="1448862" y="4513028"/>
              <a:ext cx="694944" cy="329184"/>
            </a:xfrm>
            <a:prstGeom prst="rect">
              <a:avLst/>
            </a:prstGeom>
            <a:noFill/>
          </p:spPr>
          <p:txBody>
            <a:bodyPr wrap="square">
              <a:spAutoFit/>
            </a:bodyPr>
            <a:lstStyle/>
            <a:p>
              <a:pPr algn="ctr"/>
              <a:r>
                <a:rPr sz="1000" b="0" i="0">
                  <a:solidFill>
                    <a:srgbClr val="1A1A2E"/>
                  </a:solidFill>
                  <a:latin typeface="Calibri"/>
                </a:rPr>
                <a:t>3.8</a:t>
              </a:r>
            </a:p>
          </p:txBody>
        </p:sp>
        <p:sp>
          <p:nvSpPr>
            <p:cNvPr id="66" name="TextBox 65">
              <a:extLst>
                <a:ext uri="{FF2B5EF4-FFF2-40B4-BE49-F238E27FC236}">
                  <a16:creationId xmlns:a16="http://schemas.microsoft.com/office/drawing/2014/main" id="{923914BF-1D35-C836-10BD-883E561CBD5D}"/>
                </a:ext>
              </a:extLst>
            </p:cNvPr>
            <p:cNvSpPr txBox="1"/>
            <p:nvPr/>
          </p:nvSpPr>
          <p:spPr>
            <a:xfrm>
              <a:off x="2216958" y="4513028"/>
              <a:ext cx="694944" cy="329184"/>
            </a:xfrm>
            <a:prstGeom prst="rect">
              <a:avLst/>
            </a:prstGeom>
            <a:noFill/>
          </p:spPr>
          <p:txBody>
            <a:bodyPr wrap="square">
              <a:spAutoFit/>
            </a:bodyPr>
            <a:lstStyle/>
            <a:p>
              <a:pPr algn="ctr"/>
              <a:r>
                <a:rPr sz="1000" b="0" i="0">
                  <a:solidFill>
                    <a:srgbClr val="1A1A2E"/>
                  </a:solidFill>
                  <a:latin typeface="Calibri"/>
                </a:rPr>
                <a:t>6.0</a:t>
              </a:r>
            </a:p>
          </p:txBody>
        </p:sp>
        <p:sp>
          <p:nvSpPr>
            <p:cNvPr id="67" name="TextBox 66">
              <a:extLst>
                <a:ext uri="{FF2B5EF4-FFF2-40B4-BE49-F238E27FC236}">
                  <a16:creationId xmlns:a16="http://schemas.microsoft.com/office/drawing/2014/main" id="{DECC18BE-EDAC-5BA1-FE34-F35B6E152F81}"/>
                </a:ext>
              </a:extLst>
            </p:cNvPr>
            <p:cNvSpPr txBox="1"/>
            <p:nvPr/>
          </p:nvSpPr>
          <p:spPr>
            <a:xfrm>
              <a:off x="2985054" y="4513028"/>
              <a:ext cx="768096" cy="329184"/>
            </a:xfrm>
            <a:prstGeom prst="rect">
              <a:avLst/>
            </a:prstGeom>
            <a:noFill/>
          </p:spPr>
          <p:txBody>
            <a:bodyPr wrap="square">
              <a:spAutoFit/>
            </a:bodyPr>
            <a:lstStyle/>
            <a:p>
              <a:pPr algn="ctr"/>
              <a:r>
                <a:rPr sz="1000" b="0" i="0">
                  <a:solidFill>
                    <a:srgbClr val="1A1A2E"/>
                  </a:solidFill>
                  <a:latin typeface="Calibri"/>
                </a:rPr>
                <a:t>7.9</a:t>
              </a:r>
            </a:p>
          </p:txBody>
        </p:sp>
        <p:sp>
          <p:nvSpPr>
            <p:cNvPr id="68" name="TextBox 67">
              <a:extLst>
                <a:ext uri="{FF2B5EF4-FFF2-40B4-BE49-F238E27FC236}">
                  <a16:creationId xmlns:a16="http://schemas.microsoft.com/office/drawing/2014/main" id="{406D80A5-9A7D-CA75-B900-166F0B5DE0C7}"/>
                </a:ext>
              </a:extLst>
            </p:cNvPr>
            <p:cNvSpPr txBox="1"/>
            <p:nvPr/>
          </p:nvSpPr>
          <p:spPr>
            <a:xfrm>
              <a:off x="3826301" y="4513028"/>
              <a:ext cx="841248" cy="329184"/>
            </a:xfrm>
            <a:prstGeom prst="rect">
              <a:avLst/>
            </a:prstGeom>
            <a:noFill/>
          </p:spPr>
          <p:txBody>
            <a:bodyPr wrap="square">
              <a:spAutoFit/>
            </a:bodyPr>
            <a:lstStyle/>
            <a:p>
              <a:pPr algn="ctr"/>
              <a:r>
                <a:rPr sz="1000" b="0" i="0">
                  <a:solidFill>
                    <a:srgbClr val="1A1A2E"/>
                  </a:solidFill>
                  <a:latin typeface="Calibri"/>
                </a:rPr>
                <a:t>30.0</a:t>
              </a:r>
            </a:p>
          </p:txBody>
        </p:sp>
        <p:sp>
          <p:nvSpPr>
            <p:cNvPr id="69" name="TextBox 68">
              <a:extLst>
                <a:ext uri="{FF2B5EF4-FFF2-40B4-BE49-F238E27FC236}">
                  <a16:creationId xmlns:a16="http://schemas.microsoft.com/office/drawing/2014/main" id="{FD12045B-4430-5202-95E1-983B9DCEF0A5}"/>
                </a:ext>
              </a:extLst>
            </p:cNvPr>
            <p:cNvSpPr txBox="1"/>
            <p:nvPr/>
          </p:nvSpPr>
          <p:spPr>
            <a:xfrm>
              <a:off x="4740702" y="4513028"/>
              <a:ext cx="777240" cy="329184"/>
            </a:xfrm>
            <a:prstGeom prst="rect">
              <a:avLst/>
            </a:prstGeom>
            <a:noFill/>
          </p:spPr>
          <p:txBody>
            <a:bodyPr wrap="square">
              <a:spAutoFit/>
            </a:bodyPr>
            <a:lstStyle/>
            <a:p>
              <a:pPr algn="ctr"/>
              <a:r>
                <a:rPr sz="1000" b="0" i="0">
                  <a:solidFill>
                    <a:srgbClr val="1A1A2E"/>
                  </a:solidFill>
                  <a:latin typeface="Calibri"/>
                </a:rPr>
                <a:t>60.0</a:t>
              </a:r>
            </a:p>
          </p:txBody>
        </p:sp>
        <p:sp>
          <p:nvSpPr>
            <p:cNvPr id="70" name="TextBox 69">
              <a:extLst>
                <a:ext uri="{FF2B5EF4-FFF2-40B4-BE49-F238E27FC236}">
                  <a16:creationId xmlns:a16="http://schemas.microsoft.com/office/drawing/2014/main" id="{420B6D21-3C9C-B4F9-1C99-7D00A2018C92}"/>
                </a:ext>
              </a:extLst>
            </p:cNvPr>
            <p:cNvSpPr txBox="1"/>
            <p:nvPr/>
          </p:nvSpPr>
          <p:spPr>
            <a:xfrm>
              <a:off x="5627670" y="4513028"/>
              <a:ext cx="804672" cy="329184"/>
            </a:xfrm>
            <a:prstGeom prst="rect">
              <a:avLst/>
            </a:prstGeom>
            <a:noFill/>
          </p:spPr>
          <p:txBody>
            <a:bodyPr wrap="square">
              <a:spAutoFit/>
            </a:bodyPr>
            <a:lstStyle/>
            <a:p>
              <a:pPr algn="ctr"/>
              <a:r>
                <a:rPr sz="1000" b="0" i="0">
                  <a:solidFill>
                    <a:srgbClr val="1A1A2E"/>
                  </a:solidFill>
                  <a:latin typeface="Calibri"/>
                </a:rPr>
                <a:t>74.0</a:t>
              </a:r>
            </a:p>
          </p:txBody>
        </p:sp>
      </p:grpSp>
      <p:sp>
        <p:nvSpPr>
          <p:cNvPr id="71" name="Rectangle 70">
            <a:extLst>
              <a:ext uri="{FF2B5EF4-FFF2-40B4-BE49-F238E27FC236}">
                <a16:creationId xmlns:a16="http://schemas.microsoft.com/office/drawing/2014/main" id="{5A04B4B9-E98C-DFEE-C3F7-72F53B4AC449}"/>
              </a:ext>
            </a:extLst>
          </p:cNvPr>
          <p:cNvSpPr/>
          <p:nvPr/>
        </p:nvSpPr>
        <p:spPr>
          <a:xfrm>
            <a:off x="7465614" y="3525477"/>
            <a:ext cx="1536192" cy="148132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62B719B0-C10B-9698-9585-5633D6AD0515}"/>
              </a:ext>
            </a:extLst>
          </p:cNvPr>
          <p:cNvSpPr txBox="1"/>
          <p:nvPr/>
        </p:nvSpPr>
        <p:spPr>
          <a:xfrm>
            <a:off x="7529621" y="3598628"/>
            <a:ext cx="1389888" cy="230832"/>
          </a:xfrm>
          <a:prstGeom prst="rect">
            <a:avLst/>
          </a:prstGeom>
          <a:noFill/>
        </p:spPr>
        <p:txBody>
          <a:bodyPr wrap="square">
            <a:spAutoFit/>
          </a:bodyPr>
          <a:lstStyle/>
          <a:p>
            <a:pPr algn="l"/>
            <a:r>
              <a:rPr lang="en-US" sz="900" b="1" i="0" dirty="0">
                <a:solidFill>
                  <a:srgbClr val="D4622A"/>
                </a:solidFill>
                <a:latin typeface="Calibri"/>
              </a:rPr>
              <a:t>Dead FM Note</a:t>
            </a:r>
            <a:endParaRPr sz="900" b="1" i="0" dirty="0">
              <a:solidFill>
                <a:srgbClr val="D4622A"/>
              </a:solidFill>
              <a:latin typeface="Calibri"/>
            </a:endParaRPr>
          </a:p>
        </p:txBody>
      </p:sp>
      <p:pic>
        <p:nvPicPr>
          <p:cNvPr id="8" name="Picture 7">
            <a:extLst>
              <a:ext uri="{FF2B5EF4-FFF2-40B4-BE49-F238E27FC236}">
                <a16:creationId xmlns:a16="http://schemas.microsoft.com/office/drawing/2014/main" id="{60110A3B-EB66-603E-EF7D-280C6B01A6DA}"/>
              </a:ext>
            </a:extLst>
          </p:cNvPr>
          <p:cNvPicPr>
            <a:picLocks noChangeAspect="1"/>
          </p:cNvPicPr>
          <p:nvPr/>
        </p:nvPicPr>
        <p:blipFill>
          <a:blip r:embed="rId3"/>
          <a:srcRect/>
          <a:stretch/>
        </p:blipFill>
        <p:spPr>
          <a:xfrm>
            <a:off x="781349" y="1300436"/>
            <a:ext cx="7772400" cy="2032000"/>
          </a:xfrm>
          <a:prstGeom prst="rect">
            <a:avLst/>
          </a:prstGeom>
        </p:spPr>
      </p:pic>
      <p:sp>
        <p:nvSpPr>
          <p:cNvPr id="10" name="TextBox 9">
            <a:extLst>
              <a:ext uri="{FF2B5EF4-FFF2-40B4-BE49-F238E27FC236}">
                <a16:creationId xmlns:a16="http://schemas.microsoft.com/office/drawing/2014/main" id="{E3D7FC69-D95C-9F0F-CCE3-0C5D3D718BB8}"/>
              </a:ext>
            </a:extLst>
          </p:cNvPr>
          <p:cNvSpPr txBox="1"/>
          <p:nvPr/>
        </p:nvSpPr>
        <p:spPr>
          <a:xfrm>
            <a:off x="320040" y="940089"/>
            <a:ext cx="8503920" cy="256032"/>
          </a:xfrm>
          <a:prstGeom prst="rect">
            <a:avLst/>
          </a:prstGeom>
          <a:noFill/>
        </p:spPr>
        <p:txBody>
          <a:bodyPr wrap="square">
            <a:spAutoFit/>
          </a:bodyPr>
          <a:lstStyle/>
          <a:p>
            <a:pPr algn="l"/>
            <a:r>
              <a:rPr sz="1000" b="0" i="1" dirty="0">
                <a:solidFill>
                  <a:srgbClr val="546E7A"/>
                </a:solidFill>
                <a:latin typeface="Calibri"/>
              </a:rPr>
              <a:t>Seasonal climatology</a:t>
            </a:r>
            <a:r>
              <a:rPr lang="en-US" sz="1000" b="0" i="1" dirty="0">
                <a:solidFill>
                  <a:srgbClr val="546E7A"/>
                </a:solidFill>
                <a:latin typeface="Calibri"/>
              </a:rPr>
              <a:t> of dead FM</a:t>
            </a:r>
            <a:r>
              <a:rPr sz="1000" b="0" i="1" dirty="0">
                <a:solidFill>
                  <a:srgbClr val="546E7A"/>
                </a:solidFill>
                <a:latin typeface="Calibri"/>
              </a:rPr>
              <a:t> — all CO </a:t>
            </a:r>
            <a:r>
              <a:rPr sz="1000" b="0" i="1" dirty="0" err="1">
                <a:solidFill>
                  <a:srgbClr val="546E7A"/>
                </a:solidFill>
                <a:latin typeface="Calibri"/>
              </a:rPr>
              <a:t>pyromes</a:t>
            </a:r>
            <a:r>
              <a:rPr sz="1000" b="0" i="1" dirty="0">
                <a:solidFill>
                  <a:srgbClr val="546E7A"/>
                </a:solidFill>
                <a:latin typeface="Calibri"/>
              </a:rPr>
              <a:t>, 2011–2025 (April 1 – October 31, daily peak hour 14:00 LST):</a:t>
            </a:r>
          </a:p>
        </p:txBody>
      </p:sp>
    </p:spTree>
    <p:extLst>
      <p:ext uri="{BB962C8B-B14F-4D97-AF65-F5344CB8AC3E}">
        <p14:creationId xmlns:p14="http://schemas.microsoft.com/office/powerpoint/2010/main" val="38895474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3B49B4-BE7B-70D6-D999-E68CDEE5FD22}"/>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F0655F86-0C58-0FB8-707E-C3144BA88239}"/>
              </a:ext>
            </a:extLst>
          </p:cNvPr>
          <p:cNvSpPr txBox="1"/>
          <p:nvPr/>
        </p:nvSpPr>
        <p:spPr>
          <a:xfrm>
            <a:off x="365760" y="480060"/>
            <a:ext cx="8412480" cy="457200"/>
          </a:xfrm>
          <a:prstGeom prst="rect">
            <a:avLst/>
          </a:prstGeom>
          <a:noFill/>
        </p:spPr>
        <p:txBody>
          <a:bodyPr wrap="square">
            <a:spAutoFit/>
          </a:bodyPr>
          <a:lstStyle/>
          <a:p>
            <a:pPr algn="l"/>
            <a:r>
              <a:rPr sz="2400" b="1" i="0" dirty="0">
                <a:solidFill>
                  <a:srgbClr val="1A1A2E"/>
                </a:solidFill>
                <a:latin typeface="Calibri"/>
              </a:rPr>
              <a:t>NWS RTMA </a:t>
            </a:r>
            <a:r>
              <a:rPr lang="en-US" sz="2400" b="1" i="0" dirty="0">
                <a:solidFill>
                  <a:srgbClr val="1A1A2E"/>
                </a:solidFill>
                <a:latin typeface="Calibri"/>
              </a:rPr>
              <a:t>Live </a:t>
            </a:r>
            <a:r>
              <a:rPr sz="2400" b="1" i="0" dirty="0">
                <a:solidFill>
                  <a:srgbClr val="1A1A2E"/>
                </a:solidFill>
                <a:latin typeface="Calibri"/>
              </a:rPr>
              <a:t>Fuel Moisture</a:t>
            </a:r>
            <a:r>
              <a:rPr lang="en-US" sz="2400" b="1" i="0" dirty="0">
                <a:solidFill>
                  <a:srgbClr val="1A1A2E"/>
                </a:solidFill>
                <a:latin typeface="Calibri"/>
              </a:rPr>
              <a:t> (GSI-based)</a:t>
            </a:r>
            <a:endParaRPr sz="2400" b="1" i="0" dirty="0">
              <a:solidFill>
                <a:srgbClr val="1A1A2E"/>
              </a:solidFill>
              <a:latin typeface="Calibri"/>
            </a:endParaRPr>
          </a:p>
        </p:txBody>
      </p:sp>
      <p:sp>
        <p:nvSpPr>
          <p:cNvPr id="27" name="Rectangle 26">
            <a:extLst>
              <a:ext uri="{FF2B5EF4-FFF2-40B4-BE49-F238E27FC236}">
                <a16:creationId xmlns:a16="http://schemas.microsoft.com/office/drawing/2014/main" id="{3A34B492-84D7-0358-7D6D-9365C8B99976}"/>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28" name="Rectangle 27">
            <a:extLst>
              <a:ext uri="{FF2B5EF4-FFF2-40B4-BE49-F238E27FC236}">
                <a16:creationId xmlns:a16="http://schemas.microsoft.com/office/drawing/2014/main" id="{870CDECE-C896-163A-AB8C-FC63FFB78230}"/>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29" name="Rectangle 28">
            <a:extLst>
              <a:ext uri="{FF2B5EF4-FFF2-40B4-BE49-F238E27FC236}">
                <a16:creationId xmlns:a16="http://schemas.microsoft.com/office/drawing/2014/main" id="{E5828856-10A1-578F-12AB-8BB2AF276656}"/>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0" name="Rectangle 29">
            <a:extLst>
              <a:ext uri="{FF2B5EF4-FFF2-40B4-BE49-F238E27FC236}">
                <a16:creationId xmlns:a16="http://schemas.microsoft.com/office/drawing/2014/main" id="{9D7E2CDC-8203-5EF9-344D-AA9391E11FB3}"/>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1" name="Rectangle 30">
            <a:extLst>
              <a:ext uri="{FF2B5EF4-FFF2-40B4-BE49-F238E27FC236}">
                <a16:creationId xmlns:a16="http://schemas.microsoft.com/office/drawing/2014/main" id="{F29FE9A7-6149-E6E8-F6D7-5C4D981A26F2}"/>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2" name="Rectangle 31">
            <a:extLst>
              <a:ext uri="{FF2B5EF4-FFF2-40B4-BE49-F238E27FC236}">
                <a16:creationId xmlns:a16="http://schemas.microsoft.com/office/drawing/2014/main" id="{A5141085-2568-2BA5-0A9D-B6FFF3428B12}"/>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Rectangle 32">
            <a:extLst>
              <a:ext uri="{FF2B5EF4-FFF2-40B4-BE49-F238E27FC236}">
                <a16:creationId xmlns:a16="http://schemas.microsoft.com/office/drawing/2014/main" id="{7DB5F464-435F-A030-1A9A-24A2A47B3CE9}"/>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C82BDA58-6BA0-0A5F-03AA-97C77F1A9E53}"/>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5D7558CC-19BA-FBBD-30B9-362EDE38B96D}"/>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TextBox 35">
            <a:extLst>
              <a:ext uri="{FF2B5EF4-FFF2-40B4-BE49-F238E27FC236}">
                <a16:creationId xmlns:a16="http://schemas.microsoft.com/office/drawing/2014/main" id="{53CC8E17-9459-B402-F6F7-4C6C35BF70E6}"/>
              </a:ext>
            </a:extLst>
          </p:cNvPr>
          <p:cNvSpPr txBox="1"/>
          <p:nvPr/>
        </p:nvSpPr>
        <p:spPr>
          <a:xfrm>
            <a:off x="320040" y="940089"/>
            <a:ext cx="8503920" cy="256032"/>
          </a:xfrm>
          <a:prstGeom prst="rect">
            <a:avLst/>
          </a:prstGeom>
          <a:noFill/>
        </p:spPr>
        <p:txBody>
          <a:bodyPr wrap="square">
            <a:spAutoFit/>
          </a:bodyPr>
          <a:lstStyle/>
          <a:p>
            <a:pPr algn="l"/>
            <a:r>
              <a:rPr sz="1000" b="0" i="1" dirty="0">
                <a:solidFill>
                  <a:srgbClr val="546E7A"/>
                </a:solidFill>
                <a:latin typeface="Calibri"/>
              </a:rPr>
              <a:t>Seasonal climatology of GSI and live FM — all </a:t>
            </a:r>
            <a:r>
              <a:rPr sz="1000" b="0" i="1" dirty="0" err="1">
                <a:solidFill>
                  <a:srgbClr val="546E7A"/>
                </a:solidFill>
                <a:latin typeface="Calibri"/>
              </a:rPr>
              <a:t>pyromes</a:t>
            </a:r>
            <a:r>
              <a:rPr sz="1000" b="0" i="1" dirty="0">
                <a:solidFill>
                  <a:srgbClr val="546E7A"/>
                </a:solidFill>
                <a:latin typeface="Calibri"/>
              </a:rPr>
              <a:t>, 2011–2025 (mean ± p10–p90 ribbon):</a:t>
            </a:r>
          </a:p>
        </p:txBody>
      </p:sp>
      <p:sp>
        <p:nvSpPr>
          <p:cNvPr id="38" name="TextBox 37">
            <a:extLst>
              <a:ext uri="{FF2B5EF4-FFF2-40B4-BE49-F238E27FC236}">
                <a16:creationId xmlns:a16="http://schemas.microsoft.com/office/drawing/2014/main" id="{52822F80-6201-2ECE-1477-BF15A061DF1A}"/>
              </a:ext>
            </a:extLst>
          </p:cNvPr>
          <p:cNvSpPr txBox="1"/>
          <p:nvPr/>
        </p:nvSpPr>
        <p:spPr>
          <a:xfrm>
            <a:off x="327014" y="3337518"/>
            <a:ext cx="8503920" cy="256032"/>
          </a:xfrm>
          <a:prstGeom prst="rect">
            <a:avLst/>
          </a:prstGeom>
          <a:noFill/>
        </p:spPr>
        <p:txBody>
          <a:bodyPr wrap="square">
            <a:spAutoFit/>
          </a:bodyPr>
          <a:lstStyle/>
          <a:p>
            <a:pPr algn="l"/>
            <a:r>
              <a:rPr sz="1000" b="0" i="1" dirty="0">
                <a:solidFill>
                  <a:srgbClr val="546E7A"/>
                </a:solidFill>
                <a:latin typeface="Calibri"/>
              </a:rPr>
              <a:t>RTMA scenario FM at p50 / p90 / p97 — </a:t>
            </a:r>
            <a:r>
              <a:rPr sz="1000" b="0" i="1" dirty="0" err="1">
                <a:solidFill>
                  <a:srgbClr val="546E7A"/>
                </a:solidFill>
                <a:latin typeface="Calibri"/>
              </a:rPr>
              <a:t>Pyrome</a:t>
            </a:r>
            <a:r>
              <a:rPr sz="1000" b="0" i="1" dirty="0">
                <a:solidFill>
                  <a:srgbClr val="546E7A"/>
                </a:solidFill>
                <a:latin typeface="Calibri"/>
              </a:rPr>
              <a:t> 46</a:t>
            </a:r>
            <a:r>
              <a:rPr lang="en-US" sz="1000" b="0" i="1" dirty="0">
                <a:solidFill>
                  <a:srgbClr val="546E7A"/>
                </a:solidFill>
                <a:latin typeface="Calibri"/>
              </a:rPr>
              <a:t> (Front Range)</a:t>
            </a:r>
            <a:r>
              <a:rPr sz="1000" b="0" i="1" dirty="0">
                <a:solidFill>
                  <a:srgbClr val="546E7A"/>
                </a:solidFill>
                <a:latin typeface="Calibri"/>
              </a:rPr>
              <a:t> example (from </a:t>
            </a:r>
            <a:r>
              <a:rPr sz="1000" b="0" i="1" dirty="0" err="1">
                <a:solidFill>
                  <a:srgbClr val="546E7A"/>
                </a:solidFill>
                <a:latin typeface="Calibri"/>
              </a:rPr>
              <a:t>build_rtma_scenario_fm</a:t>
            </a:r>
            <a:r>
              <a:rPr sz="1000" b="0" i="1" dirty="0">
                <a:solidFill>
                  <a:srgbClr val="546E7A"/>
                </a:solidFill>
                <a:latin typeface="Calibri"/>
              </a:rPr>
              <a:t>):</a:t>
            </a:r>
          </a:p>
        </p:txBody>
      </p:sp>
      <p:grpSp>
        <p:nvGrpSpPr>
          <p:cNvPr id="9" name="Group 8">
            <a:extLst>
              <a:ext uri="{FF2B5EF4-FFF2-40B4-BE49-F238E27FC236}">
                <a16:creationId xmlns:a16="http://schemas.microsoft.com/office/drawing/2014/main" id="{963E3992-AC30-7C33-B11F-9291D4473572}"/>
              </a:ext>
            </a:extLst>
          </p:cNvPr>
          <p:cNvGrpSpPr/>
          <p:nvPr/>
        </p:nvGrpSpPr>
        <p:grpSpPr>
          <a:xfrm>
            <a:off x="320040" y="3690070"/>
            <a:ext cx="6967728" cy="1316735"/>
            <a:chOff x="324150" y="3525477"/>
            <a:chExt cx="6967728" cy="1316735"/>
          </a:xfrm>
        </p:grpSpPr>
        <p:sp>
          <p:nvSpPr>
            <p:cNvPr id="39" name="Rectangle 38">
              <a:extLst>
                <a:ext uri="{FF2B5EF4-FFF2-40B4-BE49-F238E27FC236}">
                  <a16:creationId xmlns:a16="http://schemas.microsoft.com/office/drawing/2014/main" id="{1D76DB72-995E-913D-2854-75F3986F3FB6}"/>
                </a:ext>
              </a:extLst>
            </p:cNvPr>
            <p:cNvSpPr/>
            <p:nvPr/>
          </p:nvSpPr>
          <p:spPr>
            <a:xfrm>
              <a:off x="324150" y="3525477"/>
              <a:ext cx="6967728" cy="329184"/>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D9DFC2E2-9E51-8CD1-3C11-DBB26148EFE5}"/>
                </a:ext>
              </a:extLst>
            </p:cNvPr>
            <p:cNvSpPr txBox="1"/>
            <p:nvPr/>
          </p:nvSpPr>
          <p:spPr>
            <a:xfrm>
              <a:off x="324150" y="3525477"/>
              <a:ext cx="1051560" cy="329184"/>
            </a:xfrm>
            <a:prstGeom prst="rect">
              <a:avLst/>
            </a:prstGeom>
            <a:noFill/>
          </p:spPr>
          <p:txBody>
            <a:bodyPr wrap="square">
              <a:spAutoFit/>
            </a:bodyPr>
            <a:lstStyle/>
            <a:p>
              <a:pPr algn="ctr"/>
              <a:r>
                <a:rPr sz="1000" b="1" i="0">
                  <a:solidFill>
                    <a:srgbClr val="FFFFFF"/>
                  </a:solidFill>
                  <a:latin typeface="Calibri"/>
                </a:rPr>
                <a:t>ERC pct</a:t>
              </a:r>
            </a:p>
          </p:txBody>
        </p:sp>
        <p:sp>
          <p:nvSpPr>
            <p:cNvPr id="41" name="TextBox 40">
              <a:extLst>
                <a:ext uri="{FF2B5EF4-FFF2-40B4-BE49-F238E27FC236}">
                  <a16:creationId xmlns:a16="http://schemas.microsoft.com/office/drawing/2014/main" id="{2BA5A07F-335B-2DB0-8972-4A30FB64EDB8}"/>
                </a:ext>
              </a:extLst>
            </p:cNvPr>
            <p:cNvSpPr txBox="1"/>
            <p:nvPr/>
          </p:nvSpPr>
          <p:spPr>
            <a:xfrm>
              <a:off x="1448862" y="3525477"/>
              <a:ext cx="694944" cy="329184"/>
            </a:xfrm>
            <a:prstGeom prst="rect">
              <a:avLst/>
            </a:prstGeom>
            <a:noFill/>
          </p:spPr>
          <p:txBody>
            <a:bodyPr wrap="square">
              <a:spAutoFit/>
            </a:bodyPr>
            <a:lstStyle/>
            <a:p>
              <a:pPr algn="ctr"/>
              <a:r>
                <a:rPr sz="1000" b="1" i="0">
                  <a:solidFill>
                    <a:srgbClr val="FFFFFF"/>
                  </a:solidFill>
                  <a:latin typeface="Calibri"/>
                </a:rPr>
                <a:t>FM1</a:t>
              </a:r>
            </a:p>
          </p:txBody>
        </p:sp>
        <p:sp>
          <p:nvSpPr>
            <p:cNvPr id="42" name="TextBox 41">
              <a:extLst>
                <a:ext uri="{FF2B5EF4-FFF2-40B4-BE49-F238E27FC236}">
                  <a16:creationId xmlns:a16="http://schemas.microsoft.com/office/drawing/2014/main" id="{4B670891-C61C-5F70-B3F6-143F14A817AC}"/>
                </a:ext>
              </a:extLst>
            </p:cNvPr>
            <p:cNvSpPr txBox="1"/>
            <p:nvPr/>
          </p:nvSpPr>
          <p:spPr>
            <a:xfrm>
              <a:off x="2216958" y="3525477"/>
              <a:ext cx="694944" cy="329184"/>
            </a:xfrm>
            <a:prstGeom prst="rect">
              <a:avLst/>
            </a:prstGeom>
            <a:noFill/>
          </p:spPr>
          <p:txBody>
            <a:bodyPr wrap="square">
              <a:spAutoFit/>
            </a:bodyPr>
            <a:lstStyle/>
            <a:p>
              <a:pPr algn="ctr"/>
              <a:r>
                <a:rPr sz="1000" b="1" i="0">
                  <a:solidFill>
                    <a:srgbClr val="FFFFFF"/>
                  </a:solidFill>
                  <a:latin typeface="Calibri"/>
                </a:rPr>
                <a:t>FM10</a:t>
              </a:r>
            </a:p>
          </p:txBody>
        </p:sp>
        <p:sp>
          <p:nvSpPr>
            <p:cNvPr id="43" name="TextBox 42">
              <a:extLst>
                <a:ext uri="{FF2B5EF4-FFF2-40B4-BE49-F238E27FC236}">
                  <a16:creationId xmlns:a16="http://schemas.microsoft.com/office/drawing/2014/main" id="{19811C9A-0AE8-F4B0-9A91-96A066E0BF05}"/>
                </a:ext>
              </a:extLst>
            </p:cNvPr>
            <p:cNvSpPr txBox="1"/>
            <p:nvPr/>
          </p:nvSpPr>
          <p:spPr>
            <a:xfrm>
              <a:off x="2985054" y="3525477"/>
              <a:ext cx="768096" cy="329184"/>
            </a:xfrm>
            <a:prstGeom prst="rect">
              <a:avLst/>
            </a:prstGeom>
            <a:noFill/>
          </p:spPr>
          <p:txBody>
            <a:bodyPr wrap="square">
              <a:spAutoFit/>
            </a:bodyPr>
            <a:lstStyle/>
            <a:p>
              <a:pPr algn="ctr"/>
              <a:r>
                <a:rPr sz="1000" b="1" i="0">
                  <a:solidFill>
                    <a:srgbClr val="FFFFFF"/>
                  </a:solidFill>
                  <a:latin typeface="Calibri"/>
                </a:rPr>
                <a:t>FM100</a:t>
              </a:r>
            </a:p>
          </p:txBody>
        </p:sp>
        <p:sp>
          <p:nvSpPr>
            <p:cNvPr id="44" name="TextBox 43">
              <a:extLst>
                <a:ext uri="{FF2B5EF4-FFF2-40B4-BE49-F238E27FC236}">
                  <a16:creationId xmlns:a16="http://schemas.microsoft.com/office/drawing/2014/main" id="{AA7251A8-3A82-E790-3D2C-8702FBA53553}"/>
                </a:ext>
              </a:extLst>
            </p:cNvPr>
            <p:cNvSpPr txBox="1"/>
            <p:nvPr/>
          </p:nvSpPr>
          <p:spPr>
            <a:xfrm>
              <a:off x="3826301" y="3525477"/>
              <a:ext cx="841248" cy="329184"/>
            </a:xfrm>
            <a:prstGeom prst="rect">
              <a:avLst/>
            </a:prstGeom>
            <a:noFill/>
          </p:spPr>
          <p:txBody>
            <a:bodyPr wrap="square">
              <a:spAutoFit/>
            </a:bodyPr>
            <a:lstStyle/>
            <a:p>
              <a:pPr algn="ctr"/>
              <a:r>
                <a:rPr sz="1000" b="1" i="0">
                  <a:solidFill>
                    <a:srgbClr val="FFFFFF"/>
                  </a:solidFill>
                  <a:latin typeface="Calibri"/>
                </a:rPr>
                <a:t>FM_herb</a:t>
              </a:r>
            </a:p>
          </p:txBody>
        </p:sp>
        <p:sp>
          <p:nvSpPr>
            <p:cNvPr id="45" name="TextBox 44">
              <a:extLst>
                <a:ext uri="{FF2B5EF4-FFF2-40B4-BE49-F238E27FC236}">
                  <a16:creationId xmlns:a16="http://schemas.microsoft.com/office/drawing/2014/main" id="{97816BA8-AC68-AFEE-32A9-6EF9D2D4D768}"/>
                </a:ext>
              </a:extLst>
            </p:cNvPr>
            <p:cNvSpPr txBox="1"/>
            <p:nvPr/>
          </p:nvSpPr>
          <p:spPr>
            <a:xfrm>
              <a:off x="4740702" y="3525477"/>
              <a:ext cx="777240" cy="329184"/>
            </a:xfrm>
            <a:prstGeom prst="rect">
              <a:avLst/>
            </a:prstGeom>
            <a:noFill/>
          </p:spPr>
          <p:txBody>
            <a:bodyPr wrap="square">
              <a:spAutoFit/>
            </a:bodyPr>
            <a:lstStyle/>
            <a:p>
              <a:pPr algn="ctr"/>
              <a:r>
                <a:rPr sz="1000" b="1" i="0">
                  <a:solidFill>
                    <a:srgbClr val="FFFFFF"/>
                  </a:solidFill>
                  <a:latin typeface="Calibri"/>
                </a:rPr>
                <a:t>FM_woody</a:t>
              </a:r>
            </a:p>
          </p:txBody>
        </p:sp>
        <p:sp>
          <p:nvSpPr>
            <p:cNvPr id="46" name="TextBox 45">
              <a:extLst>
                <a:ext uri="{FF2B5EF4-FFF2-40B4-BE49-F238E27FC236}">
                  <a16:creationId xmlns:a16="http://schemas.microsoft.com/office/drawing/2014/main" id="{AD68ACCD-E1CA-7119-6C1D-B943A264BC96}"/>
                </a:ext>
              </a:extLst>
            </p:cNvPr>
            <p:cNvSpPr txBox="1"/>
            <p:nvPr/>
          </p:nvSpPr>
          <p:spPr>
            <a:xfrm>
              <a:off x="5627670" y="3525477"/>
              <a:ext cx="804672" cy="329184"/>
            </a:xfrm>
            <a:prstGeom prst="rect">
              <a:avLst/>
            </a:prstGeom>
            <a:noFill/>
          </p:spPr>
          <p:txBody>
            <a:bodyPr wrap="square">
              <a:spAutoFit/>
            </a:bodyPr>
            <a:lstStyle/>
            <a:p>
              <a:pPr algn="ctr"/>
              <a:r>
                <a:rPr sz="1000" b="1" i="0">
                  <a:solidFill>
                    <a:srgbClr val="FFFFFF"/>
                  </a:solidFill>
                  <a:latin typeface="Calibri"/>
                </a:rPr>
                <a:t>ERC center</a:t>
              </a:r>
            </a:p>
          </p:txBody>
        </p:sp>
        <p:sp>
          <p:nvSpPr>
            <p:cNvPr id="47" name="Rectangle 46">
              <a:extLst>
                <a:ext uri="{FF2B5EF4-FFF2-40B4-BE49-F238E27FC236}">
                  <a16:creationId xmlns:a16="http://schemas.microsoft.com/office/drawing/2014/main" id="{E7ACC4D6-0A4E-81D2-BD75-3D75DF0BCD57}"/>
                </a:ext>
              </a:extLst>
            </p:cNvPr>
            <p:cNvSpPr/>
            <p:nvPr/>
          </p:nvSpPr>
          <p:spPr>
            <a:xfrm>
              <a:off x="324150" y="3854660"/>
              <a:ext cx="6967728" cy="32918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a:extLst>
                <a:ext uri="{FF2B5EF4-FFF2-40B4-BE49-F238E27FC236}">
                  <a16:creationId xmlns:a16="http://schemas.microsoft.com/office/drawing/2014/main" id="{6B06DC11-5966-5636-6187-4D21ED0CAD10}"/>
                </a:ext>
              </a:extLst>
            </p:cNvPr>
            <p:cNvSpPr txBox="1"/>
            <p:nvPr/>
          </p:nvSpPr>
          <p:spPr>
            <a:xfrm>
              <a:off x="324150" y="3854660"/>
              <a:ext cx="1051560" cy="329184"/>
            </a:xfrm>
            <a:prstGeom prst="rect">
              <a:avLst/>
            </a:prstGeom>
            <a:noFill/>
          </p:spPr>
          <p:txBody>
            <a:bodyPr wrap="square">
              <a:spAutoFit/>
            </a:bodyPr>
            <a:lstStyle/>
            <a:p>
              <a:pPr algn="ctr"/>
              <a:r>
                <a:rPr sz="1000" b="1" i="0">
                  <a:solidFill>
                    <a:srgbClr val="D4622A"/>
                  </a:solidFill>
                  <a:latin typeface="Calibri"/>
                </a:rPr>
                <a:t>p50</a:t>
              </a:r>
            </a:p>
          </p:txBody>
        </p:sp>
        <p:sp>
          <p:nvSpPr>
            <p:cNvPr id="49" name="TextBox 48">
              <a:extLst>
                <a:ext uri="{FF2B5EF4-FFF2-40B4-BE49-F238E27FC236}">
                  <a16:creationId xmlns:a16="http://schemas.microsoft.com/office/drawing/2014/main" id="{9BEFDE7C-4569-BD8C-6D0C-DFA3524775AE}"/>
                </a:ext>
              </a:extLst>
            </p:cNvPr>
            <p:cNvSpPr txBox="1"/>
            <p:nvPr/>
          </p:nvSpPr>
          <p:spPr>
            <a:xfrm>
              <a:off x="1448862" y="3854660"/>
              <a:ext cx="694944" cy="329184"/>
            </a:xfrm>
            <a:prstGeom prst="rect">
              <a:avLst/>
            </a:prstGeom>
            <a:noFill/>
          </p:spPr>
          <p:txBody>
            <a:bodyPr wrap="square">
              <a:spAutoFit/>
            </a:bodyPr>
            <a:lstStyle/>
            <a:p>
              <a:pPr algn="ctr"/>
              <a:r>
                <a:rPr sz="1000" b="0" i="0">
                  <a:solidFill>
                    <a:srgbClr val="1A1A2E"/>
                  </a:solidFill>
                  <a:latin typeface="Calibri"/>
                </a:rPr>
                <a:t>6.5</a:t>
              </a:r>
            </a:p>
          </p:txBody>
        </p:sp>
        <p:sp>
          <p:nvSpPr>
            <p:cNvPr id="50" name="TextBox 49">
              <a:extLst>
                <a:ext uri="{FF2B5EF4-FFF2-40B4-BE49-F238E27FC236}">
                  <a16:creationId xmlns:a16="http://schemas.microsoft.com/office/drawing/2014/main" id="{F2E9AA20-8012-C163-FE35-38C3B60AA552}"/>
                </a:ext>
              </a:extLst>
            </p:cNvPr>
            <p:cNvSpPr txBox="1"/>
            <p:nvPr/>
          </p:nvSpPr>
          <p:spPr>
            <a:xfrm>
              <a:off x="2216958" y="3854660"/>
              <a:ext cx="694944" cy="329184"/>
            </a:xfrm>
            <a:prstGeom prst="rect">
              <a:avLst/>
            </a:prstGeom>
            <a:noFill/>
          </p:spPr>
          <p:txBody>
            <a:bodyPr wrap="square">
              <a:spAutoFit/>
            </a:bodyPr>
            <a:lstStyle/>
            <a:p>
              <a:pPr algn="ctr"/>
              <a:r>
                <a:rPr sz="1000" b="0" i="0">
                  <a:solidFill>
                    <a:srgbClr val="1A1A2E"/>
                  </a:solidFill>
                  <a:latin typeface="Calibri"/>
                </a:rPr>
                <a:t>10.4</a:t>
              </a:r>
            </a:p>
          </p:txBody>
        </p:sp>
        <p:sp>
          <p:nvSpPr>
            <p:cNvPr id="51" name="TextBox 50">
              <a:extLst>
                <a:ext uri="{FF2B5EF4-FFF2-40B4-BE49-F238E27FC236}">
                  <a16:creationId xmlns:a16="http://schemas.microsoft.com/office/drawing/2014/main" id="{88FD1739-BAD4-5CE9-CCFC-02779F61F025}"/>
                </a:ext>
              </a:extLst>
            </p:cNvPr>
            <p:cNvSpPr txBox="1"/>
            <p:nvPr/>
          </p:nvSpPr>
          <p:spPr>
            <a:xfrm>
              <a:off x="2985054" y="3854660"/>
              <a:ext cx="768096" cy="329184"/>
            </a:xfrm>
            <a:prstGeom prst="rect">
              <a:avLst/>
            </a:prstGeom>
            <a:noFill/>
          </p:spPr>
          <p:txBody>
            <a:bodyPr wrap="square">
              <a:spAutoFit/>
            </a:bodyPr>
            <a:lstStyle/>
            <a:p>
              <a:pPr algn="ctr"/>
              <a:r>
                <a:rPr sz="1000" b="0" i="0">
                  <a:solidFill>
                    <a:srgbClr val="1A1A2E"/>
                  </a:solidFill>
                  <a:latin typeface="Calibri"/>
                </a:rPr>
                <a:t>13.2</a:t>
              </a:r>
            </a:p>
          </p:txBody>
        </p:sp>
        <p:sp>
          <p:nvSpPr>
            <p:cNvPr id="52" name="TextBox 51">
              <a:extLst>
                <a:ext uri="{FF2B5EF4-FFF2-40B4-BE49-F238E27FC236}">
                  <a16:creationId xmlns:a16="http://schemas.microsoft.com/office/drawing/2014/main" id="{B28089D6-92B6-B0FE-2FDD-6E0DE15A6E12}"/>
                </a:ext>
              </a:extLst>
            </p:cNvPr>
            <p:cNvSpPr txBox="1"/>
            <p:nvPr/>
          </p:nvSpPr>
          <p:spPr>
            <a:xfrm>
              <a:off x="3826301" y="3854660"/>
              <a:ext cx="841248" cy="329184"/>
            </a:xfrm>
            <a:prstGeom prst="rect">
              <a:avLst/>
            </a:prstGeom>
            <a:noFill/>
          </p:spPr>
          <p:txBody>
            <a:bodyPr wrap="square">
              <a:spAutoFit/>
            </a:bodyPr>
            <a:lstStyle/>
            <a:p>
              <a:pPr algn="ctr"/>
              <a:r>
                <a:rPr sz="1000" b="0" i="0">
                  <a:solidFill>
                    <a:srgbClr val="1A1A2E"/>
                  </a:solidFill>
                  <a:latin typeface="Calibri"/>
                </a:rPr>
                <a:t>89.1</a:t>
              </a:r>
            </a:p>
          </p:txBody>
        </p:sp>
        <p:sp>
          <p:nvSpPr>
            <p:cNvPr id="53" name="TextBox 52">
              <a:extLst>
                <a:ext uri="{FF2B5EF4-FFF2-40B4-BE49-F238E27FC236}">
                  <a16:creationId xmlns:a16="http://schemas.microsoft.com/office/drawing/2014/main" id="{8EAC1C8B-A9E6-3C54-F2C9-7184EF56DF5D}"/>
                </a:ext>
              </a:extLst>
            </p:cNvPr>
            <p:cNvSpPr txBox="1"/>
            <p:nvPr/>
          </p:nvSpPr>
          <p:spPr>
            <a:xfrm>
              <a:off x="4740702" y="3854660"/>
              <a:ext cx="777240" cy="329184"/>
            </a:xfrm>
            <a:prstGeom prst="rect">
              <a:avLst/>
            </a:prstGeom>
            <a:noFill/>
          </p:spPr>
          <p:txBody>
            <a:bodyPr wrap="square">
              <a:spAutoFit/>
            </a:bodyPr>
            <a:lstStyle/>
            <a:p>
              <a:pPr algn="ctr"/>
              <a:r>
                <a:rPr sz="1000" b="0" i="0">
                  <a:solidFill>
                    <a:srgbClr val="1A1A2E"/>
                  </a:solidFill>
                  <a:latin typeface="Calibri"/>
                </a:rPr>
                <a:t>97.6</a:t>
              </a:r>
            </a:p>
          </p:txBody>
        </p:sp>
        <p:sp>
          <p:nvSpPr>
            <p:cNvPr id="54" name="TextBox 53">
              <a:extLst>
                <a:ext uri="{FF2B5EF4-FFF2-40B4-BE49-F238E27FC236}">
                  <a16:creationId xmlns:a16="http://schemas.microsoft.com/office/drawing/2014/main" id="{3E6A40B7-3127-D868-D3D2-541584FA8E86}"/>
                </a:ext>
              </a:extLst>
            </p:cNvPr>
            <p:cNvSpPr txBox="1"/>
            <p:nvPr/>
          </p:nvSpPr>
          <p:spPr>
            <a:xfrm>
              <a:off x="5627670" y="3854660"/>
              <a:ext cx="804672" cy="329184"/>
            </a:xfrm>
            <a:prstGeom prst="rect">
              <a:avLst/>
            </a:prstGeom>
            <a:noFill/>
          </p:spPr>
          <p:txBody>
            <a:bodyPr wrap="square">
              <a:spAutoFit/>
            </a:bodyPr>
            <a:lstStyle/>
            <a:p>
              <a:pPr algn="ctr"/>
              <a:r>
                <a:rPr sz="1000" b="0" i="0">
                  <a:solidFill>
                    <a:srgbClr val="1A1A2E"/>
                  </a:solidFill>
                  <a:latin typeface="Calibri"/>
                </a:rPr>
                <a:t>48.0</a:t>
              </a:r>
            </a:p>
          </p:txBody>
        </p:sp>
        <p:sp>
          <p:nvSpPr>
            <p:cNvPr id="55" name="Rectangle 54">
              <a:extLst>
                <a:ext uri="{FF2B5EF4-FFF2-40B4-BE49-F238E27FC236}">
                  <a16:creationId xmlns:a16="http://schemas.microsoft.com/office/drawing/2014/main" id="{B9F82F0E-11EE-16C7-8094-E97581C77E2E}"/>
                </a:ext>
              </a:extLst>
            </p:cNvPr>
            <p:cNvSpPr/>
            <p:nvPr/>
          </p:nvSpPr>
          <p:spPr>
            <a:xfrm>
              <a:off x="324150" y="4183845"/>
              <a:ext cx="6967728" cy="329184"/>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6CE94745-6022-8890-8C6B-DD1D82993909}"/>
                </a:ext>
              </a:extLst>
            </p:cNvPr>
            <p:cNvSpPr txBox="1"/>
            <p:nvPr/>
          </p:nvSpPr>
          <p:spPr>
            <a:xfrm>
              <a:off x="324150" y="4183845"/>
              <a:ext cx="1051560" cy="329184"/>
            </a:xfrm>
            <a:prstGeom prst="rect">
              <a:avLst/>
            </a:prstGeom>
            <a:noFill/>
          </p:spPr>
          <p:txBody>
            <a:bodyPr wrap="square">
              <a:spAutoFit/>
            </a:bodyPr>
            <a:lstStyle/>
            <a:p>
              <a:pPr algn="ctr"/>
              <a:r>
                <a:rPr sz="1000" b="1" i="0">
                  <a:solidFill>
                    <a:srgbClr val="D4622A"/>
                  </a:solidFill>
                  <a:latin typeface="Calibri"/>
                </a:rPr>
                <a:t>p90</a:t>
              </a:r>
            </a:p>
          </p:txBody>
        </p:sp>
        <p:sp>
          <p:nvSpPr>
            <p:cNvPr id="57" name="TextBox 56">
              <a:extLst>
                <a:ext uri="{FF2B5EF4-FFF2-40B4-BE49-F238E27FC236}">
                  <a16:creationId xmlns:a16="http://schemas.microsoft.com/office/drawing/2014/main" id="{F23C6233-CA80-96BF-E270-E7E2C7AB39AF}"/>
                </a:ext>
              </a:extLst>
            </p:cNvPr>
            <p:cNvSpPr txBox="1"/>
            <p:nvPr/>
          </p:nvSpPr>
          <p:spPr>
            <a:xfrm>
              <a:off x="1448862" y="4183845"/>
              <a:ext cx="694944" cy="329184"/>
            </a:xfrm>
            <a:prstGeom prst="rect">
              <a:avLst/>
            </a:prstGeom>
            <a:noFill/>
          </p:spPr>
          <p:txBody>
            <a:bodyPr wrap="square">
              <a:spAutoFit/>
            </a:bodyPr>
            <a:lstStyle/>
            <a:p>
              <a:pPr algn="ctr"/>
              <a:r>
                <a:rPr sz="1000" b="0" i="0">
                  <a:solidFill>
                    <a:srgbClr val="1A1A2E"/>
                  </a:solidFill>
                  <a:latin typeface="Calibri"/>
                </a:rPr>
                <a:t>4.5</a:t>
              </a:r>
            </a:p>
          </p:txBody>
        </p:sp>
        <p:sp>
          <p:nvSpPr>
            <p:cNvPr id="58" name="TextBox 57">
              <a:extLst>
                <a:ext uri="{FF2B5EF4-FFF2-40B4-BE49-F238E27FC236}">
                  <a16:creationId xmlns:a16="http://schemas.microsoft.com/office/drawing/2014/main" id="{08BEAF9E-79AA-B56E-3ACA-AB25A50FC8A0}"/>
                </a:ext>
              </a:extLst>
            </p:cNvPr>
            <p:cNvSpPr txBox="1"/>
            <p:nvPr/>
          </p:nvSpPr>
          <p:spPr>
            <a:xfrm>
              <a:off x="2216958" y="4183845"/>
              <a:ext cx="694944" cy="329184"/>
            </a:xfrm>
            <a:prstGeom prst="rect">
              <a:avLst/>
            </a:prstGeom>
            <a:noFill/>
          </p:spPr>
          <p:txBody>
            <a:bodyPr wrap="square">
              <a:spAutoFit/>
            </a:bodyPr>
            <a:lstStyle/>
            <a:p>
              <a:pPr algn="ctr"/>
              <a:r>
                <a:rPr sz="1000" b="0" i="0">
                  <a:solidFill>
                    <a:srgbClr val="1A1A2E"/>
                  </a:solidFill>
                  <a:latin typeface="Calibri"/>
                </a:rPr>
                <a:t>7.4</a:t>
              </a:r>
            </a:p>
          </p:txBody>
        </p:sp>
        <p:sp>
          <p:nvSpPr>
            <p:cNvPr id="59" name="TextBox 58">
              <a:extLst>
                <a:ext uri="{FF2B5EF4-FFF2-40B4-BE49-F238E27FC236}">
                  <a16:creationId xmlns:a16="http://schemas.microsoft.com/office/drawing/2014/main" id="{01564DCF-F5C1-DA0A-1677-2FBA1189F8DB}"/>
                </a:ext>
              </a:extLst>
            </p:cNvPr>
            <p:cNvSpPr txBox="1"/>
            <p:nvPr/>
          </p:nvSpPr>
          <p:spPr>
            <a:xfrm>
              <a:off x="2985054" y="4183845"/>
              <a:ext cx="768096" cy="329184"/>
            </a:xfrm>
            <a:prstGeom prst="rect">
              <a:avLst/>
            </a:prstGeom>
            <a:noFill/>
          </p:spPr>
          <p:txBody>
            <a:bodyPr wrap="square">
              <a:spAutoFit/>
            </a:bodyPr>
            <a:lstStyle/>
            <a:p>
              <a:pPr algn="ctr"/>
              <a:r>
                <a:rPr sz="1000" b="0" i="0">
                  <a:solidFill>
                    <a:srgbClr val="1A1A2E"/>
                  </a:solidFill>
                  <a:latin typeface="Calibri"/>
                </a:rPr>
                <a:t>10.1</a:t>
              </a:r>
            </a:p>
          </p:txBody>
        </p:sp>
        <p:sp>
          <p:nvSpPr>
            <p:cNvPr id="60" name="TextBox 59">
              <a:extLst>
                <a:ext uri="{FF2B5EF4-FFF2-40B4-BE49-F238E27FC236}">
                  <a16:creationId xmlns:a16="http://schemas.microsoft.com/office/drawing/2014/main" id="{3B95A493-53C6-0E9E-82A4-92F2A3765218}"/>
                </a:ext>
              </a:extLst>
            </p:cNvPr>
            <p:cNvSpPr txBox="1"/>
            <p:nvPr/>
          </p:nvSpPr>
          <p:spPr>
            <a:xfrm>
              <a:off x="3826301" y="4183845"/>
              <a:ext cx="841248" cy="329184"/>
            </a:xfrm>
            <a:prstGeom prst="rect">
              <a:avLst/>
            </a:prstGeom>
            <a:noFill/>
          </p:spPr>
          <p:txBody>
            <a:bodyPr wrap="square">
              <a:spAutoFit/>
            </a:bodyPr>
            <a:lstStyle/>
            <a:p>
              <a:pPr algn="ctr"/>
              <a:r>
                <a:rPr sz="1000" b="0" i="0">
                  <a:solidFill>
                    <a:srgbClr val="1A1A2E"/>
                  </a:solidFill>
                  <a:latin typeface="Calibri"/>
                </a:rPr>
                <a:t>49.3</a:t>
              </a:r>
            </a:p>
          </p:txBody>
        </p:sp>
        <p:sp>
          <p:nvSpPr>
            <p:cNvPr id="61" name="TextBox 60">
              <a:extLst>
                <a:ext uri="{FF2B5EF4-FFF2-40B4-BE49-F238E27FC236}">
                  <a16:creationId xmlns:a16="http://schemas.microsoft.com/office/drawing/2014/main" id="{2B99613E-C778-BDB6-2B97-A802C0F811AB}"/>
                </a:ext>
              </a:extLst>
            </p:cNvPr>
            <p:cNvSpPr txBox="1"/>
            <p:nvPr/>
          </p:nvSpPr>
          <p:spPr>
            <a:xfrm>
              <a:off x="4740702" y="4183845"/>
              <a:ext cx="777240" cy="329184"/>
            </a:xfrm>
            <a:prstGeom prst="rect">
              <a:avLst/>
            </a:prstGeom>
            <a:noFill/>
          </p:spPr>
          <p:txBody>
            <a:bodyPr wrap="square">
              <a:spAutoFit/>
            </a:bodyPr>
            <a:lstStyle/>
            <a:p>
              <a:pPr algn="ctr"/>
              <a:r>
                <a:rPr sz="1000" b="0" i="0">
                  <a:solidFill>
                    <a:srgbClr val="1A1A2E"/>
                  </a:solidFill>
                  <a:latin typeface="Calibri"/>
                </a:rPr>
                <a:t>72.3</a:t>
              </a:r>
            </a:p>
          </p:txBody>
        </p:sp>
        <p:sp>
          <p:nvSpPr>
            <p:cNvPr id="62" name="TextBox 61">
              <a:extLst>
                <a:ext uri="{FF2B5EF4-FFF2-40B4-BE49-F238E27FC236}">
                  <a16:creationId xmlns:a16="http://schemas.microsoft.com/office/drawing/2014/main" id="{92183846-F7BF-EF9F-9C88-B61611AEEC03}"/>
                </a:ext>
              </a:extLst>
            </p:cNvPr>
            <p:cNvSpPr txBox="1"/>
            <p:nvPr/>
          </p:nvSpPr>
          <p:spPr>
            <a:xfrm>
              <a:off x="5627670" y="4183845"/>
              <a:ext cx="804672" cy="329184"/>
            </a:xfrm>
            <a:prstGeom prst="rect">
              <a:avLst/>
            </a:prstGeom>
            <a:noFill/>
          </p:spPr>
          <p:txBody>
            <a:bodyPr wrap="square">
              <a:spAutoFit/>
            </a:bodyPr>
            <a:lstStyle/>
            <a:p>
              <a:pPr algn="ctr"/>
              <a:r>
                <a:rPr sz="1000" b="0" i="0">
                  <a:solidFill>
                    <a:srgbClr val="1A1A2E"/>
                  </a:solidFill>
                  <a:latin typeface="Calibri"/>
                </a:rPr>
                <a:t>67.0</a:t>
              </a:r>
            </a:p>
          </p:txBody>
        </p:sp>
        <p:sp>
          <p:nvSpPr>
            <p:cNvPr id="63" name="Rectangle 62">
              <a:extLst>
                <a:ext uri="{FF2B5EF4-FFF2-40B4-BE49-F238E27FC236}">
                  <a16:creationId xmlns:a16="http://schemas.microsoft.com/office/drawing/2014/main" id="{12EEEEED-86B3-9041-0F3C-5CD5DCA09A3C}"/>
                </a:ext>
              </a:extLst>
            </p:cNvPr>
            <p:cNvSpPr/>
            <p:nvPr/>
          </p:nvSpPr>
          <p:spPr>
            <a:xfrm>
              <a:off x="324150" y="4513028"/>
              <a:ext cx="6967728" cy="32918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a:extLst>
                <a:ext uri="{FF2B5EF4-FFF2-40B4-BE49-F238E27FC236}">
                  <a16:creationId xmlns:a16="http://schemas.microsoft.com/office/drawing/2014/main" id="{D19760DB-922F-188E-8561-CF8DD640DC1C}"/>
                </a:ext>
              </a:extLst>
            </p:cNvPr>
            <p:cNvSpPr txBox="1"/>
            <p:nvPr/>
          </p:nvSpPr>
          <p:spPr>
            <a:xfrm>
              <a:off x="324150" y="4513028"/>
              <a:ext cx="1051560" cy="329184"/>
            </a:xfrm>
            <a:prstGeom prst="rect">
              <a:avLst/>
            </a:prstGeom>
            <a:noFill/>
          </p:spPr>
          <p:txBody>
            <a:bodyPr wrap="square">
              <a:spAutoFit/>
            </a:bodyPr>
            <a:lstStyle/>
            <a:p>
              <a:pPr algn="ctr"/>
              <a:r>
                <a:rPr sz="1000" b="1" i="0">
                  <a:solidFill>
                    <a:srgbClr val="D4622A"/>
                  </a:solidFill>
                  <a:latin typeface="Calibri"/>
                </a:rPr>
                <a:t>p97</a:t>
              </a:r>
            </a:p>
          </p:txBody>
        </p:sp>
        <p:sp>
          <p:nvSpPr>
            <p:cNvPr id="65" name="TextBox 64">
              <a:extLst>
                <a:ext uri="{FF2B5EF4-FFF2-40B4-BE49-F238E27FC236}">
                  <a16:creationId xmlns:a16="http://schemas.microsoft.com/office/drawing/2014/main" id="{96BC3846-4358-4D4E-473E-752E79CC1A08}"/>
                </a:ext>
              </a:extLst>
            </p:cNvPr>
            <p:cNvSpPr txBox="1"/>
            <p:nvPr/>
          </p:nvSpPr>
          <p:spPr>
            <a:xfrm>
              <a:off x="1448862" y="4513028"/>
              <a:ext cx="694944" cy="329184"/>
            </a:xfrm>
            <a:prstGeom prst="rect">
              <a:avLst/>
            </a:prstGeom>
            <a:noFill/>
          </p:spPr>
          <p:txBody>
            <a:bodyPr wrap="square">
              <a:spAutoFit/>
            </a:bodyPr>
            <a:lstStyle/>
            <a:p>
              <a:pPr algn="ctr"/>
              <a:r>
                <a:rPr sz="1000" b="0" i="0">
                  <a:solidFill>
                    <a:srgbClr val="1A1A2E"/>
                  </a:solidFill>
                  <a:latin typeface="Calibri"/>
                </a:rPr>
                <a:t>3.8</a:t>
              </a:r>
            </a:p>
          </p:txBody>
        </p:sp>
        <p:sp>
          <p:nvSpPr>
            <p:cNvPr id="66" name="TextBox 65">
              <a:extLst>
                <a:ext uri="{FF2B5EF4-FFF2-40B4-BE49-F238E27FC236}">
                  <a16:creationId xmlns:a16="http://schemas.microsoft.com/office/drawing/2014/main" id="{705C5A7A-AAC1-0D5A-C50C-23F7ABA3EB4E}"/>
                </a:ext>
              </a:extLst>
            </p:cNvPr>
            <p:cNvSpPr txBox="1"/>
            <p:nvPr/>
          </p:nvSpPr>
          <p:spPr>
            <a:xfrm>
              <a:off x="2216958" y="4513028"/>
              <a:ext cx="694944" cy="329184"/>
            </a:xfrm>
            <a:prstGeom prst="rect">
              <a:avLst/>
            </a:prstGeom>
            <a:noFill/>
          </p:spPr>
          <p:txBody>
            <a:bodyPr wrap="square">
              <a:spAutoFit/>
            </a:bodyPr>
            <a:lstStyle/>
            <a:p>
              <a:pPr algn="ctr"/>
              <a:r>
                <a:rPr sz="1000" b="0" i="0">
                  <a:solidFill>
                    <a:srgbClr val="1A1A2E"/>
                  </a:solidFill>
                  <a:latin typeface="Calibri"/>
                </a:rPr>
                <a:t>6.0</a:t>
              </a:r>
            </a:p>
          </p:txBody>
        </p:sp>
        <p:sp>
          <p:nvSpPr>
            <p:cNvPr id="67" name="TextBox 66">
              <a:extLst>
                <a:ext uri="{FF2B5EF4-FFF2-40B4-BE49-F238E27FC236}">
                  <a16:creationId xmlns:a16="http://schemas.microsoft.com/office/drawing/2014/main" id="{6E7924B0-C9A6-14C1-1CE1-EF725F4D3710}"/>
                </a:ext>
              </a:extLst>
            </p:cNvPr>
            <p:cNvSpPr txBox="1"/>
            <p:nvPr/>
          </p:nvSpPr>
          <p:spPr>
            <a:xfrm>
              <a:off x="2985054" y="4513028"/>
              <a:ext cx="768096" cy="329184"/>
            </a:xfrm>
            <a:prstGeom prst="rect">
              <a:avLst/>
            </a:prstGeom>
            <a:noFill/>
          </p:spPr>
          <p:txBody>
            <a:bodyPr wrap="square">
              <a:spAutoFit/>
            </a:bodyPr>
            <a:lstStyle/>
            <a:p>
              <a:pPr algn="ctr"/>
              <a:r>
                <a:rPr sz="1000" b="0" i="0">
                  <a:solidFill>
                    <a:srgbClr val="1A1A2E"/>
                  </a:solidFill>
                  <a:latin typeface="Calibri"/>
                </a:rPr>
                <a:t>7.9</a:t>
              </a:r>
            </a:p>
          </p:txBody>
        </p:sp>
        <p:sp>
          <p:nvSpPr>
            <p:cNvPr id="68" name="TextBox 67">
              <a:extLst>
                <a:ext uri="{FF2B5EF4-FFF2-40B4-BE49-F238E27FC236}">
                  <a16:creationId xmlns:a16="http://schemas.microsoft.com/office/drawing/2014/main" id="{688529DB-D741-655B-A8E9-BE314B13A2C6}"/>
                </a:ext>
              </a:extLst>
            </p:cNvPr>
            <p:cNvSpPr txBox="1"/>
            <p:nvPr/>
          </p:nvSpPr>
          <p:spPr>
            <a:xfrm>
              <a:off x="3826301" y="4513028"/>
              <a:ext cx="841248" cy="329184"/>
            </a:xfrm>
            <a:prstGeom prst="rect">
              <a:avLst/>
            </a:prstGeom>
            <a:noFill/>
          </p:spPr>
          <p:txBody>
            <a:bodyPr wrap="square">
              <a:spAutoFit/>
            </a:bodyPr>
            <a:lstStyle/>
            <a:p>
              <a:pPr algn="ctr"/>
              <a:r>
                <a:rPr sz="1000" b="0" i="0">
                  <a:solidFill>
                    <a:srgbClr val="1A1A2E"/>
                  </a:solidFill>
                  <a:latin typeface="Calibri"/>
                </a:rPr>
                <a:t>30.0</a:t>
              </a:r>
            </a:p>
          </p:txBody>
        </p:sp>
        <p:sp>
          <p:nvSpPr>
            <p:cNvPr id="69" name="TextBox 68">
              <a:extLst>
                <a:ext uri="{FF2B5EF4-FFF2-40B4-BE49-F238E27FC236}">
                  <a16:creationId xmlns:a16="http://schemas.microsoft.com/office/drawing/2014/main" id="{C1DD0F0D-D023-3C51-B36F-4C5241C12892}"/>
                </a:ext>
              </a:extLst>
            </p:cNvPr>
            <p:cNvSpPr txBox="1"/>
            <p:nvPr/>
          </p:nvSpPr>
          <p:spPr>
            <a:xfrm>
              <a:off x="4740702" y="4513028"/>
              <a:ext cx="777240" cy="329184"/>
            </a:xfrm>
            <a:prstGeom prst="rect">
              <a:avLst/>
            </a:prstGeom>
            <a:noFill/>
          </p:spPr>
          <p:txBody>
            <a:bodyPr wrap="square">
              <a:spAutoFit/>
            </a:bodyPr>
            <a:lstStyle/>
            <a:p>
              <a:pPr algn="ctr"/>
              <a:r>
                <a:rPr sz="1000" b="0" i="0">
                  <a:solidFill>
                    <a:srgbClr val="1A1A2E"/>
                  </a:solidFill>
                  <a:latin typeface="Calibri"/>
                </a:rPr>
                <a:t>60.0</a:t>
              </a:r>
            </a:p>
          </p:txBody>
        </p:sp>
        <p:sp>
          <p:nvSpPr>
            <p:cNvPr id="70" name="TextBox 69">
              <a:extLst>
                <a:ext uri="{FF2B5EF4-FFF2-40B4-BE49-F238E27FC236}">
                  <a16:creationId xmlns:a16="http://schemas.microsoft.com/office/drawing/2014/main" id="{04228838-5298-D4B1-CDF6-9AF068B457A2}"/>
                </a:ext>
              </a:extLst>
            </p:cNvPr>
            <p:cNvSpPr txBox="1"/>
            <p:nvPr/>
          </p:nvSpPr>
          <p:spPr>
            <a:xfrm>
              <a:off x="5627670" y="4513028"/>
              <a:ext cx="804672" cy="329184"/>
            </a:xfrm>
            <a:prstGeom prst="rect">
              <a:avLst/>
            </a:prstGeom>
            <a:noFill/>
          </p:spPr>
          <p:txBody>
            <a:bodyPr wrap="square">
              <a:spAutoFit/>
            </a:bodyPr>
            <a:lstStyle/>
            <a:p>
              <a:pPr algn="ctr"/>
              <a:r>
                <a:rPr sz="1000" b="0" i="0">
                  <a:solidFill>
                    <a:srgbClr val="1A1A2E"/>
                  </a:solidFill>
                  <a:latin typeface="Calibri"/>
                </a:rPr>
                <a:t>74.0</a:t>
              </a:r>
            </a:p>
          </p:txBody>
        </p:sp>
      </p:grpSp>
      <p:sp>
        <p:nvSpPr>
          <p:cNvPr id="71" name="Rectangle 70">
            <a:extLst>
              <a:ext uri="{FF2B5EF4-FFF2-40B4-BE49-F238E27FC236}">
                <a16:creationId xmlns:a16="http://schemas.microsoft.com/office/drawing/2014/main" id="{802BE1CC-1860-6170-C1D7-670EF4A39B64}"/>
              </a:ext>
            </a:extLst>
          </p:cNvPr>
          <p:cNvSpPr/>
          <p:nvPr/>
        </p:nvSpPr>
        <p:spPr>
          <a:xfrm>
            <a:off x="7465614" y="3525477"/>
            <a:ext cx="1536192" cy="148132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TextBox 71">
            <a:extLst>
              <a:ext uri="{FF2B5EF4-FFF2-40B4-BE49-F238E27FC236}">
                <a16:creationId xmlns:a16="http://schemas.microsoft.com/office/drawing/2014/main" id="{2AAC36F1-A02E-F01F-74B5-A26634FD9F9A}"/>
              </a:ext>
            </a:extLst>
          </p:cNvPr>
          <p:cNvSpPr txBox="1"/>
          <p:nvPr/>
        </p:nvSpPr>
        <p:spPr>
          <a:xfrm>
            <a:off x="7529621" y="3598628"/>
            <a:ext cx="1389888" cy="219456"/>
          </a:xfrm>
          <a:prstGeom prst="rect">
            <a:avLst/>
          </a:prstGeom>
          <a:noFill/>
        </p:spPr>
        <p:txBody>
          <a:bodyPr wrap="square">
            <a:spAutoFit/>
          </a:bodyPr>
          <a:lstStyle/>
          <a:p>
            <a:pPr algn="l"/>
            <a:r>
              <a:rPr sz="900" b="1" i="0">
                <a:solidFill>
                  <a:srgbClr val="D4622A"/>
                </a:solidFill>
                <a:latin typeface="Calibri"/>
              </a:rPr>
              <a:t>GSI note</a:t>
            </a:r>
          </a:p>
        </p:txBody>
      </p:sp>
      <p:sp>
        <p:nvSpPr>
          <p:cNvPr id="73" name="TextBox 72">
            <a:extLst>
              <a:ext uri="{FF2B5EF4-FFF2-40B4-BE49-F238E27FC236}">
                <a16:creationId xmlns:a16="http://schemas.microsoft.com/office/drawing/2014/main" id="{9E464F88-515A-3FDB-6921-C26DD2BEC5E2}"/>
              </a:ext>
            </a:extLst>
          </p:cNvPr>
          <p:cNvSpPr txBox="1"/>
          <p:nvPr/>
        </p:nvSpPr>
        <p:spPr>
          <a:xfrm>
            <a:off x="7538766" y="3818084"/>
            <a:ext cx="1389888" cy="1115568"/>
          </a:xfrm>
          <a:prstGeom prst="rect">
            <a:avLst/>
          </a:prstGeom>
          <a:noFill/>
        </p:spPr>
        <p:txBody>
          <a:bodyPr wrap="square">
            <a:spAutoFit/>
          </a:bodyPr>
          <a:lstStyle/>
          <a:p>
            <a:pPr algn="l"/>
            <a:r>
              <a:rPr sz="900" b="0" i="1">
                <a:solidFill>
                  <a:srgbClr val="6D4C41"/>
                </a:solidFill>
                <a:latin typeface="Calibri"/>
              </a:rPr>
              <a:t>FM_herb/FM_woody collapse to dormant floor (30/60%) at p90–p97 — GSI compressed near zero during extreme fire weather in semi-arid CO.</a:t>
            </a:r>
          </a:p>
        </p:txBody>
      </p:sp>
      <p:pic>
        <p:nvPicPr>
          <p:cNvPr id="8" name="Picture 7">
            <a:extLst>
              <a:ext uri="{FF2B5EF4-FFF2-40B4-BE49-F238E27FC236}">
                <a16:creationId xmlns:a16="http://schemas.microsoft.com/office/drawing/2014/main" id="{FD98CF5E-0318-5710-4E59-8936B77F3C59}"/>
              </a:ext>
            </a:extLst>
          </p:cNvPr>
          <p:cNvPicPr>
            <a:picLocks noChangeAspect="1"/>
          </p:cNvPicPr>
          <p:nvPr/>
        </p:nvPicPr>
        <p:blipFill>
          <a:blip r:embed="rId3"/>
          <a:srcRect/>
          <a:stretch/>
        </p:blipFill>
        <p:spPr>
          <a:xfrm>
            <a:off x="781349" y="1300436"/>
            <a:ext cx="7772400" cy="2032000"/>
          </a:xfrm>
          <a:prstGeom prst="rect">
            <a:avLst/>
          </a:prstGeom>
        </p:spPr>
      </p:pic>
    </p:spTree>
    <p:extLst>
      <p:ext uri="{BB962C8B-B14F-4D97-AF65-F5344CB8AC3E}">
        <p14:creationId xmlns:p14="http://schemas.microsoft.com/office/powerpoint/2010/main" val="1431008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6618036" y="1219189"/>
            <a:ext cx="2162916" cy="93268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67686" y="1255353"/>
            <a:ext cx="1803538" cy="261610"/>
          </a:xfrm>
          <a:prstGeom prst="rect">
            <a:avLst/>
          </a:prstGeom>
          <a:noFill/>
        </p:spPr>
        <p:txBody>
          <a:bodyPr wrap="square">
            <a:spAutoFit/>
          </a:bodyPr>
          <a:lstStyle/>
          <a:p>
            <a:pPr algn="l"/>
            <a:r>
              <a:rPr sz="1100" b="1" i="0" dirty="0">
                <a:solidFill>
                  <a:srgbClr val="D4622A"/>
                </a:solidFill>
                <a:latin typeface="Calibri"/>
              </a:rPr>
              <a:t>Do FM distributions match?</a:t>
            </a:r>
          </a:p>
        </p:txBody>
      </p:sp>
      <p:sp>
        <p:nvSpPr>
          <p:cNvPr id="7" name="TextBox 6"/>
          <p:cNvSpPr txBox="1"/>
          <p:nvPr/>
        </p:nvSpPr>
        <p:spPr>
          <a:xfrm>
            <a:off x="6618036" y="1566661"/>
            <a:ext cx="2053188" cy="400110"/>
          </a:xfrm>
          <a:prstGeom prst="rect">
            <a:avLst/>
          </a:prstGeom>
          <a:noFill/>
        </p:spPr>
        <p:txBody>
          <a:bodyPr wrap="square">
            <a:spAutoFit/>
          </a:bodyPr>
          <a:lstStyle/>
          <a:p>
            <a:pPr algn="l"/>
            <a:r>
              <a:rPr sz="1000" b="0" i="0" dirty="0">
                <a:solidFill>
                  <a:srgbClr val="1A1A2E"/>
                </a:solidFill>
                <a:latin typeface="Calibri"/>
              </a:rPr>
              <a:t>RTMA </a:t>
            </a:r>
            <a:r>
              <a:rPr sz="1000" b="0" i="0" dirty="0" err="1">
                <a:solidFill>
                  <a:srgbClr val="1A1A2E"/>
                </a:solidFill>
                <a:latin typeface="Calibri"/>
              </a:rPr>
              <a:t>pyrome</a:t>
            </a:r>
            <a:r>
              <a:rPr sz="1000" b="0" i="0" dirty="0">
                <a:solidFill>
                  <a:srgbClr val="1A1A2E"/>
                </a:solidFill>
                <a:latin typeface="Calibri"/>
              </a:rPr>
              <a:t>-mean FM vs. local RAWS summaries by ERC class</a:t>
            </a:r>
          </a:p>
        </p:txBody>
      </p:sp>
      <p:sp>
        <p:nvSpPr>
          <p:cNvPr id="8" name="Rectangle 7"/>
          <p:cNvSpPr/>
          <p:nvPr/>
        </p:nvSpPr>
        <p:spPr>
          <a:xfrm>
            <a:off x="6618034" y="2261605"/>
            <a:ext cx="2162917" cy="93268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67686" y="2316469"/>
            <a:ext cx="1803538" cy="261610"/>
          </a:xfrm>
          <a:prstGeom prst="rect">
            <a:avLst/>
          </a:prstGeom>
          <a:noFill/>
        </p:spPr>
        <p:txBody>
          <a:bodyPr wrap="square">
            <a:spAutoFit/>
          </a:bodyPr>
          <a:lstStyle/>
          <a:p>
            <a:pPr algn="l"/>
            <a:r>
              <a:rPr sz="1100" b="1" i="0" dirty="0">
                <a:solidFill>
                  <a:srgbClr val="D4622A"/>
                </a:solidFill>
                <a:latin typeface="Calibri"/>
              </a:rPr>
              <a:t>Are scenario FMs realistic?</a:t>
            </a:r>
          </a:p>
        </p:txBody>
      </p:sp>
      <p:sp>
        <p:nvSpPr>
          <p:cNvPr id="10" name="TextBox 9"/>
          <p:cNvSpPr txBox="1"/>
          <p:nvPr/>
        </p:nvSpPr>
        <p:spPr>
          <a:xfrm>
            <a:off x="6618036" y="2609077"/>
            <a:ext cx="2053188" cy="400110"/>
          </a:xfrm>
          <a:prstGeom prst="rect">
            <a:avLst/>
          </a:prstGeom>
          <a:noFill/>
        </p:spPr>
        <p:txBody>
          <a:bodyPr wrap="square">
            <a:spAutoFit/>
          </a:bodyPr>
          <a:lstStyle/>
          <a:p>
            <a:pPr algn="l"/>
            <a:r>
              <a:rPr sz="1000" b="0" i="0" dirty="0">
                <a:solidFill>
                  <a:srgbClr val="1A1A2E"/>
                </a:solidFill>
                <a:latin typeface="Calibri"/>
              </a:rPr>
              <a:t>RTMA percentile-band medians vs. RAWS/</a:t>
            </a:r>
            <a:r>
              <a:rPr sz="1000" b="0" i="0" dirty="0" err="1">
                <a:solidFill>
                  <a:srgbClr val="1A1A2E"/>
                </a:solidFill>
                <a:latin typeface="Calibri"/>
              </a:rPr>
              <a:t>FireFamilyPlus</a:t>
            </a:r>
            <a:r>
              <a:rPr sz="1000" b="0" i="0" dirty="0">
                <a:solidFill>
                  <a:srgbClr val="1A1A2E"/>
                </a:solidFill>
                <a:latin typeface="Calibri"/>
              </a:rPr>
              <a:t> values</a:t>
            </a:r>
          </a:p>
        </p:txBody>
      </p:sp>
      <p:sp>
        <p:nvSpPr>
          <p:cNvPr id="11" name="Rectangle 10"/>
          <p:cNvSpPr/>
          <p:nvPr/>
        </p:nvSpPr>
        <p:spPr>
          <a:xfrm>
            <a:off x="6618034" y="3304021"/>
            <a:ext cx="2162918" cy="932688"/>
          </a:xfrm>
          <a:prstGeom prst="rect">
            <a:avLst/>
          </a:prstGeom>
          <a:solidFill>
            <a:srgbClr val="FDE9D6"/>
          </a:solidFill>
          <a:ln>
            <a:solidFill>
              <a:srgbClr val="FFCC9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67686" y="3358885"/>
            <a:ext cx="1803538" cy="261610"/>
          </a:xfrm>
          <a:prstGeom prst="rect">
            <a:avLst/>
          </a:prstGeom>
          <a:noFill/>
        </p:spPr>
        <p:txBody>
          <a:bodyPr wrap="square">
            <a:spAutoFit/>
          </a:bodyPr>
          <a:lstStyle/>
          <a:p>
            <a:pPr algn="l"/>
            <a:r>
              <a:rPr sz="1100" b="1" i="0" dirty="0">
                <a:solidFill>
                  <a:srgbClr val="D4622A"/>
                </a:solidFill>
                <a:latin typeface="Calibri"/>
              </a:rPr>
              <a:t>Known GSI limitation</a:t>
            </a:r>
          </a:p>
        </p:txBody>
      </p:sp>
      <p:sp>
        <p:nvSpPr>
          <p:cNvPr id="13" name="TextBox 12"/>
          <p:cNvSpPr txBox="1"/>
          <p:nvPr/>
        </p:nvSpPr>
        <p:spPr>
          <a:xfrm>
            <a:off x="6618033" y="3651493"/>
            <a:ext cx="2239769" cy="553998"/>
          </a:xfrm>
          <a:prstGeom prst="rect">
            <a:avLst/>
          </a:prstGeom>
          <a:noFill/>
        </p:spPr>
        <p:txBody>
          <a:bodyPr wrap="square">
            <a:spAutoFit/>
          </a:bodyPr>
          <a:lstStyle/>
          <a:p>
            <a:pPr algn="l"/>
            <a:r>
              <a:rPr sz="1000" b="0" i="0" dirty="0">
                <a:solidFill>
                  <a:srgbClr val="1A1A2E"/>
                </a:solidFill>
                <a:latin typeface="Calibri"/>
              </a:rPr>
              <a:t>Jolly et al. (2005) thresholds calibrated temperate/boreal — may underperform in semi-arid western CO</a:t>
            </a:r>
          </a:p>
        </p:txBody>
      </p:sp>
      <p:sp>
        <p:nvSpPr>
          <p:cNvPr id="14" name="Rectangle 13"/>
          <p:cNvSpPr/>
          <p:nvPr/>
        </p:nvSpPr>
        <p:spPr>
          <a:xfrm>
            <a:off x="813579" y="4197865"/>
            <a:ext cx="5004776" cy="322764"/>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1100" b="1" i="0" dirty="0">
                <a:solidFill>
                  <a:srgbClr val="D4622A"/>
                </a:solidFill>
                <a:latin typeface="Calibri"/>
              </a:rPr>
              <a:t>Comparison against Rhea et al. 2024 (Denver Water, 9 RAWS station data)</a:t>
            </a:r>
            <a:endParaRPr sz="1100" b="1" i="0" dirty="0">
              <a:solidFill>
                <a:srgbClr val="D4622A"/>
              </a:solidFill>
              <a:latin typeface="Calibri"/>
            </a:endParaRPr>
          </a:p>
        </p:txBody>
      </p:sp>
      <p:pic>
        <p:nvPicPr>
          <p:cNvPr id="16" name="Picture 15">
            <a:extLst>
              <a:ext uri="{FF2B5EF4-FFF2-40B4-BE49-F238E27FC236}">
                <a16:creationId xmlns:a16="http://schemas.microsoft.com/office/drawing/2014/main" id="{497818E6-A2CF-ECF7-3278-D18EBDD76E9C}"/>
              </a:ext>
            </a:extLst>
          </p:cNvPr>
          <p:cNvPicPr>
            <a:picLocks noChangeAspect="1"/>
          </p:cNvPicPr>
          <p:nvPr/>
        </p:nvPicPr>
        <p:blipFill>
          <a:blip r:embed="rId3"/>
          <a:stretch>
            <a:fillRect/>
          </a:stretch>
        </p:blipFill>
        <p:spPr>
          <a:xfrm>
            <a:off x="327014" y="1219189"/>
            <a:ext cx="5977907" cy="2762660"/>
          </a:xfrm>
          <a:prstGeom prst="rect">
            <a:avLst/>
          </a:prstGeom>
          <a:ln>
            <a:noFill/>
          </a:ln>
          <a:effectLst>
            <a:outerShdw blurRad="190500" algn="tl" rotWithShape="0">
              <a:srgbClr val="000000">
                <a:alpha val="70000"/>
              </a:srgbClr>
            </a:outerShdw>
          </a:effectLst>
        </p:spPr>
      </p:pic>
      <p:sp>
        <p:nvSpPr>
          <p:cNvPr id="17" name="TextBox 16">
            <a:extLst>
              <a:ext uri="{FF2B5EF4-FFF2-40B4-BE49-F238E27FC236}">
                <a16:creationId xmlns:a16="http://schemas.microsoft.com/office/drawing/2014/main" id="{55B7079D-4334-32BC-BD2A-24EDD712AF9A}"/>
              </a:ext>
            </a:extLst>
          </p:cNvPr>
          <p:cNvSpPr txBox="1"/>
          <p:nvPr/>
        </p:nvSpPr>
        <p:spPr>
          <a:xfrm>
            <a:off x="365760" y="500993"/>
            <a:ext cx="8412480" cy="461665"/>
          </a:xfrm>
          <a:prstGeom prst="rect">
            <a:avLst/>
          </a:prstGeom>
          <a:noFill/>
        </p:spPr>
        <p:txBody>
          <a:bodyPr wrap="square">
            <a:spAutoFit/>
          </a:bodyPr>
          <a:lstStyle/>
          <a:p>
            <a:r>
              <a:rPr lang="en-US" sz="2400" b="1" dirty="0">
                <a:solidFill>
                  <a:srgbClr val="1A1A2E"/>
                </a:solidFill>
              </a:rPr>
              <a:t>RTMA vs. RAWS Station Summaries</a:t>
            </a:r>
          </a:p>
        </p:txBody>
      </p:sp>
      <p:sp>
        <p:nvSpPr>
          <p:cNvPr id="18" name="Rectangle 17">
            <a:extLst>
              <a:ext uri="{FF2B5EF4-FFF2-40B4-BE49-F238E27FC236}">
                <a16:creationId xmlns:a16="http://schemas.microsoft.com/office/drawing/2014/main" id="{AF100739-7A63-2D6C-341A-01C77750CF3B}"/>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19" name="Rectangle 18">
            <a:extLst>
              <a:ext uri="{FF2B5EF4-FFF2-40B4-BE49-F238E27FC236}">
                <a16:creationId xmlns:a16="http://schemas.microsoft.com/office/drawing/2014/main" id="{93842B2C-2B94-5D1A-1386-68D5C56C6E26}"/>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20" name="Rectangle 19">
            <a:extLst>
              <a:ext uri="{FF2B5EF4-FFF2-40B4-BE49-F238E27FC236}">
                <a16:creationId xmlns:a16="http://schemas.microsoft.com/office/drawing/2014/main" id="{DF7412D1-A67F-D65B-06BE-B58F14894BA5}"/>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21" name="Rectangle 20">
            <a:extLst>
              <a:ext uri="{FF2B5EF4-FFF2-40B4-BE49-F238E27FC236}">
                <a16:creationId xmlns:a16="http://schemas.microsoft.com/office/drawing/2014/main" id="{936B30A9-3B3A-5D56-CAFE-D5C7ABDAD98F}"/>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22" name="Rectangle 21">
            <a:extLst>
              <a:ext uri="{FF2B5EF4-FFF2-40B4-BE49-F238E27FC236}">
                <a16:creationId xmlns:a16="http://schemas.microsoft.com/office/drawing/2014/main" id="{F1917B36-2785-A93E-F31E-E4151C6E6B57}"/>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23" name="Rectangle 22">
            <a:extLst>
              <a:ext uri="{FF2B5EF4-FFF2-40B4-BE49-F238E27FC236}">
                <a16:creationId xmlns:a16="http://schemas.microsoft.com/office/drawing/2014/main" id="{2FDBFA52-2635-1290-4579-6FFED7561264}"/>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 name="Rectangle 23">
            <a:extLst>
              <a:ext uri="{FF2B5EF4-FFF2-40B4-BE49-F238E27FC236}">
                <a16:creationId xmlns:a16="http://schemas.microsoft.com/office/drawing/2014/main" id="{F7BC34C8-6561-4D8D-BBE0-142F1A78662A}"/>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 name="Rectangle 24">
            <a:extLst>
              <a:ext uri="{FF2B5EF4-FFF2-40B4-BE49-F238E27FC236}">
                <a16:creationId xmlns:a16="http://schemas.microsoft.com/office/drawing/2014/main" id="{E19F5893-2DDD-9ACC-7DCC-583349457065}"/>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 name="Rectangle 25">
            <a:extLst>
              <a:ext uri="{FF2B5EF4-FFF2-40B4-BE49-F238E27FC236}">
                <a16:creationId xmlns:a16="http://schemas.microsoft.com/office/drawing/2014/main" id="{E91ED452-FCF2-157C-6BBD-7829692FAC97}"/>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441527"/>
            <a:ext cx="8412480" cy="492443"/>
          </a:xfrm>
          <a:prstGeom prst="rect">
            <a:avLst/>
          </a:prstGeom>
          <a:noFill/>
        </p:spPr>
        <p:txBody>
          <a:bodyPr wrap="square">
            <a:spAutoFit/>
          </a:bodyPr>
          <a:lstStyle/>
          <a:p>
            <a:pPr algn="l"/>
            <a:r>
              <a:rPr sz="2600" b="1" i="0" dirty="0">
                <a:solidFill>
                  <a:srgbClr val="1A1A2E"/>
                </a:solidFill>
                <a:latin typeface="Calibri"/>
              </a:rPr>
              <a:t>HRRR Wind</a:t>
            </a:r>
          </a:p>
        </p:txBody>
      </p:sp>
      <p:sp>
        <p:nvSpPr>
          <p:cNvPr id="3" name="Rectangle 2"/>
          <p:cNvSpPr/>
          <p:nvPr/>
        </p:nvSpPr>
        <p:spPr>
          <a:xfrm>
            <a:off x="367852" y="1055086"/>
            <a:ext cx="1828800" cy="274320"/>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HRRR + HERBIE</a:t>
            </a:r>
          </a:p>
        </p:txBody>
      </p:sp>
      <p:sp>
        <p:nvSpPr>
          <p:cNvPr id="4" name="TextBox 3"/>
          <p:cNvSpPr txBox="1"/>
          <p:nvPr/>
        </p:nvSpPr>
        <p:spPr>
          <a:xfrm>
            <a:off x="2342956" y="1091662"/>
            <a:ext cx="6400800" cy="237744"/>
          </a:xfrm>
          <a:prstGeom prst="rect">
            <a:avLst/>
          </a:prstGeom>
          <a:noFill/>
        </p:spPr>
        <p:txBody>
          <a:bodyPr wrap="square">
            <a:spAutoFit/>
          </a:bodyPr>
          <a:lstStyle/>
          <a:p>
            <a:pPr algn="l"/>
            <a:r>
              <a:rPr sz="1000" b="0" i="1">
                <a:solidFill>
                  <a:srgbClr val="546E7A"/>
                </a:solidFill>
                <a:latin typeface="Calibri"/>
              </a:rPr>
              <a:t>Fire-hour wind extraction from NOAA High-Resolution Rapid Refresh at fire occurrence locations</a:t>
            </a:r>
          </a:p>
        </p:txBody>
      </p:sp>
      <p:sp>
        <p:nvSpPr>
          <p:cNvPr id="5" name="TextBox 4"/>
          <p:cNvSpPr txBox="1"/>
          <p:nvPr/>
        </p:nvSpPr>
        <p:spPr>
          <a:xfrm>
            <a:off x="322132" y="1457422"/>
            <a:ext cx="3474720" cy="256032"/>
          </a:xfrm>
          <a:prstGeom prst="rect">
            <a:avLst/>
          </a:prstGeom>
          <a:noFill/>
        </p:spPr>
        <p:txBody>
          <a:bodyPr wrap="square">
            <a:spAutoFit/>
          </a:bodyPr>
          <a:lstStyle/>
          <a:p>
            <a:pPr algn="l"/>
            <a:r>
              <a:rPr sz="1300" b="1" i="0">
                <a:solidFill>
                  <a:srgbClr val="1A1A2E"/>
                </a:solidFill>
                <a:latin typeface="Calibri"/>
              </a:rPr>
              <a:t>What is HRRR?</a:t>
            </a:r>
          </a:p>
        </p:txBody>
      </p:sp>
      <p:sp>
        <p:nvSpPr>
          <p:cNvPr id="7" name="TextBox 6"/>
          <p:cNvSpPr txBox="1"/>
          <p:nvPr/>
        </p:nvSpPr>
        <p:spPr>
          <a:xfrm>
            <a:off x="322132" y="1861041"/>
            <a:ext cx="3474720" cy="400110"/>
          </a:xfrm>
          <a:prstGeom prst="rect">
            <a:avLst/>
          </a:prstGeom>
          <a:noFill/>
        </p:spPr>
        <p:txBody>
          <a:bodyPr wrap="square">
            <a:spAutoFit/>
          </a:bodyPr>
          <a:lstStyle/>
          <a:p>
            <a:pPr algn="l"/>
            <a:r>
              <a:rPr sz="1000" b="0" i="0" dirty="0">
                <a:solidFill>
                  <a:srgbClr val="1A1A2E"/>
                </a:solidFill>
                <a:latin typeface="Calibri"/>
              </a:rPr>
              <a:t>• </a:t>
            </a:r>
            <a:r>
              <a:rPr lang="en-US" sz="1000" b="0" i="0" dirty="0">
                <a:solidFill>
                  <a:srgbClr val="1A1A2E"/>
                </a:solidFill>
                <a:latin typeface="Calibri"/>
              </a:rPr>
              <a:t>3 km h</a:t>
            </a:r>
            <a:r>
              <a:rPr sz="1000" b="0" i="0" dirty="0">
                <a:solidFill>
                  <a:srgbClr val="1A1A2E"/>
                </a:solidFill>
                <a:latin typeface="Calibri"/>
              </a:rPr>
              <a:t>ourly analysis product from NOAA Rapid Refresh assimilation cycle</a:t>
            </a:r>
          </a:p>
        </p:txBody>
      </p:sp>
      <p:sp>
        <p:nvSpPr>
          <p:cNvPr id="8" name="TextBox 7"/>
          <p:cNvSpPr txBox="1"/>
          <p:nvPr/>
        </p:nvSpPr>
        <p:spPr>
          <a:xfrm>
            <a:off x="322132" y="2263377"/>
            <a:ext cx="3474720" cy="365760"/>
          </a:xfrm>
          <a:prstGeom prst="rect">
            <a:avLst/>
          </a:prstGeom>
          <a:noFill/>
        </p:spPr>
        <p:txBody>
          <a:bodyPr wrap="square">
            <a:spAutoFit/>
          </a:bodyPr>
          <a:lstStyle/>
          <a:p>
            <a:pPr algn="l"/>
            <a:r>
              <a:rPr sz="1000" b="0" i="0">
                <a:solidFill>
                  <a:srgbClr val="1A1A2E"/>
                </a:solidFill>
                <a:latin typeface="Calibri"/>
              </a:rPr>
              <a:t>• AWS archive via herbie-data: s3://noaa-hrrr-bdp-pds/  (2016–present)</a:t>
            </a:r>
          </a:p>
        </p:txBody>
      </p:sp>
      <p:sp>
        <p:nvSpPr>
          <p:cNvPr id="9" name="TextBox 8"/>
          <p:cNvSpPr txBox="1"/>
          <p:nvPr/>
        </p:nvSpPr>
        <p:spPr>
          <a:xfrm>
            <a:off x="322132" y="2665713"/>
            <a:ext cx="3474720" cy="365760"/>
          </a:xfrm>
          <a:prstGeom prst="rect">
            <a:avLst/>
          </a:prstGeom>
          <a:noFill/>
        </p:spPr>
        <p:txBody>
          <a:bodyPr wrap="square">
            <a:spAutoFit/>
          </a:bodyPr>
          <a:lstStyle/>
          <a:p>
            <a:pPr algn="l"/>
            <a:r>
              <a:rPr sz="1000" b="0" i="0">
                <a:solidFill>
                  <a:srgbClr val="1A1A2E"/>
                </a:solidFill>
                <a:latin typeface="Calibri"/>
              </a:rPr>
              <a:t>• 10m winds: UGRD / VGRD components (m/s) → speed (mph) + direction (°FROM)</a:t>
            </a:r>
          </a:p>
        </p:txBody>
      </p:sp>
      <p:sp>
        <p:nvSpPr>
          <p:cNvPr id="10" name="TextBox 9"/>
          <p:cNvSpPr txBox="1"/>
          <p:nvPr/>
        </p:nvSpPr>
        <p:spPr>
          <a:xfrm>
            <a:off x="322132" y="3068049"/>
            <a:ext cx="3474720" cy="365760"/>
          </a:xfrm>
          <a:prstGeom prst="rect">
            <a:avLst/>
          </a:prstGeom>
          <a:noFill/>
        </p:spPr>
        <p:txBody>
          <a:bodyPr wrap="square">
            <a:spAutoFit/>
          </a:bodyPr>
          <a:lstStyle/>
          <a:p>
            <a:pPr algn="l"/>
            <a:r>
              <a:rPr sz="1000" b="0" i="0">
                <a:solidFill>
                  <a:srgbClr val="1A1A2E"/>
                </a:solidFill>
                <a:latin typeface="Calibri"/>
              </a:rPr>
              <a:t>• Analysis F00 — not a forecast; represents best-estimate at time of issue</a:t>
            </a:r>
          </a:p>
        </p:txBody>
      </p:sp>
      <p:sp>
        <p:nvSpPr>
          <p:cNvPr id="11" name="TextBox 10"/>
          <p:cNvSpPr txBox="1"/>
          <p:nvPr/>
        </p:nvSpPr>
        <p:spPr>
          <a:xfrm>
            <a:off x="4007164" y="1457422"/>
            <a:ext cx="4846320" cy="256032"/>
          </a:xfrm>
          <a:prstGeom prst="rect">
            <a:avLst/>
          </a:prstGeom>
          <a:noFill/>
        </p:spPr>
        <p:txBody>
          <a:bodyPr wrap="square">
            <a:spAutoFit/>
          </a:bodyPr>
          <a:lstStyle/>
          <a:p>
            <a:pPr algn="l"/>
            <a:r>
              <a:rPr sz="1300" b="1" i="0">
                <a:solidFill>
                  <a:srgbClr val="1A1A2E"/>
                </a:solidFill>
                <a:latin typeface="Calibri"/>
              </a:rPr>
              <a:t>Extraction workflow</a:t>
            </a:r>
          </a:p>
        </p:txBody>
      </p:sp>
      <p:sp>
        <p:nvSpPr>
          <p:cNvPr id="12" name="Oval 11"/>
          <p:cNvSpPr/>
          <p:nvPr/>
        </p:nvSpPr>
        <p:spPr>
          <a:xfrm>
            <a:off x="4007164" y="1896334"/>
            <a:ext cx="292608" cy="292608"/>
          </a:xfrm>
          <a:prstGeom prst="ellipse">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latin typeface="Calibri"/>
              </a:rPr>
              <a:t>1</a:t>
            </a:r>
          </a:p>
        </p:txBody>
      </p:sp>
      <p:sp>
        <p:nvSpPr>
          <p:cNvPr id="13" name="TextBox 12"/>
          <p:cNvSpPr txBox="1"/>
          <p:nvPr/>
        </p:nvSpPr>
        <p:spPr>
          <a:xfrm>
            <a:off x="4372924" y="1859758"/>
            <a:ext cx="4370832" cy="219456"/>
          </a:xfrm>
          <a:prstGeom prst="rect">
            <a:avLst/>
          </a:prstGeom>
          <a:noFill/>
        </p:spPr>
        <p:txBody>
          <a:bodyPr wrap="square">
            <a:spAutoFit/>
          </a:bodyPr>
          <a:lstStyle/>
          <a:p>
            <a:pPr algn="l"/>
            <a:r>
              <a:rPr sz="1100" b="1" i="0">
                <a:solidFill>
                  <a:srgbClr val="1A7A6E"/>
                </a:solidFill>
                <a:latin typeface="Calibri"/>
              </a:rPr>
              <a:t>Fire occurrence database (FOD)</a:t>
            </a:r>
          </a:p>
        </p:txBody>
      </p:sp>
      <p:sp>
        <p:nvSpPr>
          <p:cNvPr id="14" name="TextBox 13"/>
          <p:cNvSpPr txBox="1"/>
          <p:nvPr/>
        </p:nvSpPr>
        <p:spPr>
          <a:xfrm>
            <a:off x="4372924" y="2097502"/>
            <a:ext cx="4370832" cy="310896"/>
          </a:xfrm>
          <a:prstGeom prst="rect">
            <a:avLst/>
          </a:prstGeom>
          <a:noFill/>
        </p:spPr>
        <p:txBody>
          <a:bodyPr wrap="square">
            <a:spAutoFit/>
          </a:bodyPr>
          <a:lstStyle/>
          <a:p>
            <a:pPr algn="l"/>
            <a:r>
              <a:rPr sz="1000" b="0" i="0">
                <a:solidFill>
                  <a:srgbClr val="546E7A"/>
                </a:solidFill>
                <a:latin typeface="Calibri"/>
              </a:rPr>
              <a:t>Filter to 2016+, spatial join to pyrome, retain ignition date + coordinates</a:t>
            </a:r>
          </a:p>
        </p:txBody>
      </p:sp>
      <p:sp>
        <p:nvSpPr>
          <p:cNvPr id="15" name="Oval 14"/>
          <p:cNvSpPr/>
          <p:nvPr/>
        </p:nvSpPr>
        <p:spPr>
          <a:xfrm>
            <a:off x="4007164" y="2508207"/>
            <a:ext cx="292608" cy="292608"/>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latin typeface="Calibri"/>
              </a:rPr>
              <a:t>2</a:t>
            </a:r>
          </a:p>
        </p:txBody>
      </p:sp>
      <p:sp>
        <p:nvSpPr>
          <p:cNvPr id="16" name="TextBox 15"/>
          <p:cNvSpPr txBox="1"/>
          <p:nvPr/>
        </p:nvSpPr>
        <p:spPr>
          <a:xfrm>
            <a:off x="4372924" y="2471631"/>
            <a:ext cx="4370832" cy="219456"/>
          </a:xfrm>
          <a:prstGeom prst="rect">
            <a:avLst/>
          </a:prstGeom>
          <a:noFill/>
        </p:spPr>
        <p:txBody>
          <a:bodyPr wrap="square">
            <a:spAutoFit/>
          </a:bodyPr>
          <a:lstStyle/>
          <a:p>
            <a:pPr algn="l"/>
            <a:r>
              <a:rPr sz="1100" b="1" i="0">
                <a:solidFill>
                  <a:srgbClr val="1B6CA8"/>
                </a:solidFill>
                <a:latin typeface="Calibri"/>
              </a:rPr>
              <a:t>Build download schedule</a:t>
            </a:r>
          </a:p>
        </p:txBody>
      </p:sp>
      <p:sp>
        <p:nvSpPr>
          <p:cNvPr id="17" name="TextBox 16"/>
          <p:cNvSpPr txBox="1"/>
          <p:nvPr/>
        </p:nvSpPr>
        <p:spPr>
          <a:xfrm>
            <a:off x="4372924" y="2709374"/>
            <a:ext cx="4370832" cy="310896"/>
          </a:xfrm>
          <a:prstGeom prst="rect">
            <a:avLst/>
          </a:prstGeom>
          <a:noFill/>
        </p:spPr>
        <p:txBody>
          <a:bodyPr wrap="square">
            <a:spAutoFit/>
          </a:bodyPr>
          <a:lstStyle/>
          <a:p>
            <a:pPr algn="l"/>
            <a:r>
              <a:rPr sz="1000" b="0" i="0">
                <a:solidFill>
                  <a:srgbClr val="546E7A"/>
                </a:solidFill>
                <a:latin typeface="Calibri"/>
              </a:rPr>
              <a:t>Each fire × n_days × 4 UTC fire-hours [19,20,21,22] → deduplicated (date, hour) pairs</a:t>
            </a:r>
          </a:p>
        </p:txBody>
      </p:sp>
      <p:sp>
        <p:nvSpPr>
          <p:cNvPr id="18" name="Oval 17"/>
          <p:cNvSpPr/>
          <p:nvPr/>
        </p:nvSpPr>
        <p:spPr>
          <a:xfrm>
            <a:off x="4004944" y="3208886"/>
            <a:ext cx="292608" cy="292608"/>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latin typeface="Calibri"/>
              </a:rPr>
              <a:t>3</a:t>
            </a:r>
          </a:p>
        </p:txBody>
      </p:sp>
      <p:sp>
        <p:nvSpPr>
          <p:cNvPr id="19" name="TextBox 18"/>
          <p:cNvSpPr txBox="1"/>
          <p:nvPr/>
        </p:nvSpPr>
        <p:spPr>
          <a:xfrm>
            <a:off x="4370704" y="3172310"/>
            <a:ext cx="4370832" cy="219456"/>
          </a:xfrm>
          <a:prstGeom prst="rect">
            <a:avLst/>
          </a:prstGeom>
          <a:noFill/>
        </p:spPr>
        <p:txBody>
          <a:bodyPr wrap="square">
            <a:spAutoFit/>
          </a:bodyPr>
          <a:lstStyle/>
          <a:p>
            <a:pPr algn="l"/>
            <a:r>
              <a:rPr sz="1100" b="1" i="0">
                <a:solidFill>
                  <a:srgbClr val="D4622A"/>
                </a:solidFill>
                <a:latin typeface="Calibri"/>
              </a:rPr>
              <a:t>Herbie download + cache</a:t>
            </a:r>
          </a:p>
        </p:txBody>
      </p:sp>
      <p:sp>
        <p:nvSpPr>
          <p:cNvPr id="20" name="TextBox 19"/>
          <p:cNvSpPr txBox="1"/>
          <p:nvPr/>
        </p:nvSpPr>
        <p:spPr>
          <a:xfrm>
            <a:off x="4370704" y="3410054"/>
            <a:ext cx="4370832" cy="310896"/>
          </a:xfrm>
          <a:prstGeom prst="rect">
            <a:avLst/>
          </a:prstGeom>
          <a:noFill/>
        </p:spPr>
        <p:txBody>
          <a:bodyPr wrap="square">
            <a:spAutoFit/>
          </a:bodyPr>
          <a:lstStyle/>
          <a:p>
            <a:pPr algn="l"/>
            <a:r>
              <a:rPr sz="1000" b="0" i="0">
                <a:solidFill>
                  <a:srgbClr val="546E7A"/>
                </a:solidFill>
                <a:latin typeface="Calibri"/>
              </a:rPr>
              <a:t>One GRIB2 per (date, hour); cached to disk — ~6 GB for ~900 CO fires 2016–2023</a:t>
            </a:r>
          </a:p>
        </p:txBody>
      </p:sp>
      <p:sp>
        <p:nvSpPr>
          <p:cNvPr id="21" name="Oval 20"/>
          <p:cNvSpPr/>
          <p:nvPr/>
        </p:nvSpPr>
        <p:spPr>
          <a:xfrm>
            <a:off x="4004944" y="3810297"/>
            <a:ext cx="292608" cy="292608"/>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latin typeface="Calibri"/>
              </a:rPr>
              <a:t>4</a:t>
            </a:r>
          </a:p>
        </p:txBody>
      </p:sp>
      <p:sp>
        <p:nvSpPr>
          <p:cNvPr id="22" name="TextBox 21"/>
          <p:cNvSpPr txBox="1"/>
          <p:nvPr/>
        </p:nvSpPr>
        <p:spPr>
          <a:xfrm>
            <a:off x="4370704" y="3773722"/>
            <a:ext cx="4370832" cy="219456"/>
          </a:xfrm>
          <a:prstGeom prst="rect">
            <a:avLst/>
          </a:prstGeom>
          <a:noFill/>
        </p:spPr>
        <p:txBody>
          <a:bodyPr wrap="square">
            <a:spAutoFit/>
          </a:bodyPr>
          <a:lstStyle/>
          <a:p>
            <a:pPr algn="l"/>
            <a:r>
              <a:rPr sz="1100" b="1" i="0">
                <a:solidFill>
                  <a:srgbClr val="2C6E49"/>
                </a:solidFill>
                <a:latin typeface="Calibri"/>
              </a:rPr>
              <a:t>KD-tree wind extraction</a:t>
            </a:r>
          </a:p>
        </p:txBody>
      </p:sp>
      <p:sp>
        <p:nvSpPr>
          <p:cNvPr id="23" name="TextBox 22"/>
          <p:cNvSpPr txBox="1"/>
          <p:nvPr/>
        </p:nvSpPr>
        <p:spPr>
          <a:xfrm>
            <a:off x="4370704" y="4011466"/>
            <a:ext cx="4370832" cy="310896"/>
          </a:xfrm>
          <a:prstGeom prst="rect">
            <a:avLst/>
          </a:prstGeom>
          <a:noFill/>
        </p:spPr>
        <p:txBody>
          <a:bodyPr wrap="square">
            <a:spAutoFit/>
          </a:bodyPr>
          <a:lstStyle/>
          <a:p>
            <a:pPr algn="l"/>
            <a:r>
              <a:rPr sz="1000" b="0" i="0">
                <a:solidFill>
                  <a:srgbClr val="546E7A"/>
                </a:solidFill>
                <a:latin typeface="Calibri"/>
              </a:rPr>
              <a:t>HRRR lon 0–360 → −180/180; tree built once per file; k=9 neighbors (~9×9 km) per fire</a:t>
            </a:r>
          </a:p>
        </p:txBody>
      </p:sp>
      <p:sp>
        <p:nvSpPr>
          <p:cNvPr id="24" name="Oval 23"/>
          <p:cNvSpPr/>
          <p:nvPr/>
        </p:nvSpPr>
        <p:spPr>
          <a:xfrm>
            <a:off x="3966326" y="4466844"/>
            <a:ext cx="292608" cy="292608"/>
          </a:xfrm>
          <a:prstGeom prst="ellipse">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FFFFFF"/>
                </a:solidFill>
                <a:latin typeface="Calibri"/>
              </a:rPr>
              <a:t>5</a:t>
            </a:r>
          </a:p>
        </p:txBody>
      </p:sp>
      <p:sp>
        <p:nvSpPr>
          <p:cNvPr id="25" name="TextBox 24"/>
          <p:cNvSpPr txBox="1"/>
          <p:nvPr/>
        </p:nvSpPr>
        <p:spPr>
          <a:xfrm>
            <a:off x="4332086" y="4430268"/>
            <a:ext cx="4370832" cy="219456"/>
          </a:xfrm>
          <a:prstGeom prst="rect">
            <a:avLst/>
          </a:prstGeom>
          <a:noFill/>
        </p:spPr>
        <p:txBody>
          <a:bodyPr wrap="square">
            <a:spAutoFit/>
          </a:bodyPr>
          <a:lstStyle/>
          <a:p>
            <a:pPr algn="l"/>
            <a:r>
              <a:rPr sz="1100" b="1" i="0">
                <a:solidFill>
                  <a:srgbClr val="52B788"/>
                </a:solidFill>
                <a:latin typeface="Calibri"/>
              </a:rPr>
              <a:t>Build WindCellValues</a:t>
            </a:r>
          </a:p>
        </p:txBody>
      </p:sp>
      <p:sp>
        <p:nvSpPr>
          <p:cNvPr id="26" name="TextBox 25"/>
          <p:cNvSpPr txBox="1"/>
          <p:nvPr/>
        </p:nvSpPr>
        <p:spPr>
          <a:xfrm>
            <a:off x="4332086" y="4668012"/>
            <a:ext cx="4370832" cy="310896"/>
          </a:xfrm>
          <a:prstGeom prst="rect">
            <a:avLst/>
          </a:prstGeom>
          <a:noFill/>
        </p:spPr>
        <p:txBody>
          <a:bodyPr wrap="square">
            <a:spAutoFit/>
          </a:bodyPr>
          <a:lstStyle/>
          <a:p>
            <a:pPr algn="l"/>
            <a:r>
              <a:rPr sz="1000" b="0" i="0">
                <a:solidFill>
                  <a:srgbClr val="546E7A"/>
                </a:solidFill>
                <a:latin typeface="Calibri"/>
              </a:rPr>
              <a:t>Group by pyrome → 6-speed × 8-direction frequency table + CalmValue; write JSON cache</a:t>
            </a:r>
          </a:p>
        </p:txBody>
      </p:sp>
      <p:sp>
        <p:nvSpPr>
          <p:cNvPr id="27" name="Rectangle 26"/>
          <p:cNvSpPr/>
          <p:nvPr/>
        </p:nvSpPr>
        <p:spPr>
          <a:xfrm>
            <a:off x="367852" y="3854971"/>
            <a:ext cx="3247205" cy="824162"/>
          </a:xfrm>
          <a:prstGeom prst="rect">
            <a:avLst/>
          </a:prstGeom>
          <a:solidFill>
            <a:srgbClr val="D4EDEB"/>
          </a:solidFill>
          <a:ln>
            <a:solidFill>
              <a:srgbClr val="A8D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470606" y="3870900"/>
            <a:ext cx="3097646" cy="769441"/>
          </a:xfrm>
          <a:prstGeom prst="rect">
            <a:avLst/>
          </a:prstGeom>
          <a:noFill/>
        </p:spPr>
        <p:txBody>
          <a:bodyPr wrap="square">
            <a:spAutoFit/>
          </a:bodyPr>
          <a:lstStyle/>
          <a:p>
            <a:pPr algn="l"/>
            <a:r>
              <a:rPr sz="1100" b="0" i="1" dirty="0">
                <a:solidFill>
                  <a:srgbClr val="1A7A6E"/>
                </a:solidFill>
                <a:latin typeface="Calibri"/>
              </a:rPr>
              <a:t>Fire hours: 19–22Z ≈ 13:00–16:00 MDT (peak spread window)  ·  </a:t>
            </a:r>
            <a:r>
              <a:rPr sz="1100" b="0" i="1" dirty="0" err="1">
                <a:solidFill>
                  <a:srgbClr val="1A7A6E"/>
                </a:solidFill>
                <a:latin typeface="Calibri"/>
              </a:rPr>
              <a:t>n_days</a:t>
            </a:r>
            <a:r>
              <a:rPr sz="1100" b="0" i="1" dirty="0">
                <a:solidFill>
                  <a:srgbClr val="1A7A6E"/>
                </a:solidFill>
                <a:latin typeface="Calibri"/>
              </a:rPr>
              <a:t>=5 (ignition + 4 spread days)  ·  k=9 neighbors to boost </a:t>
            </a:r>
            <a:r>
              <a:rPr sz="1100" b="0" i="1" dirty="0" err="1">
                <a:solidFill>
                  <a:srgbClr val="1A7A6E"/>
                </a:solidFill>
                <a:latin typeface="Calibri"/>
              </a:rPr>
              <a:t>obs</a:t>
            </a:r>
            <a:r>
              <a:rPr sz="1100" b="0" i="1" dirty="0">
                <a:solidFill>
                  <a:srgbClr val="1A7A6E"/>
                </a:solidFill>
                <a:latin typeface="Calibri"/>
              </a:rPr>
              <a:t> without extra downloads  ·  HRRR archive starts 2016 reliably</a:t>
            </a:r>
          </a:p>
        </p:txBody>
      </p:sp>
      <p:sp>
        <p:nvSpPr>
          <p:cNvPr id="29" name="Rectangle 28">
            <a:extLst>
              <a:ext uri="{FF2B5EF4-FFF2-40B4-BE49-F238E27FC236}">
                <a16:creationId xmlns:a16="http://schemas.microsoft.com/office/drawing/2014/main" id="{45E00A56-84B3-E5BE-AA2B-2F19B44BB53E}"/>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30" name="Rectangle 29">
            <a:extLst>
              <a:ext uri="{FF2B5EF4-FFF2-40B4-BE49-F238E27FC236}">
                <a16:creationId xmlns:a16="http://schemas.microsoft.com/office/drawing/2014/main" id="{A746DF60-CAE8-407F-2F8B-FCF1726EC319}"/>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31" name="Rectangle 30">
            <a:extLst>
              <a:ext uri="{FF2B5EF4-FFF2-40B4-BE49-F238E27FC236}">
                <a16:creationId xmlns:a16="http://schemas.microsoft.com/office/drawing/2014/main" id="{AE39C5B1-E168-DFE9-BB3B-BB0D7FDEE715}"/>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2" name="Rectangle 31">
            <a:extLst>
              <a:ext uri="{FF2B5EF4-FFF2-40B4-BE49-F238E27FC236}">
                <a16:creationId xmlns:a16="http://schemas.microsoft.com/office/drawing/2014/main" id="{FA7127C2-45B2-F380-69DD-C474E216C498}"/>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3" name="Rectangle 32">
            <a:extLst>
              <a:ext uri="{FF2B5EF4-FFF2-40B4-BE49-F238E27FC236}">
                <a16:creationId xmlns:a16="http://schemas.microsoft.com/office/drawing/2014/main" id="{1ACE439C-FB4C-CA48-0340-24B39BCFA4C9}"/>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4" name="Rectangle 33">
            <a:extLst>
              <a:ext uri="{FF2B5EF4-FFF2-40B4-BE49-F238E27FC236}">
                <a16:creationId xmlns:a16="http://schemas.microsoft.com/office/drawing/2014/main" id="{766F915E-11E1-7201-01E6-366147537B91}"/>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5" name="Rectangle 34">
            <a:extLst>
              <a:ext uri="{FF2B5EF4-FFF2-40B4-BE49-F238E27FC236}">
                <a16:creationId xmlns:a16="http://schemas.microsoft.com/office/drawing/2014/main" id="{18C36C6A-BB0C-73FA-67C2-B8C13EF77484}"/>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6" name="Rectangle 35">
            <a:extLst>
              <a:ext uri="{FF2B5EF4-FFF2-40B4-BE49-F238E27FC236}">
                <a16:creationId xmlns:a16="http://schemas.microsoft.com/office/drawing/2014/main" id="{63061354-2B94-37D1-7851-DC974FBD7855}"/>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5F5F8AA9-CBF7-002E-E5AC-D58034663816}"/>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27014" y="982770"/>
            <a:ext cx="4389120" cy="256032"/>
          </a:xfrm>
          <a:prstGeom prst="rect">
            <a:avLst/>
          </a:prstGeom>
          <a:noFill/>
        </p:spPr>
        <p:txBody>
          <a:bodyPr wrap="square">
            <a:spAutoFit/>
          </a:bodyPr>
          <a:lstStyle/>
          <a:p>
            <a:pPr algn="l"/>
            <a:r>
              <a:rPr sz="1000" b="1" i="0">
                <a:solidFill>
                  <a:srgbClr val="546E7A"/>
                </a:solidFill>
                <a:latin typeface="Calibri"/>
              </a:rPr>
              <a:t>Per-pyrome wind summary (peak fire hours, 2016–2023)</a:t>
            </a:r>
          </a:p>
        </p:txBody>
      </p:sp>
      <p:sp>
        <p:nvSpPr>
          <p:cNvPr id="4" name="Rectangle 3"/>
          <p:cNvSpPr/>
          <p:nvPr/>
        </p:nvSpPr>
        <p:spPr>
          <a:xfrm>
            <a:off x="327014" y="1238802"/>
            <a:ext cx="3907079" cy="310896"/>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5302" y="1266233"/>
            <a:ext cx="502920" cy="237744"/>
          </a:xfrm>
          <a:prstGeom prst="rect">
            <a:avLst/>
          </a:prstGeom>
          <a:noFill/>
        </p:spPr>
        <p:txBody>
          <a:bodyPr wrap="square">
            <a:spAutoFit/>
          </a:bodyPr>
          <a:lstStyle/>
          <a:p>
            <a:pPr algn="ctr"/>
            <a:r>
              <a:rPr sz="900" b="1" i="0">
                <a:solidFill>
                  <a:srgbClr val="FFFFFF"/>
                </a:solidFill>
                <a:latin typeface="Calibri"/>
              </a:rPr>
              <a:t>Pyrome</a:t>
            </a:r>
          </a:p>
        </p:txBody>
      </p:sp>
      <p:sp>
        <p:nvSpPr>
          <p:cNvPr id="6" name="TextBox 5"/>
          <p:cNvSpPr txBox="1"/>
          <p:nvPr/>
        </p:nvSpPr>
        <p:spPr>
          <a:xfrm>
            <a:off x="875654" y="1266233"/>
            <a:ext cx="566928" cy="237744"/>
          </a:xfrm>
          <a:prstGeom prst="rect">
            <a:avLst/>
          </a:prstGeom>
          <a:noFill/>
        </p:spPr>
        <p:txBody>
          <a:bodyPr wrap="square">
            <a:spAutoFit/>
          </a:bodyPr>
          <a:lstStyle/>
          <a:p>
            <a:pPr algn="ctr"/>
            <a:r>
              <a:rPr sz="900" b="1" i="0">
                <a:solidFill>
                  <a:srgbClr val="FFFFFF"/>
                </a:solidFill>
                <a:latin typeface="Calibri"/>
              </a:rPr>
              <a:t>n obs</a:t>
            </a:r>
          </a:p>
        </p:txBody>
      </p:sp>
      <p:sp>
        <p:nvSpPr>
          <p:cNvPr id="7" name="TextBox 6"/>
          <p:cNvSpPr txBox="1"/>
          <p:nvPr/>
        </p:nvSpPr>
        <p:spPr>
          <a:xfrm>
            <a:off x="1470014" y="1266233"/>
            <a:ext cx="594360" cy="237744"/>
          </a:xfrm>
          <a:prstGeom prst="rect">
            <a:avLst/>
          </a:prstGeom>
          <a:noFill/>
        </p:spPr>
        <p:txBody>
          <a:bodyPr wrap="square">
            <a:spAutoFit/>
          </a:bodyPr>
          <a:lstStyle/>
          <a:p>
            <a:pPr algn="ctr"/>
            <a:r>
              <a:rPr sz="900" b="1" i="0">
                <a:solidFill>
                  <a:srgbClr val="FFFFFF"/>
                </a:solidFill>
                <a:latin typeface="Calibri"/>
              </a:rPr>
              <a:t>Calm %</a:t>
            </a:r>
          </a:p>
        </p:txBody>
      </p:sp>
      <p:sp>
        <p:nvSpPr>
          <p:cNvPr id="8" name="TextBox 7"/>
          <p:cNvSpPr txBox="1"/>
          <p:nvPr/>
        </p:nvSpPr>
        <p:spPr>
          <a:xfrm>
            <a:off x="2091805" y="1266233"/>
            <a:ext cx="859536" cy="237744"/>
          </a:xfrm>
          <a:prstGeom prst="rect">
            <a:avLst/>
          </a:prstGeom>
          <a:noFill/>
        </p:spPr>
        <p:txBody>
          <a:bodyPr wrap="square">
            <a:spAutoFit/>
          </a:bodyPr>
          <a:lstStyle/>
          <a:p>
            <a:pPr algn="ctr"/>
            <a:r>
              <a:rPr sz="900" b="1" i="0">
                <a:solidFill>
                  <a:srgbClr val="FFFFFF"/>
                </a:solidFill>
                <a:latin typeface="Calibri"/>
              </a:rPr>
              <a:t>Dom. dir</a:t>
            </a:r>
          </a:p>
        </p:txBody>
      </p:sp>
      <p:sp>
        <p:nvSpPr>
          <p:cNvPr id="9" name="TextBox 8"/>
          <p:cNvSpPr txBox="1"/>
          <p:nvPr/>
        </p:nvSpPr>
        <p:spPr>
          <a:xfrm>
            <a:off x="2987918" y="1266233"/>
            <a:ext cx="1505854" cy="237744"/>
          </a:xfrm>
          <a:prstGeom prst="rect">
            <a:avLst/>
          </a:prstGeom>
          <a:noFill/>
        </p:spPr>
        <p:txBody>
          <a:bodyPr wrap="square">
            <a:spAutoFit/>
          </a:bodyPr>
          <a:lstStyle/>
          <a:p>
            <a:pPr algn="ctr"/>
            <a:r>
              <a:rPr sz="900" b="1" i="0" dirty="0">
                <a:solidFill>
                  <a:srgbClr val="FFFFFF"/>
                </a:solidFill>
                <a:latin typeface="Calibri"/>
              </a:rPr>
              <a:t>Dom. </a:t>
            </a:r>
            <a:r>
              <a:rPr sz="900" b="1" i="0" dirty="0" err="1">
                <a:solidFill>
                  <a:srgbClr val="FFFFFF"/>
                </a:solidFill>
                <a:latin typeface="Calibri"/>
              </a:rPr>
              <a:t>spd</a:t>
            </a:r>
            <a:r>
              <a:rPr sz="900" b="1" i="0" dirty="0">
                <a:solidFill>
                  <a:srgbClr val="FFFFFF"/>
                </a:solidFill>
                <a:latin typeface="Calibri"/>
              </a:rPr>
              <a:t> bin</a:t>
            </a:r>
          </a:p>
        </p:txBody>
      </p:sp>
      <p:sp>
        <p:nvSpPr>
          <p:cNvPr id="10" name="Rectangle 9"/>
          <p:cNvSpPr/>
          <p:nvPr/>
        </p:nvSpPr>
        <p:spPr>
          <a:xfrm>
            <a:off x="327014" y="1549698"/>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45302" y="1604562"/>
            <a:ext cx="502920" cy="237744"/>
          </a:xfrm>
          <a:prstGeom prst="rect">
            <a:avLst/>
          </a:prstGeom>
          <a:noFill/>
        </p:spPr>
        <p:txBody>
          <a:bodyPr wrap="square">
            <a:spAutoFit/>
          </a:bodyPr>
          <a:lstStyle/>
          <a:p>
            <a:pPr algn="ctr"/>
            <a:r>
              <a:rPr sz="900" b="1" i="0">
                <a:solidFill>
                  <a:srgbClr val="1A7A6E"/>
                </a:solidFill>
                <a:latin typeface="Calibri"/>
              </a:rPr>
              <a:t>42</a:t>
            </a:r>
          </a:p>
        </p:txBody>
      </p:sp>
      <p:sp>
        <p:nvSpPr>
          <p:cNvPr id="12" name="TextBox 11"/>
          <p:cNvSpPr txBox="1"/>
          <p:nvPr/>
        </p:nvSpPr>
        <p:spPr>
          <a:xfrm>
            <a:off x="875654" y="1604562"/>
            <a:ext cx="566928" cy="237744"/>
          </a:xfrm>
          <a:prstGeom prst="rect">
            <a:avLst/>
          </a:prstGeom>
          <a:noFill/>
        </p:spPr>
        <p:txBody>
          <a:bodyPr wrap="square">
            <a:spAutoFit/>
          </a:bodyPr>
          <a:lstStyle/>
          <a:p>
            <a:pPr algn="ctr"/>
            <a:r>
              <a:rPr sz="900" b="0" i="0">
                <a:solidFill>
                  <a:srgbClr val="1A1A2E"/>
                </a:solidFill>
                <a:latin typeface="Calibri"/>
              </a:rPr>
              <a:t>1,127</a:t>
            </a:r>
          </a:p>
        </p:txBody>
      </p:sp>
      <p:sp>
        <p:nvSpPr>
          <p:cNvPr id="13" name="TextBox 12"/>
          <p:cNvSpPr txBox="1"/>
          <p:nvPr/>
        </p:nvSpPr>
        <p:spPr>
          <a:xfrm>
            <a:off x="1470014" y="1604562"/>
            <a:ext cx="594360" cy="237744"/>
          </a:xfrm>
          <a:prstGeom prst="rect">
            <a:avLst/>
          </a:prstGeom>
          <a:noFill/>
        </p:spPr>
        <p:txBody>
          <a:bodyPr wrap="square">
            <a:spAutoFit/>
          </a:bodyPr>
          <a:lstStyle/>
          <a:p>
            <a:pPr algn="ctr"/>
            <a:r>
              <a:rPr sz="900" b="0" i="0">
                <a:solidFill>
                  <a:srgbClr val="1A1A2E"/>
                </a:solidFill>
                <a:latin typeface="Calibri"/>
              </a:rPr>
              <a:t>1.0%</a:t>
            </a:r>
          </a:p>
        </p:txBody>
      </p:sp>
      <p:sp>
        <p:nvSpPr>
          <p:cNvPr id="14" name="TextBox 13"/>
          <p:cNvSpPr txBox="1"/>
          <p:nvPr/>
        </p:nvSpPr>
        <p:spPr>
          <a:xfrm>
            <a:off x="2091805" y="1604562"/>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15" name="TextBox 14"/>
          <p:cNvSpPr txBox="1"/>
          <p:nvPr/>
        </p:nvSpPr>
        <p:spPr>
          <a:xfrm>
            <a:off x="2987918" y="1604562"/>
            <a:ext cx="1691640" cy="237744"/>
          </a:xfrm>
          <a:prstGeom prst="rect">
            <a:avLst/>
          </a:prstGeom>
          <a:noFill/>
        </p:spPr>
        <p:txBody>
          <a:bodyPr wrap="square">
            <a:spAutoFit/>
          </a:bodyPr>
          <a:lstStyle/>
          <a:p>
            <a:pPr algn="ctr"/>
            <a:r>
              <a:rPr sz="900" b="0" i="0" dirty="0">
                <a:solidFill>
                  <a:srgbClr val="1A1A2E"/>
                </a:solidFill>
                <a:latin typeface="Calibri"/>
              </a:rPr>
              <a:t>10–15 mph</a:t>
            </a:r>
          </a:p>
        </p:txBody>
      </p:sp>
      <p:sp>
        <p:nvSpPr>
          <p:cNvPr id="16" name="Rectangle 15"/>
          <p:cNvSpPr/>
          <p:nvPr/>
        </p:nvSpPr>
        <p:spPr>
          <a:xfrm>
            <a:off x="327014" y="1897169"/>
            <a:ext cx="3907079"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345302" y="1952034"/>
            <a:ext cx="502920" cy="237744"/>
          </a:xfrm>
          <a:prstGeom prst="rect">
            <a:avLst/>
          </a:prstGeom>
          <a:noFill/>
        </p:spPr>
        <p:txBody>
          <a:bodyPr wrap="square">
            <a:spAutoFit/>
          </a:bodyPr>
          <a:lstStyle/>
          <a:p>
            <a:pPr algn="ctr"/>
            <a:r>
              <a:rPr sz="900" b="1" i="0">
                <a:solidFill>
                  <a:srgbClr val="1A7A6E"/>
                </a:solidFill>
                <a:latin typeface="Calibri"/>
              </a:rPr>
              <a:t>43</a:t>
            </a:r>
          </a:p>
        </p:txBody>
      </p:sp>
      <p:sp>
        <p:nvSpPr>
          <p:cNvPr id="18" name="TextBox 17"/>
          <p:cNvSpPr txBox="1"/>
          <p:nvPr/>
        </p:nvSpPr>
        <p:spPr>
          <a:xfrm>
            <a:off x="875654" y="1952034"/>
            <a:ext cx="566928" cy="237744"/>
          </a:xfrm>
          <a:prstGeom prst="rect">
            <a:avLst/>
          </a:prstGeom>
          <a:noFill/>
        </p:spPr>
        <p:txBody>
          <a:bodyPr wrap="square">
            <a:spAutoFit/>
          </a:bodyPr>
          <a:lstStyle/>
          <a:p>
            <a:pPr algn="ctr"/>
            <a:r>
              <a:rPr sz="900" b="0" i="0">
                <a:solidFill>
                  <a:srgbClr val="1A1A2E"/>
                </a:solidFill>
                <a:latin typeface="Calibri"/>
              </a:rPr>
              <a:t>1,437</a:t>
            </a:r>
          </a:p>
        </p:txBody>
      </p:sp>
      <p:sp>
        <p:nvSpPr>
          <p:cNvPr id="19" name="TextBox 18"/>
          <p:cNvSpPr txBox="1"/>
          <p:nvPr/>
        </p:nvSpPr>
        <p:spPr>
          <a:xfrm>
            <a:off x="1470014" y="1952034"/>
            <a:ext cx="594360" cy="237744"/>
          </a:xfrm>
          <a:prstGeom prst="rect">
            <a:avLst/>
          </a:prstGeom>
          <a:noFill/>
        </p:spPr>
        <p:txBody>
          <a:bodyPr wrap="square">
            <a:spAutoFit/>
          </a:bodyPr>
          <a:lstStyle/>
          <a:p>
            <a:pPr algn="ctr"/>
            <a:r>
              <a:rPr sz="900" b="0" i="0">
                <a:solidFill>
                  <a:srgbClr val="1A1A2E"/>
                </a:solidFill>
                <a:latin typeface="Calibri"/>
              </a:rPr>
              <a:t>2.0%</a:t>
            </a:r>
          </a:p>
        </p:txBody>
      </p:sp>
      <p:sp>
        <p:nvSpPr>
          <p:cNvPr id="20" name="TextBox 19"/>
          <p:cNvSpPr txBox="1"/>
          <p:nvPr/>
        </p:nvSpPr>
        <p:spPr>
          <a:xfrm>
            <a:off x="2091805" y="1952034"/>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21" name="TextBox 20"/>
          <p:cNvSpPr txBox="1"/>
          <p:nvPr/>
        </p:nvSpPr>
        <p:spPr>
          <a:xfrm>
            <a:off x="2987918" y="1952034"/>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22" name="Rectangle 21"/>
          <p:cNvSpPr/>
          <p:nvPr/>
        </p:nvSpPr>
        <p:spPr>
          <a:xfrm>
            <a:off x="327014" y="2244642"/>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345302" y="2299506"/>
            <a:ext cx="502920" cy="237744"/>
          </a:xfrm>
          <a:prstGeom prst="rect">
            <a:avLst/>
          </a:prstGeom>
          <a:noFill/>
        </p:spPr>
        <p:txBody>
          <a:bodyPr wrap="square">
            <a:spAutoFit/>
          </a:bodyPr>
          <a:lstStyle/>
          <a:p>
            <a:pPr algn="ctr"/>
            <a:r>
              <a:rPr sz="900" b="1" i="0">
                <a:solidFill>
                  <a:srgbClr val="1A7A6E"/>
                </a:solidFill>
                <a:latin typeface="Calibri"/>
              </a:rPr>
              <a:t>45</a:t>
            </a:r>
          </a:p>
        </p:txBody>
      </p:sp>
      <p:sp>
        <p:nvSpPr>
          <p:cNvPr id="24" name="TextBox 23"/>
          <p:cNvSpPr txBox="1"/>
          <p:nvPr/>
        </p:nvSpPr>
        <p:spPr>
          <a:xfrm>
            <a:off x="875654" y="2299506"/>
            <a:ext cx="566928" cy="237744"/>
          </a:xfrm>
          <a:prstGeom prst="rect">
            <a:avLst/>
          </a:prstGeom>
          <a:noFill/>
        </p:spPr>
        <p:txBody>
          <a:bodyPr wrap="square">
            <a:spAutoFit/>
          </a:bodyPr>
          <a:lstStyle/>
          <a:p>
            <a:pPr algn="ctr"/>
            <a:r>
              <a:rPr sz="900" b="0" i="0">
                <a:solidFill>
                  <a:srgbClr val="1A1A2E"/>
                </a:solidFill>
                <a:latin typeface="Calibri"/>
              </a:rPr>
              <a:t>803</a:t>
            </a:r>
          </a:p>
        </p:txBody>
      </p:sp>
      <p:sp>
        <p:nvSpPr>
          <p:cNvPr id="25" name="TextBox 24"/>
          <p:cNvSpPr txBox="1"/>
          <p:nvPr/>
        </p:nvSpPr>
        <p:spPr>
          <a:xfrm>
            <a:off x="1470014" y="2299506"/>
            <a:ext cx="594360" cy="237744"/>
          </a:xfrm>
          <a:prstGeom prst="rect">
            <a:avLst/>
          </a:prstGeom>
          <a:noFill/>
        </p:spPr>
        <p:txBody>
          <a:bodyPr wrap="square">
            <a:spAutoFit/>
          </a:bodyPr>
          <a:lstStyle/>
          <a:p>
            <a:pPr algn="ctr"/>
            <a:r>
              <a:rPr sz="900" b="0" i="0">
                <a:solidFill>
                  <a:srgbClr val="1A1A2E"/>
                </a:solidFill>
                <a:latin typeface="Calibri"/>
              </a:rPr>
              <a:t>1.9%</a:t>
            </a:r>
          </a:p>
        </p:txBody>
      </p:sp>
      <p:sp>
        <p:nvSpPr>
          <p:cNvPr id="26" name="TextBox 25"/>
          <p:cNvSpPr txBox="1"/>
          <p:nvPr/>
        </p:nvSpPr>
        <p:spPr>
          <a:xfrm>
            <a:off x="2091805" y="2299506"/>
            <a:ext cx="859536" cy="237744"/>
          </a:xfrm>
          <a:prstGeom prst="rect">
            <a:avLst/>
          </a:prstGeom>
          <a:noFill/>
        </p:spPr>
        <p:txBody>
          <a:bodyPr wrap="square">
            <a:spAutoFit/>
          </a:bodyPr>
          <a:lstStyle/>
          <a:p>
            <a:pPr algn="ctr"/>
            <a:r>
              <a:rPr sz="900" b="0" i="0">
                <a:solidFill>
                  <a:srgbClr val="1B6CA8"/>
                </a:solidFill>
                <a:latin typeface="Calibri"/>
              </a:rPr>
              <a:t>W/NW (292°)</a:t>
            </a:r>
          </a:p>
        </p:txBody>
      </p:sp>
      <p:sp>
        <p:nvSpPr>
          <p:cNvPr id="27" name="TextBox 26"/>
          <p:cNvSpPr txBox="1"/>
          <p:nvPr/>
        </p:nvSpPr>
        <p:spPr>
          <a:xfrm>
            <a:off x="2987918" y="2299506"/>
            <a:ext cx="1691640" cy="237744"/>
          </a:xfrm>
          <a:prstGeom prst="rect">
            <a:avLst/>
          </a:prstGeom>
          <a:noFill/>
        </p:spPr>
        <p:txBody>
          <a:bodyPr wrap="square">
            <a:spAutoFit/>
          </a:bodyPr>
          <a:lstStyle/>
          <a:p>
            <a:pPr algn="ctr"/>
            <a:r>
              <a:rPr sz="900" b="0" i="0" dirty="0">
                <a:solidFill>
                  <a:srgbClr val="1A1A2E"/>
                </a:solidFill>
                <a:latin typeface="Calibri"/>
              </a:rPr>
              <a:t>5–15 mph</a:t>
            </a:r>
          </a:p>
        </p:txBody>
      </p:sp>
      <p:sp>
        <p:nvSpPr>
          <p:cNvPr id="28" name="Rectangle 27"/>
          <p:cNvSpPr/>
          <p:nvPr/>
        </p:nvSpPr>
        <p:spPr>
          <a:xfrm>
            <a:off x="327014" y="2592114"/>
            <a:ext cx="3907079"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345302" y="2646978"/>
            <a:ext cx="502920" cy="237744"/>
          </a:xfrm>
          <a:prstGeom prst="rect">
            <a:avLst/>
          </a:prstGeom>
          <a:noFill/>
        </p:spPr>
        <p:txBody>
          <a:bodyPr wrap="square">
            <a:spAutoFit/>
          </a:bodyPr>
          <a:lstStyle/>
          <a:p>
            <a:pPr algn="ctr"/>
            <a:r>
              <a:rPr sz="900" b="1" i="0">
                <a:solidFill>
                  <a:srgbClr val="1A7A6E"/>
                </a:solidFill>
                <a:latin typeface="Calibri"/>
              </a:rPr>
              <a:t>46</a:t>
            </a:r>
          </a:p>
        </p:txBody>
      </p:sp>
      <p:sp>
        <p:nvSpPr>
          <p:cNvPr id="30" name="TextBox 29"/>
          <p:cNvSpPr txBox="1"/>
          <p:nvPr/>
        </p:nvSpPr>
        <p:spPr>
          <a:xfrm>
            <a:off x="875654" y="2646978"/>
            <a:ext cx="566928" cy="237744"/>
          </a:xfrm>
          <a:prstGeom prst="rect">
            <a:avLst/>
          </a:prstGeom>
          <a:noFill/>
        </p:spPr>
        <p:txBody>
          <a:bodyPr wrap="square">
            <a:spAutoFit/>
          </a:bodyPr>
          <a:lstStyle/>
          <a:p>
            <a:pPr algn="ctr"/>
            <a:r>
              <a:rPr sz="900" b="0" i="0">
                <a:solidFill>
                  <a:srgbClr val="1A1A2E"/>
                </a:solidFill>
                <a:latin typeface="Calibri"/>
              </a:rPr>
              <a:t>1,106</a:t>
            </a:r>
          </a:p>
        </p:txBody>
      </p:sp>
      <p:sp>
        <p:nvSpPr>
          <p:cNvPr id="31" name="TextBox 30"/>
          <p:cNvSpPr txBox="1"/>
          <p:nvPr/>
        </p:nvSpPr>
        <p:spPr>
          <a:xfrm>
            <a:off x="1470014" y="2646978"/>
            <a:ext cx="594360" cy="237744"/>
          </a:xfrm>
          <a:prstGeom prst="rect">
            <a:avLst/>
          </a:prstGeom>
          <a:noFill/>
        </p:spPr>
        <p:txBody>
          <a:bodyPr wrap="square">
            <a:spAutoFit/>
          </a:bodyPr>
          <a:lstStyle/>
          <a:p>
            <a:pPr algn="ctr"/>
            <a:r>
              <a:rPr sz="900" b="0" i="0">
                <a:solidFill>
                  <a:srgbClr val="1A1A2E"/>
                </a:solidFill>
                <a:latin typeface="Calibri"/>
              </a:rPr>
              <a:t>1.3%</a:t>
            </a:r>
          </a:p>
        </p:txBody>
      </p:sp>
      <p:sp>
        <p:nvSpPr>
          <p:cNvPr id="32" name="TextBox 31"/>
          <p:cNvSpPr txBox="1"/>
          <p:nvPr/>
        </p:nvSpPr>
        <p:spPr>
          <a:xfrm>
            <a:off x="2091805" y="2646978"/>
            <a:ext cx="859536" cy="237744"/>
          </a:xfrm>
          <a:prstGeom prst="rect">
            <a:avLst/>
          </a:prstGeom>
          <a:noFill/>
        </p:spPr>
        <p:txBody>
          <a:bodyPr wrap="square">
            <a:spAutoFit/>
          </a:bodyPr>
          <a:lstStyle/>
          <a:p>
            <a:pPr algn="ctr"/>
            <a:r>
              <a:rPr sz="900" b="0" i="0">
                <a:solidFill>
                  <a:srgbClr val="1B6CA8"/>
                </a:solidFill>
                <a:latin typeface="Calibri"/>
              </a:rPr>
              <a:t>W/NW (292°)</a:t>
            </a:r>
          </a:p>
        </p:txBody>
      </p:sp>
      <p:sp>
        <p:nvSpPr>
          <p:cNvPr id="33" name="TextBox 32"/>
          <p:cNvSpPr txBox="1"/>
          <p:nvPr/>
        </p:nvSpPr>
        <p:spPr>
          <a:xfrm>
            <a:off x="2987918" y="2646978"/>
            <a:ext cx="1691640" cy="237744"/>
          </a:xfrm>
          <a:prstGeom prst="rect">
            <a:avLst/>
          </a:prstGeom>
          <a:noFill/>
        </p:spPr>
        <p:txBody>
          <a:bodyPr wrap="square">
            <a:spAutoFit/>
          </a:bodyPr>
          <a:lstStyle/>
          <a:p>
            <a:pPr algn="ctr"/>
            <a:r>
              <a:rPr sz="900" b="0" i="0" dirty="0">
                <a:solidFill>
                  <a:srgbClr val="1A1A2E"/>
                </a:solidFill>
                <a:latin typeface="Calibri"/>
              </a:rPr>
              <a:t>10–20 mph</a:t>
            </a:r>
          </a:p>
        </p:txBody>
      </p:sp>
      <p:sp>
        <p:nvSpPr>
          <p:cNvPr id="34" name="Rectangle 33"/>
          <p:cNvSpPr/>
          <p:nvPr/>
        </p:nvSpPr>
        <p:spPr>
          <a:xfrm>
            <a:off x="327014" y="2939586"/>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345302" y="2994450"/>
            <a:ext cx="502920" cy="237744"/>
          </a:xfrm>
          <a:prstGeom prst="rect">
            <a:avLst/>
          </a:prstGeom>
          <a:noFill/>
        </p:spPr>
        <p:txBody>
          <a:bodyPr wrap="square">
            <a:spAutoFit/>
          </a:bodyPr>
          <a:lstStyle/>
          <a:p>
            <a:pPr algn="ctr"/>
            <a:r>
              <a:rPr sz="900" b="1" i="0">
                <a:solidFill>
                  <a:srgbClr val="1A7A6E"/>
                </a:solidFill>
                <a:latin typeface="Calibri"/>
              </a:rPr>
              <a:t>47</a:t>
            </a:r>
          </a:p>
        </p:txBody>
      </p:sp>
      <p:sp>
        <p:nvSpPr>
          <p:cNvPr id="36" name="TextBox 35"/>
          <p:cNvSpPr txBox="1"/>
          <p:nvPr/>
        </p:nvSpPr>
        <p:spPr>
          <a:xfrm>
            <a:off x="875654" y="2994450"/>
            <a:ext cx="566928" cy="237744"/>
          </a:xfrm>
          <a:prstGeom prst="rect">
            <a:avLst/>
          </a:prstGeom>
          <a:noFill/>
        </p:spPr>
        <p:txBody>
          <a:bodyPr wrap="square">
            <a:spAutoFit/>
          </a:bodyPr>
          <a:lstStyle/>
          <a:p>
            <a:pPr algn="ctr"/>
            <a:r>
              <a:rPr sz="900" b="0" i="0">
                <a:solidFill>
                  <a:srgbClr val="1A1A2E"/>
                </a:solidFill>
                <a:latin typeface="Calibri"/>
              </a:rPr>
              <a:t>1,756</a:t>
            </a:r>
          </a:p>
        </p:txBody>
      </p:sp>
      <p:sp>
        <p:nvSpPr>
          <p:cNvPr id="37" name="TextBox 36"/>
          <p:cNvSpPr txBox="1"/>
          <p:nvPr/>
        </p:nvSpPr>
        <p:spPr>
          <a:xfrm>
            <a:off x="1470014" y="2994450"/>
            <a:ext cx="594360" cy="237744"/>
          </a:xfrm>
          <a:prstGeom prst="rect">
            <a:avLst/>
          </a:prstGeom>
          <a:noFill/>
        </p:spPr>
        <p:txBody>
          <a:bodyPr wrap="square">
            <a:spAutoFit/>
          </a:bodyPr>
          <a:lstStyle/>
          <a:p>
            <a:pPr algn="ctr"/>
            <a:r>
              <a:rPr sz="900" b="0" i="0">
                <a:solidFill>
                  <a:srgbClr val="1A1A2E"/>
                </a:solidFill>
                <a:latin typeface="Calibri"/>
              </a:rPr>
              <a:t>1.3%</a:t>
            </a:r>
          </a:p>
        </p:txBody>
      </p:sp>
      <p:sp>
        <p:nvSpPr>
          <p:cNvPr id="38" name="TextBox 37"/>
          <p:cNvSpPr txBox="1"/>
          <p:nvPr/>
        </p:nvSpPr>
        <p:spPr>
          <a:xfrm>
            <a:off x="2091805" y="2994450"/>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39" name="TextBox 38"/>
          <p:cNvSpPr txBox="1"/>
          <p:nvPr/>
        </p:nvSpPr>
        <p:spPr>
          <a:xfrm>
            <a:off x="2987918" y="2994450"/>
            <a:ext cx="1691640" cy="237744"/>
          </a:xfrm>
          <a:prstGeom prst="rect">
            <a:avLst/>
          </a:prstGeom>
          <a:noFill/>
        </p:spPr>
        <p:txBody>
          <a:bodyPr wrap="square">
            <a:spAutoFit/>
          </a:bodyPr>
          <a:lstStyle/>
          <a:p>
            <a:pPr algn="ctr"/>
            <a:r>
              <a:rPr sz="900" b="0" i="0">
                <a:solidFill>
                  <a:srgbClr val="1A1A2E"/>
                </a:solidFill>
                <a:latin typeface="Calibri"/>
              </a:rPr>
              <a:t>10–15 mph</a:t>
            </a:r>
          </a:p>
        </p:txBody>
      </p:sp>
      <p:sp>
        <p:nvSpPr>
          <p:cNvPr id="40" name="Rectangle 39"/>
          <p:cNvSpPr/>
          <p:nvPr/>
        </p:nvSpPr>
        <p:spPr>
          <a:xfrm>
            <a:off x="327014" y="3287058"/>
            <a:ext cx="3907079"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345302" y="3341922"/>
            <a:ext cx="502920" cy="237744"/>
          </a:xfrm>
          <a:prstGeom prst="rect">
            <a:avLst/>
          </a:prstGeom>
          <a:noFill/>
        </p:spPr>
        <p:txBody>
          <a:bodyPr wrap="square">
            <a:spAutoFit/>
          </a:bodyPr>
          <a:lstStyle/>
          <a:p>
            <a:pPr algn="ctr"/>
            <a:r>
              <a:rPr sz="900" b="1" i="0">
                <a:solidFill>
                  <a:srgbClr val="1A7A6E"/>
                </a:solidFill>
                <a:latin typeface="Calibri"/>
              </a:rPr>
              <a:t>52</a:t>
            </a:r>
          </a:p>
        </p:txBody>
      </p:sp>
      <p:sp>
        <p:nvSpPr>
          <p:cNvPr id="42" name="TextBox 41"/>
          <p:cNvSpPr txBox="1"/>
          <p:nvPr/>
        </p:nvSpPr>
        <p:spPr>
          <a:xfrm>
            <a:off x="875654" y="3341922"/>
            <a:ext cx="566928" cy="237744"/>
          </a:xfrm>
          <a:prstGeom prst="rect">
            <a:avLst/>
          </a:prstGeom>
          <a:noFill/>
        </p:spPr>
        <p:txBody>
          <a:bodyPr wrap="square">
            <a:spAutoFit/>
          </a:bodyPr>
          <a:lstStyle/>
          <a:p>
            <a:pPr algn="ctr"/>
            <a:r>
              <a:rPr sz="900" b="0" i="0">
                <a:solidFill>
                  <a:srgbClr val="1A1A2E"/>
                </a:solidFill>
                <a:latin typeface="Calibri"/>
              </a:rPr>
              <a:t>2,092</a:t>
            </a:r>
          </a:p>
        </p:txBody>
      </p:sp>
      <p:sp>
        <p:nvSpPr>
          <p:cNvPr id="43" name="TextBox 42"/>
          <p:cNvSpPr txBox="1"/>
          <p:nvPr/>
        </p:nvSpPr>
        <p:spPr>
          <a:xfrm>
            <a:off x="1470014" y="3341922"/>
            <a:ext cx="594360" cy="237744"/>
          </a:xfrm>
          <a:prstGeom prst="rect">
            <a:avLst/>
          </a:prstGeom>
          <a:noFill/>
        </p:spPr>
        <p:txBody>
          <a:bodyPr wrap="square">
            <a:spAutoFit/>
          </a:bodyPr>
          <a:lstStyle/>
          <a:p>
            <a:pPr algn="ctr"/>
            <a:r>
              <a:rPr sz="900" b="0" i="0">
                <a:solidFill>
                  <a:srgbClr val="1A1A2E"/>
                </a:solidFill>
                <a:latin typeface="Calibri"/>
              </a:rPr>
              <a:t>0.9%</a:t>
            </a:r>
          </a:p>
        </p:txBody>
      </p:sp>
      <p:sp>
        <p:nvSpPr>
          <p:cNvPr id="44" name="TextBox 43"/>
          <p:cNvSpPr txBox="1"/>
          <p:nvPr/>
        </p:nvSpPr>
        <p:spPr>
          <a:xfrm>
            <a:off x="2091805" y="3341922"/>
            <a:ext cx="859536" cy="237744"/>
          </a:xfrm>
          <a:prstGeom prst="rect">
            <a:avLst/>
          </a:prstGeom>
          <a:noFill/>
        </p:spPr>
        <p:txBody>
          <a:bodyPr wrap="square">
            <a:spAutoFit/>
          </a:bodyPr>
          <a:lstStyle/>
          <a:p>
            <a:pPr algn="ctr"/>
            <a:r>
              <a:rPr sz="900" b="0" i="0">
                <a:solidFill>
                  <a:srgbClr val="C0392B"/>
                </a:solidFill>
                <a:latin typeface="Calibri"/>
              </a:rPr>
              <a:t>S (158°)</a:t>
            </a:r>
          </a:p>
        </p:txBody>
      </p:sp>
      <p:sp>
        <p:nvSpPr>
          <p:cNvPr id="45" name="TextBox 44"/>
          <p:cNvSpPr txBox="1"/>
          <p:nvPr/>
        </p:nvSpPr>
        <p:spPr>
          <a:xfrm>
            <a:off x="2987918" y="3341922"/>
            <a:ext cx="1691640" cy="237744"/>
          </a:xfrm>
          <a:prstGeom prst="rect">
            <a:avLst/>
          </a:prstGeom>
          <a:noFill/>
        </p:spPr>
        <p:txBody>
          <a:bodyPr wrap="square">
            <a:spAutoFit/>
          </a:bodyPr>
          <a:lstStyle/>
          <a:p>
            <a:pPr algn="ctr"/>
            <a:r>
              <a:rPr sz="900" b="0" i="0">
                <a:solidFill>
                  <a:srgbClr val="1A1A2E"/>
                </a:solidFill>
                <a:latin typeface="Calibri"/>
              </a:rPr>
              <a:t>10–20 mph</a:t>
            </a:r>
          </a:p>
        </p:txBody>
      </p:sp>
      <p:sp>
        <p:nvSpPr>
          <p:cNvPr id="46" name="Rectangle 45"/>
          <p:cNvSpPr/>
          <p:nvPr/>
        </p:nvSpPr>
        <p:spPr>
          <a:xfrm>
            <a:off x="327014" y="3634530"/>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p:cNvSpPr txBox="1"/>
          <p:nvPr/>
        </p:nvSpPr>
        <p:spPr>
          <a:xfrm>
            <a:off x="345302" y="3689394"/>
            <a:ext cx="502920" cy="237744"/>
          </a:xfrm>
          <a:prstGeom prst="rect">
            <a:avLst/>
          </a:prstGeom>
          <a:noFill/>
        </p:spPr>
        <p:txBody>
          <a:bodyPr wrap="square">
            <a:spAutoFit/>
          </a:bodyPr>
          <a:lstStyle/>
          <a:p>
            <a:pPr algn="ctr"/>
            <a:r>
              <a:rPr sz="900" b="1" i="0">
                <a:solidFill>
                  <a:srgbClr val="1A7A6E"/>
                </a:solidFill>
                <a:latin typeface="Calibri"/>
              </a:rPr>
              <a:t>53</a:t>
            </a:r>
          </a:p>
        </p:txBody>
      </p:sp>
      <p:sp>
        <p:nvSpPr>
          <p:cNvPr id="48" name="TextBox 47"/>
          <p:cNvSpPr txBox="1"/>
          <p:nvPr/>
        </p:nvSpPr>
        <p:spPr>
          <a:xfrm>
            <a:off x="875654" y="3689394"/>
            <a:ext cx="566928" cy="237744"/>
          </a:xfrm>
          <a:prstGeom prst="rect">
            <a:avLst/>
          </a:prstGeom>
          <a:noFill/>
        </p:spPr>
        <p:txBody>
          <a:bodyPr wrap="square">
            <a:spAutoFit/>
          </a:bodyPr>
          <a:lstStyle/>
          <a:p>
            <a:pPr algn="ctr"/>
            <a:r>
              <a:rPr sz="900" b="0" i="0">
                <a:solidFill>
                  <a:srgbClr val="1A1A2E"/>
                </a:solidFill>
                <a:latin typeface="Calibri"/>
              </a:rPr>
              <a:t>4,479</a:t>
            </a:r>
          </a:p>
        </p:txBody>
      </p:sp>
      <p:sp>
        <p:nvSpPr>
          <p:cNvPr id="49" name="TextBox 48"/>
          <p:cNvSpPr txBox="1"/>
          <p:nvPr/>
        </p:nvSpPr>
        <p:spPr>
          <a:xfrm>
            <a:off x="1470014" y="3689394"/>
            <a:ext cx="594360" cy="237744"/>
          </a:xfrm>
          <a:prstGeom prst="rect">
            <a:avLst/>
          </a:prstGeom>
          <a:noFill/>
        </p:spPr>
        <p:txBody>
          <a:bodyPr wrap="square">
            <a:spAutoFit/>
          </a:bodyPr>
          <a:lstStyle/>
          <a:p>
            <a:pPr algn="ctr"/>
            <a:r>
              <a:rPr sz="900" b="0" i="0">
                <a:solidFill>
                  <a:srgbClr val="1A1A2E"/>
                </a:solidFill>
                <a:latin typeface="Calibri"/>
              </a:rPr>
              <a:t>1.2%</a:t>
            </a:r>
          </a:p>
        </p:txBody>
      </p:sp>
      <p:sp>
        <p:nvSpPr>
          <p:cNvPr id="50" name="TextBox 49"/>
          <p:cNvSpPr txBox="1"/>
          <p:nvPr/>
        </p:nvSpPr>
        <p:spPr>
          <a:xfrm>
            <a:off x="2091805" y="3689394"/>
            <a:ext cx="859536" cy="237744"/>
          </a:xfrm>
          <a:prstGeom prst="rect">
            <a:avLst/>
          </a:prstGeom>
          <a:noFill/>
        </p:spPr>
        <p:txBody>
          <a:bodyPr wrap="square">
            <a:spAutoFit/>
          </a:bodyPr>
          <a:lstStyle/>
          <a:p>
            <a:pPr algn="ctr"/>
            <a:r>
              <a:rPr sz="900" b="0" i="0">
                <a:solidFill>
                  <a:srgbClr val="C0392B"/>
                </a:solidFill>
                <a:latin typeface="Calibri"/>
              </a:rPr>
              <a:t>SW (202°)</a:t>
            </a:r>
          </a:p>
        </p:txBody>
      </p:sp>
      <p:sp>
        <p:nvSpPr>
          <p:cNvPr id="51" name="TextBox 50"/>
          <p:cNvSpPr txBox="1"/>
          <p:nvPr/>
        </p:nvSpPr>
        <p:spPr>
          <a:xfrm>
            <a:off x="2987918" y="3689394"/>
            <a:ext cx="1691640" cy="237744"/>
          </a:xfrm>
          <a:prstGeom prst="rect">
            <a:avLst/>
          </a:prstGeom>
          <a:noFill/>
        </p:spPr>
        <p:txBody>
          <a:bodyPr wrap="square">
            <a:spAutoFit/>
          </a:bodyPr>
          <a:lstStyle/>
          <a:p>
            <a:pPr algn="ctr"/>
            <a:r>
              <a:rPr sz="900" b="0" i="0">
                <a:solidFill>
                  <a:srgbClr val="1A1A2E"/>
                </a:solidFill>
                <a:latin typeface="Calibri"/>
              </a:rPr>
              <a:t>10–25 mph</a:t>
            </a:r>
          </a:p>
        </p:txBody>
      </p:sp>
      <p:sp>
        <p:nvSpPr>
          <p:cNvPr id="52" name="Rectangle 51"/>
          <p:cNvSpPr/>
          <p:nvPr/>
        </p:nvSpPr>
        <p:spPr>
          <a:xfrm>
            <a:off x="327014" y="3982001"/>
            <a:ext cx="3907079"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p:cNvSpPr txBox="1"/>
          <p:nvPr/>
        </p:nvSpPr>
        <p:spPr>
          <a:xfrm>
            <a:off x="345302" y="4036865"/>
            <a:ext cx="502920" cy="237744"/>
          </a:xfrm>
          <a:prstGeom prst="rect">
            <a:avLst/>
          </a:prstGeom>
          <a:noFill/>
        </p:spPr>
        <p:txBody>
          <a:bodyPr wrap="square">
            <a:spAutoFit/>
          </a:bodyPr>
          <a:lstStyle/>
          <a:p>
            <a:pPr algn="ctr"/>
            <a:r>
              <a:rPr sz="900" b="1" i="0">
                <a:solidFill>
                  <a:srgbClr val="1A7A6E"/>
                </a:solidFill>
                <a:latin typeface="Calibri"/>
              </a:rPr>
              <a:t>56</a:t>
            </a:r>
          </a:p>
        </p:txBody>
      </p:sp>
      <p:sp>
        <p:nvSpPr>
          <p:cNvPr id="54" name="TextBox 53"/>
          <p:cNvSpPr txBox="1"/>
          <p:nvPr/>
        </p:nvSpPr>
        <p:spPr>
          <a:xfrm>
            <a:off x="875654" y="4036865"/>
            <a:ext cx="566928" cy="237744"/>
          </a:xfrm>
          <a:prstGeom prst="rect">
            <a:avLst/>
          </a:prstGeom>
          <a:noFill/>
        </p:spPr>
        <p:txBody>
          <a:bodyPr wrap="square">
            <a:spAutoFit/>
          </a:bodyPr>
          <a:lstStyle/>
          <a:p>
            <a:pPr algn="ctr"/>
            <a:r>
              <a:rPr sz="900" b="0" i="0">
                <a:solidFill>
                  <a:srgbClr val="1A1A2E"/>
                </a:solidFill>
                <a:latin typeface="Calibri"/>
              </a:rPr>
              <a:t>4,290</a:t>
            </a:r>
          </a:p>
        </p:txBody>
      </p:sp>
      <p:sp>
        <p:nvSpPr>
          <p:cNvPr id="55" name="TextBox 54"/>
          <p:cNvSpPr txBox="1"/>
          <p:nvPr/>
        </p:nvSpPr>
        <p:spPr>
          <a:xfrm>
            <a:off x="1470014" y="4036865"/>
            <a:ext cx="594360" cy="237744"/>
          </a:xfrm>
          <a:prstGeom prst="rect">
            <a:avLst/>
          </a:prstGeom>
          <a:noFill/>
        </p:spPr>
        <p:txBody>
          <a:bodyPr wrap="square">
            <a:spAutoFit/>
          </a:bodyPr>
          <a:lstStyle/>
          <a:p>
            <a:pPr algn="ctr"/>
            <a:r>
              <a:rPr sz="900" b="0" i="0">
                <a:solidFill>
                  <a:srgbClr val="1A1A2E"/>
                </a:solidFill>
                <a:latin typeface="Calibri"/>
              </a:rPr>
              <a:t>2.3%</a:t>
            </a:r>
          </a:p>
        </p:txBody>
      </p:sp>
      <p:sp>
        <p:nvSpPr>
          <p:cNvPr id="56" name="TextBox 55"/>
          <p:cNvSpPr txBox="1"/>
          <p:nvPr/>
        </p:nvSpPr>
        <p:spPr>
          <a:xfrm>
            <a:off x="2091805" y="4036865"/>
            <a:ext cx="859536" cy="237744"/>
          </a:xfrm>
          <a:prstGeom prst="rect">
            <a:avLst/>
          </a:prstGeom>
          <a:noFill/>
        </p:spPr>
        <p:txBody>
          <a:bodyPr wrap="square">
            <a:spAutoFit/>
          </a:bodyPr>
          <a:lstStyle/>
          <a:p>
            <a:pPr algn="ctr"/>
            <a:r>
              <a:rPr sz="900" b="0" i="0">
                <a:solidFill>
                  <a:srgbClr val="2C6E49"/>
                </a:solidFill>
                <a:latin typeface="Calibri"/>
              </a:rPr>
              <a:t>N (338°)</a:t>
            </a:r>
          </a:p>
        </p:txBody>
      </p:sp>
      <p:sp>
        <p:nvSpPr>
          <p:cNvPr id="57" name="TextBox 56"/>
          <p:cNvSpPr txBox="1"/>
          <p:nvPr/>
        </p:nvSpPr>
        <p:spPr>
          <a:xfrm>
            <a:off x="2987918" y="4036865"/>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58" name="Rectangle 57"/>
          <p:cNvSpPr/>
          <p:nvPr/>
        </p:nvSpPr>
        <p:spPr>
          <a:xfrm>
            <a:off x="327014" y="4329474"/>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345302" y="4384338"/>
            <a:ext cx="502920" cy="237744"/>
          </a:xfrm>
          <a:prstGeom prst="rect">
            <a:avLst/>
          </a:prstGeom>
          <a:noFill/>
        </p:spPr>
        <p:txBody>
          <a:bodyPr wrap="square">
            <a:spAutoFit/>
          </a:bodyPr>
          <a:lstStyle/>
          <a:p>
            <a:pPr algn="ctr"/>
            <a:r>
              <a:rPr sz="900" b="1" i="0">
                <a:solidFill>
                  <a:srgbClr val="1A7A6E"/>
                </a:solidFill>
                <a:latin typeface="Calibri"/>
              </a:rPr>
              <a:t>128</a:t>
            </a:r>
          </a:p>
        </p:txBody>
      </p:sp>
      <p:sp>
        <p:nvSpPr>
          <p:cNvPr id="60" name="TextBox 59"/>
          <p:cNvSpPr txBox="1"/>
          <p:nvPr/>
        </p:nvSpPr>
        <p:spPr>
          <a:xfrm>
            <a:off x="875654" y="4384338"/>
            <a:ext cx="566928" cy="237744"/>
          </a:xfrm>
          <a:prstGeom prst="rect">
            <a:avLst/>
          </a:prstGeom>
          <a:noFill/>
        </p:spPr>
        <p:txBody>
          <a:bodyPr wrap="square">
            <a:spAutoFit/>
          </a:bodyPr>
          <a:lstStyle/>
          <a:p>
            <a:pPr algn="ctr"/>
            <a:r>
              <a:rPr sz="900" b="0" i="0">
                <a:solidFill>
                  <a:srgbClr val="1A1A2E"/>
                </a:solidFill>
                <a:latin typeface="Calibri"/>
              </a:rPr>
              <a:t>1,305</a:t>
            </a:r>
          </a:p>
        </p:txBody>
      </p:sp>
      <p:sp>
        <p:nvSpPr>
          <p:cNvPr id="61" name="TextBox 60"/>
          <p:cNvSpPr txBox="1"/>
          <p:nvPr/>
        </p:nvSpPr>
        <p:spPr>
          <a:xfrm>
            <a:off x="1470014" y="4384338"/>
            <a:ext cx="594360" cy="237744"/>
          </a:xfrm>
          <a:prstGeom prst="rect">
            <a:avLst/>
          </a:prstGeom>
          <a:noFill/>
        </p:spPr>
        <p:txBody>
          <a:bodyPr wrap="square">
            <a:spAutoFit/>
          </a:bodyPr>
          <a:lstStyle/>
          <a:p>
            <a:pPr algn="ctr"/>
            <a:r>
              <a:rPr sz="900" b="0" i="0">
                <a:solidFill>
                  <a:srgbClr val="1A1A2E"/>
                </a:solidFill>
                <a:latin typeface="Calibri"/>
              </a:rPr>
              <a:t>2.1%</a:t>
            </a:r>
          </a:p>
        </p:txBody>
      </p:sp>
      <p:sp>
        <p:nvSpPr>
          <p:cNvPr id="62" name="TextBox 61"/>
          <p:cNvSpPr txBox="1"/>
          <p:nvPr/>
        </p:nvSpPr>
        <p:spPr>
          <a:xfrm>
            <a:off x="2091805" y="4384338"/>
            <a:ext cx="859536" cy="237744"/>
          </a:xfrm>
          <a:prstGeom prst="rect">
            <a:avLst/>
          </a:prstGeom>
          <a:noFill/>
        </p:spPr>
        <p:txBody>
          <a:bodyPr wrap="square">
            <a:spAutoFit/>
          </a:bodyPr>
          <a:lstStyle/>
          <a:p>
            <a:pPr algn="ctr"/>
            <a:r>
              <a:rPr sz="900" b="0" i="0">
                <a:solidFill>
                  <a:srgbClr val="1B6CA8"/>
                </a:solidFill>
                <a:latin typeface="Calibri"/>
              </a:rPr>
              <a:t>NW (292°)</a:t>
            </a:r>
          </a:p>
        </p:txBody>
      </p:sp>
      <p:sp>
        <p:nvSpPr>
          <p:cNvPr id="63" name="TextBox 62"/>
          <p:cNvSpPr txBox="1"/>
          <p:nvPr/>
        </p:nvSpPr>
        <p:spPr>
          <a:xfrm>
            <a:off x="2987918" y="4384338"/>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69" name="Rectangle 68">
            <a:extLst>
              <a:ext uri="{FF2B5EF4-FFF2-40B4-BE49-F238E27FC236}">
                <a16:creationId xmlns:a16="http://schemas.microsoft.com/office/drawing/2014/main" id="{5234B7BE-B804-35B1-B495-F667358DE8FC}"/>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70" name="Rectangle 69">
            <a:extLst>
              <a:ext uri="{FF2B5EF4-FFF2-40B4-BE49-F238E27FC236}">
                <a16:creationId xmlns:a16="http://schemas.microsoft.com/office/drawing/2014/main" id="{62DA84EA-99C3-664F-6A0B-9122AA7D6ED1}"/>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71" name="Rectangle 70">
            <a:extLst>
              <a:ext uri="{FF2B5EF4-FFF2-40B4-BE49-F238E27FC236}">
                <a16:creationId xmlns:a16="http://schemas.microsoft.com/office/drawing/2014/main" id="{468DA2F9-8A44-3384-D3BC-CAC838B6F046}"/>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72" name="Rectangle 71">
            <a:extLst>
              <a:ext uri="{FF2B5EF4-FFF2-40B4-BE49-F238E27FC236}">
                <a16:creationId xmlns:a16="http://schemas.microsoft.com/office/drawing/2014/main" id="{DD1784B6-D4F4-184C-4B6A-097F3FF684FA}"/>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73" name="Rectangle 72">
            <a:extLst>
              <a:ext uri="{FF2B5EF4-FFF2-40B4-BE49-F238E27FC236}">
                <a16:creationId xmlns:a16="http://schemas.microsoft.com/office/drawing/2014/main" id="{F077EFB0-DCAB-5A81-9BB6-67AC2CA14317}"/>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74" name="Rectangle 73">
            <a:extLst>
              <a:ext uri="{FF2B5EF4-FFF2-40B4-BE49-F238E27FC236}">
                <a16:creationId xmlns:a16="http://schemas.microsoft.com/office/drawing/2014/main" id="{526F2C02-9E87-65C7-6880-7166FBAC6ADA}"/>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Rectangle 74">
            <a:extLst>
              <a:ext uri="{FF2B5EF4-FFF2-40B4-BE49-F238E27FC236}">
                <a16:creationId xmlns:a16="http://schemas.microsoft.com/office/drawing/2014/main" id="{04093ADE-5116-BF9A-CF4A-8B242261E4AF}"/>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 name="Rectangle 75">
            <a:extLst>
              <a:ext uri="{FF2B5EF4-FFF2-40B4-BE49-F238E27FC236}">
                <a16:creationId xmlns:a16="http://schemas.microsoft.com/office/drawing/2014/main" id="{327B9F27-C968-0010-D4EE-C7A2E73D80AD}"/>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21490B0A-AB09-A109-766D-C2DD1F00CE62}"/>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79" name="Picture 78">
            <a:extLst>
              <a:ext uri="{FF2B5EF4-FFF2-40B4-BE49-F238E27FC236}">
                <a16:creationId xmlns:a16="http://schemas.microsoft.com/office/drawing/2014/main" id="{9F39EFF2-78DC-D8B8-4630-45CC9715603C}"/>
              </a:ext>
            </a:extLst>
          </p:cNvPr>
          <p:cNvPicPr>
            <a:picLocks noChangeAspect="1"/>
          </p:cNvPicPr>
          <p:nvPr/>
        </p:nvPicPr>
        <p:blipFill>
          <a:blip r:embed="rId3"/>
          <a:stretch>
            <a:fillRect/>
          </a:stretch>
        </p:blipFill>
        <p:spPr>
          <a:xfrm>
            <a:off x="4690591" y="756763"/>
            <a:ext cx="3948319" cy="4167406"/>
          </a:xfrm>
          <a:prstGeom prst="rect">
            <a:avLst/>
          </a:prstGeom>
          <a:ln>
            <a:noFill/>
          </a:ln>
          <a:effectLst>
            <a:outerShdw blurRad="190500" algn="tl" rotWithShape="0">
              <a:srgbClr val="000000">
                <a:alpha val="70000"/>
              </a:srgbClr>
            </a:outerShdw>
          </a:effectLst>
        </p:spPr>
      </p:pic>
      <p:sp>
        <p:nvSpPr>
          <p:cNvPr id="80" name="TextBox 79">
            <a:extLst>
              <a:ext uri="{FF2B5EF4-FFF2-40B4-BE49-F238E27FC236}">
                <a16:creationId xmlns:a16="http://schemas.microsoft.com/office/drawing/2014/main" id="{7B785212-D110-FA5A-D116-65D069591540}"/>
              </a:ext>
            </a:extLst>
          </p:cNvPr>
          <p:cNvSpPr txBox="1"/>
          <p:nvPr/>
        </p:nvSpPr>
        <p:spPr>
          <a:xfrm>
            <a:off x="365760" y="441527"/>
            <a:ext cx="8412480" cy="492443"/>
          </a:xfrm>
          <a:prstGeom prst="rect">
            <a:avLst/>
          </a:prstGeom>
          <a:noFill/>
        </p:spPr>
        <p:txBody>
          <a:bodyPr wrap="square">
            <a:spAutoFit/>
          </a:bodyPr>
          <a:lstStyle/>
          <a:p>
            <a:pPr algn="l"/>
            <a:r>
              <a:rPr sz="2600" b="1" i="0" dirty="0">
                <a:solidFill>
                  <a:srgbClr val="1A1A2E"/>
                </a:solidFill>
                <a:latin typeface="Calibri"/>
              </a:rPr>
              <a:t>HRRR Wind</a:t>
            </a:r>
          </a:p>
        </p:txBody>
      </p:sp>
      <p:sp>
        <p:nvSpPr>
          <p:cNvPr id="83" name="Rectangle 82">
            <a:extLst>
              <a:ext uri="{FF2B5EF4-FFF2-40B4-BE49-F238E27FC236}">
                <a16:creationId xmlns:a16="http://schemas.microsoft.com/office/drawing/2014/main" id="{D722CA08-3536-4053-2F09-BAACAA0347A0}"/>
              </a:ext>
            </a:extLst>
          </p:cNvPr>
          <p:cNvSpPr/>
          <p:nvPr/>
        </p:nvSpPr>
        <p:spPr>
          <a:xfrm>
            <a:off x="4716134" y="2244641"/>
            <a:ext cx="1207236" cy="1444753"/>
          </a:xfrm>
          <a:prstGeom prst="rect">
            <a:avLst/>
          </a:prstGeom>
          <a:noFill/>
          <a:ln w="28575">
            <a:solidFill>
              <a:schemeClr val="tx1"/>
            </a:solidFill>
            <a:prstDash val="sysDash"/>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6C5009-51D4-49EE-7941-4C65CC3CCE7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54BA730-860F-C9CE-5A32-7B58FDAA90A6}"/>
              </a:ext>
            </a:extLst>
          </p:cNvPr>
          <p:cNvSpPr txBox="1"/>
          <p:nvPr/>
        </p:nvSpPr>
        <p:spPr>
          <a:xfrm>
            <a:off x="327014" y="982770"/>
            <a:ext cx="4389120" cy="256032"/>
          </a:xfrm>
          <a:prstGeom prst="rect">
            <a:avLst/>
          </a:prstGeom>
          <a:noFill/>
        </p:spPr>
        <p:txBody>
          <a:bodyPr wrap="square">
            <a:spAutoFit/>
          </a:bodyPr>
          <a:lstStyle/>
          <a:p>
            <a:pPr algn="l"/>
            <a:r>
              <a:rPr sz="1000" b="1" i="0" dirty="0">
                <a:solidFill>
                  <a:srgbClr val="546E7A"/>
                </a:solidFill>
                <a:latin typeface="Calibri"/>
              </a:rPr>
              <a:t>Per-</a:t>
            </a:r>
            <a:r>
              <a:rPr sz="1000" b="1" i="0" dirty="0" err="1">
                <a:solidFill>
                  <a:srgbClr val="546E7A"/>
                </a:solidFill>
                <a:latin typeface="Calibri"/>
              </a:rPr>
              <a:t>pyrome</a:t>
            </a:r>
            <a:r>
              <a:rPr sz="1000" b="1" i="0" dirty="0">
                <a:solidFill>
                  <a:srgbClr val="546E7A"/>
                </a:solidFill>
                <a:latin typeface="Calibri"/>
              </a:rPr>
              <a:t> wind summary (peak fire hours, 2016–2023)</a:t>
            </a:r>
          </a:p>
        </p:txBody>
      </p:sp>
      <p:sp>
        <p:nvSpPr>
          <p:cNvPr id="4" name="Rectangle 3">
            <a:extLst>
              <a:ext uri="{FF2B5EF4-FFF2-40B4-BE49-F238E27FC236}">
                <a16:creationId xmlns:a16="http://schemas.microsoft.com/office/drawing/2014/main" id="{072A64DB-0BB2-E119-8F7D-3ABBC3963E72}"/>
              </a:ext>
            </a:extLst>
          </p:cNvPr>
          <p:cNvSpPr/>
          <p:nvPr/>
        </p:nvSpPr>
        <p:spPr>
          <a:xfrm>
            <a:off x="327014" y="1238802"/>
            <a:ext cx="3907079" cy="310896"/>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871AC8E0-C5D5-68DA-3917-94442B155F54}"/>
              </a:ext>
            </a:extLst>
          </p:cNvPr>
          <p:cNvSpPr txBox="1"/>
          <p:nvPr/>
        </p:nvSpPr>
        <p:spPr>
          <a:xfrm>
            <a:off x="345302" y="1266233"/>
            <a:ext cx="502920" cy="237744"/>
          </a:xfrm>
          <a:prstGeom prst="rect">
            <a:avLst/>
          </a:prstGeom>
          <a:noFill/>
        </p:spPr>
        <p:txBody>
          <a:bodyPr wrap="square">
            <a:spAutoFit/>
          </a:bodyPr>
          <a:lstStyle/>
          <a:p>
            <a:pPr algn="ctr"/>
            <a:r>
              <a:rPr sz="900" b="1" i="0">
                <a:solidFill>
                  <a:srgbClr val="FFFFFF"/>
                </a:solidFill>
                <a:latin typeface="Calibri"/>
              </a:rPr>
              <a:t>Pyrome</a:t>
            </a:r>
          </a:p>
        </p:txBody>
      </p:sp>
      <p:sp>
        <p:nvSpPr>
          <p:cNvPr id="6" name="TextBox 5">
            <a:extLst>
              <a:ext uri="{FF2B5EF4-FFF2-40B4-BE49-F238E27FC236}">
                <a16:creationId xmlns:a16="http://schemas.microsoft.com/office/drawing/2014/main" id="{E4DEB885-DFA5-DB65-ACB8-DDDB60E13576}"/>
              </a:ext>
            </a:extLst>
          </p:cNvPr>
          <p:cNvSpPr txBox="1"/>
          <p:nvPr/>
        </p:nvSpPr>
        <p:spPr>
          <a:xfrm>
            <a:off x="875654" y="1266233"/>
            <a:ext cx="566928" cy="237744"/>
          </a:xfrm>
          <a:prstGeom prst="rect">
            <a:avLst/>
          </a:prstGeom>
          <a:noFill/>
        </p:spPr>
        <p:txBody>
          <a:bodyPr wrap="square">
            <a:spAutoFit/>
          </a:bodyPr>
          <a:lstStyle/>
          <a:p>
            <a:pPr algn="ctr"/>
            <a:r>
              <a:rPr sz="900" b="1" i="0">
                <a:solidFill>
                  <a:srgbClr val="FFFFFF"/>
                </a:solidFill>
                <a:latin typeface="Calibri"/>
              </a:rPr>
              <a:t>n obs</a:t>
            </a:r>
          </a:p>
        </p:txBody>
      </p:sp>
      <p:sp>
        <p:nvSpPr>
          <p:cNvPr id="7" name="TextBox 6">
            <a:extLst>
              <a:ext uri="{FF2B5EF4-FFF2-40B4-BE49-F238E27FC236}">
                <a16:creationId xmlns:a16="http://schemas.microsoft.com/office/drawing/2014/main" id="{ED3B2A41-7D9E-8318-9C05-02D5279E480C}"/>
              </a:ext>
            </a:extLst>
          </p:cNvPr>
          <p:cNvSpPr txBox="1"/>
          <p:nvPr/>
        </p:nvSpPr>
        <p:spPr>
          <a:xfrm>
            <a:off x="1470014" y="1266233"/>
            <a:ext cx="594360" cy="237744"/>
          </a:xfrm>
          <a:prstGeom prst="rect">
            <a:avLst/>
          </a:prstGeom>
          <a:noFill/>
        </p:spPr>
        <p:txBody>
          <a:bodyPr wrap="square">
            <a:spAutoFit/>
          </a:bodyPr>
          <a:lstStyle/>
          <a:p>
            <a:pPr algn="ctr"/>
            <a:r>
              <a:rPr sz="900" b="1" i="0">
                <a:solidFill>
                  <a:srgbClr val="FFFFFF"/>
                </a:solidFill>
                <a:latin typeface="Calibri"/>
              </a:rPr>
              <a:t>Calm %</a:t>
            </a:r>
          </a:p>
        </p:txBody>
      </p:sp>
      <p:sp>
        <p:nvSpPr>
          <p:cNvPr id="8" name="TextBox 7">
            <a:extLst>
              <a:ext uri="{FF2B5EF4-FFF2-40B4-BE49-F238E27FC236}">
                <a16:creationId xmlns:a16="http://schemas.microsoft.com/office/drawing/2014/main" id="{F7BFA014-5FD7-F3A3-AA1E-095A9044CDF8}"/>
              </a:ext>
            </a:extLst>
          </p:cNvPr>
          <p:cNvSpPr txBox="1"/>
          <p:nvPr/>
        </p:nvSpPr>
        <p:spPr>
          <a:xfrm>
            <a:off x="2091805" y="1266233"/>
            <a:ext cx="859536" cy="237744"/>
          </a:xfrm>
          <a:prstGeom prst="rect">
            <a:avLst/>
          </a:prstGeom>
          <a:noFill/>
        </p:spPr>
        <p:txBody>
          <a:bodyPr wrap="square">
            <a:spAutoFit/>
          </a:bodyPr>
          <a:lstStyle/>
          <a:p>
            <a:pPr algn="ctr"/>
            <a:r>
              <a:rPr sz="900" b="1" i="0">
                <a:solidFill>
                  <a:srgbClr val="FFFFFF"/>
                </a:solidFill>
                <a:latin typeface="Calibri"/>
              </a:rPr>
              <a:t>Dom. dir</a:t>
            </a:r>
          </a:p>
        </p:txBody>
      </p:sp>
      <p:sp>
        <p:nvSpPr>
          <p:cNvPr id="9" name="TextBox 8">
            <a:extLst>
              <a:ext uri="{FF2B5EF4-FFF2-40B4-BE49-F238E27FC236}">
                <a16:creationId xmlns:a16="http://schemas.microsoft.com/office/drawing/2014/main" id="{388DD206-6002-C797-FAA3-4AF5F010CA58}"/>
              </a:ext>
            </a:extLst>
          </p:cNvPr>
          <p:cNvSpPr txBox="1"/>
          <p:nvPr/>
        </p:nvSpPr>
        <p:spPr>
          <a:xfrm>
            <a:off x="2987918" y="1266233"/>
            <a:ext cx="1505854" cy="237744"/>
          </a:xfrm>
          <a:prstGeom prst="rect">
            <a:avLst/>
          </a:prstGeom>
          <a:noFill/>
        </p:spPr>
        <p:txBody>
          <a:bodyPr wrap="square">
            <a:spAutoFit/>
          </a:bodyPr>
          <a:lstStyle/>
          <a:p>
            <a:pPr algn="ctr"/>
            <a:r>
              <a:rPr sz="900" b="1" i="0" dirty="0">
                <a:solidFill>
                  <a:srgbClr val="FFFFFF"/>
                </a:solidFill>
                <a:latin typeface="Calibri"/>
              </a:rPr>
              <a:t>Dom. </a:t>
            </a:r>
            <a:r>
              <a:rPr sz="900" b="1" i="0" dirty="0" err="1">
                <a:solidFill>
                  <a:srgbClr val="FFFFFF"/>
                </a:solidFill>
                <a:latin typeface="Calibri"/>
              </a:rPr>
              <a:t>spd</a:t>
            </a:r>
            <a:r>
              <a:rPr sz="900" b="1" i="0" dirty="0">
                <a:solidFill>
                  <a:srgbClr val="FFFFFF"/>
                </a:solidFill>
                <a:latin typeface="Calibri"/>
              </a:rPr>
              <a:t> bin</a:t>
            </a:r>
          </a:p>
        </p:txBody>
      </p:sp>
      <p:sp>
        <p:nvSpPr>
          <p:cNvPr id="10" name="Rectangle 9">
            <a:extLst>
              <a:ext uri="{FF2B5EF4-FFF2-40B4-BE49-F238E27FC236}">
                <a16:creationId xmlns:a16="http://schemas.microsoft.com/office/drawing/2014/main" id="{F3358C29-2B66-DD46-E827-611D34EAD5BD}"/>
              </a:ext>
            </a:extLst>
          </p:cNvPr>
          <p:cNvSpPr/>
          <p:nvPr/>
        </p:nvSpPr>
        <p:spPr>
          <a:xfrm>
            <a:off x="327014" y="1549698"/>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B4C3795F-939E-8F3C-DF57-E20C2D4F1202}"/>
              </a:ext>
            </a:extLst>
          </p:cNvPr>
          <p:cNvSpPr txBox="1"/>
          <p:nvPr/>
        </p:nvSpPr>
        <p:spPr>
          <a:xfrm>
            <a:off x="345302" y="1604562"/>
            <a:ext cx="502920" cy="237744"/>
          </a:xfrm>
          <a:prstGeom prst="rect">
            <a:avLst/>
          </a:prstGeom>
          <a:noFill/>
        </p:spPr>
        <p:txBody>
          <a:bodyPr wrap="square">
            <a:spAutoFit/>
          </a:bodyPr>
          <a:lstStyle/>
          <a:p>
            <a:pPr algn="ctr"/>
            <a:r>
              <a:rPr sz="900" b="1" i="0">
                <a:solidFill>
                  <a:srgbClr val="1A7A6E"/>
                </a:solidFill>
                <a:latin typeface="Calibri"/>
              </a:rPr>
              <a:t>42</a:t>
            </a:r>
          </a:p>
        </p:txBody>
      </p:sp>
      <p:sp>
        <p:nvSpPr>
          <p:cNvPr id="12" name="TextBox 11">
            <a:extLst>
              <a:ext uri="{FF2B5EF4-FFF2-40B4-BE49-F238E27FC236}">
                <a16:creationId xmlns:a16="http://schemas.microsoft.com/office/drawing/2014/main" id="{E94EECBA-5F5A-CF29-80F4-3CA160DBB3F0}"/>
              </a:ext>
            </a:extLst>
          </p:cNvPr>
          <p:cNvSpPr txBox="1"/>
          <p:nvPr/>
        </p:nvSpPr>
        <p:spPr>
          <a:xfrm>
            <a:off x="875654" y="1604562"/>
            <a:ext cx="566928" cy="237744"/>
          </a:xfrm>
          <a:prstGeom prst="rect">
            <a:avLst/>
          </a:prstGeom>
          <a:noFill/>
        </p:spPr>
        <p:txBody>
          <a:bodyPr wrap="square">
            <a:spAutoFit/>
          </a:bodyPr>
          <a:lstStyle/>
          <a:p>
            <a:pPr algn="ctr"/>
            <a:r>
              <a:rPr sz="900" b="0" i="0">
                <a:solidFill>
                  <a:srgbClr val="1A1A2E"/>
                </a:solidFill>
                <a:latin typeface="Calibri"/>
              </a:rPr>
              <a:t>1,127</a:t>
            </a:r>
          </a:p>
        </p:txBody>
      </p:sp>
      <p:sp>
        <p:nvSpPr>
          <p:cNvPr id="13" name="TextBox 12">
            <a:extLst>
              <a:ext uri="{FF2B5EF4-FFF2-40B4-BE49-F238E27FC236}">
                <a16:creationId xmlns:a16="http://schemas.microsoft.com/office/drawing/2014/main" id="{733B376A-8162-A20A-7053-A17CA3AD03B7}"/>
              </a:ext>
            </a:extLst>
          </p:cNvPr>
          <p:cNvSpPr txBox="1"/>
          <p:nvPr/>
        </p:nvSpPr>
        <p:spPr>
          <a:xfrm>
            <a:off x="1470014" y="1604562"/>
            <a:ext cx="594360" cy="237744"/>
          </a:xfrm>
          <a:prstGeom prst="rect">
            <a:avLst/>
          </a:prstGeom>
          <a:noFill/>
        </p:spPr>
        <p:txBody>
          <a:bodyPr wrap="square">
            <a:spAutoFit/>
          </a:bodyPr>
          <a:lstStyle/>
          <a:p>
            <a:pPr algn="ctr"/>
            <a:r>
              <a:rPr sz="900" b="0" i="0">
                <a:solidFill>
                  <a:srgbClr val="1A1A2E"/>
                </a:solidFill>
                <a:latin typeface="Calibri"/>
              </a:rPr>
              <a:t>1.0%</a:t>
            </a:r>
          </a:p>
        </p:txBody>
      </p:sp>
      <p:sp>
        <p:nvSpPr>
          <p:cNvPr id="14" name="TextBox 13">
            <a:extLst>
              <a:ext uri="{FF2B5EF4-FFF2-40B4-BE49-F238E27FC236}">
                <a16:creationId xmlns:a16="http://schemas.microsoft.com/office/drawing/2014/main" id="{5931AAF7-C1C5-39F6-7F3F-802FB279D930}"/>
              </a:ext>
            </a:extLst>
          </p:cNvPr>
          <p:cNvSpPr txBox="1"/>
          <p:nvPr/>
        </p:nvSpPr>
        <p:spPr>
          <a:xfrm>
            <a:off x="2091805" y="1604562"/>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15" name="TextBox 14">
            <a:extLst>
              <a:ext uri="{FF2B5EF4-FFF2-40B4-BE49-F238E27FC236}">
                <a16:creationId xmlns:a16="http://schemas.microsoft.com/office/drawing/2014/main" id="{563C4E6E-F61D-F537-F42A-2177D230C7F7}"/>
              </a:ext>
            </a:extLst>
          </p:cNvPr>
          <p:cNvSpPr txBox="1"/>
          <p:nvPr/>
        </p:nvSpPr>
        <p:spPr>
          <a:xfrm>
            <a:off x="2987918" y="1604562"/>
            <a:ext cx="1691640" cy="237744"/>
          </a:xfrm>
          <a:prstGeom prst="rect">
            <a:avLst/>
          </a:prstGeom>
          <a:noFill/>
        </p:spPr>
        <p:txBody>
          <a:bodyPr wrap="square">
            <a:spAutoFit/>
          </a:bodyPr>
          <a:lstStyle/>
          <a:p>
            <a:pPr algn="ctr"/>
            <a:r>
              <a:rPr sz="900" b="0" i="0" dirty="0">
                <a:solidFill>
                  <a:srgbClr val="1A1A2E"/>
                </a:solidFill>
                <a:latin typeface="Calibri"/>
              </a:rPr>
              <a:t>10–15 mph</a:t>
            </a:r>
          </a:p>
        </p:txBody>
      </p:sp>
      <p:sp>
        <p:nvSpPr>
          <p:cNvPr id="16" name="Rectangle 15">
            <a:extLst>
              <a:ext uri="{FF2B5EF4-FFF2-40B4-BE49-F238E27FC236}">
                <a16:creationId xmlns:a16="http://schemas.microsoft.com/office/drawing/2014/main" id="{82144AE2-40EC-F678-600E-6377E5C6F8E7}"/>
              </a:ext>
            </a:extLst>
          </p:cNvPr>
          <p:cNvSpPr/>
          <p:nvPr/>
        </p:nvSpPr>
        <p:spPr>
          <a:xfrm>
            <a:off x="327014" y="1897169"/>
            <a:ext cx="3907079"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a:extLst>
              <a:ext uri="{FF2B5EF4-FFF2-40B4-BE49-F238E27FC236}">
                <a16:creationId xmlns:a16="http://schemas.microsoft.com/office/drawing/2014/main" id="{1D124ABB-968F-BBFF-E32E-5658058F239D}"/>
              </a:ext>
            </a:extLst>
          </p:cNvPr>
          <p:cNvSpPr txBox="1"/>
          <p:nvPr/>
        </p:nvSpPr>
        <p:spPr>
          <a:xfrm>
            <a:off x="345302" y="1952034"/>
            <a:ext cx="502920" cy="237744"/>
          </a:xfrm>
          <a:prstGeom prst="rect">
            <a:avLst/>
          </a:prstGeom>
          <a:noFill/>
        </p:spPr>
        <p:txBody>
          <a:bodyPr wrap="square">
            <a:spAutoFit/>
          </a:bodyPr>
          <a:lstStyle/>
          <a:p>
            <a:pPr algn="ctr"/>
            <a:r>
              <a:rPr sz="900" b="1" i="0">
                <a:solidFill>
                  <a:srgbClr val="1A7A6E"/>
                </a:solidFill>
                <a:latin typeface="Calibri"/>
              </a:rPr>
              <a:t>43</a:t>
            </a:r>
          </a:p>
        </p:txBody>
      </p:sp>
      <p:sp>
        <p:nvSpPr>
          <p:cNvPr id="18" name="TextBox 17">
            <a:extLst>
              <a:ext uri="{FF2B5EF4-FFF2-40B4-BE49-F238E27FC236}">
                <a16:creationId xmlns:a16="http://schemas.microsoft.com/office/drawing/2014/main" id="{A00660BC-60EC-EBCE-CF0E-8FE472954B81}"/>
              </a:ext>
            </a:extLst>
          </p:cNvPr>
          <p:cNvSpPr txBox="1"/>
          <p:nvPr/>
        </p:nvSpPr>
        <p:spPr>
          <a:xfrm>
            <a:off x="875654" y="1952034"/>
            <a:ext cx="566928" cy="237744"/>
          </a:xfrm>
          <a:prstGeom prst="rect">
            <a:avLst/>
          </a:prstGeom>
          <a:noFill/>
        </p:spPr>
        <p:txBody>
          <a:bodyPr wrap="square">
            <a:spAutoFit/>
          </a:bodyPr>
          <a:lstStyle/>
          <a:p>
            <a:pPr algn="ctr"/>
            <a:r>
              <a:rPr sz="900" b="0" i="0">
                <a:solidFill>
                  <a:srgbClr val="1A1A2E"/>
                </a:solidFill>
                <a:latin typeface="Calibri"/>
              </a:rPr>
              <a:t>1,437</a:t>
            </a:r>
          </a:p>
        </p:txBody>
      </p:sp>
      <p:sp>
        <p:nvSpPr>
          <p:cNvPr id="19" name="TextBox 18">
            <a:extLst>
              <a:ext uri="{FF2B5EF4-FFF2-40B4-BE49-F238E27FC236}">
                <a16:creationId xmlns:a16="http://schemas.microsoft.com/office/drawing/2014/main" id="{2F8D442E-725A-F9A7-E0C5-A48F58E2822C}"/>
              </a:ext>
            </a:extLst>
          </p:cNvPr>
          <p:cNvSpPr txBox="1"/>
          <p:nvPr/>
        </p:nvSpPr>
        <p:spPr>
          <a:xfrm>
            <a:off x="1470014" y="1952034"/>
            <a:ext cx="594360" cy="237744"/>
          </a:xfrm>
          <a:prstGeom prst="rect">
            <a:avLst/>
          </a:prstGeom>
          <a:noFill/>
        </p:spPr>
        <p:txBody>
          <a:bodyPr wrap="square">
            <a:spAutoFit/>
          </a:bodyPr>
          <a:lstStyle/>
          <a:p>
            <a:pPr algn="ctr"/>
            <a:r>
              <a:rPr sz="900" b="0" i="0">
                <a:solidFill>
                  <a:srgbClr val="1A1A2E"/>
                </a:solidFill>
                <a:latin typeface="Calibri"/>
              </a:rPr>
              <a:t>2.0%</a:t>
            </a:r>
          </a:p>
        </p:txBody>
      </p:sp>
      <p:sp>
        <p:nvSpPr>
          <p:cNvPr id="20" name="TextBox 19">
            <a:extLst>
              <a:ext uri="{FF2B5EF4-FFF2-40B4-BE49-F238E27FC236}">
                <a16:creationId xmlns:a16="http://schemas.microsoft.com/office/drawing/2014/main" id="{DC922549-90A6-D9E9-D25C-806F882C7B7E}"/>
              </a:ext>
            </a:extLst>
          </p:cNvPr>
          <p:cNvSpPr txBox="1"/>
          <p:nvPr/>
        </p:nvSpPr>
        <p:spPr>
          <a:xfrm>
            <a:off x="2091805" y="1952034"/>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21" name="TextBox 20">
            <a:extLst>
              <a:ext uri="{FF2B5EF4-FFF2-40B4-BE49-F238E27FC236}">
                <a16:creationId xmlns:a16="http://schemas.microsoft.com/office/drawing/2014/main" id="{4E7F9B08-83B0-E7D3-2422-7B8D6370BD16}"/>
              </a:ext>
            </a:extLst>
          </p:cNvPr>
          <p:cNvSpPr txBox="1"/>
          <p:nvPr/>
        </p:nvSpPr>
        <p:spPr>
          <a:xfrm>
            <a:off x="2987918" y="1952034"/>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22" name="Rectangle 21">
            <a:extLst>
              <a:ext uri="{FF2B5EF4-FFF2-40B4-BE49-F238E27FC236}">
                <a16:creationId xmlns:a16="http://schemas.microsoft.com/office/drawing/2014/main" id="{47A6800D-4E3D-7A24-92DE-C0967361077F}"/>
              </a:ext>
            </a:extLst>
          </p:cNvPr>
          <p:cNvSpPr/>
          <p:nvPr/>
        </p:nvSpPr>
        <p:spPr>
          <a:xfrm>
            <a:off x="327014" y="2244642"/>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a:extLst>
              <a:ext uri="{FF2B5EF4-FFF2-40B4-BE49-F238E27FC236}">
                <a16:creationId xmlns:a16="http://schemas.microsoft.com/office/drawing/2014/main" id="{3E334AC5-14DF-9B7F-BC63-4D3A5834FFBA}"/>
              </a:ext>
            </a:extLst>
          </p:cNvPr>
          <p:cNvSpPr txBox="1"/>
          <p:nvPr/>
        </p:nvSpPr>
        <p:spPr>
          <a:xfrm>
            <a:off x="345302" y="2299506"/>
            <a:ext cx="502920" cy="237744"/>
          </a:xfrm>
          <a:prstGeom prst="rect">
            <a:avLst/>
          </a:prstGeom>
          <a:noFill/>
        </p:spPr>
        <p:txBody>
          <a:bodyPr wrap="square">
            <a:spAutoFit/>
          </a:bodyPr>
          <a:lstStyle/>
          <a:p>
            <a:pPr algn="ctr"/>
            <a:r>
              <a:rPr sz="900" b="1" i="0">
                <a:solidFill>
                  <a:srgbClr val="1A7A6E"/>
                </a:solidFill>
                <a:latin typeface="Calibri"/>
              </a:rPr>
              <a:t>45</a:t>
            </a:r>
          </a:p>
        </p:txBody>
      </p:sp>
      <p:sp>
        <p:nvSpPr>
          <p:cNvPr id="24" name="TextBox 23">
            <a:extLst>
              <a:ext uri="{FF2B5EF4-FFF2-40B4-BE49-F238E27FC236}">
                <a16:creationId xmlns:a16="http://schemas.microsoft.com/office/drawing/2014/main" id="{E60F1C50-7162-7D34-5AC1-83F72151236A}"/>
              </a:ext>
            </a:extLst>
          </p:cNvPr>
          <p:cNvSpPr txBox="1"/>
          <p:nvPr/>
        </p:nvSpPr>
        <p:spPr>
          <a:xfrm>
            <a:off x="875654" y="2299506"/>
            <a:ext cx="566928" cy="237744"/>
          </a:xfrm>
          <a:prstGeom prst="rect">
            <a:avLst/>
          </a:prstGeom>
          <a:noFill/>
        </p:spPr>
        <p:txBody>
          <a:bodyPr wrap="square">
            <a:spAutoFit/>
          </a:bodyPr>
          <a:lstStyle/>
          <a:p>
            <a:pPr algn="ctr"/>
            <a:r>
              <a:rPr sz="900" b="0" i="0">
                <a:solidFill>
                  <a:srgbClr val="1A1A2E"/>
                </a:solidFill>
                <a:latin typeface="Calibri"/>
              </a:rPr>
              <a:t>803</a:t>
            </a:r>
          </a:p>
        </p:txBody>
      </p:sp>
      <p:sp>
        <p:nvSpPr>
          <p:cNvPr id="25" name="TextBox 24">
            <a:extLst>
              <a:ext uri="{FF2B5EF4-FFF2-40B4-BE49-F238E27FC236}">
                <a16:creationId xmlns:a16="http://schemas.microsoft.com/office/drawing/2014/main" id="{9CEB27B6-A892-5631-9087-8F1180662261}"/>
              </a:ext>
            </a:extLst>
          </p:cNvPr>
          <p:cNvSpPr txBox="1"/>
          <p:nvPr/>
        </p:nvSpPr>
        <p:spPr>
          <a:xfrm>
            <a:off x="1470014" y="2299506"/>
            <a:ext cx="594360" cy="237744"/>
          </a:xfrm>
          <a:prstGeom prst="rect">
            <a:avLst/>
          </a:prstGeom>
          <a:noFill/>
        </p:spPr>
        <p:txBody>
          <a:bodyPr wrap="square">
            <a:spAutoFit/>
          </a:bodyPr>
          <a:lstStyle/>
          <a:p>
            <a:pPr algn="ctr"/>
            <a:r>
              <a:rPr sz="900" b="0" i="0">
                <a:solidFill>
                  <a:srgbClr val="1A1A2E"/>
                </a:solidFill>
                <a:latin typeface="Calibri"/>
              </a:rPr>
              <a:t>1.9%</a:t>
            </a:r>
          </a:p>
        </p:txBody>
      </p:sp>
      <p:sp>
        <p:nvSpPr>
          <p:cNvPr id="26" name="TextBox 25">
            <a:extLst>
              <a:ext uri="{FF2B5EF4-FFF2-40B4-BE49-F238E27FC236}">
                <a16:creationId xmlns:a16="http://schemas.microsoft.com/office/drawing/2014/main" id="{DDE07290-B1E7-BAC9-F49D-23F7983196EA}"/>
              </a:ext>
            </a:extLst>
          </p:cNvPr>
          <p:cNvSpPr txBox="1"/>
          <p:nvPr/>
        </p:nvSpPr>
        <p:spPr>
          <a:xfrm>
            <a:off x="2091805" y="2299506"/>
            <a:ext cx="859536" cy="237744"/>
          </a:xfrm>
          <a:prstGeom prst="rect">
            <a:avLst/>
          </a:prstGeom>
          <a:noFill/>
        </p:spPr>
        <p:txBody>
          <a:bodyPr wrap="square">
            <a:spAutoFit/>
          </a:bodyPr>
          <a:lstStyle/>
          <a:p>
            <a:pPr algn="ctr"/>
            <a:r>
              <a:rPr sz="900" b="0" i="0">
                <a:solidFill>
                  <a:srgbClr val="1B6CA8"/>
                </a:solidFill>
                <a:latin typeface="Calibri"/>
              </a:rPr>
              <a:t>W/NW (292°)</a:t>
            </a:r>
          </a:p>
        </p:txBody>
      </p:sp>
      <p:sp>
        <p:nvSpPr>
          <p:cNvPr id="27" name="TextBox 26">
            <a:extLst>
              <a:ext uri="{FF2B5EF4-FFF2-40B4-BE49-F238E27FC236}">
                <a16:creationId xmlns:a16="http://schemas.microsoft.com/office/drawing/2014/main" id="{4F47B50D-6746-0011-A343-16A266B34D78}"/>
              </a:ext>
            </a:extLst>
          </p:cNvPr>
          <p:cNvSpPr txBox="1"/>
          <p:nvPr/>
        </p:nvSpPr>
        <p:spPr>
          <a:xfrm>
            <a:off x="2987918" y="2299506"/>
            <a:ext cx="1691640" cy="237744"/>
          </a:xfrm>
          <a:prstGeom prst="rect">
            <a:avLst/>
          </a:prstGeom>
          <a:noFill/>
        </p:spPr>
        <p:txBody>
          <a:bodyPr wrap="square">
            <a:spAutoFit/>
          </a:bodyPr>
          <a:lstStyle/>
          <a:p>
            <a:pPr algn="ctr"/>
            <a:r>
              <a:rPr sz="900" b="0" i="0" dirty="0">
                <a:solidFill>
                  <a:srgbClr val="1A1A2E"/>
                </a:solidFill>
                <a:latin typeface="Calibri"/>
              </a:rPr>
              <a:t>5–15 mph</a:t>
            </a:r>
          </a:p>
        </p:txBody>
      </p:sp>
      <p:sp>
        <p:nvSpPr>
          <p:cNvPr id="28" name="Rectangle 27">
            <a:extLst>
              <a:ext uri="{FF2B5EF4-FFF2-40B4-BE49-F238E27FC236}">
                <a16:creationId xmlns:a16="http://schemas.microsoft.com/office/drawing/2014/main" id="{CF7535FF-B969-4745-040A-C0F408BFC7A4}"/>
              </a:ext>
            </a:extLst>
          </p:cNvPr>
          <p:cNvSpPr/>
          <p:nvPr/>
        </p:nvSpPr>
        <p:spPr>
          <a:xfrm>
            <a:off x="327014" y="2592114"/>
            <a:ext cx="3907079"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a:extLst>
              <a:ext uri="{FF2B5EF4-FFF2-40B4-BE49-F238E27FC236}">
                <a16:creationId xmlns:a16="http://schemas.microsoft.com/office/drawing/2014/main" id="{49B91F9D-D3CB-ABC5-9CC0-9A56B4EAFD7F}"/>
              </a:ext>
            </a:extLst>
          </p:cNvPr>
          <p:cNvSpPr txBox="1"/>
          <p:nvPr/>
        </p:nvSpPr>
        <p:spPr>
          <a:xfrm>
            <a:off x="345302" y="2646978"/>
            <a:ext cx="502920" cy="237744"/>
          </a:xfrm>
          <a:prstGeom prst="rect">
            <a:avLst/>
          </a:prstGeom>
          <a:noFill/>
        </p:spPr>
        <p:txBody>
          <a:bodyPr wrap="square">
            <a:spAutoFit/>
          </a:bodyPr>
          <a:lstStyle/>
          <a:p>
            <a:pPr algn="ctr"/>
            <a:r>
              <a:rPr sz="900" b="1" i="0">
                <a:solidFill>
                  <a:srgbClr val="1A7A6E"/>
                </a:solidFill>
                <a:latin typeface="Calibri"/>
              </a:rPr>
              <a:t>46</a:t>
            </a:r>
          </a:p>
        </p:txBody>
      </p:sp>
      <p:sp>
        <p:nvSpPr>
          <p:cNvPr id="30" name="TextBox 29">
            <a:extLst>
              <a:ext uri="{FF2B5EF4-FFF2-40B4-BE49-F238E27FC236}">
                <a16:creationId xmlns:a16="http://schemas.microsoft.com/office/drawing/2014/main" id="{CE0AF284-6087-67E5-26F3-96155A5DAD39}"/>
              </a:ext>
            </a:extLst>
          </p:cNvPr>
          <p:cNvSpPr txBox="1"/>
          <p:nvPr/>
        </p:nvSpPr>
        <p:spPr>
          <a:xfrm>
            <a:off x="875654" y="2646978"/>
            <a:ext cx="566928" cy="237744"/>
          </a:xfrm>
          <a:prstGeom prst="rect">
            <a:avLst/>
          </a:prstGeom>
          <a:noFill/>
        </p:spPr>
        <p:txBody>
          <a:bodyPr wrap="square">
            <a:spAutoFit/>
          </a:bodyPr>
          <a:lstStyle/>
          <a:p>
            <a:pPr algn="ctr"/>
            <a:r>
              <a:rPr sz="900" b="0" i="0">
                <a:solidFill>
                  <a:srgbClr val="1A1A2E"/>
                </a:solidFill>
                <a:latin typeface="Calibri"/>
              </a:rPr>
              <a:t>1,106</a:t>
            </a:r>
          </a:p>
        </p:txBody>
      </p:sp>
      <p:sp>
        <p:nvSpPr>
          <p:cNvPr id="31" name="TextBox 30">
            <a:extLst>
              <a:ext uri="{FF2B5EF4-FFF2-40B4-BE49-F238E27FC236}">
                <a16:creationId xmlns:a16="http://schemas.microsoft.com/office/drawing/2014/main" id="{93897F0F-11C9-4FD2-FB32-33A353412695}"/>
              </a:ext>
            </a:extLst>
          </p:cNvPr>
          <p:cNvSpPr txBox="1"/>
          <p:nvPr/>
        </p:nvSpPr>
        <p:spPr>
          <a:xfrm>
            <a:off x="1470014" y="2646978"/>
            <a:ext cx="594360" cy="237744"/>
          </a:xfrm>
          <a:prstGeom prst="rect">
            <a:avLst/>
          </a:prstGeom>
          <a:noFill/>
        </p:spPr>
        <p:txBody>
          <a:bodyPr wrap="square">
            <a:spAutoFit/>
          </a:bodyPr>
          <a:lstStyle/>
          <a:p>
            <a:pPr algn="ctr"/>
            <a:r>
              <a:rPr sz="900" b="0" i="0">
                <a:solidFill>
                  <a:srgbClr val="1A1A2E"/>
                </a:solidFill>
                <a:latin typeface="Calibri"/>
              </a:rPr>
              <a:t>1.3%</a:t>
            </a:r>
          </a:p>
        </p:txBody>
      </p:sp>
      <p:sp>
        <p:nvSpPr>
          <p:cNvPr id="32" name="TextBox 31">
            <a:extLst>
              <a:ext uri="{FF2B5EF4-FFF2-40B4-BE49-F238E27FC236}">
                <a16:creationId xmlns:a16="http://schemas.microsoft.com/office/drawing/2014/main" id="{14376574-F5B8-1AF2-3F68-FBB46AB7802F}"/>
              </a:ext>
            </a:extLst>
          </p:cNvPr>
          <p:cNvSpPr txBox="1"/>
          <p:nvPr/>
        </p:nvSpPr>
        <p:spPr>
          <a:xfrm>
            <a:off x="2091805" y="2646978"/>
            <a:ext cx="859536" cy="237744"/>
          </a:xfrm>
          <a:prstGeom prst="rect">
            <a:avLst/>
          </a:prstGeom>
          <a:noFill/>
        </p:spPr>
        <p:txBody>
          <a:bodyPr wrap="square">
            <a:spAutoFit/>
          </a:bodyPr>
          <a:lstStyle/>
          <a:p>
            <a:pPr algn="ctr"/>
            <a:r>
              <a:rPr sz="900" b="0" i="0">
                <a:solidFill>
                  <a:srgbClr val="1B6CA8"/>
                </a:solidFill>
                <a:latin typeface="Calibri"/>
              </a:rPr>
              <a:t>W/NW (292°)</a:t>
            </a:r>
          </a:p>
        </p:txBody>
      </p:sp>
      <p:sp>
        <p:nvSpPr>
          <p:cNvPr id="33" name="TextBox 32">
            <a:extLst>
              <a:ext uri="{FF2B5EF4-FFF2-40B4-BE49-F238E27FC236}">
                <a16:creationId xmlns:a16="http://schemas.microsoft.com/office/drawing/2014/main" id="{8FA46CC6-57B1-F74A-55F8-92AA8D2C4037}"/>
              </a:ext>
            </a:extLst>
          </p:cNvPr>
          <p:cNvSpPr txBox="1"/>
          <p:nvPr/>
        </p:nvSpPr>
        <p:spPr>
          <a:xfrm>
            <a:off x="2987918" y="2646978"/>
            <a:ext cx="1691640" cy="237744"/>
          </a:xfrm>
          <a:prstGeom prst="rect">
            <a:avLst/>
          </a:prstGeom>
          <a:noFill/>
        </p:spPr>
        <p:txBody>
          <a:bodyPr wrap="square">
            <a:spAutoFit/>
          </a:bodyPr>
          <a:lstStyle/>
          <a:p>
            <a:pPr algn="ctr"/>
            <a:r>
              <a:rPr sz="900" b="0" i="0" dirty="0">
                <a:solidFill>
                  <a:srgbClr val="1A1A2E"/>
                </a:solidFill>
                <a:latin typeface="Calibri"/>
              </a:rPr>
              <a:t>10–20 mph</a:t>
            </a:r>
          </a:p>
        </p:txBody>
      </p:sp>
      <p:sp>
        <p:nvSpPr>
          <p:cNvPr id="34" name="Rectangle 33">
            <a:extLst>
              <a:ext uri="{FF2B5EF4-FFF2-40B4-BE49-F238E27FC236}">
                <a16:creationId xmlns:a16="http://schemas.microsoft.com/office/drawing/2014/main" id="{D58E2131-93C7-6819-A7B8-B5DFEFC305EF}"/>
              </a:ext>
            </a:extLst>
          </p:cNvPr>
          <p:cNvSpPr/>
          <p:nvPr/>
        </p:nvSpPr>
        <p:spPr>
          <a:xfrm>
            <a:off x="327014" y="2939586"/>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16B4DF53-5E2D-F68E-0011-501E449DA2CA}"/>
              </a:ext>
            </a:extLst>
          </p:cNvPr>
          <p:cNvSpPr txBox="1"/>
          <p:nvPr/>
        </p:nvSpPr>
        <p:spPr>
          <a:xfrm>
            <a:off x="345302" y="2994450"/>
            <a:ext cx="502920" cy="237744"/>
          </a:xfrm>
          <a:prstGeom prst="rect">
            <a:avLst/>
          </a:prstGeom>
          <a:noFill/>
        </p:spPr>
        <p:txBody>
          <a:bodyPr wrap="square">
            <a:spAutoFit/>
          </a:bodyPr>
          <a:lstStyle/>
          <a:p>
            <a:pPr algn="ctr"/>
            <a:r>
              <a:rPr sz="900" b="1" i="0">
                <a:solidFill>
                  <a:srgbClr val="1A7A6E"/>
                </a:solidFill>
                <a:latin typeface="Calibri"/>
              </a:rPr>
              <a:t>47</a:t>
            </a:r>
          </a:p>
        </p:txBody>
      </p:sp>
      <p:sp>
        <p:nvSpPr>
          <p:cNvPr id="36" name="TextBox 35">
            <a:extLst>
              <a:ext uri="{FF2B5EF4-FFF2-40B4-BE49-F238E27FC236}">
                <a16:creationId xmlns:a16="http://schemas.microsoft.com/office/drawing/2014/main" id="{880D4525-15C4-2C32-905F-A8E5EA10A880}"/>
              </a:ext>
            </a:extLst>
          </p:cNvPr>
          <p:cNvSpPr txBox="1"/>
          <p:nvPr/>
        </p:nvSpPr>
        <p:spPr>
          <a:xfrm>
            <a:off x="875654" y="2994450"/>
            <a:ext cx="566928" cy="237744"/>
          </a:xfrm>
          <a:prstGeom prst="rect">
            <a:avLst/>
          </a:prstGeom>
          <a:noFill/>
        </p:spPr>
        <p:txBody>
          <a:bodyPr wrap="square">
            <a:spAutoFit/>
          </a:bodyPr>
          <a:lstStyle/>
          <a:p>
            <a:pPr algn="ctr"/>
            <a:r>
              <a:rPr sz="900" b="0" i="0">
                <a:solidFill>
                  <a:srgbClr val="1A1A2E"/>
                </a:solidFill>
                <a:latin typeface="Calibri"/>
              </a:rPr>
              <a:t>1,756</a:t>
            </a:r>
          </a:p>
        </p:txBody>
      </p:sp>
      <p:sp>
        <p:nvSpPr>
          <p:cNvPr id="37" name="TextBox 36">
            <a:extLst>
              <a:ext uri="{FF2B5EF4-FFF2-40B4-BE49-F238E27FC236}">
                <a16:creationId xmlns:a16="http://schemas.microsoft.com/office/drawing/2014/main" id="{B336CC97-1240-B13B-DE1C-BFDAB25A2081}"/>
              </a:ext>
            </a:extLst>
          </p:cNvPr>
          <p:cNvSpPr txBox="1"/>
          <p:nvPr/>
        </p:nvSpPr>
        <p:spPr>
          <a:xfrm>
            <a:off x="1470014" y="2994450"/>
            <a:ext cx="594360" cy="237744"/>
          </a:xfrm>
          <a:prstGeom prst="rect">
            <a:avLst/>
          </a:prstGeom>
          <a:noFill/>
        </p:spPr>
        <p:txBody>
          <a:bodyPr wrap="square">
            <a:spAutoFit/>
          </a:bodyPr>
          <a:lstStyle/>
          <a:p>
            <a:pPr algn="ctr"/>
            <a:r>
              <a:rPr sz="900" b="0" i="0">
                <a:solidFill>
                  <a:srgbClr val="1A1A2E"/>
                </a:solidFill>
                <a:latin typeface="Calibri"/>
              </a:rPr>
              <a:t>1.3%</a:t>
            </a:r>
          </a:p>
        </p:txBody>
      </p:sp>
      <p:sp>
        <p:nvSpPr>
          <p:cNvPr id="38" name="TextBox 37">
            <a:extLst>
              <a:ext uri="{FF2B5EF4-FFF2-40B4-BE49-F238E27FC236}">
                <a16:creationId xmlns:a16="http://schemas.microsoft.com/office/drawing/2014/main" id="{A8423F6E-BE99-B4D3-B356-9EDC31ADBA53}"/>
              </a:ext>
            </a:extLst>
          </p:cNvPr>
          <p:cNvSpPr txBox="1"/>
          <p:nvPr/>
        </p:nvSpPr>
        <p:spPr>
          <a:xfrm>
            <a:off x="2091805" y="2994450"/>
            <a:ext cx="859536" cy="237744"/>
          </a:xfrm>
          <a:prstGeom prst="rect">
            <a:avLst/>
          </a:prstGeom>
          <a:noFill/>
        </p:spPr>
        <p:txBody>
          <a:bodyPr wrap="square">
            <a:spAutoFit/>
          </a:bodyPr>
          <a:lstStyle/>
          <a:p>
            <a:pPr algn="ctr"/>
            <a:r>
              <a:rPr sz="900" b="0" i="0">
                <a:solidFill>
                  <a:srgbClr val="D4622A"/>
                </a:solidFill>
                <a:latin typeface="Calibri"/>
              </a:rPr>
              <a:t>SW/W (248°)</a:t>
            </a:r>
          </a:p>
        </p:txBody>
      </p:sp>
      <p:sp>
        <p:nvSpPr>
          <p:cNvPr id="39" name="TextBox 38">
            <a:extLst>
              <a:ext uri="{FF2B5EF4-FFF2-40B4-BE49-F238E27FC236}">
                <a16:creationId xmlns:a16="http://schemas.microsoft.com/office/drawing/2014/main" id="{7D5AF4DB-FA24-D579-5D0C-47810694F5B7}"/>
              </a:ext>
            </a:extLst>
          </p:cNvPr>
          <p:cNvSpPr txBox="1"/>
          <p:nvPr/>
        </p:nvSpPr>
        <p:spPr>
          <a:xfrm>
            <a:off x="2987918" y="2994450"/>
            <a:ext cx="1691640" cy="237744"/>
          </a:xfrm>
          <a:prstGeom prst="rect">
            <a:avLst/>
          </a:prstGeom>
          <a:noFill/>
        </p:spPr>
        <p:txBody>
          <a:bodyPr wrap="square">
            <a:spAutoFit/>
          </a:bodyPr>
          <a:lstStyle/>
          <a:p>
            <a:pPr algn="ctr"/>
            <a:r>
              <a:rPr sz="900" b="0" i="0">
                <a:solidFill>
                  <a:srgbClr val="1A1A2E"/>
                </a:solidFill>
                <a:latin typeface="Calibri"/>
              </a:rPr>
              <a:t>10–15 mph</a:t>
            </a:r>
          </a:p>
        </p:txBody>
      </p:sp>
      <p:sp>
        <p:nvSpPr>
          <p:cNvPr id="40" name="Rectangle 39">
            <a:extLst>
              <a:ext uri="{FF2B5EF4-FFF2-40B4-BE49-F238E27FC236}">
                <a16:creationId xmlns:a16="http://schemas.microsoft.com/office/drawing/2014/main" id="{5EAD2F19-44F7-E859-99F1-CC030A9201D1}"/>
              </a:ext>
            </a:extLst>
          </p:cNvPr>
          <p:cNvSpPr/>
          <p:nvPr/>
        </p:nvSpPr>
        <p:spPr>
          <a:xfrm>
            <a:off x="327014" y="3287058"/>
            <a:ext cx="3907079"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a:extLst>
              <a:ext uri="{FF2B5EF4-FFF2-40B4-BE49-F238E27FC236}">
                <a16:creationId xmlns:a16="http://schemas.microsoft.com/office/drawing/2014/main" id="{E0DB1FB2-26CC-86FD-46B7-C72BA5F30B9B}"/>
              </a:ext>
            </a:extLst>
          </p:cNvPr>
          <p:cNvSpPr txBox="1"/>
          <p:nvPr/>
        </p:nvSpPr>
        <p:spPr>
          <a:xfrm>
            <a:off x="345302" y="3341922"/>
            <a:ext cx="502920" cy="237744"/>
          </a:xfrm>
          <a:prstGeom prst="rect">
            <a:avLst/>
          </a:prstGeom>
          <a:noFill/>
        </p:spPr>
        <p:txBody>
          <a:bodyPr wrap="square">
            <a:spAutoFit/>
          </a:bodyPr>
          <a:lstStyle/>
          <a:p>
            <a:pPr algn="ctr"/>
            <a:r>
              <a:rPr sz="900" b="1" i="0">
                <a:solidFill>
                  <a:srgbClr val="1A7A6E"/>
                </a:solidFill>
                <a:latin typeface="Calibri"/>
              </a:rPr>
              <a:t>52</a:t>
            </a:r>
          </a:p>
        </p:txBody>
      </p:sp>
      <p:sp>
        <p:nvSpPr>
          <p:cNvPr id="42" name="TextBox 41">
            <a:extLst>
              <a:ext uri="{FF2B5EF4-FFF2-40B4-BE49-F238E27FC236}">
                <a16:creationId xmlns:a16="http://schemas.microsoft.com/office/drawing/2014/main" id="{FD9EDC9A-A412-F6EE-E4CA-C551C84C4330}"/>
              </a:ext>
            </a:extLst>
          </p:cNvPr>
          <p:cNvSpPr txBox="1"/>
          <p:nvPr/>
        </p:nvSpPr>
        <p:spPr>
          <a:xfrm>
            <a:off x="875654" y="3341922"/>
            <a:ext cx="566928" cy="237744"/>
          </a:xfrm>
          <a:prstGeom prst="rect">
            <a:avLst/>
          </a:prstGeom>
          <a:noFill/>
        </p:spPr>
        <p:txBody>
          <a:bodyPr wrap="square">
            <a:spAutoFit/>
          </a:bodyPr>
          <a:lstStyle/>
          <a:p>
            <a:pPr algn="ctr"/>
            <a:r>
              <a:rPr sz="900" b="0" i="0">
                <a:solidFill>
                  <a:srgbClr val="1A1A2E"/>
                </a:solidFill>
                <a:latin typeface="Calibri"/>
              </a:rPr>
              <a:t>2,092</a:t>
            </a:r>
          </a:p>
        </p:txBody>
      </p:sp>
      <p:sp>
        <p:nvSpPr>
          <p:cNvPr id="43" name="TextBox 42">
            <a:extLst>
              <a:ext uri="{FF2B5EF4-FFF2-40B4-BE49-F238E27FC236}">
                <a16:creationId xmlns:a16="http://schemas.microsoft.com/office/drawing/2014/main" id="{2D274234-3B5D-BACC-8FF5-E2C87175EBC3}"/>
              </a:ext>
            </a:extLst>
          </p:cNvPr>
          <p:cNvSpPr txBox="1"/>
          <p:nvPr/>
        </p:nvSpPr>
        <p:spPr>
          <a:xfrm>
            <a:off x="1470014" y="3341922"/>
            <a:ext cx="594360" cy="237744"/>
          </a:xfrm>
          <a:prstGeom prst="rect">
            <a:avLst/>
          </a:prstGeom>
          <a:noFill/>
        </p:spPr>
        <p:txBody>
          <a:bodyPr wrap="square">
            <a:spAutoFit/>
          </a:bodyPr>
          <a:lstStyle/>
          <a:p>
            <a:pPr algn="ctr"/>
            <a:r>
              <a:rPr sz="900" b="0" i="0">
                <a:solidFill>
                  <a:srgbClr val="1A1A2E"/>
                </a:solidFill>
                <a:latin typeface="Calibri"/>
              </a:rPr>
              <a:t>0.9%</a:t>
            </a:r>
          </a:p>
        </p:txBody>
      </p:sp>
      <p:sp>
        <p:nvSpPr>
          <p:cNvPr id="44" name="TextBox 43">
            <a:extLst>
              <a:ext uri="{FF2B5EF4-FFF2-40B4-BE49-F238E27FC236}">
                <a16:creationId xmlns:a16="http://schemas.microsoft.com/office/drawing/2014/main" id="{8253F9EF-1861-F53C-318D-5427BD4B5BE3}"/>
              </a:ext>
            </a:extLst>
          </p:cNvPr>
          <p:cNvSpPr txBox="1"/>
          <p:nvPr/>
        </p:nvSpPr>
        <p:spPr>
          <a:xfrm>
            <a:off x="2091805" y="3341922"/>
            <a:ext cx="859536" cy="237744"/>
          </a:xfrm>
          <a:prstGeom prst="rect">
            <a:avLst/>
          </a:prstGeom>
          <a:noFill/>
        </p:spPr>
        <p:txBody>
          <a:bodyPr wrap="square">
            <a:spAutoFit/>
          </a:bodyPr>
          <a:lstStyle/>
          <a:p>
            <a:pPr algn="ctr"/>
            <a:r>
              <a:rPr sz="900" b="0" i="0">
                <a:solidFill>
                  <a:srgbClr val="C0392B"/>
                </a:solidFill>
                <a:latin typeface="Calibri"/>
              </a:rPr>
              <a:t>S (158°)</a:t>
            </a:r>
          </a:p>
        </p:txBody>
      </p:sp>
      <p:sp>
        <p:nvSpPr>
          <p:cNvPr id="45" name="TextBox 44">
            <a:extLst>
              <a:ext uri="{FF2B5EF4-FFF2-40B4-BE49-F238E27FC236}">
                <a16:creationId xmlns:a16="http://schemas.microsoft.com/office/drawing/2014/main" id="{AB524A49-F608-B841-6E61-7DD1A5CACD73}"/>
              </a:ext>
            </a:extLst>
          </p:cNvPr>
          <p:cNvSpPr txBox="1"/>
          <p:nvPr/>
        </p:nvSpPr>
        <p:spPr>
          <a:xfrm>
            <a:off x="2987918" y="3341922"/>
            <a:ext cx="1691640" cy="237744"/>
          </a:xfrm>
          <a:prstGeom prst="rect">
            <a:avLst/>
          </a:prstGeom>
          <a:noFill/>
        </p:spPr>
        <p:txBody>
          <a:bodyPr wrap="square">
            <a:spAutoFit/>
          </a:bodyPr>
          <a:lstStyle/>
          <a:p>
            <a:pPr algn="ctr"/>
            <a:r>
              <a:rPr sz="900" b="0" i="0">
                <a:solidFill>
                  <a:srgbClr val="1A1A2E"/>
                </a:solidFill>
                <a:latin typeface="Calibri"/>
              </a:rPr>
              <a:t>10–20 mph</a:t>
            </a:r>
          </a:p>
        </p:txBody>
      </p:sp>
      <p:sp>
        <p:nvSpPr>
          <p:cNvPr id="46" name="Rectangle 45">
            <a:extLst>
              <a:ext uri="{FF2B5EF4-FFF2-40B4-BE49-F238E27FC236}">
                <a16:creationId xmlns:a16="http://schemas.microsoft.com/office/drawing/2014/main" id="{8F9F34BD-89FE-4917-F79B-C6106DDF4B74}"/>
              </a:ext>
            </a:extLst>
          </p:cNvPr>
          <p:cNvSpPr/>
          <p:nvPr/>
        </p:nvSpPr>
        <p:spPr>
          <a:xfrm>
            <a:off x="327014" y="3634530"/>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6">
            <a:extLst>
              <a:ext uri="{FF2B5EF4-FFF2-40B4-BE49-F238E27FC236}">
                <a16:creationId xmlns:a16="http://schemas.microsoft.com/office/drawing/2014/main" id="{82065BEB-AEAC-261D-649E-DA01B65601B9}"/>
              </a:ext>
            </a:extLst>
          </p:cNvPr>
          <p:cNvSpPr txBox="1"/>
          <p:nvPr/>
        </p:nvSpPr>
        <p:spPr>
          <a:xfrm>
            <a:off x="345302" y="3689394"/>
            <a:ext cx="502920" cy="237744"/>
          </a:xfrm>
          <a:prstGeom prst="rect">
            <a:avLst/>
          </a:prstGeom>
          <a:noFill/>
        </p:spPr>
        <p:txBody>
          <a:bodyPr wrap="square">
            <a:spAutoFit/>
          </a:bodyPr>
          <a:lstStyle/>
          <a:p>
            <a:pPr algn="ctr"/>
            <a:r>
              <a:rPr sz="900" b="1" i="0">
                <a:solidFill>
                  <a:srgbClr val="1A7A6E"/>
                </a:solidFill>
                <a:latin typeface="Calibri"/>
              </a:rPr>
              <a:t>53</a:t>
            </a:r>
          </a:p>
        </p:txBody>
      </p:sp>
      <p:sp>
        <p:nvSpPr>
          <p:cNvPr id="48" name="TextBox 47">
            <a:extLst>
              <a:ext uri="{FF2B5EF4-FFF2-40B4-BE49-F238E27FC236}">
                <a16:creationId xmlns:a16="http://schemas.microsoft.com/office/drawing/2014/main" id="{AB73C6C3-D012-2482-75DF-362788FA2882}"/>
              </a:ext>
            </a:extLst>
          </p:cNvPr>
          <p:cNvSpPr txBox="1"/>
          <p:nvPr/>
        </p:nvSpPr>
        <p:spPr>
          <a:xfrm>
            <a:off x="875654" y="3689394"/>
            <a:ext cx="566928" cy="237744"/>
          </a:xfrm>
          <a:prstGeom prst="rect">
            <a:avLst/>
          </a:prstGeom>
          <a:noFill/>
        </p:spPr>
        <p:txBody>
          <a:bodyPr wrap="square">
            <a:spAutoFit/>
          </a:bodyPr>
          <a:lstStyle/>
          <a:p>
            <a:pPr algn="ctr"/>
            <a:r>
              <a:rPr sz="900" b="0" i="0">
                <a:solidFill>
                  <a:srgbClr val="1A1A2E"/>
                </a:solidFill>
                <a:latin typeface="Calibri"/>
              </a:rPr>
              <a:t>4,479</a:t>
            </a:r>
          </a:p>
        </p:txBody>
      </p:sp>
      <p:sp>
        <p:nvSpPr>
          <p:cNvPr id="49" name="TextBox 48">
            <a:extLst>
              <a:ext uri="{FF2B5EF4-FFF2-40B4-BE49-F238E27FC236}">
                <a16:creationId xmlns:a16="http://schemas.microsoft.com/office/drawing/2014/main" id="{556A8921-C63F-EE65-7E77-0B7CE676EDDF}"/>
              </a:ext>
            </a:extLst>
          </p:cNvPr>
          <p:cNvSpPr txBox="1"/>
          <p:nvPr/>
        </p:nvSpPr>
        <p:spPr>
          <a:xfrm>
            <a:off x="1470014" y="3689394"/>
            <a:ext cx="594360" cy="237744"/>
          </a:xfrm>
          <a:prstGeom prst="rect">
            <a:avLst/>
          </a:prstGeom>
          <a:noFill/>
        </p:spPr>
        <p:txBody>
          <a:bodyPr wrap="square">
            <a:spAutoFit/>
          </a:bodyPr>
          <a:lstStyle/>
          <a:p>
            <a:pPr algn="ctr"/>
            <a:r>
              <a:rPr sz="900" b="0" i="0">
                <a:solidFill>
                  <a:srgbClr val="1A1A2E"/>
                </a:solidFill>
                <a:latin typeface="Calibri"/>
              </a:rPr>
              <a:t>1.2%</a:t>
            </a:r>
          </a:p>
        </p:txBody>
      </p:sp>
      <p:sp>
        <p:nvSpPr>
          <p:cNvPr id="50" name="TextBox 49">
            <a:extLst>
              <a:ext uri="{FF2B5EF4-FFF2-40B4-BE49-F238E27FC236}">
                <a16:creationId xmlns:a16="http://schemas.microsoft.com/office/drawing/2014/main" id="{07379BB6-2CBC-C248-FA86-79FB4CF8A228}"/>
              </a:ext>
            </a:extLst>
          </p:cNvPr>
          <p:cNvSpPr txBox="1"/>
          <p:nvPr/>
        </p:nvSpPr>
        <p:spPr>
          <a:xfrm>
            <a:off x="2091805" y="3689394"/>
            <a:ext cx="859536" cy="237744"/>
          </a:xfrm>
          <a:prstGeom prst="rect">
            <a:avLst/>
          </a:prstGeom>
          <a:noFill/>
        </p:spPr>
        <p:txBody>
          <a:bodyPr wrap="square">
            <a:spAutoFit/>
          </a:bodyPr>
          <a:lstStyle/>
          <a:p>
            <a:pPr algn="ctr"/>
            <a:r>
              <a:rPr sz="900" b="0" i="0">
                <a:solidFill>
                  <a:srgbClr val="C0392B"/>
                </a:solidFill>
                <a:latin typeface="Calibri"/>
              </a:rPr>
              <a:t>SW (202°)</a:t>
            </a:r>
          </a:p>
        </p:txBody>
      </p:sp>
      <p:sp>
        <p:nvSpPr>
          <p:cNvPr id="51" name="TextBox 50">
            <a:extLst>
              <a:ext uri="{FF2B5EF4-FFF2-40B4-BE49-F238E27FC236}">
                <a16:creationId xmlns:a16="http://schemas.microsoft.com/office/drawing/2014/main" id="{82B19119-FB09-0D08-F9A1-522884243917}"/>
              </a:ext>
            </a:extLst>
          </p:cNvPr>
          <p:cNvSpPr txBox="1"/>
          <p:nvPr/>
        </p:nvSpPr>
        <p:spPr>
          <a:xfrm>
            <a:off x="2987918" y="3689394"/>
            <a:ext cx="1691640" cy="237744"/>
          </a:xfrm>
          <a:prstGeom prst="rect">
            <a:avLst/>
          </a:prstGeom>
          <a:noFill/>
        </p:spPr>
        <p:txBody>
          <a:bodyPr wrap="square">
            <a:spAutoFit/>
          </a:bodyPr>
          <a:lstStyle/>
          <a:p>
            <a:pPr algn="ctr"/>
            <a:r>
              <a:rPr sz="900" b="0" i="0">
                <a:solidFill>
                  <a:srgbClr val="1A1A2E"/>
                </a:solidFill>
                <a:latin typeface="Calibri"/>
              </a:rPr>
              <a:t>10–25 mph</a:t>
            </a:r>
          </a:p>
        </p:txBody>
      </p:sp>
      <p:sp>
        <p:nvSpPr>
          <p:cNvPr id="52" name="Rectangle 51">
            <a:extLst>
              <a:ext uri="{FF2B5EF4-FFF2-40B4-BE49-F238E27FC236}">
                <a16:creationId xmlns:a16="http://schemas.microsoft.com/office/drawing/2014/main" id="{9CC6C40C-66A8-3944-4FD5-8B39700981F7}"/>
              </a:ext>
            </a:extLst>
          </p:cNvPr>
          <p:cNvSpPr/>
          <p:nvPr/>
        </p:nvSpPr>
        <p:spPr>
          <a:xfrm>
            <a:off x="327014" y="3982001"/>
            <a:ext cx="3907079"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2">
            <a:extLst>
              <a:ext uri="{FF2B5EF4-FFF2-40B4-BE49-F238E27FC236}">
                <a16:creationId xmlns:a16="http://schemas.microsoft.com/office/drawing/2014/main" id="{9C0CD59E-2A92-C6C8-4C30-447A0302EA55}"/>
              </a:ext>
            </a:extLst>
          </p:cNvPr>
          <p:cNvSpPr txBox="1"/>
          <p:nvPr/>
        </p:nvSpPr>
        <p:spPr>
          <a:xfrm>
            <a:off x="345302" y="4036865"/>
            <a:ext cx="502920" cy="237744"/>
          </a:xfrm>
          <a:prstGeom prst="rect">
            <a:avLst/>
          </a:prstGeom>
          <a:noFill/>
        </p:spPr>
        <p:txBody>
          <a:bodyPr wrap="square">
            <a:spAutoFit/>
          </a:bodyPr>
          <a:lstStyle/>
          <a:p>
            <a:pPr algn="ctr"/>
            <a:r>
              <a:rPr sz="900" b="1" i="0">
                <a:solidFill>
                  <a:srgbClr val="1A7A6E"/>
                </a:solidFill>
                <a:latin typeface="Calibri"/>
              </a:rPr>
              <a:t>56</a:t>
            </a:r>
          </a:p>
        </p:txBody>
      </p:sp>
      <p:sp>
        <p:nvSpPr>
          <p:cNvPr id="54" name="TextBox 53">
            <a:extLst>
              <a:ext uri="{FF2B5EF4-FFF2-40B4-BE49-F238E27FC236}">
                <a16:creationId xmlns:a16="http://schemas.microsoft.com/office/drawing/2014/main" id="{B11A435D-F7A1-B2B2-FA64-D21BB6157FD4}"/>
              </a:ext>
            </a:extLst>
          </p:cNvPr>
          <p:cNvSpPr txBox="1"/>
          <p:nvPr/>
        </p:nvSpPr>
        <p:spPr>
          <a:xfrm>
            <a:off x="875654" y="4036865"/>
            <a:ext cx="566928" cy="237744"/>
          </a:xfrm>
          <a:prstGeom prst="rect">
            <a:avLst/>
          </a:prstGeom>
          <a:noFill/>
        </p:spPr>
        <p:txBody>
          <a:bodyPr wrap="square">
            <a:spAutoFit/>
          </a:bodyPr>
          <a:lstStyle/>
          <a:p>
            <a:pPr algn="ctr"/>
            <a:r>
              <a:rPr sz="900" b="0" i="0">
                <a:solidFill>
                  <a:srgbClr val="1A1A2E"/>
                </a:solidFill>
                <a:latin typeface="Calibri"/>
              </a:rPr>
              <a:t>4,290</a:t>
            </a:r>
          </a:p>
        </p:txBody>
      </p:sp>
      <p:sp>
        <p:nvSpPr>
          <p:cNvPr id="55" name="TextBox 54">
            <a:extLst>
              <a:ext uri="{FF2B5EF4-FFF2-40B4-BE49-F238E27FC236}">
                <a16:creationId xmlns:a16="http://schemas.microsoft.com/office/drawing/2014/main" id="{767D69D0-0B29-E7C6-E809-763E08E0C665}"/>
              </a:ext>
            </a:extLst>
          </p:cNvPr>
          <p:cNvSpPr txBox="1"/>
          <p:nvPr/>
        </p:nvSpPr>
        <p:spPr>
          <a:xfrm>
            <a:off x="1470014" y="4036865"/>
            <a:ext cx="594360" cy="237744"/>
          </a:xfrm>
          <a:prstGeom prst="rect">
            <a:avLst/>
          </a:prstGeom>
          <a:noFill/>
        </p:spPr>
        <p:txBody>
          <a:bodyPr wrap="square">
            <a:spAutoFit/>
          </a:bodyPr>
          <a:lstStyle/>
          <a:p>
            <a:pPr algn="ctr"/>
            <a:r>
              <a:rPr sz="900" b="0" i="0">
                <a:solidFill>
                  <a:srgbClr val="1A1A2E"/>
                </a:solidFill>
                <a:latin typeface="Calibri"/>
              </a:rPr>
              <a:t>2.3%</a:t>
            </a:r>
          </a:p>
        </p:txBody>
      </p:sp>
      <p:sp>
        <p:nvSpPr>
          <p:cNvPr id="56" name="TextBox 55">
            <a:extLst>
              <a:ext uri="{FF2B5EF4-FFF2-40B4-BE49-F238E27FC236}">
                <a16:creationId xmlns:a16="http://schemas.microsoft.com/office/drawing/2014/main" id="{25923F8C-BF69-7C45-AF7F-6CD9A4F0A1D9}"/>
              </a:ext>
            </a:extLst>
          </p:cNvPr>
          <p:cNvSpPr txBox="1"/>
          <p:nvPr/>
        </p:nvSpPr>
        <p:spPr>
          <a:xfrm>
            <a:off x="2091805" y="4036865"/>
            <a:ext cx="859536" cy="237744"/>
          </a:xfrm>
          <a:prstGeom prst="rect">
            <a:avLst/>
          </a:prstGeom>
          <a:noFill/>
        </p:spPr>
        <p:txBody>
          <a:bodyPr wrap="square">
            <a:spAutoFit/>
          </a:bodyPr>
          <a:lstStyle/>
          <a:p>
            <a:pPr algn="ctr"/>
            <a:r>
              <a:rPr sz="900" b="0" i="0">
                <a:solidFill>
                  <a:srgbClr val="2C6E49"/>
                </a:solidFill>
                <a:latin typeface="Calibri"/>
              </a:rPr>
              <a:t>N (338°)</a:t>
            </a:r>
          </a:p>
        </p:txBody>
      </p:sp>
      <p:sp>
        <p:nvSpPr>
          <p:cNvPr id="57" name="TextBox 56">
            <a:extLst>
              <a:ext uri="{FF2B5EF4-FFF2-40B4-BE49-F238E27FC236}">
                <a16:creationId xmlns:a16="http://schemas.microsoft.com/office/drawing/2014/main" id="{6B460E16-0703-F6AE-D1E5-A0310245434C}"/>
              </a:ext>
            </a:extLst>
          </p:cNvPr>
          <p:cNvSpPr txBox="1"/>
          <p:nvPr/>
        </p:nvSpPr>
        <p:spPr>
          <a:xfrm>
            <a:off x="2987918" y="4036865"/>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58" name="Rectangle 57">
            <a:extLst>
              <a:ext uri="{FF2B5EF4-FFF2-40B4-BE49-F238E27FC236}">
                <a16:creationId xmlns:a16="http://schemas.microsoft.com/office/drawing/2014/main" id="{45D4D38A-8C67-4560-9DB8-AFABA4FD5689}"/>
              </a:ext>
            </a:extLst>
          </p:cNvPr>
          <p:cNvSpPr/>
          <p:nvPr/>
        </p:nvSpPr>
        <p:spPr>
          <a:xfrm>
            <a:off x="327014" y="4329474"/>
            <a:ext cx="3907079"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a:extLst>
              <a:ext uri="{FF2B5EF4-FFF2-40B4-BE49-F238E27FC236}">
                <a16:creationId xmlns:a16="http://schemas.microsoft.com/office/drawing/2014/main" id="{FEC9DF39-2464-342B-8F03-4F962CDDF06C}"/>
              </a:ext>
            </a:extLst>
          </p:cNvPr>
          <p:cNvSpPr txBox="1"/>
          <p:nvPr/>
        </p:nvSpPr>
        <p:spPr>
          <a:xfrm>
            <a:off x="345302" y="4384338"/>
            <a:ext cx="502920" cy="237744"/>
          </a:xfrm>
          <a:prstGeom prst="rect">
            <a:avLst/>
          </a:prstGeom>
          <a:noFill/>
        </p:spPr>
        <p:txBody>
          <a:bodyPr wrap="square">
            <a:spAutoFit/>
          </a:bodyPr>
          <a:lstStyle/>
          <a:p>
            <a:pPr algn="ctr"/>
            <a:r>
              <a:rPr sz="900" b="1" i="0">
                <a:solidFill>
                  <a:srgbClr val="1A7A6E"/>
                </a:solidFill>
                <a:latin typeface="Calibri"/>
              </a:rPr>
              <a:t>128</a:t>
            </a:r>
          </a:p>
        </p:txBody>
      </p:sp>
      <p:sp>
        <p:nvSpPr>
          <p:cNvPr id="60" name="TextBox 59">
            <a:extLst>
              <a:ext uri="{FF2B5EF4-FFF2-40B4-BE49-F238E27FC236}">
                <a16:creationId xmlns:a16="http://schemas.microsoft.com/office/drawing/2014/main" id="{90989FE8-2959-796D-1466-1A81838369F6}"/>
              </a:ext>
            </a:extLst>
          </p:cNvPr>
          <p:cNvSpPr txBox="1"/>
          <p:nvPr/>
        </p:nvSpPr>
        <p:spPr>
          <a:xfrm>
            <a:off x="875654" y="4384338"/>
            <a:ext cx="566928" cy="237744"/>
          </a:xfrm>
          <a:prstGeom prst="rect">
            <a:avLst/>
          </a:prstGeom>
          <a:noFill/>
        </p:spPr>
        <p:txBody>
          <a:bodyPr wrap="square">
            <a:spAutoFit/>
          </a:bodyPr>
          <a:lstStyle/>
          <a:p>
            <a:pPr algn="ctr"/>
            <a:r>
              <a:rPr sz="900" b="0" i="0">
                <a:solidFill>
                  <a:srgbClr val="1A1A2E"/>
                </a:solidFill>
                <a:latin typeface="Calibri"/>
              </a:rPr>
              <a:t>1,305</a:t>
            </a:r>
          </a:p>
        </p:txBody>
      </p:sp>
      <p:sp>
        <p:nvSpPr>
          <p:cNvPr id="61" name="TextBox 60">
            <a:extLst>
              <a:ext uri="{FF2B5EF4-FFF2-40B4-BE49-F238E27FC236}">
                <a16:creationId xmlns:a16="http://schemas.microsoft.com/office/drawing/2014/main" id="{E0C669A7-08CD-450E-CDB7-65E506F8554F}"/>
              </a:ext>
            </a:extLst>
          </p:cNvPr>
          <p:cNvSpPr txBox="1"/>
          <p:nvPr/>
        </p:nvSpPr>
        <p:spPr>
          <a:xfrm>
            <a:off x="1470014" y="4384338"/>
            <a:ext cx="594360" cy="237744"/>
          </a:xfrm>
          <a:prstGeom prst="rect">
            <a:avLst/>
          </a:prstGeom>
          <a:noFill/>
        </p:spPr>
        <p:txBody>
          <a:bodyPr wrap="square">
            <a:spAutoFit/>
          </a:bodyPr>
          <a:lstStyle/>
          <a:p>
            <a:pPr algn="ctr"/>
            <a:r>
              <a:rPr sz="900" b="0" i="0">
                <a:solidFill>
                  <a:srgbClr val="1A1A2E"/>
                </a:solidFill>
                <a:latin typeface="Calibri"/>
              </a:rPr>
              <a:t>2.1%</a:t>
            </a:r>
          </a:p>
        </p:txBody>
      </p:sp>
      <p:sp>
        <p:nvSpPr>
          <p:cNvPr id="62" name="TextBox 61">
            <a:extLst>
              <a:ext uri="{FF2B5EF4-FFF2-40B4-BE49-F238E27FC236}">
                <a16:creationId xmlns:a16="http://schemas.microsoft.com/office/drawing/2014/main" id="{28291968-C9B2-6C05-A474-6A8B1759ACBE}"/>
              </a:ext>
            </a:extLst>
          </p:cNvPr>
          <p:cNvSpPr txBox="1"/>
          <p:nvPr/>
        </p:nvSpPr>
        <p:spPr>
          <a:xfrm>
            <a:off x="2091805" y="4384338"/>
            <a:ext cx="859536" cy="237744"/>
          </a:xfrm>
          <a:prstGeom prst="rect">
            <a:avLst/>
          </a:prstGeom>
          <a:noFill/>
        </p:spPr>
        <p:txBody>
          <a:bodyPr wrap="square">
            <a:spAutoFit/>
          </a:bodyPr>
          <a:lstStyle/>
          <a:p>
            <a:pPr algn="ctr"/>
            <a:r>
              <a:rPr sz="900" b="0" i="0">
                <a:solidFill>
                  <a:srgbClr val="1B6CA8"/>
                </a:solidFill>
                <a:latin typeface="Calibri"/>
              </a:rPr>
              <a:t>NW (292°)</a:t>
            </a:r>
          </a:p>
        </p:txBody>
      </p:sp>
      <p:sp>
        <p:nvSpPr>
          <p:cNvPr id="63" name="TextBox 62">
            <a:extLst>
              <a:ext uri="{FF2B5EF4-FFF2-40B4-BE49-F238E27FC236}">
                <a16:creationId xmlns:a16="http://schemas.microsoft.com/office/drawing/2014/main" id="{E62F4F15-B5C0-7A87-16B0-63F2C3731432}"/>
              </a:ext>
            </a:extLst>
          </p:cNvPr>
          <p:cNvSpPr txBox="1"/>
          <p:nvPr/>
        </p:nvSpPr>
        <p:spPr>
          <a:xfrm>
            <a:off x="2987918" y="4384338"/>
            <a:ext cx="1691640" cy="237744"/>
          </a:xfrm>
          <a:prstGeom prst="rect">
            <a:avLst/>
          </a:prstGeom>
          <a:noFill/>
        </p:spPr>
        <p:txBody>
          <a:bodyPr wrap="square">
            <a:spAutoFit/>
          </a:bodyPr>
          <a:lstStyle/>
          <a:p>
            <a:pPr algn="ctr"/>
            <a:r>
              <a:rPr sz="900" b="0" i="0">
                <a:solidFill>
                  <a:srgbClr val="1A1A2E"/>
                </a:solidFill>
                <a:latin typeface="Calibri"/>
              </a:rPr>
              <a:t>5–15 mph</a:t>
            </a:r>
          </a:p>
        </p:txBody>
      </p:sp>
      <p:sp>
        <p:nvSpPr>
          <p:cNvPr id="69" name="Rectangle 68">
            <a:extLst>
              <a:ext uri="{FF2B5EF4-FFF2-40B4-BE49-F238E27FC236}">
                <a16:creationId xmlns:a16="http://schemas.microsoft.com/office/drawing/2014/main" id="{77F810FE-4E9B-5D04-6016-21757CAAA69D}"/>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70" name="Rectangle 69">
            <a:extLst>
              <a:ext uri="{FF2B5EF4-FFF2-40B4-BE49-F238E27FC236}">
                <a16:creationId xmlns:a16="http://schemas.microsoft.com/office/drawing/2014/main" id="{ABD0C6B4-FE86-761B-5F4F-D0BC885124F5}"/>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71" name="Rectangle 70">
            <a:extLst>
              <a:ext uri="{FF2B5EF4-FFF2-40B4-BE49-F238E27FC236}">
                <a16:creationId xmlns:a16="http://schemas.microsoft.com/office/drawing/2014/main" id="{91DC8CB6-323B-666F-5B95-ADB14E9BE92E}"/>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72" name="Rectangle 71">
            <a:extLst>
              <a:ext uri="{FF2B5EF4-FFF2-40B4-BE49-F238E27FC236}">
                <a16:creationId xmlns:a16="http://schemas.microsoft.com/office/drawing/2014/main" id="{9AF5B21A-FF04-BE89-A80C-11E7CF326B4D}"/>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73" name="Rectangle 72">
            <a:extLst>
              <a:ext uri="{FF2B5EF4-FFF2-40B4-BE49-F238E27FC236}">
                <a16:creationId xmlns:a16="http://schemas.microsoft.com/office/drawing/2014/main" id="{0CCB6153-55E6-4429-AA6D-BB9380C4B2B9}"/>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74" name="Rectangle 73">
            <a:extLst>
              <a:ext uri="{FF2B5EF4-FFF2-40B4-BE49-F238E27FC236}">
                <a16:creationId xmlns:a16="http://schemas.microsoft.com/office/drawing/2014/main" id="{1A08C898-7C27-373F-D0D8-7E8A58C8773B}"/>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Rectangle 74">
            <a:extLst>
              <a:ext uri="{FF2B5EF4-FFF2-40B4-BE49-F238E27FC236}">
                <a16:creationId xmlns:a16="http://schemas.microsoft.com/office/drawing/2014/main" id="{2E99B0B7-BC1B-8424-8A7D-B8CC937325B1}"/>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 name="Rectangle 75">
            <a:extLst>
              <a:ext uri="{FF2B5EF4-FFF2-40B4-BE49-F238E27FC236}">
                <a16:creationId xmlns:a16="http://schemas.microsoft.com/office/drawing/2014/main" id="{BA4F27C8-D171-B396-8342-649A13C17B03}"/>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D8F387AF-EC68-22D1-B41F-B7E76D2F8F47}"/>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79" name="Picture 78">
            <a:extLst>
              <a:ext uri="{FF2B5EF4-FFF2-40B4-BE49-F238E27FC236}">
                <a16:creationId xmlns:a16="http://schemas.microsoft.com/office/drawing/2014/main" id="{E6EDFE05-F065-3CFC-97D2-A7323067B21B}"/>
              </a:ext>
            </a:extLst>
          </p:cNvPr>
          <p:cNvPicPr>
            <a:picLocks noChangeAspect="1"/>
          </p:cNvPicPr>
          <p:nvPr/>
        </p:nvPicPr>
        <p:blipFill>
          <a:blip r:embed="rId3"/>
          <a:srcRect/>
          <a:stretch/>
        </p:blipFill>
        <p:spPr>
          <a:xfrm>
            <a:off x="4530349" y="1238802"/>
            <a:ext cx="4393047" cy="3273552"/>
          </a:xfrm>
          <a:prstGeom prst="rect">
            <a:avLst/>
          </a:prstGeom>
          <a:ln>
            <a:noFill/>
          </a:ln>
          <a:effectLst>
            <a:outerShdw blurRad="190500" algn="tl" rotWithShape="0">
              <a:srgbClr val="000000">
                <a:alpha val="70000"/>
              </a:srgbClr>
            </a:outerShdw>
          </a:effectLst>
        </p:spPr>
      </p:pic>
      <p:sp>
        <p:nvSpPr>
          <p:cNvPr id="80" name="TextBox 79">
            <a:extLst>
              <a:ext uri="{FF2B5EF4-FFF2-40B4-BE49-F238E27FC236}">
                <a16:creationId xmlns:a16="http://schemas.microsoft.com/office/drawing/2014/main" id="{FFDBF838-37E9-0DE1-7620-FBC27A70791C}"/>
              </a:ext>
            </a:extLst>
          </p:cNvPr>
          <p:cNvSpPr txBox="1"/>
          <p:nvPr/>
        </p:nvSpPr>
        <p:spPr>
          <a:xfrm>
            <a:off x="365760" y="441527"/>
            <a:ext cx="8412480" cy="492443"/>
          </a:xfrm>
          <a:prstGeom prst="rect">
            <a:avLst/>
          </a:prstGeom>
          <a:noFill/>
        </p:spPr>
        <p:txBody>
          <a:bodyPr wrap="square">
            <a:spAutoFit/>
          </a:bodyPr>
          <a:lstStyle/>
          <a:p>
            <a:pPr algn="l"/>
            <a:r>
              <a:rPr sz="2600" b="1" i="0" dirty="0">
                <a:solidFill>
                  <a:srgbClr val="1A1A2E"/>
                </a:solidFill>
                <a:latin typeface="Calibri"/>
              </a:rPr>
              <a:t>HRRR Wind</a:t>
            </a:r>
          </a:p>
        </p:txBody>
      </p:sp>
    </p:spTree>
    <p:extLst>
      <p:ext uri="{BB962C8B-B14F-4D97-AF65-F5344CB8AC3E}">
        <p14:creationId xmlns:p14="http://schemas.microsoft.com/office/powerpoint/2010/main" val="3742362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9DB45-A4F0-1078-62BD-0B9AA0FB660D}"/>
            </a:ext>
          </a:extLst>
        </p:cNvPr>
        <p:cNvGrpSpPr/>
        <p:nvPr/>
      </p:nvGrpSpPr>
      <p:grpSpPr>
        <a:xfrm>
          <a:off x="0" y="0"/>
          <a:ext cx="0" cy="0"/>
          <a:chOff x="0" y="0"/>
          <a:chExt cx="0" cy="0"/>
        </a:xfrm>
      </p:grpSpPr>
      <p:sp>
        <p:nvSpPr>
          <p:cNvPr id="69" name="Rectangle 68">
            <a:extLst>
              <a:ext uri="{FF2B5EF4-FFF2-40B4-BE49-F238E27FC236}">
                <a16:creationId xmlns:a16="http://schemas.microsoft.com/office/drawing/2014/main" id="{4808D94E-04E1-6666-2E94-494859DA82E8}"/>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70" name="Rectangle 69">
            <a:extLst>
              <a:ext uri="{FF2B5EF4-FFF2-40B4-BE49-F238E27FC236}">
                <a16:creationId xmlns:a16="http://schemas.microsoft.com/office/drawing/2014/main" id="{E829D711-ECDF-A67F-4DB3-8183C5FC1573}"/>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71" name="Rectangle 70">
            <a:extLst>
              <a:ext uri="{FF2B5EF4-FFF2-40B4-BE49-F238E27FC236}">
                <a16:creationId xmlns:a16="http://schemas.microsoft.com/office/drawing/2014/main" id="{FFB8A64B-1CA7-9380-0B74-57201DF16A8F}"/>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72" name="Rectangle 71">
            <a:extLst>
              <a:ext uri="{FF2B5EF4-FFF2-40B4-BE49-F238E27FC236}">
                <a16:creationId xmlns:a16="http://schemas.microsoft.com/office/drawing/2014/main" id="{B8EF0971-684B-CF3F-5ECC-1CCF4070D0D2}"/>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73" name="Rectangle 72">
            <a:extLst>
              <a:ext uri="{FF2B5EF4-FFF2-40B4-BE49-F238E27FC236}">
                <a16:creationId xmlns:a16="http://schemas.microsoft.com/office/drawing/2014/main" id="{F4BED11E-D8EF-4A96-44AA-CF04E0F1FC94}"/>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74" name="Rectangle 73">
            <a:extLst>
              <a:ext uri="{FF2B5EF4-FFF2-40B4-BE49-F238E27FC236}">
                <a16:creationId xmlns:a16="http://schemas.microsoft.com/office/drawing/2014/main" id="{B5B3D750-4993-E309-38CF-9B253C018885}"/>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5" name="Rectangle 74">
            <a:extLst>
              <a:ext uri="{FF2B5EF4-FFF2-40B4-BE49-F238E27FC236}">
                <a16:creationId xmlns:a16="http://schemas.microsoft.com/office/drawing/2014/main" id="{628512BA-8DBB-8C7D-AEFA-BB6959E4FF12}"/>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6" name="Rectangle 75">
            <a:extLst>
              <a:ext uri="{FF2B5EF4-FFF2-40B4-BE49-F238E27FC236}">
                <a16:creationId xmlns:a16="http://schemas.microsoft.com/office/drawing/2014/main" id="{D92C4CB9-4A5C-4537-9EA4-00BE97590726}"/>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7" name="Rectangle 76">
            <a:extLst>
              <a:ext uri="{FF2B5EF4-FFF2-40B4-BE49-F238E27FC236}">
                <a16:creationId xmlns:a16="http://schemas.microsoft.com/office/drawing/2014/main" id="{0288264C-6F45-AB83-3EC3-7F540E609AE0}"/>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80" name="TextBox 79">
            <a:extLst>
              <a:ext uri="{FF2B5EF4-FFF2-40B4-BE49-F238E27FC236}">
                <a16:creationId xmlns:a16="http://schemas.microsoft.com/office/drawing/2014/main" id="{D64AECE6-0A4B-EAC7-0DA0-3A0D3DCFEC11}"/>
              </a:ext>
            </a:extLst>
          </p:cNvPr>
          <p:cNvSpPr txBox="1"/>
          <p:nvPr/>
        </p:nvSpPr>
        <p:spPr>
          <a:xfrm>
            <a:off x="365760" y="441527"/>
            <a:ext cx="8412480" cy="492443"/>
          </a:xfrm>
          <a:prstGeom prst="rect">
            <a:avLst/>
          </a:prstGeom>
          <a:noFill/>
        </p:spPr>
        <p:txBody>
          <a:bodyPr wrap="square">
            <a:spAutoFit/>
          </a:bodyPr>
          <a:lstStyle/>
          <a:p>
            <a:pPr algn="l"/>
            <a:r>
              <a:rPr sz="2600" b="1" i="0" dirty="0">
                <a:solidFill>
                  <a:srgbClr val="1A1A2E"/>
                </a:solidFill>
                <a:latin typeface="Calibri"/>
              </a:rPr>
              <a:t>HRRR Wind</a:t>
            </a:r>
          </a:p>
        </p:txBody>
      </p:sp>
      <p:pic>
        <p:nvPicPr>
          <p:cNvPr id="64" name="Picture 63">
            <a:extLst>
              <a:ext uri="{FF2B5EF4-FFF2-40B4-BE49-F238E27FC236}">
                <a16:creationId xmlns:a16="http://schemas.microsoft.com/office/drawing/2014/main" id="{8C9129AC-D862-8F6F-1556-EE891ADF9E27}"/>
              </a:ext>
            </a:extLst>
          </p:cNvPr>
          <p:cNvPicPr>
            <a:picLocks noChangeAspect="1"/>
          </p:cNvPicPr>
          <p:nvPr/>
        </p:nvPicPr>
        <p:blipFill>
          <a:blip r:embed="rId3"/>
          <a:stretch>
            <a:fillRect/>
          </a:stretch>
        </p:blipFill>
        <p:spPr>
          <a:xfrm>
            <a:off x="360926" y="1611347"/>
            <a:ext cx="8417314" cy="2959935"/>
          </a:xfrm>
          <a:prstGeom prst="rect">
            <a:avLst/>
          </a:prstGeom>
          <a:ln>
            <a:noFill/>
          </a:ln>
          <a:effectLst>
            <a:outerShdw blurRad="190500" algn="tl" rotWithShape="0">
              <a:srgbClr val="000000">
                <a:alpha val="70000"/>
              </a:srgbClr>
            </a:outerShdw>
          </a:effectLst>
        </p:spPr>
      </p:pic>
      <p:sp>
        <p:nvSpPr>
          <p:cNvPr id="65" name="TextBox 64">
            <a:extLst>
              <a:ext uri="{FF2B5EF4-FFF2-40B4-BE49-F238E27FC236}">
                <a16:creationId xmlns:a16="http://schemas.microsoft.com/office/drawing/2014/main" id="{520570B6-5514-6549-33A1-C3DD72D84A07}"/>
              </a:ext>
            </a:extLst>
          </p:cNvPr>
          <p:cNvSpPr txBox="1"/>
          <p:nvPr/>
        </p:nvSpPr>
        <p:spPr>
          <a:xfrm>
            <a:off x="419270" y="1274297"/>
            <a:ext cx="5457547" cy="246221"/>
          </a:xfrm>
          <a:prstGeom prst="rect">
            <a:avLst/>
          </a:prstGeom>
          <a:noFill/>
        </p:spPr>
        <p:txBody>
          <a:bodyPr wrap="square">
            <a:spAutoFit/>
          </a:bodyPr>
          <a:lstStyle/>
          <a:p>
            <a:pPr algn="l"/>
            <a:r>
              <a:rPr lang="en-US" sz="1000" b="1" i="0" dirty="0">
                <a:solidFill>
                  <a:srgbClr val="546E7A"/>
                </a:solidFill>
                <a:latin typeface="Calibri"/>
              </a:rPr>
              <a:t>Proportion of valid wind observations across wind speed bins and wind direction (from)</a:t>
            </a:r>
            <a:endParaRPr sz="1000" b="1" i="0" dirty="0">
              <a:solidFill>
                <a:srgbClr val="546E7A"/>
              </a:solidFill>
              <a:latin typeface="Calibri"/>
            </a:endParaRPr>
          </a:p>
        </p:txBody>
      </p:sp>
    </p:spTree>
    <p:extLst>
      <p:ext uri="{BB962C8B-B14F-4D97-AF65-F5344CB8AC3E}">
        <p14:creationId xmlns:p14="http://schemas.microsoft.com/office/powerpoint/2010/main" val="223999939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F9895-9A1E-590A-5B3E-45F6FF0DAE2C}"/>
            </a:ext>
          </a:extLst>
        </p:cNvPr>
        <p:cNvGrpSpPr/>
        <p:nvPr/>
      </p:nvGrpSpPr>
      <p:grpSpPr>
        <a:xfrm>
          <a:off x="0" y="0"/>
          <a:ext cx="0" cy="0"/>
          <a:chOff x="0" y="0"/>
          <a:chExt cx="0" cy="0"/>
        </a:xfrm>
      </p:grpSpPr>
      <p:sp>
        <p:nvSpPr>
          <p:cNvPr id="28" name="Rectangle 27">
            <a:extLst>
              <a:ext uri="{FF2B5EF4-FFF2-40B4-BE49-F238E27FC236}">
                <a16:creationId xmlns:a16="http://schemas.microsoft.com/office/drawing/2014/main" id="{E3B41094-B45B-D440-4665-E074C79C8C04}"/>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29" name="Rectangle 28">
            <a:extLst>
              <a:ext uri="{FF2B5EF4-FFF2-40B4-BE49-F238E27FC236}">
                <a16:creationId xmlns:a16="http://schemas.microsoft.com/office/drawing/2014/main" id="{266777ED-3DEA-4389-1E88-81D8D9621FE5}"/>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models/</a:t>
            </a:r>
          </a:p>
        </p:txBody>
      </p:sp>
      <p:sp>
        <p:nvSpPr>
          <p:cNvPr id="30" name="Rectangle 29">
            <a:extLst>
              <a:ext uri="{FF2B5EF4-FFF2-40B4-BE49-F238E27FC236}">
                <a16:creationId xmlns:a16="http://schemas.microsoft.com/office/drawing/2014/main" id="{64E1FE1A-E883-6C35-F89A-0ED6598C4D5D}"/>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31" name="Rectangle 30">
            <a:extLst>
              <a:ext uri="{FF2B5EF4-FFF2-40B4-BE49-F238E27FC236}">
                <a16:creationId xmlns:a16="http://schemas.microsoft.com/office/drawing/2014/main" id="{3FDAD31E-CD03-DC1F-0752-0DC91AB3193A}"/>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32" name="Rectangle 31">
            <a:extLst>
              <a:ext uri="{FF2B5EF4-FFF2-40B4-BE49-F238E27FC236}">
                <a16:creationId xmlns:a16="http://schemas.microsoft.com/office/drawing/2014/main" id="{887703E3-8539-3879-8FFF-4411CE6B21B0}"/>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36" name="Rectangle 35">
            <a:extLst>
              <a:ext uri="{FF2B5EF4-FFF2-40B4-BE49-F238E27FC236}">
                <a16:creationId xmlns:a16="http://schemas.microsoft.com/office/drawing/2014/main" id="{06FCE42C-BB1D-5D2D-82FB-E59C55EAFF18}"/>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7" name="Rectangle 36">
            <a:extLst>
              <a:ext uri="{FF2B5EF4-FFF2-40B4-BE49-F238E27FC236}">
                <a16:creationId xmlns:a16="http://schemas.microsoft.com/office/drawing/2014/main" id="{1F2F342A-4801-E849-BBEC-625486198C91}"/>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7" name="TextBox 46">
            <a:extLst>
              <a:ext uri="{FF2B5EF4-FFF2-40B4-BE49-F238E27FC236}">
                <a16:creationId xmlns:a16="http://schemas.microsoft.com/office/drawing/2014/main" id="{EAB15FA0-EADA-A48E-BC99-E07B586E32CD}"/>
              </a:ext>
            </a:extLst>
          </p:cNvPr>
          <p:cNvSpPr txBox="1"/>
          <p:nvPr/>
        </p:nvSpPr>
        <p:spPr>
          <a:xfrm>
            <a:off x="365760" y="613469"/>
            <a:ext cx="8412480" cy="400110"/>
          </a:xfrm>
          <a:prstGeom prst="rect">
            <a:avLst/>
          </a:prstGeom>
          <a:noFill/>
        </p:spPr>
        <p:txBody>
          <a:bodyPr wrap="square">
            <a:spAutoFit/>
          </a:bodyPr>
          <a:lstStyle/>
          <a:p>
            <a:pPr algn="l"/>
            <a:r>
              <a:rPr lang="en-US" sz="2000" b="1" i="0" dirty="0">
                <a:solidFill>
                  <a:srgbClr val="1A1A2E"/>
                </a:solidFill>
                <a:latin typeface="Calibri"/>
              </a:rPr>
              <a:t>Ex. </a:t>
            </a:r>
            <a:r>
              <a:rPr sz="2000" b="1" i="0" dirty="0">
                <a:solidFill>
                  <a:srgbClr val="1A1A2E"/>
                </a:solidFill>
                <a:latin typeface="Calibri"/>
              </a:rPr>
              <a:t>FlamMap Input</a:t>
            </a:r>
          </a:p>
        </p:txBody>
      </p:sp>
      <p:sp>
        <p:nvSpPr>
          <p:cNvPr id="48" name="Oval 47">
            <a:extLst>
              <a:ext uri="{FF2B5EF4-FFF2-40B4-BE49-F238E27FC236}">
                <a16:creationId xmlns:a16="http://schemas.microsoft.com/office/drawing/2014/main" id="{07CE2C59-4D79-A03E-DD5E-825E43D352B1}"/>
              </a:ext>
            </a:extLst>
          </p:cNvPr>
          <p:cNvSpPr/>
          <p:nvPr/>
        </p:nvSpPr>
        <p:spPr>
          <a:xfrm>
            <a:off x="610478" y="1230332"/>
            <a:ext cx="365760" cy="365760"/>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1</a:t>
            </a:r>
          </a:p>
        </p:txBody>
      </p:sp>
      <p:cxnSp>
        <p:nvCxnSpPr>
          <p:cNvPr id="49" name="Connector 3">
            <a:extLst>
              <a:ext uri="{FF2B5EF4-FFF2-40B4-BE49-F238E27FC236}">
                <a16:creationId xmlns:a16="http://schemas.microsoft.com/office/drawing/2014/main" id="{AE8A43D0-379C-7DCD-50C1-392682E07287}"/>
              </a:ext>
            </a:extLst>
          </p:cNvPr>
          <p:cNvCxnSpPr/>
          <p:nvPr/>
        </p:nvCxnSpPr>
        <p:spPr>
          <a:xfrm>
            <a:off x="793358" y="1596092"/>
            <a:ext cx="0" cy="402335"/>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50" name="TextBox 49">
            <a:extLst>
              <a:ext uri="{FF2B5EF4-FFF2-40B4-BE49-F238E27FC236}">
                <a16:creationId xmlns:a16="http://schemas.microsoft.com/office/drawing/2014/main" id="{270E0377-93A1-60C0-B8E8-DD9BE618B5E3}"/>
              </a:ext>
            </a:extLst>
          </p:cNvPr>
          <p:cNvSpPr txBox="1"/>
          <p:nvPr/>
        </p:nvSpPr>
        <p:spPr>
          <a:xfrm>
            <a:off x="1122542" y="1193756"/>
            <a:ext cx="5212080" cy="274320"/>
          </a:xfrm>
          <a:prstGeom prst="rect">
            <a:avLst/>
          </a:prstGeom>
          <a:noFill/>
        </p:spPr>
        <p:txBody>
          <a:bodyPr wrap="square">
            <a:spAutoFit/>
          </a:bodyPr>
          <a:lstStyle/>
          <a:p>
            <a:pPr algn="l"/>
            <a:r>
              <a:rPr sz="1300" b="1" i="0">
                <a:solidFill>
                  <a:srgbClr val="1A1A2E"/>
                </a:solidFill>
                <a:latin typeface="Calibri"/>
              </a:rPr>
              <a:t>Download LANDFIRE</a:t>
            </a:r>
          </a:p>
        </p:txBody>
      </p:sp>
      <p:sp>
        <p:nvSpPr>
          <p:cNvPr id="51" name="TextBox 50">
            <a:extLst>
              <a:ext uri="{FF2B5EF4-FFF2-40B4-BE49-F238E27FC236}">
                <a16:creationId xmlns:a16="http://schemas.microsoft.com/office/drawing/2014/main" id="{FB7F3221-E82D-E26B-5648-E7F43D27CE72}"/>
              </a:ext>
            </a:extLst>
          </p:cNvPr>
          <p:cNvSpPr txBox="1"/>
          <p:nvPr/>
        </p:nvSpPr>
        <p:spPr>
          <a:xfrm>
            <a:off x="1122542" y="1468076"/>
            <a:ext cx="5212080" cy="329184"/>
          </a:xfrm>
          <a:prstGeom prst="rect">
            <a:avLst/>
          </a:prstGeom>
          <a:noFill/>
        </p:spPr>
        <p:txBody>
          <a:bodyPr wrap="square">
            <a:spAutoFit/>
          </a:bodyPr>
          <a:lstStyle/>
          <a:p>
            <a:pPr algn="l"/>
            <a:r>
              <a:rPr sz="1000" b="0" i="0">
                <a:solidFill>
                  <a:srgbClr val="546E7A"/>
                </a:solidFill>
                <a:latin typeface="Calibri"/>
              </a:rPr>
              <a:t>LFPS REST API → topo + fuel layers → stack into LCP</a:t>
            </a:r>
          </a:p>
        </p:txBody>
      </p:sp>
      <p:sp>
        <p:nvSpPr>
          <p:cNvPr id="52" name="Rectangle 51">
            <a:extLst>
              <a:ext uri="{FF2B5EF4-FFF2-40B4-BE49-F238E27FC236}">
                <a16:creationId xmlns:a16="http://schemas.microsoft.com/office/drawing/2014/main" id="{6B3D6475-3318-49ED-FC10-828EE5F43842}"/>
              </a:ext>
            </a:extLst>
          </p:cNvPr>
          <p:cNvSpPr/>
          <p:nvPr/>
        </p:nvSpPr>
        <p:spPr>
          <a:xfrm>
            <a:off x="5653162" y="1294340"/>
            <a:ext cx="269748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lang="en-US" sz="900" b="0" i="1" dirty="0" err="1">
                <a:solidFill>
                  <a:srgbClr val="546E7A"/>
                </a:solidFill>
                <a:latin typeface="Courier New"/>
              </a:rPr>
              <a:t>lfps_request</a:t>
            </a:r>
            <a:r>
              <a:rPr lang="en-US" sz="900" b="0" i="1" dirty="0">
                <a:solidFill>
                  <a:srgbClr val="546E7A"/>
                </a:solidFill>
                <a:latin typeface="Courier New"/>
              </a:rPr>
              <a:t>(), </a:t>
            </a:r>
            <a:r>
              <a:rPr sz="900" b="0" i="1" dirty="0" err="1">
                <a:solidFill>
                  <a:srgbClr val="546E7A"/>
                </a:solidFill>
                <a:latin typeface="Courier New"/>
              </a:rPr>
              <a:t>stack_rasters</a:t>
            </a:r>
            <a:r>
              <a:rPr sz="900" b="0" i="1" dirty="0">
                <a:solidFill>
                  <a:srgbClr val="546E7A"/>
                </a:solidFill>
                <a:latin typeface="Courier New"/>
              </a:rPr>
              <a:t>()</a:t>
            </a:r>
          </a:p>
        </p:txBody>
      </p:sp>
      <p:sp>
        <p:nvSpPr>
          <p:cNvPr id="53" name="Oval 52">
            <a:extLst>
              <a:ext uri="{FF2B5EF4-FFF2-40B4-BE49-F238E27FC236}">
                <a16:creationId xmlns:a16="http://schemas.microsoft.com/office/drawing/2014/main" id="{1AB16653-895F-8E12-01A8-6E3CA9695394}"/>
              </a:ext>
            </a:extLst>
          </p:cNvPr>
          <p:cNvSpPr/>
          <p:nvPr/>
        </p:nvSpPr>
        <p:spPr>
          <a:xfrm>
            <a:off x="610478" y="2035004"/>
            <a:ext cx="365760" cy="365760"/>
          </a:xfrm>
          <a:prstGeom prst="ellipse">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2</a:t>
            </a:r>
          </a:p>
        </p:txBody>
      </p:sp>
      <p:cxnSp>
        <p:nvCxnSpPr>
          <p:cNvPr id="54" name="Connector 8">
            <a:extLst>
              <a:ext uri="{FF2B5EF4-FFF2-40B4-BE49-F238E27FC236}">
                <a16:creationId xmlns:a16="http://schemas.microsoft.com/office/drawing/2014/main" id="{6BAA5DBB-D3D7-47A6-EA1B-36706E6E3A70}"/>
              </a:ext>
            </a:extLst>
          </p:cNvPr>
          <p:cNvCxnSpPr/>
          <p:nvPr/>
        </p:nvCxnSpPr>
        <p:spPr>
          <a:xfrm>
            <a:off x="793358" y="2400764"/>
            <a:ext cx="0" cy="402336"/>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55" name="TextBox 54">
            <a:extLst>
              <a:ext uri="{FF2B5EF4-FFF2-40B4-BE49-F238E27FC236}">
                <a16:creationId xmlns:a16="http://schemas.microsoft.com/office/drawing/2014/main" id="{F207DF0D-0D4D-B704-421F-40178C61AA23}"/>
              </a:ext>
            </a:extLst>
          </p:cNvPr>
          <p:cNvSpPr txBox="1"/>
          <p:nvPr/>
        </p:nvSpPr>
        <p:spPr>
          <a:xfrm>
            <a:off x="1122542" y="1998428"/>
            <a:ext cx="5212080" cy="274320"/>
          </a:xfrm>
          <a:prstGeom prst="rect">
            <a:avLst/>
          </a:prstGeom>
          <a:noFill/>
        </p:spPr>
        <p:txBody>
          <a:bodyPr wrap="square">
            <a:spAutoFit/>
          </a:bodyPr>
          <a:lstStyle/>
          <a:p>
            <a:pPr algn="l"/>
            <a:r>
              <a:rPr sz="1300" b="1" i="0">
                <a:solidFill>
                  <a:srgbClr val="1A1A2E"/>
                </a:solidFill>
                <a:latin typeface="Calibri"/>
              </a:rPr>
              <a:t>Adjust Fuels</a:t>
            </a:r>
          </a:p>
        </p:txBody>
      </p:sp>
      <p:sp>
        <p:nvSpPr>
          <p:cNvPr id="56" name="TextBox 55">
            <a:extLst>
              <a:ext uri="{FF2B5EF4-FFF2-40B4-BE49-F238E27FC236}">
                <a16:creationId xmlns:a16="http://schemas.microsoft.com/office/drawing/2014/main" id="{9CBC9769-A851-251D-218E-322CA7411F0E}"/>
              </a:ext>
            </a:extLst>
          </p:cNvPr>
          <p:cNvSpPr txBox="1"/>
          <p:nvPr/>
        </p:nvSpPr>
        <p:spPr>
          <a:xfrm>
            <a:off x="1122542" y="2272748"/>
            <a:ext cx="4232040" cy="400110"/>
          </a:xfrm>
          <a:prstGeom prst="rect">
            <a:avLst/>
          </a:prstGeom>
          <a:noFill/>
        </p:spPr>
        <p:txBody>
          <a:bodyPr wrap="square">
            <a:spAutoFit/>
          </a:bodyPr>
          <a:lstStyle/>
          <a:p>
            <a:pPr algn="l"/>
            <a:r>
              <a:rPr sz="1000" b="0" i="0" dirty="0">
                <a:solidFill>
                  <a:srgbClr val="546E7A"/>
                </a:solidFill>
                <a:latin typeface="Calibri"/>
              </a:rPr>
              <a:t>Apply treatment scenarios to fuel model / canopy layers (optional</a:t>
            </a:r>
            <a:r>
              <a:rPr lang="en-US" sz="1000" b="0" i="0" dirty="0">
                <a:solidFill>
                  <a:srgbClr val="546E7A"/>
                </a:solidFill>
                <a:latin typeface="Calibri"/>
              </a:rPr>
              <a:t> adjustments e.g., lodgepole</a:t>
            </a:r>
            <a:r>
              <a:rPr sz="1000" b="0" i="0" dirty="0">
                <a:solidFill>
                  <a:srgbClr val="546E7A"/>
                </a:solidFill>
                <a:latin typeface="Calibri"/>
              </a:rPr>
              <a:t>)</a:t>
            </a:r>
          </a:p>
        </p:txBody>
      </p:sp>
      <p:sp>
        <p:nvSpPr>
          <p:cNvPr id="57" name="Rectangle 56">
            <a:extLst>
              <a:ext uri="{FF2B5EF4-FFF2-40B4-BE49-F238E27FC236}">
                <a16:creationId xmlns:a16="http://schemas.microsoft.com/office/drawing/2014/main" id="{41833DE3-F354-60E8-6C74-BF12417C8F77}"/>
              </a:ext>
            </a:extLst>
          </p:cNvPr>
          <p:cNvSpPr/>
          <p:nvPr/>
        </p:nvSpPr>
        <p:spPr>
          <a:xfrm>
            <a:off x="5653162" y="2099012"/>
            <a:ext cx="269748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546E7A"/>
                </a:solidFill>
                <a:latin typeface="Courier New"/>
              </a:rPr>
              <a:t>apply_treatment()</a:t>
            </a:r>
          </a:p>
        </p:txBody>
      </p:sp>
      <p:sp>
        <p:nvSpPr>
          <p:cNvPr id="58" name="Oval 57">
            <a:extLst>
              <a:ext uri="{FF2B5EF4-FFF2-40B4-BE49-F238E27FC236}">
                <a16:creationId xmlns:a16="http://schemas.microsoft.com/office/drawing/2014/main" id="{17FCC7C8-07FB-95DC-94C4-0B64D6D00AE8}"/>
              </a:ext>
            </a:extLst>
          </p:cNvPr>
          <p:cNvSpPr/>
          <p:nvPr/>
        </p:nvSpPr>
        <p:spPr>
          <a:xfrm>
            <a:off x="610478" y="2839676"/>
            <a:ext cx="365760" cy="36576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3</a:t>
            </a:r>
          </a:p>
        </p:txBody>
      </p:sp>
      <p:cxnSp>
        <p:nvCxnSpPr>
          <p:cNvPr id="59" name="Connector 13">
            <a:extLst>
              <a:ext uri="{FF2B5EF4-FFF2-40B4-BE49-F238E27FC236}">
                <a16:creationId xmlns:a16="http://schemas.microsoft.com/office/drawing/2014/main" id="{C2755B35-FA67-5FBF-4398-6DA05B4A66F4}"/>
              </a:ext>
            </a:extLst>
          </p:cNvPr>
          <p:cNvCxnSpPr/>
          <p:nvPr/>
        </p:nvCxnSpPr>
        <p:spPr>
          <a:xfrm>
            <a:off x="793358" y="3205436"/>
            <a:ext cx="0" cy="402336"/>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60" name="TextBox 59">
            <a:extLst>
              <a:ext uri="{FF2B5EF4-FFF2-40B4-BE49-F238E27FC236}">
                <a16:creationId xmlns:a16="http://schemas.microsoft.com/office/drawing/2014/main" id="{FFE43CF7-C958-2D8D-362B-930FFC14CDAD}"/>
              </a:ext>
            </a:extLst>
          </p:cNvPr>
          <p:cNvSpPr txBox="1"/>
          <p:nvPr/>
        </p:nvSpPr>
        <p:spPr>
          <a:xfrm>
            <a:off x="1122542" y="2803100"/>
            <a:ext cx="5212080" cy="274320"/>
          </a:xfrm>
          <a:prstGeom prst="rect">
            <a:avLst/>
          </a:prstGeom>
          <a:noFill/>
        </p:spPr>
        <p:txBody>
          <a:bodyPr wrap="square">
            <a:spAutoFit/>
          </a:bodyPr>
          <a:lstStyle/>
          <a:p>
            <a:pPr algn="l"/>
            <a:r>
              <a:rPr sz="1300" b="1" i="0">
                <a:solidFill>
                  <a:srgbClr val="1A1A2E"/>
                </a:solidFill>
                <a:latin typeface="Calibri"/>
              </a:rPr>
              <a:t>Assemble Weather</a:t>
            </a:r>
          </a:p>
        </p:txBody>
      </p:sp>
      <p:sp>
        <p:nvSpPr>
          <p:cNvPr id="61" name="TextBox 60">
            <a:extLst>
              <a:ext uri="{FF2B5EF4-FFF2-40B4-BE49-F238E27FC236}">
                <a16:creationId xmlns:a16="http://schemas.microsoft.com/office/drawing/2014/main" id="{9F4F1797-D155-0BF1-61AD-DDAE757B7326}"/>
              </a:ext>
            </a:extLst>
          </p:cNvPr>
          <p:cNvSpPr txBox="1"/>
          <p:nvPr/>
        </p:nvSpPr>
        <p:spPr>
          <a:xfrm>
            <a:off x="1122542" y="3077420"/>
            <a:ext cx="4114800" cy="246221"/>
          </a:xfrm>
          <a:prstGeom prst="rect">
            <a:avLst/>
          </a:prstGeom>
          <a:noFill/>
        </p:spPr>
        <p:txBody>
          <a:bodyPr wrap="square">
            <a:spAutoFit/>
          </a:bodyPr>
          <a:lstStyle/>
          <a:p>
            <a:pPr algn="l"/>
            <a:r>
              <a:rPr sz="1000" b="0" i="0" dirty="0">
                <a:solidFill>
                  <a:srgbClr val="546E7A"/>
                </a:solidFill>
                <a:latin typeface="Calibri"/>
              </a:rPr>
              <a:t>Wind cells (HRRR) · fuel moisture (RTMA) · ERC (GridMET)</a:t>
            </a:r>
            <a:r>
              <a:rPr lang="en-US" sz="1000" b="0" i="0" dirty="0">
                <a:solidFill>
                  <a:srgbClr val="546E7A"/>
                </a:solidFill>
                <a:latin typeface="Calibri"/>
              </a:rPr>
              <a:t>, </a:t>
            </a:r>
            <a:r>
              <a:rPr lang="en-US" sz="1000" b="0" i="0" dirty="0" err="1">
                <a:solidFill>
                  <a:srgbClr val="546E7A"/>
                </a:solidFill>
                <a:latin typeface="Calibri"/>
              </a:rPr>
              <a:t>Pyrome</a:t>
            </a:r>
            <a:r>
              <a:rPr lang="en-US" sz="1000" b="0" i="0" dirty="0">
                <a:solidFill>
                  <a:srgbClr val="546E7A"/>
                </a:solidFill>
                <a:latin typeface="Calibri"/>
              </a:rPr>
              <a:t>-specific</a:t>
            </a:r>
            <a:endParaRPr sz="1000" b="0" i="0" dirty="0">
              <a:solidFill>
                <a:srgbClr val="546E7A"/>
              </a:solidFill>
              <a:latin typeface="Calibri"/>
            </a:endParaRPr>
          </a:p>
        </p:txBody>
      </p:sp>
      <p:sp>
        <p:nvSpPr>
          <p:cNvPr id="62" name="Rectangle 61">
            <a:extLst>
              <a:ext uri="{FF2B5EF4-FFF2-40B4-BE49-F238E27FC236}">
                <a16:creationId xmlns:a16="http://schemas.microsoft.com/office/drawing/2014/main" id="{AD4C4DCF-B10F-180C-BE4C-2698CB1A2FFB}"/>
              </a:ext>
            </a:extLst>
          </p:cNvPr>
          <p:cNvSpPr/>
          <p:nvPr/>
        </p:nvSpPr>
        <p:spPr>
          <a:xfrm>
            <a:off x="5653162" y="2903684"/>
            <a:ext cx="269748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546E7A"/>
                </a:solidFill>
                <a:latin typeface="Courier New"/>
              </a:rPr>
              <a:t>build_flammap_wind_data()</a:t>
            </a:r>
          </a:p>
        </p:txBody>
      </p:sp>
      <p:sp>
        <p:nvSpPr>
          <p:cNvPr id="63" name="Oval 62">
            <a:extLst>
              <a:ext uri="{FF2B5EF4-FFF2-40B4-BE49-F238E27FC236}">
                <a16:creationId xmlns:a16="http://schemas.microsoft.com/office/drawing/2014/main" id="{ADE44EBF-256F-A331-25F6-72DECAF21C2A}"/>
              </a:ext>
            </a:extLst>
          </p:cNvPr>
          <p:cNvSpPr/>
          <p:nvPr/>
        </p:nvSpPr>
        <p:spPr>
          <a:xfrm>
            <a:off x="610478" y="3644348"/>
            <a:ext cx="365760" cy="365760"/>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4</a:t>
            </a:r>
          </a:p>
        </p:txBody>
      </p:sp>
      <p:cxnSp>
        <p:nvCxnSpPr>
          <p:cNvPr id="64" name="Connector 18">
            <a:extLst>
              <a:ext uri="{FF2B5EF4-FFF2-40B4-BE49-F238E27FC236}">
                <a16:creationId xmlns:a16="http://schemas.microsoft.com/office/drawing/2014/main" id="{8067DCF3-CF35-E5FA-5722-6D37CA7A6562}"/>
              </a:ext>
            </a:extLst>
          </p:cNvPr>
          <p:cNvCxnSpPr/>
          <p:nvPr/>
        </p:nvCxnSpPr>
        <p:spPr>
          <a:xfrm>
            <a:off x="793358" y="4010108"/>
            <a:ext cx="0" cy="402336"/>
          </a:xfrm>
          <a:prstGeom prst="line">
            <a:avLst/>
          </a:prstGeom>
          <a:ln w="12700">
            <a:solidFill>
              <a:srgbClr val="DEE2E6"/>
            </a:solidFill>
          </a:ln>
        </p:spPr>
        <p:style>
          <a:lnRef idx="2">
            <a:schemeClr val="accent1"/>
          </a:lnRef>
          <a:fillRef idx="0">
            <a:schemeClr val="accent1"/>
          </a:fillRef>
          <a:effectRef idx="1">
            <a:schemeClr val="accent1"/>
          </a:effectRef>
          <a:fontRef idx="minor">
            <a:schemeClr val="tx1"/>
          </a:fontRef>
        </p:style>
      </p:cxnSp>
      <p:sp>
        <p:nvSpPr>
          <p:cNvPr id="65" name="TextBox 64">
            <a:extLst>
              <a:ext uri="{FF2B5EF4-FFF2-40B4-BE49-F238E27FC236}">
                <a16:creationId xmlns:a16="http://schemas.microsoft.com/office/drawing/2014/main" id="{5AFB72E8-A35E-9441-AD4D-926A61223634}"/>
              </a:ext>
            </a:extLst>
          </p:cNvPr>
          <p:cNvSpPr txBox="1"/>
          <p:nvPr/>
        </p:nvSpPr>
        <p:spPr>
          <a:xfrm>
            <a:off x="1122542" y="3607772"/>
            <a:ext cx="5212080" cy="274320"/>
          </a:xfrm>
          <a:prstGeom prst="rect">
            <a:avLst/>
          </a:prstGeom>
          <a:noFill/>
        </p:spPr>
        <p:txBody>
          <a:bodyPr wrap="square">
            <a:spAutoFit/>
          </a:bodyPr>
          <a:lstStyle/>
          <a:p>
            <a:pPr algn="l"/>
            <a:r>
              <a:rPr sz="1300" b="1" i="0">
                <a:solidFill>
                  <a:srgbClr val="1A1A2E"/>
                </a:solidFill>
                <a:latin typeface="Calibri"/>
              </a:rPr>
              <a:t>Build &amp; Run</a:t>
            </a:r>
          </a:p>
        </p:txBody>
      </p:sp>
      <p:sp>
        <p:nvSpPr>
          <p:cNvPr id="66" name="TextBox 65">
            <a:extLst>
              <a:ext uri="{FF2B5EF4-FFF2-40B4-BE49-F238E27FC236}">
                <a16:creationId xmlns:a16="http://schemas.microsoft.com/office/drawing/2014/main" id="{66DDDC8F-FFB7-9F47-F36B-B02E9380A19F}"/>
              </a:ext>
            </a:extLst>
          </p:cNvPr>
          <p:cNvSpPr txBox="1"/>
          <p:nvPr/>
        </p:nvSpPr>
        <p:spPr>
          <a:xfrm>
            <a:off x="1122542" y="3882092"/>
            <a:ext cx="5212080" cy="329184"/>
          </a:xfrm>
          <a:prstGeom prst="rect">
            <a:avLst/>
          </a:prstGeom>
          <a:noFill/>
        </p:spPr>
        <p:txBody>
          <a:bodyPr wrap="square">
            <a:spAutoFit/>
          </a:bodyPr>
          <a:lstStyle/>
          <a:p>
            <a:pPr algn="l"/>
            <a:r>
              <a:rPr sz="1000" b="0" i="0">
                <a:solidFill>
                  <a:srgbClr val="546E7A"/>
                </a:solidFill>
                <a:latin typeface="Calibri"/>
              </a:rPr>
              <a:t>Generate config files and execute batch FlamMap scenarios</a:t>
            </a:r>
          </a:p>
        </p:txBody>
      </p:sp>
      <p:sp>
        <p:nvSpPr>
          <p:cNvPr id="67" name="Rectangle 66">
            <a:extLst>
              <a:ext uri="{FF2B5EF4-FFF2-40B4-BE49-F238E27FC236}">
                <a16:creationId xmlns:a16="http://schemas.microsoft.com/office/drawing/2014/main" id="{49EAEDD4-242B-8BB9-B820-4F2D3DBE8F29}"/>
              </a:ext>
            </a:extLst>
          </p:cNvPr>
          <p:cNvSpPr/>
          <p:nvPr/>
        </p:nvSpPr>
        <p:spPr>
          <a:xfrm>
            <a:off x="5653162" y="3708356"/>
            <a:ext cx="269748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546E7A"/>
                </a:solidFill>
                <a:latin typeface="Courier New"/>
              </a:rPr>
              <a:t>run_flammap_scenarios()</a:t>
            </a:r>
          </a:p>
        </p:txBody>
      </p:sp>
      <p:sp>
        <p:nvSpPr>
          <p:cNvPr id="68" name="Oval 67">
            <a:extLst>
              <a:ext uri="{FF2B5EF4-FFF2-40B4-BE49-F238E27FC236}">
                <a16:creationId xmlns:a16="http://schemas.microsoft.com/office/drawing/2014/main" id="{D2CBDC00-9B49-FA0E-0DE0-8C2CEE7FABCF}"/>
              </a:ext>
            </a:extLst>
          </p:cNvPr>
          <p:cNvSpPr/>
          <p:nvPr/>
        </p:nvSpPr>
        <p:spPr>
          <a:xfrm>
            <a:off x="610478" y="4449019"/>
            <a:ext cx="365760" cy="365760"/>
          </a:xfrm>
          <a:prstGeom prst="ellipse">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1" i="0">
                <a:solidFill>
                  <a:srgbClr val="FFFFFF"/>
                </a:solidFill>
                <a:latin typeface="Calibri"/>
              </a:rPr>
              <a:t>5</a:t>
            </a:r>
          </a:p>
        </p:txBody>
      </p:sp>
      <p:sp>
        <p:nvSpPr>
          <p:cNvPr id="69" name="TextBox 68">
            <a:extLst>
              <a:ext uri="{FF2B5EF4-FFF2-40B4-BE49-F238E27FC236}">
                <a16:creationId xmlns:a16="http://schemas.microsoft.com/office/drawing/2014/main" id="{812B4185-500A-3EFA-051D-16BDFC856CEB}"/>
              </a:ext>
            </a:extLst>
          </p:cNvPr>
          <p:cNvSpPr txBox="1"/>
          <p:nvPr/>
        </p:nvSpPr>
        <p:spPr>
          <a:xfrm>
            <a:off x="1122542" y="4412443"/>
            <a:ext cx="5212080" cy="274320"/>
          </a:xfrm>
          <a:prstGeom prst="rect">
            <a:avLst/>
          </a:prstGeom>
          <a:noFill/>
        </p:spPr>
        <p:txBody>
          <a:bodyPr wrap="square">
            <a:spAutoFit/>
          </a:bodyPr>
          <a:lstStyle/>
          <a:p>
            <a:pPr algn="l"/>
            <a:r>
              <a:rPr sz="1300" b="1" i="0">
                <a:solidFill>
                  <a:srgbClr val="1A1A2E"/>
                </a:solidFill>
                <a:latin typeface="Calibri"/>
              </a:rPr>
              <a:t>Outputs</a:t>
            </a:r>
          </a:p>
        </p:txBody>
      </p:sp>
      <p:sp>
        <p:nvSpPr>
          <p:cNvPr id="70" name="TextBox 69">
            <a:extLst>
              <a:ext uri="{FF2B5EF4-FFF2-40B4-BE49-F238E27FC236}">
                <a16:creationId xmlns:a16="http://schemas.microsoft.com/office/drawing/2014/main" id="{A96E322D-B194-5584-50FA-C7B7A54A1AF6}"/>
              </a:ext>
            </a:extLst>
          </p:cNvPr>
          <p:cNvSpPr txBox="1"/>
          <p:nvPr/>
        </p:nvSpPr>
        <p:spPr>
          <a:xfrm>
            <a:off x="1122542" y="4686764"/>
            <a:ext cx="5212080" cy="329184"/>
          </a:xfrm>
          <a:prstGeom prst="rect">
            <a:avLst/>
          </a:prstGeom>
          <a:noFill/>
        </p:spPr>
        <p:txBody>
          <a:bodyPr wrap="square">
            <a:spAutoFit/>
          </a:bodyPr>
          <a:lstStyle/>
          <a:p>
            <a:pPr algn="l"/>
            <a:r>
              <a:rPr sz="1000" b="0" i="0">
                <a:solidFill>
                  <a:srgbClr val="546E7A"/>
                </a:solidFill>
                <a:latin typeface="Calibri"/>
              </a:rPr>
              <a:t>Flame length · spread rate · crown fire fraction rasters</a:t>
            </a:r>
          </a:p>
        </p:txBody>
      </p:sp>
      <p:sp>
        <p:nvSpPr>
          <p:cNvPr id="71" name="Rectangle 70">
            <a:extLst>
              <a:ext uri="{FF2B5EF4-FFF2-40B4-BE49-F238E27FC236}">
                <a16:creationId xmlns:a16="http://schemas.microsoft.com/office/drawing/2014/main" id="{2558F871-C6EB-07CE-F58D-7E2494F6AE2B}"/>
              </a:ext>
            </a:extLst>
          </p:cNvPr>
          <p:cNvSpPr/>
          <p:nvPr/>
        </p:nvSpPr>
        <p:spPr>
          <a:xfrm>
            <a:off x="5653162" y="4513028"/>
            <a:ext cx="2697480"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1">
                <a:solidFill>
                  <a:srgbClr val="546E7A"/>
                </a:solidFill>
                <a:latin typeface="Courier New"/>
              </a:rPr>
              <a:t>.tif rasters</a:t>
            </a:r>
          </a:p>
        </p:txBody>
      </p:sp>
      <p:sp>
        <p:nvSpPr>
          <p:cNvPr id="73" name="Rectangle 72">
            <a:extLst>
              <a:ext uri="{FF2B5EF4-FFF2-40B4-BE49-F238E27FC236}">
                <a16:creationId xmlns:a16="http://schemas.microsoft.com/office/drawing/2014/main" id="{D2AC516D-5503-2F45-7923-369C3FEFEDA6}"/>
              </a:ext>
            </a:extLst>
          </p:cNvPr>
          <p:cNvSpPr/>
          <p:nvPr/>
        </p:nvSpPr>
        <p:spPr>
          <a:xfrm>
            <a:off x="3155894" y="646897"/>
            <a:ext cx="1416106" cy="237160"/>
          </a:xfrm>
          <a:prstGeom prst="rect">
            <a:avLst/>
          </a:prstGeom>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400" dirty="0"/>
              <a:t>Demo !</a:t>
            </a:r>
          </a:p>
        </p:txBody>
      </p:sp>
      <p:sp>
        <p:nvSpPr>
          <p:cNvPr id="75" name="TextBox 74">
            <a:extLst>
              <a:ext uri="{FF2B5EF4-FFF2-40B4-BE49-F238E27FC236}">
                <a16:creationId xmlns:a16="http://schemas.microsoft.com/office/drawing/2014/main" id="{68D4E2C9-C290-A9F5-CF4A-211C1CC61753}"/>
              </a:ext>
            </a:extLst>
          </p:cNvPr>
          <p:cNvSpPr txBox="1"/>
          <p:nvPr/>
        </p:nvSpPr>
        <p:spPr>
          <a:xfrm>
            <a:off x="3091820" y="883437"/>
            <a:ext cx="5547090" cy="215444"/>
          </a:xfrm>
          <a:prstGeom prst="rect">
            <a:avLst/>
          </a:prstGeom>
          <a:noFill/>
        </p:spPr>
        <p:txBody>
          <a:bodyPr wrap="square">
            <a:spAutoFit/>
          </a:bodyPr>
          <a:lstStyle/>
          <a:p>
            <a:r>
              <a:rPr lang="en-US" sz="800" dirty="0">
                <a:solidFill>
                  <a:srgbClr val="0070C0"/>
                </a:solidFill>
                <a:latin typeface="Courier New" panose="02070309020205020404" pitchFamily="49" charset="0"/>
                <a:cs typeface="Courier New" panose="02070309020205020404" pitchFamily="49" charset="0"/>
              </a:rPr>
              <a:t>https://</a:t>
            </a:r>
            <a:r>
              <a:rPr lang="en-US" sz="800" dirty="0" err="1">
                <a:solidFill>
                  <a:srgbClr val="0070C0"/>
                </a:solidFill>
                <a:latin typeface="Courier New" panose="02070309020205020404" pitchFamily="49" charset="0"/>
                <a:cs typeface="Courier New" panose="02070309020205020404" pitchFamily="49" charset="0"/>
              </a:rPr>
              <a:t>github.com</a:t>
            </a:r>
            <a:r>
              <a:rPr lang="en-US" sz="800" dirty="0">
                <a:solidFill>
                  <a:srgbClr val="0070C0"/>
                </a:solidFill>
                <a:latin typeface="Courier New" panose="02070309020205020404" pitchFamily="49" charset="0"/>
                <a:cs typeface="Courier New" panose="02070309020205020404" pitchFamily="49" charset="0"/>
              </a:rPr>
              <a:t>/</a:t>
            </a:r>
            <a:r>
              <a:rPr lang="en-US" sz="800" dirty="0" err="1">
                <a:solidFill>
                  <a:srgbClr val="0070C0"/>
                </a:solidFill>
                <a:latin typeface="Courier New" panose="02070309020205020404" pitchFamily="49" charset="0"/>
                <a:cs typeface="Courier New" panose="02070309020205020404" pitchFamily="49" charset="0"/>
              </a:rPr>
              <a:t>maxwellCcook</a:t>
            </a:r>
            <a:r>
              <a:rPr lang="en-US" sz="800" dirty="0">
                <a:solidFill>
                  <a:srgbClr val="0070C0"/>
                </a:solidFill>
                <a:latin typeface="Courier New" panose="02070309020205020404" pitchFamily="49" charset="0"/>
                <a:cs typeface="Courier New" panose="02070309020205020404" pitchFamily="49" charset="0"/>
              </a:rPr>
              <a:t>/</a:t>
            </a:r>
            <a:r>
              <a:rPr lang="en-US" sz="800" dirty="0" err="1">
                <a:solidFill>
                  <a:srgbClr val="0070C0"/>
                </a:solidFill>
                <a:latin typeface="Courier New" panose="02070309020205020404" pitchFamily="49" charset="0"/>
                <a:cs typeface="Courier New" panose="02070309020205020404" pitchFamily="49" charset="0"/>
              </a:rPr>
              <a:t>fb_tools</a:t>
            </a:r>
            <a:r>
              <a:rPr lang="en-US" sz="800" dirty="0">
                <a:solidFill>
                  <a:srgbClr val="0070C0"/>
                </a:solidFill>
                <a:latin typeface="Courier New" panose="02070309020205020404" pitchFamily="49" charset="0"/>
                <a:cs typeface="Courier New" panose="02070309020205020404" pitchFamily="49" charset="0"/>
              </a:rPr>
              <a:t>/blob/main/code/notebooks/__</a:t>
            </a:r>
            <a:r>
              <a:rPr lang="en-US" sz="800" dirty="0" err="1">
                <a:solidFill>
                  <a:srgbClr val="0070C0"/>
                </a:solidFill>
                <a:latin typeface="Courier New" panose="02070309020205020404" pitchFamily="49" charset="0"/>
                <a:cs typeface="Courier New" panose="02070309020205020404" pitchFamily="49" charset="0"/>
              </a:rPr>
              <a:t>Modules_Test.ipynb</a:t>
            </a:r>
            <a:endParaRPr lang="en-US" sz="800" dirty="0">
              <a:solidFill>
                <a:srgbClr val="0070C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23931794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608" y="550335"/>
            <a:ext cx="8412480" cy="430887"/>
          </a:xfrm>
          <a:prstGeom prst="rect">
            <a:avLst/>
          </a:prstGeom>
          <a:noFill/>
        </p:spPr>
        <p:txBody>
          <a:bodyPr wrap="square">
            <a:spAutoFit/>
          </a:bodyPr>
          <a:lstStyle/>
          <a:p>
            <a:pPr algn="l"/>
            <a:r>
              <a:rPr lang="en-US" sz="2200" b="1" i="0" dirty="0">
                <a:solidFill>
                  <a:srgbClr val="1A1A2E"/>
                </a:solidFill>
                <a:latin typeface="Calibri"/>
              </a:rPr>
              <a:t>Ex. </a:t>
            </a:r>
            <a:r>
              <a:rPr sz="2200" b="1" i="0" dirty="0" err="1">
                <a:solidFill>
                  <a:srgbClr val="1A1A2E"/>
                </a:solidFill>
                <a:latin typeface="Calibri"/>
              </a:rPr>
              <a:t>FSPro</a:t>
            </a:r>
            <a:r>
              <a:rPr sz="2200" b="1" i="0" dirty="0">
                <a:solidFill>
                  <a:srgbClr val="1A1A2E"/>
                </a:solidFill>
                <a:latin typeface="Calibri"/>
              </a:rPr>
              <a:t> Counterfactuals</a:t>
            </a:r>
            <a:r>
              <a:rPr lang="en-US" sz="2200" b="1" i="0" dirty="0">
                <a:solidFill>
                  <a:srgbClr val="1A1A2E"/>
                </a:solidFill>
                <a:latin typeface="Calibri"/>
              </a:rPr>
              <a:t> Input</a:t>
            </a:r>
            <a:endParaRPr sz="2200" b="1" i="0" dirty="0">
              <a:solidFill>
                <a:srgbClr val="1A1A2E"/>
              </a:solidFill>
              <a:latin typeface="Calibri"/>
            </a:endParaRPr>
          </a:p>
        </p:txBody>
      </p:sp>
      <p:sp>
        <p:nvSpPr>
          <p:cNvPr id="3" name="Rectangle 2"/>
          <p:cNvSpPr/>
          <p:nvPr/>
        </p:nvSpPr>
        <p:spPr>
          <a:xfrm>
            <a:off x="292608" y="1063518"/>
            <a:ext cx="8558784" cy="310897"/>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300" b="0" i="0" dirty="0">
                <a:solidFill>
                  <a:srgbClr val="1A1A2E"/>
                </a:solidFill>
                <a:latin typeface="Calibri"/>
              </a:rPr>
              <a:t>Objective: Did this treatment</a:t>
            </a:r>
            <a:r>
              <a:rPr lang="en-US" sz="1300" b="0" i="0" dirty="0">
                <a:solidFill>
                  <a:srgbClr val="1A1A2E"/>
                </a:solidFill>
                <a:latin typeface="Calibri"/>
              </a:rPr>
              <a:t> </a:t>
            </a:r>
            <a:r>
              <a:rPr sz="1300" b="0" i="0" dirty="0">
                <a:solidFill>
                  <a:srgbClr val="1A1A2E"/>
                </a:solidFill>
                <a:latin typeface="Calibri"/>
              </a:rPr>
              <a:t>meaningfully reduce potential fire spread</a:t>
            </a:r>
            <a:r>
              <a:rPr lang="en-US" sz="1300" b="0" i="0" dirty="0">
                <a:solidFill>
                  <a:srgbClr val="1A1A2E"/>
                </a:solidFill>
                <a:latin typeface="Calibri"/>
              </a:rPr>
              <a:t>, arrival time, behavior relative to values at risk</a:t>
            </a:r>
            <a:r>
              <a:rPr sz="1300" b="0" i="0" dirty="0">
                <a:solidFill>
                  <a:srgbClr val="1A1A2E"/>
                </a:solidFill>
                <a:latin typeface="Calibri"/>
              </a:rPr>
              <a:t>?</a:t>
            </a:r>
          </a:p>
        </p:txBody>
      </p:sp>
      <p:sp>
        <p:nvSpPr>
          <p:cNvPr id="4" name="TextBox 3"/>
          <p:cNvSpPr txBox="1"/>
          <p:nvPr/>
        </p:nvSpPr>
        <p:spPr>
          <a:xfrm>
            <a:off x="507492" y="1494880"/>
            <a:ext cx="4206240" cy="237744"/>
          </a:xfrm>
          <a:prstGeom prst="rect">
            <a:avLst/>
          </a:prstGeom>
          <a:noFill/>
        </p:spPr>
        <p:txBody>
          <a:bodyPr wrap="square">
            <a:spAutoFit/>
          </a:bodyPr>
          <a:lstStyle/>
          <a:p>
            <a:pPr algn="l"/>
            <a:r>
              <a:rPr sz="900" b="1" i="0">
                <a:solidFill>
                  <a:srgbClr val="546E7A"/>
                </a:solidFill>
                <a:latin typeface="Calibri"/>
              </a:rPr>
              <a:t>DESIGN</a:t>
            </a:r>
          </a:p>
        </p:txBody>
      </p:sp>
      <p:sp>
        <p:nvSpPr>
          <p:cNvPr id="5" name="Oval 4"/>
          <p:cNvSpPr/>
          <p:nvPr/>
        </p:nvSpPr>
        <p:spPr>
          <a:xfrm>
            <a:off x="507492" y="1812105"/>
            <a:ext cx="320040" cy="320040"/>
          </a:xfrm>
          <a:prstGeom prst="ellipse">
            <a:avLst/>
          </a:prstGeom>
          <a:solidFill>
            <a:srgbClr val="1B6CA8"/>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dirty="0">
                <a:solidFill>
                  <a:srgbClr val="FFFFFF"/>
                </a:solidFill>
                <a:latin typeface="Calibri"/>
              </a:rPr>
              <a:t>1</a:t>
            </a:r>
          </a:p>
        </p:txBody>
      </p:sp>
      <p:sp>
        <p:nvSpPr>
          <p:cNvPr id="6" name="TextBox 5"/>
          <p:cNvSpPr txBox="1"/>
          <p:nvPr/>
        </p:nvSpPr>
        <p:spPr>
          <a:xfrm>
            <a:off x="946404" y="1757241"/>
            <a:ext cx="3703320" cy="256032"/>
          </a:xfrm>
          <a:prstGeom prst="rect">
            <a:avLst/>
          </a:prstGeom>
          <a:noFill/>
        </p:spPr>
        <p:txBody>
          <a:bodyPr wrap="square">
            <a:spAutoFit/>
          </a:bodyPr>
          <a:lstStyle/>
          <a:p>
            <a:pPr algn="l"/>
            <a:r>
              <a:rPr sz="1200" b="1" i="0">
                <a:solidFill>
                  <a:srgbClr val="1A1A2E"/>
                </a:solidFill>
                <a:latin typeface="Calibri"/>
              </a:rPr>
              <a:t>Spatial unit</a:t>
            </a:r>
          </a:p>
        </p:txBody>
      </p:sp>
      <p:sp>
        <p:nvSpPr>
          <p:cNvPr id="7" name="TextBox 6"/>
          <p:cNvSpPr txBox="1"/>
          <p:nvPr/>
        </p:nvSpPr>
        <p:spPr>
          <a:xfrm>
            <a:off x="946404" y="2013273"/>
            <a:ext cx="3132436" cy="246221"/>
          </a:xfrm>
          <a:prstGeom prst="rect">
            <a:avLst/>
          </a:prstGeom>
          <a:noFill/>
        </p:spPr>
        <p:txBody>
          <a:bodyPr wrap="square">
            <a:spAutoFit/>
          </a:bodyPr>
          <a:lstStyle/>
          <a:p>
            <a:pPr algn="l"/>
            <a:r>
              <a:rPr sz="1000" b="0" i="0" dirty="0">
                <a:solidFill>
                  <a:srgbClr val="546E7A"/>
                </a:solidFill>
                <a:latin typeface="Calibri"/>
              </a:rPr>
              <a:t>HUC12 / </a:t>
            </a:r>
            <a:r>
              <a:rPr sz="1000" b="0" i="0" dirty="0" err="1">
                <a:solidFill>
                  <a:srgbClr val="546E7A"/>
                </a:solidFill>
                <a:latin typeface="Calibri"/>
              </a:rPr>
              <a:t>fireshed</a:t>
            </a:r>
            <a:r>
              <a:rPr sz="1000" b="0" i="0" dirty="0">
                <a:solidFill>
                  <a:srgbClr val="546E7A"/>
                </a:solidFill>
                <a:latin typeface="Calibri"/>
              </a:rPr>
              <a:t> / POD — </a:t>
            </a:r>
            <a:r>
              <a:rPr lang="en-US" sz="1000" b="0" i="0" dirty="0">
                <a:solidFill>
                  <a:srgbClr val="546E7A"/>
                </a:solidFill>
                <a:latin typeface="Calibri"/>
              </a:rPr>
              <a:t>any spatial container</a:t>
            </a:r>
            <a:endParaRPr sz="1000" b="0" i="0" dirty="0">
              <a:solidFill>
                <a:srgbClr val="546E7A"/>
              </a:solidFill>
              <a:latin typeface="Calibri"/>
            </a:endParaRPr>
          </a:p>
        </p:txBody>
      </p:sp>
      <p:sp>
        <p:nvSpPr>
          <p:cNvPr id="8" name="Oval 7"/>
          <p:cNvSpPr/>
          <p:nvPr/>
        </p:nvSpPr>
        <p:spPr>
          <a:xfrm>
            <a:off x="507492" y="2490060"/>
            <a:ext cx="320040" cy="320040"/>
          </a:xfrm>
          <a:prstGeom prst="ellipse">
            <a:avLst/>
          </a:prstGeom>
          <a:solidFill>
            <a:srgbClr val="D5622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dirty="0">
                <a:solidFill>
                  <a:srgbClr val="FFFFFF"/>
                </a:solidFill>
                <a:latin typeface="Calibri"/>
              </a:rPr>
              <a:t>2</a:t>
            </a:r>
          </a:p>
        </p:txBody>
      </p:sp>
      <p:sp>
        <p:nvSpPr>
          <p:cNvPr id="9" name="TextBox 8"/>
          <p:cNvSpPr txBox="1"/>
          <p:nvPr/>
        </p:nvSpPr>
        <p:spPr>
          <a:xfrm>
            <a:off x="946404" y="2435196"/>
            <a:ext cx="3703320" cy="256032"/>
          </a:xfrm>
          <a:prstGeom prst="rect">
            <a:avLst/>
          </a:prstGeom>
          <a:noFill/>
        </p:spPr>
        <p:txBody>
          <a:bodyPr wrap="square">
            <a:spAutoFit/>
          </a:bodyPr>
          <a:lstStyle/>
          <a:p>
            <a:pPr algn="l"/>
            <a:r>
              <a:rPr sz="1200" b="1" i="0" dirty="0">
                <a:solidFill>
                  <a:srgbClr val="1A1A2E"/>
                </a:solidFill>
                <a:latin typeface="Calibri"/>
              </a:rPr>
              <a:t>Ignitions</a:t>
            </a:r>
          </a:p>
        </p:txBody>
      </p:sp>
      <p:sp>
        <p:nvSpPr>
          <p:cNvPr id="10" name="TextBox 9"/>
          <p:cNvSpPr txBox="1"/>
          <p:nvPr/>
        </p:nvSpPr>
        <p:spPr>
          <a:xfrm>
            <a:off x="946404" y="2691228"/>
            <a:ext cx="3703320" cy="553998"/>
          </a:xfrm>
          <a:prstGeom prst="rect">
            <a:avLst/>
          </a:prstGeom>
          <a:noFill/>
        </p:spPr>
        <p:txBody>
          <a:bodyPr wrap="square">
            <a:spAutoFit/>
          </a:bodyPr>
          <a:lstStyle/>
          <a:p>
            <a:pPr algn="l"/>
            <a:r>
              <a:rPr sz="1000" b="0" i="0" dirty="0">
                <a:solidFill>
                  <a:srgbClr val="546E7A"/>
                </a:solidFill>
                <a:latin typeface="Calibri"/>
              </a:rPr>
              <a:t>Polygon/polyline boundary</a:t>
            </a:r>
            <a:r>
              <a:rPr lang="en-US" sz="1000" b="0" i="0" dirty="0">
                <a:solidFill>
                  <a:srgbClr val="546E7A"/>
                </a:solidFill>
                <a:latin typeface="Calibri"/>
              </a:rPr>
              <a:t> (buffered point), can use known ignition locations, generate random ignitions, or conditional ignition (upwind, within a distance). Select N ignitions for ensemble.</a:t>
            </a:r>
            <a:endParaRPr sz="1000" b="0" i="0" dirty="0">
              <a:solidFill>
                <a:srgbClr val="546E7A"/>
              </a:solidFill>
              <a:latin typeface="Calibri"/>
            </a:endParaRPr>
          </a:p>
        </p:txBody>
      </p:sp>
      <p:sp>
        <p:nvSpPr>
          <p:cNvPr id="11" name="Oval 10"/>
          <p:cNvSpPr/>
          <p:nvPr/>
        </p:nvSpPr>
        <p:spPr>
          <a:xfrm>
            <a:off x="507492" y="3373323"/>
            <a:ext cx="320040" cy="320040"/>
          </a:xfrm>
          <a:prstGeom prst="ellipse">
            <a:avLst/>
          </a:prstGeom>
          <a:solidFill>
            <a:srgbClr val="2B6E49"/>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dirty="0">
                <a:solidFill>
                  <a:srgbClr val="FFFFFF"/>
                </a:solidFill>
                <a:latin typeface="Calibri"/>
              </a:rPr>
              <a:t>3</a:t>
            </a:r>
          </a:p>
        </p:txBody>
      </p:sp>
      <p:sp>
        <p:nvSpPr>
          <p:cNvPr id="12" name="TextBox 11"/>
          <p:cNvSpPr txBox="1"/>
          <p:nvPr/>
        </p:nvSpPr>
        <p:spPr>
          <a:xfrm>
            <a:off x="946404" y="3318459"/>
            <a:ext cx="3703320" cy="256032"/>
          </a:xfrm>
          <a:prstGeom prst="rect">
            <a:avLst/>
          </a:prstGeom>
          <a:noFill/>
        </p:spPr>
        <p:txBody>
          <a:bodyPr wrap="square">
            <a:spAutoFit/>
          </a:bodyPr>
          <a:lstStyle/>
          <a:p>
            <a:pPr algn="l"/>
            <a:r>
              <a:rPr sz="1200" b="1" i="0" dirty="0">
                <a:solidFill>
                  <a:srgbClr val="1A1A2E"/>
                </a:solidFill>
                <a:latin typeface="Calibri"/>
              </a:rPr>
              <a:t>Paired runs</a:t>
            </a:r>
          </a:p>
        </p:txBody>
      </p:sp>
      <p:sp>
        <p:nvSpPr>
          <p:cNvPr id="13" name="TextBox 12"/>
          <p:cNvSpPr txBox="1"/>
          <p:nvPr/>
        </p:nvSpPr>
        <p:spPr>
          <a:xfrm>
            <a:off x="946404" y="3574491"/>
            <a:ext cx="3703320" cy="329184"/>
          </a:xfrm>
          <a:prstGeom prst="rect">
            <a:avLst/>
          </a:prstGeom>
          <a:noFill/>
        </p:spPr>
        <p:txBody>
          <a:bodyPr wrap="square">
            <a:spAutoFit/>
          </a:bodyPr>
          <a:lstStyle/>
          <a:p>
            <a:pPr algn="l"/>
            <a:r>
              <a:rPr sz="1000" b="0" i="0" dirty="0">
                <a:solidFill>
                  <a:srgbClr val="546E7A"/>
                </a:solidFill>
                <a:latin typeface="Calibri"/>
              </a:rPr>
              <a:t>Baseline LCP vs. Treated LCP — same input file, same SPOTTING_SEED</a:t>
            </a:r>
          </a:p>
        </p:txBody>
      </p:sp>
      <p:sp>
        <p:nvSpPr>
          <p:cNvPr id="14" name="Oval 13"/>
          <p:cNvSpPr/>
          <p:nvPr/>
        </p:nvSpPr>
        <p:spPr>
          <a:xfrm>
            <a:off x="507492" y="4061528"/>
            <a:ext cx="320040" cy="320040"/>
          </a:xfrm>
          <a:prstGeom prst="ellipse">
            <a:avLst/>
          </a:prstGeom>
          <a:solidFill>
            <a:srgbClr val="51B887"/>
          </a:solidFill>
          <a:ln>
            <a:no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200" b="1" i="0">
                <a:solidFill>
                  <a:srgbClr val="FFFFFF"/>
                </a:solidFill>
                <a:latin typeface="Calibri"/>
              </a:rPr>
              <a:t>4</a:t>
            </a:r>
          </a:p>
        </p:txBody>
      </p:sp>
      <p:sp>
        <p:nvSpPr>
          <p:cNvPr id="15" name="TextBox 14"/>
          <p:cNvSpPr txBox="1"/>
          <p:nvPr/>
        </p:nvSpPr>
        <p:spPr>
          <a:xfrm>
            <a:off x="946404" y="4006665"/>
            <a:ext cx="3703320" cy="256032"/>
          </a:xfrm>
          <a:prstGeom prst="rect">
            <a:avLst/>
          </a:prstGeom>
          <a:noFill/>
        </p:spPr>
        <p:txBody>
          <a:bodyPr wrap="square">
            <a:spAutoFit/>
          </a:bodyPr>
          <a:lstStyle/>
          <a:p>
            <a:pPr algn="l"/>
            <a:r>
              <a:rPr sz="1200" b="1" i="0">
                <a:solidFill>
                  <a:srgbClr val="1A1A2E"/>
                </a:solidFill>
                <a:latin typeface="Calibri"/>
              </a:rPr>
              <a:t>Weather</a:t>
            </a:r>
          </a:p>
        </p:txBody>
      </p:sp>
      <p:sp>
        <p:nvSpPr>
          <p:cNvPr id="16" name="TextBox 15"/>
          <p:cNvSpPr txBox="1"/>
          <p:nvPr/>
        </p:nvSpPr>
        <p:spPr>
          <a:xfrm>
            <a:off x="946404" y="4262697"/>
            <a:ext cx="3703320" cy="400110"/>
          </a:xfrm>
          <a:prstGeom prst="rect">
            <a:avLst/>
          </a:prstGeom>
          <a:noFill/>
        </p:spPr>
        <p:txBody>
          <a:bodyPr wrap="square">
            <a:spAutoFit/>
          </a:bodyPr>
          <a:lstStyle/>
          <a:p>
            <a:pPr algn="l"/>
            <a:r>
              <a:rPr sz="1000" b="0" i="0" dirty="0">
                <a:solidFill>
                  <a:srgbClr val="546E7A"/>
                </a:solidFill>
                <a:latin typeface="Calibri"/>
              </a:rPr>
              <a:t>Identical</a:t>
            </a:r>
            <a:r>
              <a:rPr lang="en-US" sz="1000" b="0" i="0" dirty="0">
                <a:solidFill>
                  <a:srgbClr val="546E7A"/>
                </a:solidFill>
                <a:latin typeface="Calibri"/>
              </a:rPr>
              <a:t> conditioning using SPOTTING_SEED</a:t>
            </a:r>
            <a:r>
              <a:rPr sz="1000" b="0" i="0" dirty="0">
                <a:solidFill>
                  <a:srgbClr val="546E7A"/>
                </a:solidFill>
                <a:latin typeface="Calibri"/>
              </a:rPr>
              <a:t>: same ERC climatology, same wind cells for both runs</a:t>
            </a:r>
            <a:r>
              <a:rPr lang="en-US" sz="1000" b="0" i="0" dirty="0">
                <a:solidFill>
                  <a:srgbClr val="546E7A"/>
                </a:solidFill>
                <a:latin typeface="Calibri"/>
              </a:rPr>
              <a:t>, </a:t>
            </a:r>
            <a:r>
              <a:rPr lang="en-US" sz="1000" b="0" i="0" dirty="0" err="1">
                <a:solidFill>
                  <a:srgbClr val="546E7A"/>
                </a:solidFill>
                <a:latin typeface="Calibri"/>
              </a:rPr>
              <a:t>Pyrome</a:t>
            </a:r>
            <a:r>
              <a:rPr lang="en-US" sz="1000" b="0" i="0" dirty="0">
                <a:solidFill>
                  <a:srgbClr val="546E7A"/>
                </a:solidFill>
                <a:latin typeface="Calibri"/>
              </a:rPr>
              <a:t>-specific</a:t>
            </a:r>
            <a:endParaRPr sz="1000" b="0" i="0" dirty="0">
              <a:solidFill>
                <a:srgbClr val="546E7A"/>
              </a:solidFill>
              <a:latin typeface="Calibri"/>
            </a:endParaRPr>
          </a:p>
        </p:txBody>
      </p:sp>
      <p:sp>
        <p:nvSpPr>
          <p:cNvPr id="17" name="TextBox 16"/>
          <p:cNvSpPr txBox="1"/>
          <p:nvPr/>
        </p:nvSpPr>
        <p:spPr>
          <a:xfrm>
            <a:off x="4768596" y="1553972"/>
            <a:ext cx="4078224" cy="237744"/>
          </a:xfrm>
          <a:prstGeom prst="rect">
            <a:avLst/>
          </a:prstGeom>
          <a:noFill/>
        </p:spPr>
        <p:txBody>
          <a:bodyPr wrap="square">
            <a:spAutoFit/>
          </a:bodyPr>
          <a:lstStyle/>
          <a:p>
            <a:pPr algn="l"/>
            <a:r>
              <a:rPr sz="900" b="1" i="0" dirty="0">
                <a:solidFill>
                  <a:srgbClr val="546E7A"/>
                </a:solidFill>
                <a:latin typeface="Calibri"/>
              </a:rPr>
              <a:t>OUTPUTS</a:t>
            </a:r>
          </a:p>
        </p:txBody>
      </p:sp>
      <p:sp>
        <p:nvSpPr>
          <p:cNvPr id="18" name="Rectangle 17"/>
          <p:cNvSpPr/>
          <p:nvPr/>
        </p:nvSpPr>
        <p:spPr>
          <a:xfrm>
            <a:off x="4768596" y="1774866"/>
            <a:ext cx="4023360" cy="770911"/>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5024628" y="1838874"/>
            <a:ext cx="3657600" cy="276999"/>
          </a:xfrm>
          <a:prstGeom prst="rect">
            <a:avLst/>
          </a:prstGeom>
          <a:noFill/>
        </p:spPr>
        <p:txBody>
          <a:bodyPr wrap="square">
            <a:spAutoFit/>
          </a:bodyPr>
          <a:lstStyle/>
          <a:p>
            <a:pPr algn="l"/>
            <a:r>
              <a:rPr sz="1200" b="1" i="0" dirty="0">
                <a:solidFill>
                  <a:srgbClr val="1A1A2E"/>
                </a:solidFill>
                <a:latin typeface="Calibri"/>
              </a:rPr>
              <a:t>Delta Burn Probability</a:t>
            </a:r>
            <a:r>
              <a:rPr lang="en-US" sz="1200" b="1" i="0" dirty="0">
                <a:solidFill>
                  <a:srgbClr val="1A1A2E"/>
                </a:solidFill>
                <a:latin typeface="Calibri"/>
              </a:rPr>
              <a:t> / Arrival Time</a:t>
            </a:r>
            <a:endParaRPr sz="1200" b="1" i="0" dirty="0">
              <a:solidFill>
                <a:srgbClr val="1A1A2E"/>
              </a:solidFill>
              <a:latin typeface="Calibri"/>
            </a:endParaRPr>
          </a:p>
        </p:txBody>
      </p:sp>
      <p:sp>
        <p:nvSpPr>
          <p:cNvPr id="21" name="TextBox 20"/>
          <p:cNvSpPr txBox="1"/>
          <p:nvPr/>
        </p:nvSpPr>
        <p:spPr>
          <a:xfrm>
            <a:off x="5024628" y="2049186"/>
            <a:ext cx="3657600" cy="237744"/>
          </a:xfrm>
          <a:prstGeom prst="rect">
            <a:avLst/>
          </a:prstGeom>
          <a:noFill/>
        </p:spPr>
        <p:txBody>
          <a:bodyPr wrap="square">
            <a:spAutoFit/>
          </a:bodyPr>
          <a:lstStyle/>
          <a:p>
            <a:pPr algn="l"/>
            <a:r>
              <a:rPr sz="1000" b="0" i="0" dirty="0">
                <a:solidFill>
                  <a:srgbClr val="546E7A"/>
                </a:solidFill>
                <a:latin typeface="Calibri"/>
              </a:rPr>
              <a:t>Treated minus Baseline — pixel-wise BP change</a:t>
            </a:r>
          </a:p>
        </p:txBody>
      </p:sp>
      <p:sp>
        <p:nvSpPr>
          <p:cNvPr id="22" name="TextBox 21"/>
          <p:cNvSpPr txBox="1"/>
          <p:nvPr/>
        </p:nvSpPr>
        <p:spPr>
          <a:xfrm>
            <a:off x="5029239" y="2274130"/>
            <a:ext cx="3657600" cy="219456"/>
          </a:xfrm>
          <a:prstGeom prst="rect">
            <a:avLst/>
          </a:prstGeom>
          <a:noFill/>
        </p:spPr>
        <p:txBody>
          <a:bodyPr wrap="square">
            <a:spAutoFit/>
          </a:bodyPr>
          <a:lstStyle/>
          <a:p>
            <a:pPr algn="l"/>
            <a:r>
              <a:rPr sz="900" b="0" i="0" dirty="0" err="1">
                <a:solidFill>
                  <a:srgbClr val="2C6E49"/>
                </a:solidFill>
                <a:latin typeface="Courier New"/>
              </a:rPr>
              <a:t>delta_burn_probability</a:t>
            </a:r>
            <a:r>
              <a:rPr sz="900" b="0" i="0" dirty="0">
                <a:solidFill>
                  <a:srgbClr val="2C6E49"/>
                </a:solidFill>
                <a:latin typeface="Courier New"/>
              </a:rPr>
              <a:t>()</a:t>
            </a:r>
          </a:p>
        </p:txBody>
      </p:sp>
      <p:sp>
        <p:nvSpPr>
          <p:cNvPr id="23" name="Rectangle 22"/>
          <p:cNvSpPr/>
          <p:nvPr/>
        </p:nvSpPr>
        <p:spPr>
          <a:xfrm>
            <a:off x="4768596" y="2756089"/>
            <a:ext cx="4023360" cy="741215"/>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024628" y="2820097"/>
            <a:ext cx="3657600" cy="256032"/>
          </a:xfrm>
          <a:prstGeom prst="rect">
            <a:avLst/>
          </a:prstGeom>
          <a:noFill/>
        </p:spPr>
        <p:txBody>
          <a:bodyPr wrap="square">
            <a:spAutoFit/>
          </a:bodyPr>
          <a:lstStyle/>
          <a:p>
            <a:pPr algn="l"/>
            <a:r>
              <a:rPr sz="1200" b="1" i="0" dirty="0">
                <a:solidFill>
                  <a:srgbClr val="1A1A2E"/>
                </a:solidFill>
                <a:latin typeface="Calibri"/>
              </a:rPr>
              <a:t>Early-Growth Metrics</a:t>
            </a:r>
          </a:p>
        </p:txBody>
      </p:sp>
      <p:sp>
        <p:nvSpPr>
          <p:cNvPr id="26" name="TextBox 25"/>
          <p:cNvSpPr txBox="1"/>
          <p:nvPr/>
        </p:nvSpPr>
        <p:spPr>
          <a:xfrm>
            <a:off x="5024628" y="3020081"/>
            <a:ext cx="3657600" cy="237744"/>
          </a:xfrm>
          <a:prstGeom prst="rect">
            <a:avLst/>
          </a:prstGeom>
          <a:noFill/>
        </p:spPr>
        <p:txBody>
          <a:bodyPr wrap="square">
            <a:spAutoFit/>
          </a:bodyPr>
          <a:lstStyle/>
          <a:p>
            <a:pPr algn="l"/>
            <a:r>
              <a:rPr sz="1000" b="0" i="0" dirty="0">
                <a:solidFill>
                  <a:srgbClr val="546E7A"/>
                </a:solidFill>
                <a:latin typeface="Calibri"/>
              </a:rPr>
              <a:t>Area at day 3/7, arrival at treatment boundary</a:t>
            </a:r>
          </a:p>
        </p:txBody>
      </p:sp>
      <p:sp>
        <p:nvSpPr>
          <p:cNvPr id="27" name="TextBox 26"/>
          <p:cNvSpPr txBox="1"/>
          <p:nvPr/>
        </p:nvSpPr>
        <p:spPr>
          <a:xfrm>
            <a:off x="5009052" y="3238050"/>
            <a:ext cx="3657600" cy="219456"/>
          </a:xfrm>
          <a:prstGeom prst="rect">
            <a:avLst/>
          </a:prstGeom>
          <a:noFill/>
        </p:spPr>
        <p:txBody>
          <a:bodyPr wrap="square">
            <a:spAutoFit/>
          </a:bodyPr>
          <a:lstStyle/>
          <a:p>
            <a:pPr algn="l"/>
            <a:r>
              <a:rPr sz="900" b="0" i="0" dirty="0" err="1">
                <a:solidFill>
                  <a:srgbClr val="52B788"/>
                </a:solidFill>
                <a:latin typeface="Courier New"/>
              </a:rPr>
              <a:t>summarize_early_growth</a:t>
            </a:r>
            <a:r>
              <a:rPr sz="900" b="0" i="0" dirty="0">
                <a:solidFill>
                  <a:srgbClr val="52B788"/>
                </a:solidFill>
                <a:latin typeface="Courier New"/>
              </a:rPr>
              <a:t>()</a:t>
            </a:r>
          </a:p>
        </p:txBody>
      </p:sp>
      <p:sp>
        <p:nvSpPr>
          <p:cNvPr id="28" name="Rectangle 27"/>
          <p:cNvSpPr/>
          <p:nvPr/>
        </p:nvSpPr>
        <p:spPr>
          <a:xfrm>
            <a:off x="4768596" y="3766777"/>
            <a:ext cx="4023360" cy="741215"/>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5024628" y="3830785"/>
            <a:ext cx="3657600" cy="256032"/>
          </a:xfrm>
          <a:prstGeom prst="rect">
            <a:avLst/>
          </a:prstGeom>
          <a:noFill/>
        </p:spPr>
        <p:txBody>
          <a:bodyPr wrap="square">
            <a:spAutoFit/>
          </a:bodyPr>
          <a:lstStyle/>
          <a:p>
            <a:pPr algn="l"/>
            <a:r>
              <a:rPr sz="1200" b="1" i="0">
                <a:solidFill>
                  <a:srgbClr val="1A1A2E"/>
                </a:solidFill>
                <a:latin typeface="Calibri"/>
              </a:rPr>
              <a:t>Growth Curves</a:t>
            </a:r>
          </a:p>
        </p:txBody>
      </p:sp>
      <p:sp>
        <p:nvSpPr>
          <p:cNvPr id="31" name="TextBox 30"/>
          <p:cNvSpPr txBox="1"/>
          <p:nvPr/>
        </p:nvSpPr>
        <p:spPr>
          <a:xfrm>
            <a:off x="5009052" y="4047210"/>
            <a:ext cx="3657600" cy="237744"/>
          </a:xfrm>
          <a:prstGeom prst="rect">
            <a:avLst/>
          </a:prstGeom>
          <a:noFill/>
        </p:spPr>
        <p:txBody>
          <a:bodyPr wrap="square">
            <a:spAutoFit/>
          </a:bodyPr>
          <a:lstStyle/>
          <a:p>
            <a:pPr algn="l"/>
            <a:r>
              <a:rPr sz="1000" b="0" i="0" dirty="0">
                <a:solidFill>
                  <a:srgbClr val="546E7A"/>
                </a:solidFill>
                <a:latin typeface="Calibri"/>
              </a:rPr>
              <a:t>Paired baseline vs. treated fire growth comparison</a:t>
            </a:r>
          </a:p>
        </p:txBody>
      </p:sp>
      <p:sp>
        <p:nvSpPr>
          <p:cNvPr id="32" name="TextBox 31"/>
          <p:cNvSpPr txBox="1"/>
          <p:nvPr/>
        </p:nvSpPr>
        <p:spPr>
          <a:xfrm>
            <a:off x="5024628" y="4264775"/>
            <a:ext cx="3657600" cy="219456"/>
          </a:xfrm>
          <a:prstGeom prst="rect">
            <a:avLst/>
          </a:prstGeom>
          <a:noFill/>
        </p:spPr>
        <p:txBody>
          <a:bodyPr wrap="square">
            <a:spAutoFit/>
          </a:bodyPr>
          <a:lstStyle/>
          <a:p>
            <a:pPr algn="l"/>
            <a:r>
              <a:rPr sz="900" b="0" i="0" dirty="0" err="1">
                <a:solidFill>
                  <a:srgbClr val="1B6CA8"/>
                </a:solidFill>
                <a:latin typeface="Courier New"/>
              </a:rPr>
              <a:t>compare_growth</a:t>
            </a:r>
            <a:r>
              <a:rPr sz="900" b="0" i="0" dirty="0">
                <a:solidFill>
                  <a:srgbClr val="1B6CA8"/>
                </a:solidFill>
                <a:latin typeface="Courier New"/>
              </a:rPr>
              <a:t>()</a:t>
            </a:r>
          </a:p>
        </p:txBody>
      </p:sp>
      <p:sp>
        <p:nvSpPr>
          <p:cNvPr id="33" name="Rectangle 32"/>
          <p:cNvSpPr/>
          <p:nvPr/>
        </p:nvSpPr>
        <p:spPr>
          <a:xfrm>
            <a:off x="292608" y="4718304"/>
            <a:ext cx="8558784" cy="310896"/>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000" b="1" i="0">
                <a:solidFill>
                  <a:srgbClr val="6D4C41"/>
                </a:solidFill>
                <a:latin typeface="Calibri"/>
              </a:rPr>
              <a:t>SPOTTING_SEED pairing — every ignition has an identical twin, differing only in fuel state</a:t>
            </a:r>
          </a:p>
        </p:txBody>
      </p:sp>
      <p:sp>
        <p:nvSpPr>
          <p:cNvPr id="43" name="Rectangle 42">
            <a:extLst>
              <a:ext uri="{FF2B5EF4-FFF2-40B4-BE49-F238E27FC236}">
                <a16:creationId xmlns:a16="http://schemas.microsoft.com/office/drawing/2014/main" id="{E7EA1B48-0C7D-EE93-0A52-A9CBFEEE3EB6}"/>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44" name="Rectangle 43">
            <a:extLst>
              <a:ext uri="{FF2B5EF4-FFF2-40B4-BE49-F238E27FC236}">
                <a16:creationId xmlns:a16="http://schemas.microsoft.com/office/drawing/2014/main" id="{858CD9DF-CD9A-5E50-D0F3-EAC7C04FCD7F}"/>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models/</a:t>
            </a:r>
          </a:p>
        </p:txBody>
      </p:sp>
      <p:sp>
        <p:nvSpPr>
          <p:cNvPr id="45" name="Rectangle 44">
            <a:extLst>
              <a:ext uri="{FF2B5EF4-FFF2-40B4-BE49-F238E27FC236}">
                <a16:creationId xmlns:a16="http://schemas.microsoft.com/office/drawing/2014/main" id="{DEAA7E72-0826-E739-1D9D-CA3BD9BF2269}"/>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46" name="Rectangle 45">
            <a:extLst>
              <a:ext uri="{FF2B5EF4-FFF2-40B4-BE49-F238E27FC236}">
                <a16:creationId xmlns:a16="http://schemas.microsoft.com/office/drawing/2014/main" id="{C1A380B0-1FB5-1BC1-C596-7D3FA80E4058}"/>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47" name="Rectangle 46">
            <a:extLst>
              <a:ext uri="{FF2B5EF4-FFF2-40B4-BE49-F238E27FC236}">
                <a16:creationId xmlns:a16="http://schemas.microsoft.com/office/drawing/2014/main" id="{E86425D9-DA90-DDF4-F908-9ABCE58241CF}"/>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48" name="Rectangle 47">
            <a:extLst>
              <a:ext uri="{FF2B5EF4-FFF2-40B4-BE49-F238E27FC236}">
                <a16:creationId xmlns:a16="http://schemas.microsoft.com/office/drawing/2014/main" id="{5175DC0F-3CCA-B3E1-CCDC-3AA9044F5339}"/>
              </a:ext>
            </a:extLst>
          </p:cNvPr>
          <p:cNvSpPr/>
          <p:nvPr/>
        </p:nvSpPr>
        <p:spPr>
          <a:xfrm>
            <a:off x="3616412" y="8121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6B630754-B04A-405A-9B03-31203ADC8A37}"/>
              </a:ext>
            </a:extLst>
          </p:cNvPr>
          <p:cNvSpPr/>
          <p:nvPr/>
        </p:nvSpPr>
        <p:spPr>
          <a:xfrm>
            <a:off x="252234" y="90975"/>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CC66244C-B1C3-B1F1-C4E9-10D357CD48C7}"/>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37744" y="463843"/>
            <a:ext cx="8412480" cy="420624"/>
          </a:xfrm>
          <a:prstGeom prst="rect">
            <a:avLst/>
          </a:prstGeom>
          <a:noFill/>
        </p:spPr>
        <p:txBody>
          <a:bodyPr wrap="square">
            <a:spAutoFit/>
          </a:bodyPr>
          <a:lstStyle/>
          <a:p>
            <a:pPr algn="l"/>
            <a:r>
              <a:rPr sz="2400" b="1" i="0" dirty="0">
                <a:solidFill>
                  <a:srgbClr val="1A1A2E"/>
                </a:solidFill>
                <a:latin typeface="Calibri"/>
              </a:rPr>
              <a:t>Wind Conditioning — </a:t>
            </a:r>
            <a:r>
              <a:rPr sz="2400" b="1" i="0" dirty="0" err="1">
                <a:solidFill>
                  <a:srgbClr val="1A1A2E"/>
                </a:solidFill>
                <a:latin typeface="Calibri"/>
              </a:rPr>
              <a:t>FSPro</a:t>
            </a:r>
            <a:r>
              <a:rPr sz="2400" b="1" i="0" dirty="0">
                <a:solidFill>
                  <a:srgbClr val="1A1A2E"/>
                </a:solidFill>
                <a:latin typeface="Calibri"/>
              </a:rPr>
              <a:t> / FSim</a:t>
            </a:r>
          </a:p>
        </p:txBody>
      </p:sp>
      <p:sp>
        <p:nvSpPr>
          <p:cNvPr id="3" name="Rectangle 2"/>
          <p:cNvSpPr/>
          <p:nvPr/>
        </p:nvSpPr>
        <p:spPr>
          <a:xfrm>
            <a:off x="976044" y="1033117"/>
            <a:ext cx="1144863" cy="256032"/>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WindCellValues</a:t>
            </a:r>
          </a:p>
        </p:txBody>
      </p:sp>
      <p:sp>
        <p:nvSpPr>
          <p:cNvPr id="4" name="TextBox 3"/>
          <p:cNvSpPr txBox="1"/>
          <p:nvPr/>
        </p:nvSpPr>
        <p:spPr>
          <a:xfrm>
            <a:off x="2267712" y="1028367"/>
            <a:ext cx="6492240" cy="237744"/>
          </a:xfrm>
          <a:prstGeom prst="rect">
            <a:avLst/>
          </a:prstGeom>
          <a:noFill/>
        </p:spPr>
        <p:txBody>
          <a:bodyPr wrap="square">
            <a:spAutoFit/>
          </a:bodyPr>
          <a:lstStyle/>
          <a:p>
            <a:pPr algn="l"/>
            <a:r>
              <a:rPr sz="1000" b="0" i="1" dirty="0">
                <a:solidFill>
                  <a:srgbClr val="546E7A"/>
                </a:solidFill>
                <a:latin typeface="Calibri"/>
              </a:rPr>
              <a:t>HRRR fire-hour climatology → probabilistic joint speed-direction distribution per </a:t>
            </a:r>
            <a:r>
              <a:rPr sz="1000" b="0" i="1" dirty="0" err="1">
                <a:solidFill>
                  <a:srgbClr val="546E7A"/>
                </a:solidFill>
                <a:latin typeface="Calibri"/>
              </a:rPr>
              <a:t>pyrome</a:t>
            </a:r>
            <a:endParaRPr sz="1000" b="0" i="1" dirty="0">
              <a:solidFill>
                <a:srgbClr val="546E7A"/>
              </a:solidFill>
              <a:latin typeface="Calibri"/>
            </a:endParaRPr>
          </a:p>
        </p:txBody>
      </p:sp>
      <p:sp>
        <p:nvSpPr>
          <p:cNvPr id="6" name="Oval 5"/>
          <p:cNvSpPr/>
          <p:nvPr/>
        </p:nvSpPr>
        <p:spPr>
          <a:xfrm>
            <a:off x="237744" y="1463040"/>
            <a:ext cx="274320" cy="274320"/>
          </a:xfrm>
          <a:prstGeom prst="ellipse">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1</a:t>
            </a:r>
          </a:p>
        </p:txBody>
      </p:sp>
      <p:sp>
        <p:nvSpPr>
          <p:cNvPr id="7" name="TextBox 6"/>
          <p:cNvSpPr txBox="1"/>
          <p:nvPr/>
        </p:nvSpPr>
        <p:spPr>
          <a:xfrm>
            <a:off x="603504" y="1444752"/>
            <a:ext cx="3895344" cy="237744"/>
          </a:xfrm>
          <a:prstGeom prst="rect">
            <a:avLst/>
          </a:prstGeom>
          <a:noFill/>
        </p:spPr>
        <p:txBody>
          <a:bodyPr wrap="square">
            <a:spAutoFit/>
          </a:bodyPr>
          <a:lstStyle/>
          <a:p>
            <a:pPr algn="l"/>
            <a:r>
              <a:rPr sz="1100" b="1" i="0">
                <a:solidFill>
                  <a:srgbClr val="1A7A6E"/>
                </a:solidFill>
                <a:latin typeface="Calibri"/>
              </a:rPr>
              <a:t>Fire occurrence database (FOD)</a:t>
            </a:r>
          </a:p>
        </p:txBody>
      </p:sp>
      <p:sp>
        <p:nvSpPr>
          <p:cNvPr id="8" name="TextBox 7"/>
          <p:cNvSpPr txBox="1"/>
          <p:nvPr/>
        </p:nvSpPr>
        <p:spPr>
          <a:xfrm>
            <a:off x="603504" y="1700784"/>
            <a:ext cx="3895344" cy="292608"/>
          </a:xfrm>
          <a:prstGeom prst="rect">
            <a:avLst/>
          </a:prstGeom>
          <a:noFill/>
        </p:spPr>
        <p:txBody>
          <a:bodyPr wrap="square">
            <a:spAutoFit/>
          </a:bodyPr>
          <a:lstStyle/>
          <a:p>
            <a:pPr algn="l"/>
            <a:r>
              <a:rPr sz="1000" b="0" i="0">
                <a:solidFill>
                  <a:srgbClr val="546E7A"/>
                </a:solidFill>
                <a:latin typeface="Calibri"/>
              </a:rPr>
              <a:t>Filter to 2016+  ·  spatial join to CO pyromes</a:t>
            </a:r>
          </a:p>
        </p:txBody>
      </p:sp>
      <p:sp>
        <p:nvSpPr>
          <p:cNvPr id="9" name="Oval 8"/>
          <p:cNvSpPr/>
          <p:nvPr/>
        </p:nvSpPr>
        <p:spPr>
          <a:xfrm>
            <a:off x="237744" y="2103120"/>
            <a:ext cx="274320" cy="274320"/>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2</a:t>
            </a:r>
          </a:p>
        </p:txBody>
      </p:sp>
      <p:sp>
        <p:nvSpPr>
          <p:cNvPr id="10" name="TextBox 9"/>
          <p:cNvSpPr txBox="1"/>
          <p:nvPr/>
        </p:nvSpPr>
        <p:spPr>
          <a:xfrm>
            <a:off x="603504" y="2084832"/>
            <a:ext cx="3895344" cy="237744"/>
          </a:xfrm>
          <a:prstGeom prst="rect">
            <a:avLst/>
          </a:prstGeom>
          <a:noFill/>
        </p:spPr>
        <p:txBody>
          <a:bodyPr wrap="square">
            <a:spAutoFit/>
          </a:bodyPr>
          <a:lstStyle/>
          <a:p>
            <a:pPr algn="l"/>
            <a:r>
              <a:rPr sz="1100" b="1" i="0">
                <a:solidFill>
                  <a:srgbClr val="1B6CA8"/>
                </a:solidFill>
                <a:latin typeface="Calibri"/>
              </a:rPr>
              <a:t>HRRR extraction  (weather/hrrr.py)</a:t>
            </a:r>
          </a:p>
        </p:txBody>
      </p:sp>
      <p:sp>
        <p:nvSpPr>
          <p:cNvPr id="11" name="TextBox 10"/>
          <p:cNvSpPr txBox="1"/>
          <p:nvPr/>
        </p:nvSpPr>
        <p:spPr>
          <a:xfrm>
            <a:off x="603504" y="2340864"/>
            <a:ext cx="3895344" cy="292608"/>
          </a:xfrm>
          <a:prstGeom prst="rect">
            <a:avLst/>
          </a:prstGeom>
          <a:noFill/>
        </p:spPr>
        <p:txBody>
          <a:bodyPr wrap="square">
            <a:spAutoFit/>
          </a:bodyPr>
          <a:lstStyle/>
          <a:p>
            <a:pPr algn="l"/>
            <a:r>
              <a:rPr sz="1000" b="0" i="0">
                <a:solidFill>
                  <a:srgbClr val="546E7A"/>
                </a:solidFill>
                <a:latin typeface="Calibri"/>
              </a:rPr>
              <a:t>Fire hours 19–22Z  ·  n_days = 5  ·  k = 9 neighbors per ignition</a:t>
            </a:r>
          </a:p>
        </p:txBody>
      </p:sp>
      <p:sp>
        <p:nvSpPr>
          <p:cNvPr id="12" name="Oval 11"/>
          <p:cNvSpPr/>
          <p:nvPr/>
        </p:nvSpPr>
        <p:spPr>
          <a:xfrm>
            <a:off x="237744" y="2743200"/>
            <a:ext cx="274320" cy="274320"/>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3</a:t>
            </a:r>
          </a:p>
        </p:txBody>
      </p:sp>
      <p:sp>
        <p:nvSpPr>
          <p:cNvPr id="13" name="TextBox 12"/>
          <p:cNvSpPr txBox="1"/>
          <p:nvPr/>
        </p:nvSpPr>
        <p:spPr>
          <a:xfrm>
            <a:off x="603504" y="2724912"/>
            <a:ext cx="3895344" cy="237744"/>
          </a:xfrm>
          <a:prstGeom prst="rect">
            <a:avLst/>
          </a:prstGeom>
          <a:noFill/>
        </p:spPr>
        <p:txBody>
          <a:bodyPr wrap="square">
            <a:spAutoFit/>
          </a:bodyPr>
          <a:lstStyle/>
          <a:p>
            <a:pPr algn="l"/>
            <a:r>
              <a:rPr sz="1100" b="1" i="0">
                <a:solidFill>
                  <a:srgbClr val="2C6E49"/>
                </a:solidFill>
                <a:latin typeface="Calibri"/>
              </a:rPr>
              <a:t>build_wind_cells()</a:t>
            </a:r>
          </a:p>
        </p:txBody>
      </p:sp>
      <p:sp>
        <p:nvSpPr>
          <p:cNvPr id="14" name="TextBox 13"/>
          <p:cNvSpPr txBox="1"/>
          <p:nvPr/>
        </p:nvSpPr>
        <p:spPr>
          <a:xfrm>
            <a:off x="603504" y="2980943"/>
            <a:ext cx="3895344" cy="292608"/>
          </a:xfrm>
          <a:prstGeom prst="rect">
            <a:avLst/>
          </a:prstGeom>
          <a:noFill/>
        </p:spPr>
        <p:txBody>
          <a:bodyPr wrap="square">
            <a:spAutoFit/>
          </a:bodyPr>
          <a:lstStyle/>
          <a:p>
            <a:pPr algn="l"/>
            <a:r>
              <a:rPr sz="1000" b="0" i="0">
                <a:solidFill>
                  <a:srgbClr val="546E7A"/>
                </a:solidFill>
                <a:latin typeface="Calibri"/>
              </a:rPr>
              <a:t>Group by pyrome → 6-speed × 8-dir frequency table + CalmValue</a:t>
            </a:r>
          </a:p>
        </p:txBody>
      </p:sp>
      <p:sp>
        <p:nvSpPr>
          <p:cNvPr id="15" name="Oval 14"/>
          <p:cNvSpPr/>
          <p:nvPr/>
        </p:nvSpPr>
        <p:spPr>
          <a:xfrm>
            <a:off x="237744" y="3383280"/>
            <a:ext cx="274320" cy="27432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4</a:t>
            </a:r>
          </a:p>
        </p:txBody>
      </p:sp>
      <p:sp>
        <p:nvSpPr>
          <p:cNvPr id="16" name="TextBox 15"/>
          <p:cNvSpPr txBox="1"/>
          <p:nvPr/>
        </p:nvSpPr>
        <p:spPr>
          <a:xfrm>
            <a:off x="603504" y="3364992"/>
            <a:ext cx="3895344" cy="237744"/>
          </a:xfrm>
          <a:prstGeom prst="rect">
            <a:avLst/>
          </a:prstGeom>
          <a:noFill/>
        </p:spPr>
        <p:txBody>
          <a:bodyPr wrap="square">
            <a:spAutoFit/>
          </a:bodyPr>
          <a:lstStyle/>
          <a:p>
            <a:pPr algn="l"/>
            <a:r>
              <a:rPr sz="1100" b="1" i="0">
                <a:solidFill>
                  <a:srgbClr val="D4622A"/>
                </a:solidFill>
                <a:latin typeface="Calibri"/>
              </a:rPr>
              <a:t>JSON cache  (data/weather/pyrome_wind/)</a:t>
            </a:r>
          </a:p>
        </p:txBody>
      </p:sp>
      <p:sp>
        <p:nvSpPr>
          <p:cNvPr id="17" name="TextBox 16"/>
          <p:cNvSpPr txBox="1"/>
          <p:nvPr/>
        </p:nvSpPr>
        <p:spPr>
          <a:xfrm>
            <a:off x="603504" y="3621024"/>
            <a:ext cx="3895344" cy="292608"/>
          </a:xfrm>
          <a:prstGeom prst="rect">
            <a:avLst/>
          </a:prstGeom>
          <a:noFill/>
        </p:spPr>
        <p:txBody>
          <a:bodyPr wrap="square">
            <a:spAutoFit/>
          </a:bodyPr>
          <a:lstStyle/>
          <a:p>
            <a:pPr algn="l"/>
            <a:r>
              <a:rPr sz="1000" b="0" i="0">
                <a:solidFill>
                  <a:srgbClr val="546E7A"/>
                </a:solidFill>
                <a:latin typeface="Calibri"/>
              </a:rPr>
              <a:t>One pyrome_XX.json per pyrome  ·  reloaded by build_fspro_inputs()</a:t>
            </a:r>
          </a:p>
        </p:txBody>
      </p:sp>
      <p:sp>
        <p:nvSpPr>
          <p:cNvPr id="18" name="Oval 17"/>
          <p:cNvSpPr/>
          <p:nvPr/>
        </p:nvSpPr>
        <p:spPr>
          <a:xfrm>
            <a:off x="237744" y="4023360"/>
            <a:ext cx="274320" cy="274320"/>
          </a:xfrm>
          <a:prstGeom prst="ellipse">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5</a:t>
            </a:r>
          </a:p>
        </p:txBody>
      </p:sp>
      <p:sp>
        <p:nvSpPr>
          <p:cNvPr id="19" name="TextBox 18"/>
          <p:cNvSpPr txBox="1"/>
          <p:nvPr/>
        </p:nvSpPr>
        <p:spPr>
          <a:xfrm>
            <a:off x="603504" y="4005071"/>
            <a:ext cx="3895344" cy="237744"/>
          </a:xfrm>
          <a:prstGeom prst="rect">
            <a:avLst/>
          </a:prstGeom>
          <a:noFill/>
        </p:spPr>
        <p:txBody>
          <a:bodyPr wrap="square">
            <a:spAutoFit/>
          </a:bodyPr>
          <a:lstStyle/>
          <a:p>
            <a:pPr algn="l"/>
            <a:r>
              <a:rPr sz="1100" b="1" i="0">
                <a:solidFill>
                  <a:srgbClr val="52B788"/>
                </a:solidFill>
                <a:latin typeface="Calibri"/>
              </a:rPr>
              <a:t>build_fspro_inputs()  (models/fspro.py)</a:t>
            </a:r>
          </a:p>
        </p:txBody>
      </p:sp>
      <p:sp>
        <p:nvSpPr>
          <p:cNvPr id="20" name="TextBox 19"/>
          <p:cNvSpPr txBox="1"/>
          <p:nvPr/>
        </p:nvSpPr>
        <p:spPr>
          <a:xfrm>
            <a:off x="603504" y="4261104"/>
            <a:ext cx="3895344" cy="292608"/>
          </a:xfrm>
          <a:prstGeom prst="rect">
            <a:avLst/>
          </a:prstGeom>
          <a:noFill/>
        </p:spPr>
        <p:txBody>
          <a:bodyPr wrap="square">
            <a:spAutoFit/>
          </a:bodyPr>
          <a:lstStyle/>
          <a:p>
            <a:pPr algn="l"/>
            <a:r>
              <a:rPr sz="1000" b="0" i="0">
                <a:solidFill>
                  <a:srgbClr val="546E7A"/>
                </a:solidFill>
                <a:latin typeface="Calibri"/>
              </a:rPr>
              <a:t>Writes WindCellValues + CalmValue into FSPRO-Inputs-File-Version-4</a:t>
            </a:r>
          </a:p>
        </p:txBody>
      </p:sp>
      <p:sp>
        <p:nvSpPr>
          <p:cNvPr id="21" name="Rectangle 20"/>
          <p:cNvSpPr/>
          <p:nvPr/>
        </p:nvSpPr>
        <p:spPr>
          <a:xfrm>
            <a:off x="4662842" y="1494711"/>
            <a:ext cx="4261104" cy="310896"/>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754282" y="1531287"/>
            <a:ext cx="4078224" cy="237744"/>
          </a:xfrm>
          <a:prstGeom prst="rect">
            <a:avLst/>
          </a:prstGeom>
          <a:noFill/>
        </p:spPr>
        <p:txBody>
          <a:bodyPr wrap="square">
            <a:spAutoFit/>
          </a:bodyPr>
          <a:lstStyle/>
          <a:p>
            <a:pPr algn="l"/>
            <a:r>
              <a:rPr sz="1000" b="1" i="0">
                <a:solidFill>
                  <a:srgbClr val="FFFFFF"/>
                </a:solidFill>
                <a:latin typeface="Calibri"/>
              </a:rPr>
              <a:t>FSPro Input File  —  Wind Section</a:t>
            </a:r>
          </a:p>
        </p:txBody>
      </p:sp>
      <p:sp>
        <p:nvSpPr>
          <p:cNvPr id="23" name="Rectangle 22"/>
          <p:cNvSpPr/>
          <p:nvPr/>
        </p:nvSpPr>
        <p:spPr>
          <a:xfrm>
            <a:off x="4662842" y="1842183"/>
            <a:ext cx="4261104" cy="329184"/>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754282" y="1897047"/>
            <a:ext cx="1773936" cy="347472"/>
          </a:xfrm>
          <a:prstGeom prst="rect">
            <a:avLst/>
          </a:prstGeom>
          <a:noFill/>
        </p:spPr>
        <p:txBody>
          <a:bodyPr wrap="square">
            <a:spAutoFit/>
          </a:bodyPr>
          <a:lstStyle/>
          <a:p>
            <a:pPr algn="l"/>
            <a:r>
              <a:rPr sz="900" b="1" i="0">
                <a:solidFill>
                  <a:srgbClr val="1A7A6E"/>
                </a:solidFill>
                <a:latin typeface="Courier New"/>
              </a:rPr>
              <a:t>NumWindSpeeds</a:t>
            </a:r>
          </a:p>
        </p:txBody>
      </p:sp>
      <p:sp>
        <p:nvSpPr>
          <p:cNvPr id="25" name="TextBox 24"/>
          <p:cNvSpPr txBox="1"/>
          <p:nvPr/>
        </p:nvSpPr>
        <p:spPr>
          <a:xfrm>
            <a:off x="6583082" y="1897047"/>
            <a:ext cx="2249424" cy="347472"/>
          </a:xfrm>
          <a:prstGeom prst="rect">
            <a:avLst/>
          </a:prstGeom>
          <a:noFill/>
        </p:spPr>
        <p:txBody>
          <a:bodyPr wrap="square">
            <a:spAutoFit/>
          </a:bodyPr>
          <a:lstStyle/>
          <a:p>
            <a:pPr algn="l"/>
            <a:r>
              <a:rPr sz="900" b="0" i="0">
                <a:solidFill>
                  <a:srgbClr val="1A1A2E"/>
                </a:solidFill>
                <a:latin typeface="Calibri"/>
              </a:rPr>
              <a:t>6  (speed bins)</a:t>
            </a:r>
          </a:p>
        </p:txBody>
      </p:sp>
      <p:sp>
        <p:nvSpPr>
          <p:cNvPr id="26" name="Rectangle 25"/>
          <p:cNvSpPr/>
          <p:nvPr/>
        </p:nvSpPr>
        <p:spPr>
          <a:xfrm>
            <a:off x="4657699" y="2249477"/>
            <a:ext cx="4261104" cy="347472"/>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749139" y="2304341"/>
            <a:ext cx="1773936" cy="347472"/>
          </a:xfrm>
          <a:prstGeom prst="rect">
            <a:avLst/>
          </a:prstGeom>
          <a:noFill/>
        </p:spPr>
        <p:txBody>
          <a:bodyPr wrap="square">
            <a:spAutoFit/>
          </a:bodyPr>
          <a:lstStyle/>
          <a:p>
            <a:pPr algn="l"/>
            <a:r>
              <a:rPr sz="900" b="1" i="0">
                <a:solidFill>
                  <a:srgbClr val="1A7A6E"/>
                </a:solidFill>
                <a:latin typeface="Courier New"/>
              </a:rPr>
              <a:t>NumWindDirs</a:t>
            </a:r>
          </a:p>
        </p:txBody>
      </p:sp>
      <p:sp>
        <p:nvSpPr>
          <p:cNvPr id="28" name="TextBox 27"/>
          <p:cNvSpPr txBox="1"/>
          <p:nvPr/>
        </p:nvSpPr>
        <p:spPr>
          <a:xfrm>
            <a:off x="6577939" y="2304341"/>
            <a:ext cx="2249424" cy="347472"/>
          </a:xfrm>
          <a:prstGeom prst="rect">
            <a:avLst/>
          </a:prstGeom>
          <a:noFill/>
        </p:spPr>
        <p:txBody>
          <a:bodyPr wrap="square">
            <a:spAutoFit/>
          </a:bodyPr>
          <a:lstStyle/>
          <a:p>
            <a:pPr algn="l"/>
            <a:r>
              <a:rPr sz="900" b="0" i="0">
                <a:solidFill>
                  <a:srgbClr val="1A1A2E"/>
                </a:solidFill>
                <a:latin typeface="Calibri"/>
              </a:rPr>
              <a:t>8  (N  NE  E  SE  S  SW  W  NW)</a:t>
            </a:r>
          </a:p>
        </p:txBody>
      </p:sp>
      <p:sp>
        <p:nvSpPr>
          <p:cNvPr id="29" name="Rectangle 28"/>
          <p:cNvSpPr/>
          <p:nvPr/>
        </p:nvSpPr>
        <p:spPr>
          <a:xfrm>
            <a:off x="4657699" y="2676909"/>
            <a:ext cx="4261104" cy="34747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749139" y="2816405"/>
            <a:ext cx="1773936" cy="347472"/>
          </a:xfrm>
          <a:prstGeom prst="rect">
            <a:avLst/>
          </a:prstGeom>
          <a:noFill/>
        </p:spPr>
        <p:txBody>
          <a:bodyPr wrap="square">
            <a:spAutoFit/>
          </a:bodyPr>
          <a:lstStyle/>
          <a:p>
            <a:pPr algn="l"/>
            <a:r>
              <a:rPr sz="900" b="1" i="0">
                <a:solidFill>
                  <a:srgbClr val="1A7A6E"/>
                </a:solidFill>
                <a:latin typeface="Courier New"/>
              </a:rPr>
              <a:t>WindSpeedBreaks_mph</a:t>
            </a:r>
          </a:p>
        </p:txBody>
      </p:sp>
      <p:sp>
        <p:nvSpPr>
          <p:cNvPr id="31" name="TextBox 30"/>
          <p:cNvSpPr txBox="1"/>
          <p:nvPr/>
        </p:nvSpPr>
        <p:spPr>
          <a:xfrm>
            <a:off x="6577939" y="2816405"/>
            <a:ext cx="2249424" cy="347472"/>
          </a:xfrm>
          <a:prstGeom prst="rect">
            <a:avLst/>
          </a:prstGeom>
          <a:noFill/>
        </p:spPr>
        <p:txBody>
          <a:bodyPr wrap="square">
            <a:spAutoFit/>
          </a:bodyPr>
          <a:lstStyle/>
          <a:p>
            <a:pPr algn="l"/>
            <a:r>
              <a:rPr sz="900" b="0" i="0">
                <a:solidFill>
                  <a:srgbClr val="1A1A2E"/>
                </a:solidFill>
                <a:latin typeface="Calibri"/>
              </a:rPr>
              <a:t>5  10  15  20  25  30</a:t>
            </a:r>
          </a:p>
        </p:txBody>
      </p:sp>
      <p:sp>
        <p:nvSpPr>
          <p:cNvPr id="32" name="Rectangle 31"/>
          <p:cNvSpPr/>
          <p:nvPr/>
        </p:nvSpPr>
        <p:spPr>
          <a:xfrm>
            <a:off x="4657699" y="3109013"/>
            <a:ext cx="4261104" cy="347006"/>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749139" y="3163877"/>
            <a:ext cx="1773936" cy="347472"/>
          </a:xfrm>
          <a:prstGeom prst="rect">
            <a:avLst/>
          </a:prstGeom>
          <a:noFill/>
        </p:spPr>
        <p:txBody>
          <a:bodyPr wrap="square">
            <a:spAutoFit/>
          </a:bodyPr>
          <a:lstStyle/>
          <a:p>
            <a:pPr algn="l"/>
            <a:r>
              <a:rPr sz="900" b="1" i="0">
                <a:solidFill>
                  <a:srgbClr val="1A7A6E"/>
                </a:solidFill>
                <a:latin typeface="Courier New"/>
              </a:rPr>
              <a:t>WindDirBreaks_deg</a:t>
            </a:r>
          </a:p>
        </p:txBody>
      </p:sp>
      <p:sp>
        <p:nvSpPr>
          <p:cNvPr id="34" name="TextBox 33"/>
          <p:cNvSpPr txBox="1"/>
          <p:nvPr/>
        </p:nvSpPr>
        <p:spPr>
          <a:xfrm>
            <a:off x="6463639" y="3175581"/>
            <a:ext cx="2514600" cy="230832"/>
          </a:xfrm>
          <a:prstGeom prst="rect">
            <a:avLst/>
          </a:prstGeom>
          <a:noFill/>
        </p:spPr>
        <p:txBody>
          <a:bodyPr wrap="square">
            <a:spAutoFit/>
          </a:bodyPr>
          <a:lstStyle/>
          <a:p>
            <a:pPr algn="l"/>
            <a:r>
              <a:rPr sz="900" b="0" i="0" dirty="0">
                <a:solidFill>
                  <a:srgbClr val="1A1A2E"/>
                </a:solidFill>
                <a:latin typeface="Calibri"/>
              </a:rPr>
              <a:t>22.5  67.5  112.5  157.5  202.5  247.5  292.5  337.5</a:t>
            </a:r>
          </a:p>
        </p:txBody>
      </p:sp>
      <p:sp>
        <p:nvSpPr>
          <p:cNvPr id="35" name="Rectangle 34"/>
          <p:cNvSpPr/>
          <p:nvPr/>
        </p:nvSpPr>
        <p:spPr>
          <a:xfrm>
            <a:off x="4657699" y="3560396"/>
            <a:ext cx="4261104" cy="347006"/>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749139" y="3635180"/>
            <a:ext cx="1773936" cy="347472"/>
          </a:xfrm>
          <a:prstGeom prst="rect">
            <a:avLst/>
          </a:prstGeom>
          <a:noFill/>
        </p:spPr>
        <p:txBody>
          <a:bodyPr wrap="square">
            <a:spAutoFit/>
          </a:bodyPr>
          <a:lstStyle/>
          <a:p>
            <a:pPr algn="l"/>
            <a:r>
              <a:rPr sz="900" b="1" i="0" dirty="0" err="1">
                <a:solidFill>
                  <a:srgbClr val="1A7A6E"/>
                </a:solidFill>
                <a:latin typeface="Courier New"/>
              </a:rPr>
              <a:t>CalmValue</a:t>
            </a:r>
            <a:endParaRPr sz="900" b="1" i="0" dirty="0">
              <a:solidFill>
                <a:srgbClr val="1A7A6E"/>
              </a:solidFill>
              <a:latin typeface="Courier New"/>
            </a:endParaRPr>
          </a:p>
        </p:txBody>
      </p:sp>
      <p:sp>
        <p:nvSpPr>
          <p:cNvPr id="37" name="TextBox 36"/>
          <p:cNvSpPr txBox="1"/>
          <p:nvPr/>
        </p:nvSpPr>
        <p:spPr>
          <a:xfrm>
            <a:off x="6577939" y="3635180"/>
            <a:ext cx="2249424" cy="347472"/>
          </a:xfrm>
          <a:prstGeom prst="rect">
            <a:avLst/>
          </a:prstGeom>
          <a:noFill/>
        </p:spPr>
        <p:txBody>
          <a:bodyPr wrap="square">
            <a:spAutoFit/>
          </a:bodyPr>
          <a:lstStyle/>
          <a:p>
            <a:pPr algn="l"/>
            <a:r>
              <a:rPr sz="900" b="0" i="0" dirty="0">
                <a:solidFill>
                  <a:srgbClr val="1A1A2E"/>
                </a:solidFill>
                <a:latin typeface="Calibri"/>
              </a:rPr>
              <a:t>% of fire-hour </a:t>
            </a:r>
            <a:r>
              <a:rPr sz="900" b="0" i="0" dirty="0" err="1">
                <a:solidFill>
                  <a:srgbClr val="1A1A2E"/>
                </a:solidFill>
                <a:latin typeface="Calibri"/>
              </a:rPr>
              <a:t>obs</a:t>
            </a:r>
            <a:r>
              <a:rPr sz="900" b="0" i="0" dirty="0">
                <a:solidFill>
                  <a:srgbClr val="1A1A2E"/>
                </a:solidFill>
                <a:latin typeface="Calibri"/>
              </a:rPr>
              <a:t> with speed &lt; first bin</a:t>
            </a:r>
          </a:p>
        </p:txBody>
      </p:sp>
      <p:sp>
        <p:nvSpPr>
          <p:cNvPr id="38" name="Rectangle 37"/>
          <p:cNvSpPr/>
          <p:nvPr/>
        </p:nvSpPr>
        <p:spPr>
          <a:xfrm>
            <a:off x="4645154" y="4000167"/>
            <a:ext cx="4261104" cy="438744"/>
          </a:xfrm>
          <a:prstGeom prst="rect">
            <a:avLst/>
          </a:prstGeom>
          <a:solidFill>
            <a:srgbClr val="FFFFFF"/>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4736594" y="4055031"/>
            <a:ext cx="1773936" cy="347472"/>
          </a:xfrm>
          <a:prstGeom prst="rect">
            <a:avLst/>
          </a:prstGeom>
          <a:noFill/>
        </p:spPr>
        <p:txBody>
          <a:bodyPr wrap="square">
            <a:spAutoFit/>
          </a:bodyPr>
          <a:lstStyle/>
          <a:p>
            <a:pPr algn="l"/>
            <a:r>
              <a:rPr sz="900" b="1" i="0">
                <a:solidFill>
                  <a:srgbClr val="1A7A6E"/>
                </a:solidFill>
                <a:latin typeface="Courier New"/>
              </a:rPr>
              <a:t>WindCellValues</a:t>
            </a:r>
          </a:p>
        </p:txBody>
      </p:sp>
      <p:sp>
        <p:nvSpPr>
          <p:cNvPr id="40" name="TextBox 39"/>
          <p:cNvSpPr txBox="1"/>
          <p:nvPr/>
        </p:nvSpPr>
        <p:spPr>
          <a:xfrm>
            <a:off x="6463639" y="4055031"/>
            <a:ext cx="2351179" cy="369332"/>
          </a:xfrm>
          <a:prstGeom prst="rect">
            <a:avLst/>
          </a:prstGeom>
          <a:noFill/>
        </p:spPr>
        <p:txBody>
          <a:bodyPr wrap="square">
            <a:spAutoFit/>
          </a:bodyPr>
          <a:lstStyle/>
          <a:p>
            <a:pPr algn="l"/>
            <a:r>
              <a:rPr sz="900" b="0" i="0" dirty="0">
                <a:solidFill>
                  <a:srgbClr val="1A1A2E"/>
                </a:solidFill>
                <a:latin typeface="Calibri"/>
              </a:rPr>
              <a:t>6 rows × 8 cols  ·  % frequency  ·  rows sum ≈ 100 − Calm</a:t>
            </a:r>
          </a:p>
        </p:txBody>
      </p:sp>
      <p:sp>
        <p:nvSpPr>
          <p:cNvPr id="41" name="Rectangle 40"/>
          <p:cNvSpPr/>
          <p:nvPr/>
        </p:nvSpPr>
        <p:spPr>
          <a:xfrm>
            <a:off x="201168" y="4608576"/>
            <a:ext cx="8732520" cy="420624"/>
          </a:xfrm>
          <a:prstGeom prst="rect">
            <a:avLst/>
          </a:prstGeom>
          <a:solidFill>
            <a:srgbClr val="D4EDEB"/>
          </a:solidFill>
          <a:ln>
            <a:solidFill>
              <a:srgbClr val="A8D8D4"/>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347472" y="4645152"/>
            <a:ext cx="8412480" cy="329184"/>
          </a:xfrm>
          <a:prstGeom prst="rect">
            <a:avLst/>
          </a:prstGeom>
          <a:noFill/>
        </p:spPr>
        <p:txBody>
          <a:bodyPr wrap="square">
            <a:spAutoFit/>
          </a:bodyPr>
          <a:lstStyle/>
          <a:p>
            <a:pPr algn="l"/>
            <a:r>
              <a:rPr sz="900" b="0" i="1">
                <a:solidFill>
                  <a:srgbClr val="1A7A6E"/>
                </a:solidFill>
                <a:latin typeface="Calibri"/>
              </a:rPr>
              <a:t>FSPro draws independently from this joint distribution for each simulated fire — capturing the observed spread of fire-weather wind conditions rather than a single assumed scenario.</a:t>
            </a:r>
          </a:p>
        </p:txBody>
      </p:sp>
      <p:sp>
        <p:nvSpPr>
          <p:cNvPr id="50" name="Rectangle 49">
            <a:extLst>
              <a:ext uri="{FF2B5EF4-FFF2-40B4-BE49-F238E27FC236}">
                <a16:creationId xmlns:a16="http://schemas.microsoft.com/office/drawing/2014/main" id="{D032A7C3-272C-B464-1891-5F786640F363}"/>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51" name="Rectangle 50">
            <a:extLst>
              <a:ext uri="{FF2B5EF4-FFF2-40B4-BE49-F238E27FC236}">
                <a16:creationId xmlns:a16="http://schemas.microsoft.com/office/drawing/2014/main" id="{D7FB97D8-C94C-0E43-5A1F-1D0C3AC51501}"/>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52" name="Rectangle 51">
            <a:extLst>
              <a:ext uri="{FF2B5EF4-FFF2-40B4-BE49-F238E27FC236}">
                <a16:creationId xmlns:a16="http://schemas.microsoft.com/office/drawing/2014/main" id="{B7220059-C977-C541-C4F4-85450E69565D}"/>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53" name="Rectangle 52">
            <a:extLst>
              <a:ext uri="{FF2B5EF4-FFF2-40B4-BE49-F238E27FC236}">
                <a16:creationId xmlns:a16="http://schemas.microsoft.com/office/drawing/2014/main" id="{48E93F63-1F9C-3F97-C421-1FD2087A7791}"/>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54" name="Rectangle 53">
            <a:extLst>
              <a:ext uri="{FF2B5EF4-FFF2-40B4-BE49-F238E27FC236}">
                <a16:creationId xmlns:a16="http://schemas.microsoft.com/office/drawing/2014/main" id="{57736B53-F89D-3AB4-EC4F-2E5E6EB14C89}"/>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55" name="Rectangle 54">
            <a:extLst>
              <a:ext uri="{FF2B5EF4-FFF2-40B4-BE49-F238E27FC236}">
                <a16:creationId xmlns:a16="http://schemas.microsoft.com/office/drawing/2014/main" id="{4DF6D7D6-42B0-B230-26AE-B01A2B5EA484}"/>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6" name="Rectangle 55">
            <a:extLst>
              <a:ext uri="{FF2B5EF4-FFF2-40B4-BE49-F238E27FC236}">
                <a16:creationId xmlns:a16="http://schemas.microsoft.com/office/drawing/2014/main" id="{B7D2F94F-2BF5-0278-5BB3-FA71F7D996B5}"/>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7" name="Rectangle 56">
            <a:extLst>
              <a:ext uri="{FF2B5EF4-FFF2-40B4-BE49-F238E27FC236}">
                <a16:creationId xmlns:a16="http://schemas.microsoft.com/office/drawing/2014/main" id="{5427ED32-E464-1B2B-3DAD-750B77BF195A}"/>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8" name="Rectangle 57">
            <a:extLst>
              <a:ext uri="{FF2B5EF4-FFF2-40B4-BE49-F238E27FC236}">
                <a16:creationId xmlns:a16="http://schemas.microsoft.com/office/drawing/2014/main" id="{DA25B730-F150-2468-DBE9-817C2701BF3A}"/>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6032" y="476108"/>
            <a:ext cx="8412480" cy="420624"/>
          </a:xfrm>
          <a:prstGeom prst="rect">
            <a:avLst/>
          </a:prstGeom>
          <a:noFill/>
        </p:spPr>
        <p:txBody>
          <a:bodyPr wrap="square">
            <a:spAutoFit/>
          </a:bodyPr>
          <a:lstStyle/>
          <a:p>
            <a:pPr algn="l"/>
            <a:r>
              <a:rPr sz="2400" b="1" i="0">
                <a:solidFill>
                  <a:srgbClr val="1A1A2E"/>
                </a:solidFill>
                <a:latin typeface="Calibri"/>
              </a:rPr>
              <a:t>ERC Conditioning — FSPro / FSim</a:t>
            </a:r>
          </a:p>
        </p:txBody>
      </p:sp>
      <p:sp>
        <p:nvSpPr>
          <p:cNvPr id="3" name="Rectangle 2"/>
          <p:cNvSpPr/>
          <p:nvPr/>
        </p:nvSpPr>
        <p:spPr>
          <a:xfrm>
            <a:off x="943065" y="1012244"/>
            <a:ext cx="1571535"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GridMET → ERC Classes</a:t>
            </a:r>
          </a:p>
        </p:txBody>
      </p:sp>
      <p:sp>
        <p:nvSpPr>
          <p:cNvPr id="4" name="TextBox 3"/>
          <p:cNvSpPr txBox="1"/>
          <p:nvPr/>
        </p:nvSpPr>
        <p:spPr>
          <a:xfrm>
            <a:off x="2722639" y="989552"/>
            <a:ext cx="6126480" cy="237744"/>
          </a:xfrm>
          <a:prstGeom prst="rect">
            <a:avLst/>
          </a:prstGeom>
          <a:noFill/>
        </p:spPr>
        <p:txBody>
          <a:bodyPr wrap="square">
            <a:spAutoFit/>
          </a:bodyPr>
          <a:lstStyle/>
          <a:p>
            <a:pPr algn="l"/>
            <a:r>
              <a:rPr sz="1000" b="0" i="1" dirty="0">
                <a:solidFill>
                  <a:srgbClr val="546E7A"/>
                </a:solidFill>
                <a:latin typeface="Calibri"/>
              </a:rPr>
              <a:t>GridMET </a:t>
            </a:r>
            <a:r>
              <a:rPr sz="1000" b="0" i="1" dirty="0" err="1">
                <a:solidFill>
                  <a:srgbClr val="546E7A"/>
                </a:solidFill>
                <a:latin typeface="Calibri"/>
              </a:rPr>
              <a:t>pyrome</a:t>
            </a:r>
            <a:r>
              <a:rPr sz="1000" b="0" i="1" dirty="0">
                <a:solidFill>
                  <a:srgbClr val="546E7A"/>
                </a:solidFill>
                <a:latin typeface="Calibri"/>
              </a:rPr>
              <a:t> climatology → 15-year historical ERC record + class-based fuel moisture lookups</a:t>
            </a:r>
          </a:p>
        </p:txBody>
      </p:sp>
      <p:sp>
        <p:nvSpPr>
          <p:cNvPr id="6" name="Oval 5"/>
          <p:cNvSpPr/>
          <p:nvPr/>
        </p:nvSpPr>
        <p:spPr>
          <a:xfrm>
            <a:off x="201168" y="1427464"/>
            <a:ext cx="274320" cy="274320"/>
          </a:xfrm>
          <a:prstGeom prst="ellipse">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1</a:t>
            </a:r>
          </a:p>
        </p:txBody>
      </p:sp>
      <p:sp>
        <p:nvSpPr>
          <p:cNvPr id="7" name="TextBox 6"/>
          <p:cNvSpPr txBox="1"/>
          <p:nvPr/>
        </p:nvSpPr>
        <p:spPr>
          <a:xfrm>
            <a:off x="566928" y="1409176"/>
            <a:ext cx="3895344" cy="237744"/>
          </a:xfrm>
          <a:prstGeom prst="rect">
            <a:avLst/>
          </a:prstGeom>
          <a:noFill/>
        </p:spPr>
        <p:txBody>
          <a:bodyPr wrap="square">
            <a:spAutoFit/>
          </a:bodyPr>
          <a:lstStyle/>
          <a:p>
            <a:pPr algn="l"/>
            <a:r>
              <a:rPr sz="1100" b="1" i="0">
                <a:solidFill>
                  <a:srgbClr val="D4622A"/>
                </a:solidFill>
                <a:latin typeface="Calibri"/>
              </a:rPr>
              <a:t>GEE GridMET export  (weather/gridmet.py)</a:t>
            </a:r>
          </a:p>
        </p:txBody>
      </p:sp>
      <p:sp>
        <p:nvSpPr>
          <p:cNvPr id="8" name="TextBox 7"/>
          <p:cNvSpPr txBox="1"/>
          <p:nvPr/>
        </p:nvSpPr>
        <p:spPr>
          <a:xfrm>
            <a:off x="566928" y="1665208"/>
            <a:ext cx="3895344" cy="402336"/>
          </a:xfrm>
          <a:prstGeom prst="rect">
            <a:avLst/>
          </a:prstGeom>
          <a:noFill/>
        </p:spPr>
        <p:txBody>
          <a:bodyPr wrap="square">
            <a:spAutoFit/>
          </a:bodyPr>
          <a:lstStyle/>
          <a:p>
            <a:pPr algn="l"/>
            <a:r>
              <a:rPr sz="1000" b="0" i="0">
                <a:solidFill>
                  <a:srgbClr val="546E7A"/>
                </a:solidFill>
                <a:latin typeface="Calibri"/>
              </a:rPr>
              <a:t>Pyrome-mean daily ERC  ·  April 1–Oct 31  ·  2008–2022  ·  CSV per pyrome</a:t>
            </a:r>
          </a:p>
        </p:txBody>
      </p:sp>
      <p:sp>
        <p:nvSpPr>
          <p:cNvPr id="9" name="Oval 8"/>
          <p:cNvSpPr/>
          <p:nvPr/>
        </p:nvSpPr>
        <p:spPr>
          <a:xfrm>
            <a:off x="201168" y="2213848"/>
            <a:ext cx="274320" cy="274320"/>
          </a:xfrm>
          <a:prstGeom prst="ellipse">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2</a:t>
            </a:r>
          </a:p>
        </p:txBody>
      </p:sp>
      <p:sp>
        <p:nvSpPr>
          <p:cNvPr id="10" name="TextBox 9"/>
          <p:cNvSpPr txBox="1"/>
          <p:nvPr/>
        </p:nvSpPr>
        <p:spPr>
          <a:xfrm>
            <a:off x="566928" y="2195560"/>
            <a:ext cx="3895344" cy="237744"/>
          </a:xfrm>
          <a:prstGeom prst="rect">
            <a:avLst/>
          </a:prstGeom>
          <a:noFill/>
        </p:spPr>
        <p:txBody>
          <a:bodyPr wrap="square">
            <a:spAutoFit/>
          </a:bodyPr>
          <a:lstStyle/>
          <a:p>
            <a:pPr algn="l"/>
            <a:r>
              <a:rPr sz="1100" b="1" i="0">
                <a:solidFill>
                  <a:srgbClr val="1B6CA8"/>
                </a:solidFill>
                <a:latin typeface="Calibri"/>
              </a:rPr>
              <a:t>load_gridmet_erc()</a:t>
            </a:r>
          </a:p>
        </p:txBody>
      </p:sp>
      <p:sp>
        <p:nvSpPr>
          <p:cNvPr id="11" name="TextBox 10"/>
          <p:cNvSpPr txBox="1"/>
          <p:nvPr/>
        </p:nvSpPr>
        <p:spPr>
          <a:xfrm>
            <a:off x="566928" y="2451592"/>
            <a:ext cx="3895344" cy="402336"/>
          </a:xfrm>
          <a:prstGeom prst="rect">
            <a:avLst/>
          </a:prstGeom>
          <a:noFill/>
        </p:spPr>
        <p:txBody>
          <a:bodyPr wrap="square">
            <a:spAutoFit/>
          </a:bodyPr>
          <a:lstStyle/>
          <a:p>
            <a:pPr algn="l"/>
            <a:r>
              <a:rPr sz="1000" b="0" i="0">
                <a:solidFill>
                  <a:srgbClr val="546E7A"/>
                </a:solidFill>
                <a:latin typeface="Calibri"/>
              </a:rPr>
              <a:t>CSV → 15-year × 214-day ERC array  ·  plus FM100, Tmax, RHmin, VPD</a:t>
            </a:r>
          </a:p>
        </p:txBody>
      </p:sp>
      <p:sp>
        <p:nvSpPr>
          <p:cNvPr id="12" name="Oval 11"/>
          <p:cNvSpPr/>
          <p:nvPr/>
        </p:nvSpPr>
        <p:spPr>
          <a:xfrm>
            <a:off x="201168" y="3000232"/>
            <a:ext cx="274320" cy="274320"/>
          </a:xfrm>
          <a:prstGeom prst="ellipse">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3</a:t>
            </a:r>
          </a:p>
        </p:txBody>
      </p:sp>
      <p:sp>
        <p:nvSpPr>
          <p:cNvPr id="13" name="TextBox 12"/>
          <p:cNvSpPr txBox="1"/>
          <p:nvPr/>
        </p:nvSpPr>
        <p:spPr>
          <a:xfrm>
            <a:off x="566928" y="2981944"/>
            <a:ext cx="3895344" cy="237744"/>
          </a:xfrm>
          <a:prstGeom prst="rect">
            <a:avLst/>
          </a:prstGeom>
          <a:noFill/>
        </p:spPr>
        <p:txBody>
          <a:bodyPr wrap="square">
            <a:spAutoFit/>
          </a:bodyPr>
          <a:lstStyle/>
          <a:p>
            <a:pPr algn="l"/>
            <a:r>
              <a:rPr sz="1100" b="1" i="0">
                <a:solidFill>
                  <a:srgbClr val="2C6E49"/>
                </a:solidFill>
                <a:latin typeface="Calibri"/>
              </a:rPr>
              <a:t>build_erc_classes()</a:t>
            </a:r>
          </a:p>
        </p:txBody>
      </p:sp>
      <p:sp>
        <p:nvSpPr>
          <p:cNvPr id="14" name="TextBox 13"/>
          <p:cNvSpPr txBox="1"/>
          <p:nvPr/>
        </p:nvSpPr>
        <p:spPr>
          <a:xfrm>
            <a:off x="566928" y="3237976"/>
            <a:ext cx="3895344" cy="402336"/>
          </a:xfrm>
          <a:prstGeom prst="rect">
            <a:avLst/>
          </a:prstGeom>
          <a:noFill/>
        </p:spPr>
        <p:txBody>
          <a:bodyPr wrap="square">
            <a:spAutoFit/>
          </a:bodyPr>
          <a:lstStyle/>
          <a:p>
            <a:pPr algn="l"/>
            <a:r>
              <a:rPr sz="1000" b="0" i="0" dirty="0">
                <a:solidFill>
                  <a:srgbClr val="546E7A"/>
                </a:solidFill>
                <a:latin typeface="Calibri"/>
              </a:rPr>
              <a:t>5 percentile bins → lower/upper + FM1/FM10/FM100/</a:t>
            </a:r>
            <a:r>
              <a:rPr sz="1000" b="0" i="0" dirty="0" err="1">
                <a:solidFill>
                  <a:srgbClr val="546E7A"/>
                </a:solidFill>
                <a:latin typeface="Calibri"/>
              </a:rPr>
              <a:t>FM_herb</a:t>
            </a:r>
            <a:r>
              <a:rPr sz="1000" b="0" i="0" dirty="0">
                <a:solidFill>
                  <a:srgbClr val="546E7A"/>
                </a:solidFill>
                <a:latin typeface="Calibri"/>
              </a:rPr>
              <a:t>/</a:t>
            </a:r>
            <a:r>
              <a:rPr sz="1000" b="0" i="0" dirty="0" err="1">
                <a:solidFill>
                  <a:srgbClr val="546E7A"/>
                </a:solidFill>
                <a:latin typeface="Calibri"/>
              </a:rPr>
              <a:t>FM_woody</a:t>
            </a:r>
            <a:r>
              <a:rPr sz="1000" b="0" i="0" dirty="0">
                <a:solidFill>
                  <a:srgbClr val="546E7A"/>
                </a:solidFill>
                <a:latin typeface="Calibri"/>
              </a:rPr>
              <a:t> + spot params</a:t>
            </a:r>
            <a:r>
              <a:rPr lang="en-US" sz="1000" b="0" i="0" dirty="0">
                <a:solidFill>
                  <a:srgbClr val="546E7A"/>
                </a:solidFill>
                <a:latin typeface="Calibri"/>
              </a:rPr>
              <a:t> (RTMA-based)</a:t>
            </a:r>
            <a:endParaRPr sz="1000" b="0" i="0" dirty="0">
              <a:solidFill>
                <a:srgbClr val="546E7A"/>
              </a:solidFill>
              <a:latin typeface="Calibri"/>
            </a:endParaRPr>
          </a:p>
        </p:txBody>
      </p:sp>
      <p:sp>
        <p:nvSpPr>
          <p:cNvPr id="15" name="Oval 14"/>
          <p:cNvSpPr/>
          <p:nvPr/>
        </p:nvSpPr>
        <p:spPr>
          <a:xfrm>
            <a:off x="201168" y="3786616"/>
            <a:ext cx="274320" cy="274320"/>
          </a:xfrm>
          <a:prstGeom prst="ellipse">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FFFFFF"/>
                </a:solidFill>
                <a:latin typeface="Calibri"/>
              </a:rPr>
              <a:t>4</a:t>
            </a:r>
          </a:p>
        </p:txBody>
      </p:sp>
      <p:sp>
        <p:nvSpPr>
          <p:cNvPr id="16" name="TextBox 15"/>
          <p:cNvSpPr txBox="1"/>
          <p:nvPr/>
        </p:nvSpPr>
        <p:spPr>
          <a:xfrm>
            <a:off x="566928" y="3768328"/>
            <a:ext cx="3895344" cy="237744"/>
          </a:xfrm>
          <a:prstGeom prst="rect">
            <a:avLst/>
          </a:prstGeom>
          <a:noFill/>
        </p:spPr>
        <p:txBody>
          <a:bodyPr wrap="square">
            <a:spAutoFit/>
          </a:bodyPr>
          <a:lstStyle/>
          <a:p>
            <a:pPr algn="l"/>
            <a:r>
              <a:rPr sz="1100" b="1" i="0">
                <a:solidFill>
                  <a:srgbClr val="1A7A6E"/>
                </a:solidFill>
                <a:latin typeface="Calibri"/>
              </a:rPr>
              <a:t>build_fspro_inputs()  (models/fspro.py)</a:t>
            </a:r>
          </a:p>
        </p:txBody>
      </p:sp>
      <p:sp>
        <p:nvSpPr>
          <p:cNvPr id="17" name="TextBox 16"/>
          <p:cNvSpPr txBox="1"/>
          <p:nvPr/>
        </p:nvSpPr>
        <p:spPr>
          <a:xfrm>
            <a:off x="566928" y="4024360"/>
            <a:ext cx="3895344" cy="402336"/>
          </a:xfrm>
          <a:prstGeom prst="rect">
            <a:avLst/>
          </a:prstGeom>
          <a:noFill/>
        </p:spPr>
        <p:txBody>
          <a:bodyPr wrap="square">
            <a:spAutoFit/>
          </a:bodyPr>
          <a:lstStyle/>
          <a:p>
            <a:pPr algn="l"/>
            <a:r>
              <a:rPr sz="1000" b="0" i="0" dirty="0">
                <a:solidFill>
                  <a:srgbClr val="546E7A"/>
                </a:solidFill>
                <a:latin typeface="Calibri"/>
              </a:rPr>
              <a:t>Writes </a:t>
            </a:r>
            <a:r>
              <a:rPr sz="1000" b="0" i="0" dirty="0" err="1">
                <a:solidFill>
                  <a:srgbClr val="546E7A"/>
                </a:solidFill>
                <a:latin typeface="Calibri"/>
              </a:rPr>
              <a:t>HistoricERCValues</a:t>
            </a:r>
            <a:r>
              <a:rPr sz="1000" b="0" i="0" dirty="0">
                <a:solidFill>
                  <a:srgbClr val="546E7A"/>
                </a:solidFill>
                <a:latin typeface="Calibri"/>
              </a:rPr>
              <a:t>, ERC class rows, </a:t>
            </a:r>
            <a:r>
              <a:rPr sz="1000" b="0" i="0" dirty="0" err="1">
                <a:solidFill>
                  <a:srgbClr val="546E7A"/>
                </a:solidFill>
                <a:latin typeface="Calibri"/>
              </a:rPr>
              <a:t>CurrentERCValues</a:t>
            </a:r>
            <a:r>
              <a:rPr sz="1000" b="0" i="0" dirty="0">
                <a:solidFill>
                  <a:srgbClr val="546E7A"/>
                </a:solidFill>
                <a:latin typeface="Calibri"/>
              </a:rPr>
              <a:t> to input file</a:t>
            </a:r>
          </a:p>
        </p:txBody>
      </p:sp>
      <p:sp>
        <p:nvSpPr>
          <p:cNvPr id="18" name="Rectangle 17"/>
          <p:cNvSpPr/>
          <p:nvPr/>
        </p:nvSpPr>
        <p:spPr>
          <a:xfrm>
            <a:off x="4697743" y="1402395"/>
            <a:ext cx="4261104" cy="310896"/>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4789183" y="1438971"/>
            <a:ext cx="4078224" cy="237744"/>
          </a:xfrm>
          <a:prstGeom prst="rect">
            <a:avLst/>
          </a:prstGeom>
          <a:noFill/>
        </p:spPr>
        <p:txBody>
          <a:bodyPr wrap="square">
            <a:spAutoFit/>
          </a:bodyPr>
          <a:lstStyle/>
          <a:p>
            <a:pPr algn="l"/>
            <a:r>
              <a:rPr sz="1000" b="1" i="0">
                <a:solidFill>
                  <a:srgbClr val="FFFFFF"/>
                </a:solidFill>
                <a:latin typeface="Calibri"/>
              </a:rPr>
              <a:t>FSPro Input File  —  ERC Sections</a:t>
            </a:r>
          </a:p>
        </p:txBody>
      </p:sp>
      <p:sp>
        <p:nvSpPr>
          <p:cNvPr id="20" name="Rectangle 19"/>
          <p:cNvSpPr/>
          <p:nvPr/>
        </p:nvSpPr>
        <p:spPr>
          <a:xfrm>
            <a:off x="4697743" y="1749867"/>
            <a:ext cx="4261104" cy="621792"/>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862335" y="1804731"/>
            <a:ext cx="3986784" cy="237744"/>
          </a:xfrm>
          <a:prstGeom prst="rect">
            <a:avLst/>
          </a:prstGeom>
          <a:noFill/>
        </p:spPr>
        <p:txBody>
          <a:bodyPr wrap="square">
            <a:spAutoFit/>
          </a:bodyPr>
          <a:lstStyle/>
          <a:p>
            <a:pPr algn="l"/>
            <a:r>
              <a:rPr sz="1000" b="1" i="0">
                <a:solidFill>
                  <a:srgbClr val="1A1A2E"/>
                </a:solidFill>
                <a:latin typeface="Courier New"/>
              </a:rPr>
              <a:t>NumERCYears  /  NumWxPerYear</a:t>
            </a:r>
          </a:p>
        </p:txBody>
      </p:sp>
      <p:sp>
        <p:nvSpPr>
          <p:cNvPr id="23" name="TextBox 22"/>
          <p:cNvSpPr txBox="1"/>
          <p:nvPr/>
        </p:nvSpPr>
        <p:spPr>
          <a:xfrm>
            <a:off x="4862335" y="2017406"/>
            <a:ext cx="3986784" cy="329184"/>
          </a:xfrm>
          <a:prstGeom prst="rect">
            <a:avLst/>
          </a:prstGeom>
          <a:noFill/>
        </p:spPr>
        <p:txBody>
          <a:bodyPr wrap="square">
            <a:spAutoFit/>
          </a:bodyPr>
          <a:lstStyle/>
          <a:p>
            <a:pPr algn="l"/>
            <a:r>
              <a:rPr sz="900" b="0" i="0" dirty="0">
                <a:solidFill>
                  <a:srgbClr val="546E7A"/>
                </a:solidFill>
                <a:latin typeface="Calibri"/>
              </a:rPr>
              <a:t>15 years  ×  214 days  (April 1 – Oct 31)</a:t>
            </a:r>
          </a:p>
        </p:txBody>
      </p:sp>
      <p:sp>
        <p:nvSpPr>
          <p:cNvPr id="24" name="Rectangle 23"/>
          <p:cNvSpPr/>
          <p:nvPr/>
        </p:nvSpPr>
        <p:spPr>
          <a:xfrm>
            <a:off x="4697743" y="2456316"/>
            <a:ext cx="4261104" cy="62179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4862335" y="2488168"/>
            <a:ext cx="3986784" cy="237744"/>
          </a:xfrm>
          <a:prstGeom prst="rect">
            <a:avLst/>
          </a:prstGeom>
          <a:noFill/>
        </p:spPr>
        <p:txBody>
          <a:bodyPr wrap="square">
            <a:spAutoFit/>
          </a:bodyPr>
          <a:lstStyle/>
          <a:p>
            <a:pPr algn="l"/>
            <a:r>
              <a:rPr sz="1000" b="1" i="0" dirty="0" err="1">
                <a:solidFill>
                  <a:srgbClr val="1A1A2E"/>
                </a:solidFill>
                <a:latin typeface="Courier New"/>
              </a:rPr>
              <a:t>HistoricERCValues</a:t>
            </a:r>
            <a:endParaRPr sz="1000" b="1" i="0" dirty="0">
              <a:solidFill>
                <a:srgbClr val="1A1A2E"/>
              </a:solidFill>
              <a:latin typeface="Courier New"/>
            </a:endParaRPr>
          </a:p>
        </p:txBody>
      </p:sp>
      <p:sp>
        <p:nvSpPr>
          <p:cNvPr id="27" name="TextBox 26"/>
          <p:cNvSpPr txBox="1"/>
          <p:nvPr/>
        </p:nvSpPr>
        <p:spPr>
          <a:xfrm>
            <a:off x="4862335" y="2745205"/>
            <a:ext cx="3986784" cy="329184"/>
          </a:xfrm>
          <a:prstGeom prst="rect">
            <a:avLst/>
          </a:prstGeom>
          <a:noFill/>
        </p:spPr>
        <p:txBody>
          <a:bodyPr wrap="square">
            <a:spAutoFit/>
          </a:bodyPr>
          <a:lstStyle/>
          <a:p>
            <a:pPr algn="l"/>
            <a:r>
              <a:rPr sz="900" b="0" i="0">
                <a:solidFill>
                  <a:srgbClr val="546E7A"/>
                </a:solidFill>
                <a:latin typeface="Calibri"/>
              </a:rPr>
              <a:t>15 × 214 daily ERC values  ·  FSPro draws a random year per ignition</a:t>
            </a:r>
          </a:p>
        </p:txBody>
      </p:sp>
      <p:sp>
        <p:nvSpPr>
          <p:cNvPr id="28" name="Rectangle 27"/>
          <p:cNvSpPr/>
          <p:nvPr/>
        </p:nvSpPr>
        <p:spPr>
          <a:xfrm>
            <a:off x="4683156" y="3164824"/>
            <a:ext cx="4261104" cy="621792"/>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4862335" y="3218043"/>
            <a:ext cx="3986784" cy="237744"/>
          </a:xfrm>
          <a:prstGeom prst="rect">
            <a:avLst/>
          </a:prstGeom>
          <a:noFill/>
        </p:spPr>
        <p:txBody>
          <a:bodyPr wrap="square">
            <a:spAutoFit/>
          </a:bodyPr>
          <a:lstStyle/>
          <a:p>
            <a:pPr algn="l"/>
            <a:r>
              <a:rPr sz="1000" b="1" i="0" dirty="0">
                <a:solidFill>
                  <a:srgbClr val="1A1A2E"/>
                </a:solidFill>
                <a:latin typeface="Courier New"/>
              </a:rPr>
              <a:t>ERC class table  (5 rows)</a:t>
            </a:r>
          </a:p>
        </p:txBody>
      </p:sp>
      <p:sp>
        <p:nvSpPr>
          <p:cNvPr id="31" name="TextBox 30"/>
          <p:cNvSpPr txBox="1"/>
          <p:nvPr/>
        </p:nvSpPr>
        <p:spPr>
          <a:xfrm>
            <a:off x="4862335" y="3475080"/>
            <a:ext cx="3986784" cy="329184"/>
          </a:xfrm>
          <a:prstGeom prst="rect">
            <a:avLst/>
          </a:prstGeom>
          <a:noFill/>
        </p:spPr>
        <p:txBody>
          <a:bodyPr wrap="square">
            <a:spAutoFit/>
          </a:bodyPr>
          <a:lstStyle/>
          <a:p>
            <a:pPr algn="l"/>
            <a:r>
              <a:rPr sz="900" b="0" i="0">
                <a:solidFill>
                  <a:srgbClr val="546E7A"/>
                </a:solidFill>
                <a:latin typeface="Calibri"/>
              </a:rPr>
              <a:t>lower  upper  fm1  fm10  fm100  fm_herb  fm_woody  spot_dist  spot_prob  spot2</a:t>
            </a:r>
          </a:p>
        </p:txBody>
      </p:sp>
      <p:sp>
        <p:nvSpPr>
          <p:cNvPr id="32" name="Rectangle 31"/>
          <p:cNvSpPr/>
          <p:nvPr/>
        </p:nvSpPr>
        <p:spPr>
          <a:xfrm>
            <a:off x="4697743" y="3871273"/>
            <a:ext cx="4261104" cy="621791"/>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4862335" y="3892132"/>
            <a:ext cx="3986784" cy="237744"/>
          </a:xfrm>
          <a:prstGeom prst="rect">
            <a:avLst/>
          </a:prstGeom>
          <a:noFill/>
        </p:spPr>
        <p:txBody>
          <a:bodyPr wrap="square">
            <a:spAutoFit/>
          </a:bodyPr>
          <a:lstStyle/>
          <a:p>
            <a:pPr algn="l"/>
            <a:r>
              <a:rPr sz="1000" b="1" i="0" dirty="0" err="1">
                <a:solidFill>
                  <a:srgbClr val="1A1A2E"/>
                </a:solidFill>
                <a:latin typeface="Courier New"/>
              </a:rPr>
              <a:t>CurrentERCValues</a:t>
            </a:r>
            <a:endParaRPr sz="1000" b="1" i="0" dirty="0">
              <a:solidFill>
                <a:srgbClr val="1A1A2E"/>
              </a:solidFill>
              <a:latin typeface="Courier New"/>
            </a:endParaRPr>
          </a:p>
        </p:txBody>
      </p:sp>
      <p:sp>
        <p:nvSpPr>
          <p:cNvPr id="35" name="TextBox 34"/>
          <p:cNvSpPr txBox="1"/>
          <p:nvPr/>
        </p:nvSpPr>
        <p:spPr>
          <a:xfrm>
            <a:off x="4862335" y="4134088"/>
            <a:ext cx="3986784" cy="369332"/>
          </a:xfrm>
          <a:prstGeom prst="rect">
            <a:avLst/>
          </a:prstGeom>
          <a:noFill/>
        </p:spPr>
        <p:txBody>
          <a:bodyPr wrap="square">
            <a:spAutoFit/>
          </a:bodyPr>
          <a:lstStyle/>
          <a:p>
            <a:pPr algn="l"/>
            <a:r>
              <a:rPr sz="900" b="0" i="0" dirty="0">
                <a:solidFill>
                  <a:srgbClr val="546E7A"/>
                </a:solidFill>
                <a:latin typeface="Calibri"/>
              </a:rPr>
              <a:t>~79-day climatological median  ·  sets ERC trajectory for scenario window</a:t>
            </a:r>
            <a:r>
              <a:rPr lang="en-US" sz="900" b="0" i="0" dirty="0">
                <a:solidFill>
                  <a:srgbClr val="546E7A"/>
                </a:solidFill>
                <a:latin typeface="Calibri"/>
              </a:rPr>
              <a:t>, can be based on any given ignition date</a:t>
            </a:r>
            <a:endParaRPr sz="900" b="0" i="0" dirty="0">
              <a:solidFill>
                <a:srgbClr val="546E7A"/>
              </a:solidFill>
              <a:latin typeface="Calibri"/>
            </a:endParaRPr>
          </a:p>
        </p:txBody>
      </p:sp>
      <p:sp>
        <p:nvSpPr>
          <p:cNvPr id="36" name="Rectangle 35"/>
          <p:cNvSpPr/>
          <p:nvPr/>
        </p:nvSpPr>
        <p:spPr>
          <a:xfrm>
            <a:off x="201168" y="4608576"/>
            <a:ext cx="8732520" cy="420624"/>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347472" y="4645152"/>
            <a:ext cx="8412480" cy="329184"/>
          </a:xfrm>
          <a:prstGeom prst="rect">
            <a:avLst/>
          </a:prstGeom>
          <a:noFill/>
        </p:spPr>
        <p:txBody>
          <a:bodyPr wrap="square">
            <a:spAutoFit/>
          </a:bodyPr>
          <a:lstStyle/>
          <a:p>
            <a:pPr algn="l"/>
            <a:r>
              <a:rPr sz="900" b="0" i="1" dirty="0">
                <a:solidFill>
                  <a:srgbClr val="6D4C41"/>
                </a:solidFill>
                <a:latin typeface="Calibri"/>
              </a:rPr>
              <a:t>ERC is the conditioning index: </a:t>
            </a:r>
            <a:r>
              <a:rPr sz="900" b="0" i="1" dirty="0" err="1">
                <a:solidFill>
                  <a:srgbClr val="6D4C41"/>
                </a:solidFill>
                <a:latin typeface="Calibri"/>
              </a:rPr>
              <a:t>FSPro</a:t>
            </a:r>
            <a:r>
              <a:rPr sz="900" b="0" i="1" dirty="0">
                <a:solidFill>
                  <a:srgbClr val="6D4C41"/>
                </a:solidFill>
                <a:latin typeface="Calibri"/>
              </a:rPr>
              <a:t> draws a random year from </a:t>
            </a:r>
            <a:r>
              <a:rPr sz="900" b="0" i="1" dirty="0" err="1">
                <a:solidFill>
                  <a:srgbClr val="6D4C41"/>
                </a:solidFill>
                <a:latin typeface="Calibri"/>
              </a:rPr>
              <a:t>HistoricERCValues</a:t>
            </a:r>
            <a:r>
              <a:rPr sz="900" b="0" i="1" dirty="0">
                <a:solidFill>
                  <a:srgbClr val="6D4C41"/>
                </a:solidFill>
                <a:latin typeface="Calibri"/>
              </a:rPr>
              <a:t>, maps the ERC at the ignition date to an ERC class row, and reads FM inputs from that row. Spread is probabilistic — not a single deterministic weather scenario.</a:t>
            </a:r>
          </a:p>
        </p:txBody>
      </p:sp>
      <p:sp>
        <p:nvSpPr>
          <p:cNvPr id="38" name="Rectangle 37">
            <a:extLst>
              <a:ext uri="{FF2B5EF4-FFF2-40B4-BE49-F238E27FC236}">
                <a16:creationId xmlns:a16="http://schemas.microsoft.com/office/drawing/2014/main" id="{8D048C03-FDED-AF2F-2A76-0B39BEC7EE0B}"/>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39" name="Rectangle 38">
            <a:extLst>
              <a:ext uri="{FF2B5EF4-FFF2-40B4-BE49-F238E27FC236}">
                <a16:creationId xmlns:a16="http://schemas.microsoft.com/office/drawing/2014/main" id="{846D707E-BD19-C7EF-82D0-DA860D6D082A}"/>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dirty="0">
                <a:solidFill>
                  <a:srgbClr val="ECF0F1"/>
                </a:solidFill>
                <a:latin typeface="Courier New"/>
              </a:rPr>
              <a:t>models/</a:t>
            </a:r>
          </a:p>
        </p:txBody>
      </p:sp>
      <p:sp>
        <p:nvSpPr>
          <p:cNvPr id="40" name="Rectangle 39">
            <a:extLst>
              <a:ext uri="{FF2B5EF4-FFF2-40B4-BE49-F238E27FC236}">
                <a16:creationId xmlns:a16="http://schemas.microsoft.com/office/drawing/2014/main" id="{BE03B752-ED13-F06A-12C6-28B986C64FA9}"/>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41" name="Rectangle 40">
            <a:extLst>
              <a:ext uri="{FF2B5EF4-FFF2-40B4-BE49-F238E27FC236}">
                <a16:creationId xmlns:a16="http://schemas.microsoft.com/office/drawing/2014/main" id="{2AAC35B8-AF4B-6CA4-60C2-37FCE0240804}"/>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42" name="Rectangle 41">
            <a:extLst>
              <a:ext uri="{FF2B5EF4-FFF2-40B4-BE49-F238E27FC236}">
                <a16:creationId xmlns:a16="http://schemas.microsoft.com/office/drawing/2014/main" id="{45CDB311-24AC-0862-AFEB-AA36FFB5C794}"/>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43" name="Rectangle 42">
            <a:extLst>
              <a:ext uri="{FF2B5EF4-FFF2-40B4-BE49-F238E27FC236}">
                <a16:creationId xmlns:a16="http://schemas.microsoft.com/office/drawing/2014/main" id="{E3A7EAF0-2B13-A354-0511-F5F849A1A9EC}"/>
              </a:ext>
            </a:extLst>
          </p:cNvPr>
          <p:cNvSpPr/>
          <p:nvPr/>
        </p:nvSpPr>
        <p:spPr>
          <a:xfrm>
            <a:off x="237744" y="70789"/>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4" name="Rectangle 43">
            <a:extLst>
              <a:ext uri="{FF2B5EF4-FFF2-40B4-BE49-F238E27FC236}">
                <a16:creationId xmlns:a16="http://schemas.microsoft.com/office/drawing/2014/main" id="{6B595F8A-3833-7C18-970B-AF61D1072A69}"/>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5" name="Rectangle 44">
            <a:extLst>
              <a:ext uri="{FF2B5EF4-FFF2-40B4-BE49-F238E27FC236}">
                <a16:creationId xmlns:a16="http://schemas.microsoft.com/office/drawing/2014/main" id="{6E1C8B83-83D5-6D5F-C4F7-A210A0DC0AB9}"/>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6" name="Rectangle 45">
            <a:extLst>
              <a:ext uri="{FF2B5EF4-FFF2-40B4-BE49-F238E27FC236}">
                <a16:creationId xmlns:a16="http://schemas.microsoft.com/office/drawing/2014/main" id="{701102E2-39B9-FE10-D214-2B2DC27CE062}"/>
              </a:ext>
            </a:extLst>
          </p:cNvPr>
          <p:cNvSpPr/>
          <p:nvPr/>
        </p:nvSpPr>
        <p:spPr>
          <a:xfrm>
            <a:off x="1925044" y="6323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F8C25F-77C3-E6CF-8F04-4BA406E893B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5C995801-EBD5-BFE7-8A33-AEEC406B6117}"/>
              </a:ext>
            </a:extLst>
          </p:cNvPr>
          <p:cNvSpPr txBox="1"/>
          <p:nvPr/>
        </p:nvSpPr>
        <p:spPr>
          <a:xfrm>
            <a:off x="292608" y="550335"/>
            <a:ext cx="8412480" cy="430887"/>
          </a:xfrm>
          <a:prstGeom prst="rect">
            <a:avLst/>
          </a:prstGeom>
          <a:noFill/>
        </p:spPr>
        <p:txBody>
          <a:bodyPr wrap="square">
            <a:spAutoFit/>
          </a:bodyPr>
          <a:lstStyle/>
          <a:p>
            <a:pPr algn="l"/>
            <a:r>
              <a:rPr lang="en-US" sz="2200" b="1" i="0" dirty="0">
                <a:solidFill>
                  <a:srgbClr val="1A1A2E"/>
                </a:solidFill>
                <a:latin typeface="Calibri"/>
              </a:rPr>
              <a:t>Ex. </a:t>
            </a:r>
            <a:r>
              <a:rPr sz="2200" b="1" i="0" dirty="0" err="1">
                <a:solidFill>
                  <a:srgbClr val="1A1A2E"/>
                </a:solidFill>
                <a:latin typeface="Calibri"/>
              </a:rPr>
              <a:t>FSPro</a:t>
            </a:r>
            <a:r>
              <a:rPr sz="2200" b="1" i="0" dirty="0">
                <a:solidFill>
                  <a:srgbClr val="1A1A2E"/>
                </a:solidFill>
                <a:latin typeface="Calibri"/>
              </a:rPr>
              <a:t> Counterfactuals</a:t>
            </a:r>
            <a:r>
              <a:rPr lang="en-US" sz="2200" b="1" i="0" dirty="0">
                <a:solidFill>
                  <a:srgbClr val="1A1A2E"/>
                </a:solidFill>
                <a:latin typeface="Calibri"/>
              </a:rPr>
              <a:t>: North Cottonwood (COSWAP)</a:t>
            </a:r>
            <a:endParaRPr sz="2200" b="1" i="0" dirty="0">
              <a:solidFill>
                <a:srgbClr val="1A1A2E"/>
              </a:solidFill>
              <a:latin typeface="Calibri"/>
            </a:endParaRPr>
          </a:p>
        </p:txBody>
      </p:sp>
      <p:sp>
        <p:nvSpPr>
          <p:cNvPr id="43" name="Rectangle 42">
            <a:extLst>
              <a:ext uri="{FF2B5EF4-FFF2-40B4-BE49-F238E27FC236}">
                <a16:creationId xmlns:a16="http://schemas.microsoft.com/office/drawing/2014/main" id="{DEA3C8A2-29E9-D8AA-8D03-B9BF39497904}"/>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44" name="Rectangle 43">
            <a:extLst>
              <a:ext uri="{FF2B5EF4-FFF2-40B4-BE49-F238E27FC236}">
                <a16:creationId xmlns:a16="http://schemas.microsoft.com/office/drawing/2014/main" id="{7A76F0E4-EDC4-DC6F-6BF7-4225CE7BBEC6}"/>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models/</a:t>
            </a:r>
          </a:p>
        </p:txBody>
      </p:sp>
      <p:sp>
        <p:nvSpPr>
          <p:cNvPr id="45" name="Rectangle 44">
            <a:extLst>
              <a:ext uri="{FF2B5EF4-FFF2-40B4-BE49-F238E27FC236}">
                <a16:creationId xmlns:a16="http://schemas.microsoft.com/office/drawing/2014/main" id="{FBEEAD09-723B-8029-D78A-E2E6997E1B03}"/>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46" name="Rectangle 45">
            <a:extLst>
              <a:ext uri="{FF2B5EF4-FFF2-40B4-BE49-F238E27FC236}">
                <a16:creationId xmlns:a16="http://schemas.microsoft.com/office/drawing/2014/main" id="{295BD52E-F5E3-E896-505D-5ECEEDECDAC6}"/>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47" name="Rectangle 46">
            <a:extLst>
              <a:ext uri="{FF2B5EF4-FFF2-40B4-BE49-F238E27FC236}">
                <a16:creationId xmlns:a16="http://schemas.microsoft.com/office/drawing/2014/main" id="{5F650A5C-4204-53A7-09BA-716FA3C34C0B}"/>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48" name="Rectangle 47">
            <a:extLst>
              <a:ext uri="{FF2B5EF4-FFF2-40B4-BE49-F238E27FC236}">
                <a16:creationId xmlns:a16="http://schemas.microsoft.com/office/drawing/2014/main" id="{BB8300F7-DF47-E68D-02CF-CCE9EEE53C22}"/>
              </a:ext>
            </a:extLst>
          </p:cNvPr>
          <p:cNvSpPr/>
          <p:nvPr/>
        </p:nvSpPr>
        <p:spPr>
          <a:xfrm>
            <a:off x="3616412" y="8121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7F4AC68B-08F0-7A3D-F227-97FA8AF4A5C5}"/>
              </a:ext>
            </a:extLst>
          </p:cNvPr>
          <p:cNvSpPr/>
          <p:nvPr/>
        </p:nvSpPr>
        <p:spPr>
          <a:xfrm>
            <a:off x="252234" y="90975"/>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97E945F1-2E3C-C3FA-E533-401A1FDD9704}"/>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42FB4F1D-F245-EE2C-649E-1A16F22863C0}"/>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pic>
        <p:nvPicPr>
          <p:cNvPr id="24" name="Picture 23">
            <a:extLst>
              <a:ext uri="{FF2B5EF4-FFF2-40B4-BE49-F238E27FC236}">
                <a16:creationId xmlns:a16="http://schemas.microsoft.com/office/drawing/2014/main" id="{09FBE497-2715-5BA1-E99C-13B19D86ACD1}"/>
              </a:ext>
            </a:extLst>
          </p:cNvPr>
          <p:cNvPicPr>
            <a:picLocks noChangeAspect="1"/>
          </p:cNvPicPr>
          <p:nvPr/>
        </p:nvPicPr>
        <p:blipFill>
          <a:blip r:embed="rId3"/>
          <a:stretch>
            <a:fillRect/>
          </a:stretch>
        </p:blipFill>
        <p:spPr>
          <a:xfrm>
            <a:off x="252234" y="1535327"/>
            <a:ext cx="8524389" cy="2568767"/>
          </a:xfrm>
          <a:prstGeom prst="rect">
            <a:avLst/>
          </a:prstGeom>
          <a:ln>
            <a:noFill/>
          </a:ln>
          <a:effectLst>
            <a:outerShdw blurRad="190500" algn="tl" rotWithShape="0">
              <a:srgbClr val="000000">
                <a:alpha val="70000"/>
              </a:srgbClr>
            </a:outerShdw>
          </a:effectLst>
        </p:spPr>
      </p:pic>
      <p:sp>
        <p:nvSpPr>
          <p:cNvPr id="34" name="Rectangle 33">
            <a:extLst>
              <a:ext uri="{FF2B5EF4-FFF2-40B4-BE49-F238E27FC236}">
                <a16:creationId xmlns:a16="http://schemas.microsoft.com/office/drawing/2014/main" id="{E59C7292-325E-D7C6-8A6F-20AB849BE594}"/>
              </a:ext>
            </a:extLst>
          </p:cNvPr>
          <p:cNvSpPr/>
          <p:nvPr/>
        </p:nvSpPr>
        <p:spPr>
          <a:xfrm>
            <a:off x="252234" y="4279748"/>
            <a:ext cx="8524389" cy="378451"/>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28573FC0-CBE9-0164-6EC9-B3C0C234064C}"/>
              </a:ext>
            </a:extLst>
          </p:cNvPr>
          <p:cNvSpPr txBox="1"/>
          <p:nvPr/>
        </p:nvSpPr>
        <p:spPr>
          <a:xfrm>
            <a:off x="292608" y="4351129"/>
            <a:ext cx="8412480" cy="253916"/>
          </a:xfrm>
          <a:prstGeom prst="rect">
            <a:avLst/>
          </a:prstGeom>
          <a:noFill/>
        </p:spPr>
        <p:txBody>
          <a:bodyPr wrap="square">
            <a:spAutoFit/>
          </a:bodyPr>
          <a:lstStyle/>
          <a:p>
            <a:pPr algn="l"/>
            <a:r>
              <a:rPr lang="en-US" sz="1050" b="0" i="1" dirty="0">
                <a:solidFill>
                  <a:srgbClr val="6D4C41"/>
                </a:solidFill>
                <a:latin typeface="Calibri"/>
              </a:rPr>
              <a:t>Note: 20 ignitions simulating 301 fires is likely not enough for “production” – closer to 1000 runs is more reliable and aligns with operation use of </a:t>
            </a:r>
            <a:r>
              <a:rPr lang="en-US" sz="1050" b="0" i="1" dirty="0" err="1">
                <a:solidFill>
                  <a:srgbClr val="6D4C41"/>
                </a:solidFill>
                <a:latin typeface="Calibri"/>
              </a:rPr>
              <a:t>FSPro</a:t>
            </a:r>
            <a:endParaRPr sz="1050" b="0" i="1" dirty="0">
              <a:solidFill>
                <a:srgbClr val="6D4C41"/>
              </a:solidFill>
              <a:latin typeface="Calibri"/>
            </a:endParaRPr>
          </a:p>
        </p:txBody>
      </p:sp>
      <p:sp>
        <p:nvSpPr>
          <p:cNvPr id="36" name="TextBox 35">
            <a:extLst>
              <a:ext uri="{FF2B5EF4-FFF2-40B4-BE49-F238E27FC236}">
                <a16:creationId xmlns:a16="http://schemas.microsoft.com/office/drawing/2014/main" id="{70FCDF22-84A1-C837-9B70-2538F43D1CD7}"/>
              </a:ext>
            </a:extLst>
          </p:cNvPr>
          <p:cNvSpPr txBox="1"/>
          <p:nvPr/>
        </p:nvSpPr>
        <p:spPr>
          <a:xfrm>
            <a:off x="367377" y="1039406"/>
            <a:ext cx="5515533" cy="400110"/>
          </a:xfrm>
          <a:prstGeom prst="rect">
            <a:avLst/>
          </a:prstGeom>
          <a:noFill/>
        </p:spPr>
        <p:txBody>
          <a:bodyPr wrap="square">
            <a:spAutoFit/>
          </a:bodyPr>
          <a:lstStyle/>
          <a:p>
            <a:pPr algn="l"/>
            <a:r>
              <a:rPr lang="en-US" sz="1000" b="1" i="0" dirty="0">
                <a:solidFill>
                  <a:srgbClr val="546E7A"/>
                </a:solidFill>
                <a:latin typeface="Calibri"/>
              </a:rPr>
              <a:t>Sample run of </a:t>
            </a:r>
            <a:r>
              <a:rPr lang="en-US" sz="1000" b="1" i="0" dirty="0" err="1">
                <a:solidFill>
                  <a:srgbClr val="546E7A"/>
                </a:solidFill>
                <a:latin typeface="Calibri"/>
              </a:rPr>
              <a:t>FSPro</a:t>
            </a:r>
            <a:r>
              <a:rPr lang="en-US" sz="1000" b="1" i="0" dirty="0">
                <a:solidFill>
                  <a:srgbClr val="546E7A"/>
                </a:solidFill>
                <a:latin typeface="Calibri"/>
              </a:rPr>
              <a:t> counterfactuals on the North Cottonwood project (Chaffee County, COSWAP) with minimal inputs (10 ignitions, 7 days burning, ignitions within 0.5-3 km from project, upwind</a:t>
            </a:r>
            <a:endParaRPr sz="1000" b="1" i="0" dirty="0">
              <a:solidFill>
                <a:srgbClr val="546E7A"/>
              </a:solidFill>
              <a:latin typeface="Calibri"/>
            </a:endParaRPr>
          </a:p>
        </p:txBody>
      </p:sp>
    </p:spTree>
    <p:extLst>
      <p:ext uri="{BB962C8B-B14F-4D97-AF65-F5344CB8AC3E}">
        <p14:creationId xmlns:p14="http://schemas.microsoft.com/office/powerpoint/2010/main" val="154791572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D3C4A-5745-DDC3-9457-76265245F8A8}"/>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DCB9642-C3D6-EFCF-DC28-74232C450C58}"/>
              </a:ext>
            </a:extLst>
          </p:cNvPr>
          <p:cNvSpPr txBox="1"/>
          <p:nvPr/>
        </p:nvSpPr>
        <p:spPr>
          <a:xfrm>
            <a:off x="292608" y="550335"/>
            <a:ext cx="8412480" cy="430887"/>
          </a:xfrm>
          <a:prstGeom prst="rect">
            <a:avLst/>
          </a:prstGeom>
          <a:noFill/>
        </p:spPr>
        <p:txBody>
          <a:bodyPr wrap="square">
            <a:spAutoFit/>
          </a:bodyPr>
          <a:lstStyle/>
          <a:p>
            <a:pPr algn="l"/>
            <a:r>
              <a:rPr lang="en-US" sz="2200" b="1" i="0" dirty="0">
                <a:solidFill>
                  <a:srgbClr val="1A1A2E"/>
                </a:solidFill>
                <a:latin typeface="Calibri"/>
              </a:rPr>
              <a:t>Ex. </a:t>
            </a:r>
            <a:r>
              <a:rPr sz="2200" b="1" i="0" dirty="0" err="1">
                <a:solidFill>
                  <a:srgbClr val="1A1A2E"/>
                </a:solidFill>
                <a:latin typeface="Calibri"/>
              </a:rPr>
              <a:t>FSPro</a:t>
            </a:r>
            <a:r>
              <a:rPr sz="2200" b="1" i="0" dirty="0">
                <a:solidFill>
                  <a:srgbClr val="1A1A2E"/>
                </a:solidFill>
                <a:latin typeface="Calibri"/>
              </a:rPr>
              <a:t> Counterfactuals</a:t>
            </a:r>
            <a:r>
              <a:rPr lang="en-US" sz="2200" b="1" i="0" dirty="0">
                <a:solidFill>
                  <a:srgbClr val="1A1A2E"/>
                </a:solidFill>
                <a:latin typeface="Calibri"/>
              </a:rPr>
              <a:t>: North Cottonwood (COSWAP)</a:t>
            </a:r>
            <a:endParaRPr sz="2200" b="1" i="0" dirty="0">
              <a:solidFill>
                <a:srgbClr val="1A1A2E"/>
              </a:solidFill>
              <a:latin typeface="Calibri"/>
            </a:endParaRPr>
          </a:p>
        </p:txBody>
      </p:sp>
      <p:sp>
        <p:nvSpPr>
          <p:cNvPr id="43" name="Rectangle 42">
            <a:extLst>
              <a:ext uri="{FF2B5EF4-FFF2-40B4-BE49-F238E27FC236}">
                <a16:creationId xmlns:a16="http://schemas.microsoft.com/office/drawing/2014/main" id="{79B8168C-40F4-8421-29FE-74AAD12FD868}"/>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44" name="Rectangle 43">
            <a:extLst>
              <a:ext uri="{FF2B5EF4-FFF2-40B4-BE49-F238E27FC236}">
                <a16:creationId xmlns:a16="http://schemas.microsoft.com/office/drawing/2014/main" id="{85515F61-EFAD-3A06-AD9D-03511D2D0620}"/>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models/</a:t>
            </a:r>
          </a:p>
        </p:txBody>
      </p:sp>
      <p:sp>
        <p:nvSpPr>
          <p:cNvPr id="45" name="Rectangle 44">
            <a:extLst>
              <a:ext uri="{FF2B5EF4-FFF2-40B4-BE49-F238E27FC236}">
                <a16:creationId xmlns:a16="http://schemas.microsoft.com/office/drawing/2014/main" id="{171C3F3E-735C-B108-9BAF-947FD273CFA6}"/>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46" name="Rectangle 45">
            <a:extLst>
              <a:ext uri="{FF2B5EF4-FFF2-40B4-BE49-F238E27FC236}">
                <a16:creationId xmlns:a16="http://schemas.microsoft.com/office/drawing/2014/main" id="{DEFBAE6F-B127-E39C-E022-08359CDAD4B7}"/>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47" name="Rectangle 46">
            <a:extLst>
              <a:ext uri="{FF2B5EF4-FFF2-40B4-BE49-F238E27FC236}">
                <a16:creationId xmlns:a16="http://schemas.microsoft.com/office/drawing/2014/main" id="{E794D581-2287-FA05-385E-2419248ABE88}"/>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48" name="Rectangle 47">
            <a:extLst>
              <a:ext uri="{FF2B5EF4-FFF2-40B4-BE49-F238E27FC236}">
                <a16:creationId xmlns:a16="http://schemas.microsoft.com/office/drawing/2014/main" id="{5E8C9B98-DD9C-ED17-C09A-B6E4E0E7D515}"/>
              </a:ext>
            </a:extLst>
          </p:cNvPr>
          <p:cNvSpPr/>
          <p:nvPr/>
        </p:nvSpPr>
        <p:spPr>
          <a:xfrm>
            <a:off x="3616412" y="8121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Rectangle 48">
            <a:extLst>
              <a:ext uri="{FF2B5EF4-FFF2-40B4-BE49-F238E27FC236}">
                <a16:creationId xmlns:a16="http://schemas.microsoft.com/office/drawing/2014/main" id="{18AC6739-0A95-2821-D452-9C828B900AAF}"/>
              </a:ext>
            </a:extLst>
          </p:cNvPr>
          <p:cNvSpPr/>
          <p:nvPr/>
        </p:nvSpPr>
        <p:spPr>
          <a:xfrm>
            <a:off x="252234" y="90975"/>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0" name="Rectangle 49">
            <a:extLst>
              <a:ext uri="{FF2B5EF4-FFF2-40B4-BE49-F238E27FC236}">
                <a16:creationId xmlns:a16="http://schemas.microsoft.com/office/drawing/2014/main" id="{8F3D025F-58EB-8ECD-D170-0403AA38F52E}"/>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1" name="Rectangle 50">
            <a:extLst>
              <a:ext uri="{FF2B5EF4-FFF2-40B4-BE49-F238E27FC236}">
                <a16:creationId xmlns:a16="http://schemas.microsoft.com/office/drawing/2014/main" id="{75CCDEBE-25A6-F8F8-17B3-FB265EACF699}"/>
              </a:ext>
            </a:extLst>
          </p:cNvPr>
          <p:cNvSpPr/>
          <p:nvPr/>
        </p:nvSpPr>
        <p:spPr>
          <a:xfrm>
            <a:off x="7012905" y="6447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Rectangle 33">
            <a:extLst>
              <a:ext uri="{FF2B5EF4-FFF2-40B4-BE49-F238E27FC236}">
                <a16:creationId xmlns:a16="http://schemas.microsoft.com/office/drawing/2014/main" id="{910A73A7-9A4D-A611-FBD4-B85F9AC71B0B}"/>
              </a:ext>
            </a:extLst>
          </p:cNvPr>
          <p:cNvSpPr/>
          <p:nvPr/>
        </p:nvSpPr>
        <p:spPr>
          <a:xfrm>
            <a:off x="205740" y="4051803"/>
            <a:ext cx="8732520" cy="378451"/>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61A982E8-8D79-8EE4-25F5-B5179003E1EE}"/>
              </a:ext>
            </a:extLst>
          </p:cNvPr>
          <p:cNvSpPr txBox="1"/>
          <p:nvPr/>
        </p:nvSpPr>
        <p:spPr>
          <a:xfrm>
            <a:off x="308188" y="4101070"/>
            <a:ext cx="8412480" cy="253916"/>
          </a:xfrm>
          <a:prstGeom prst="rect">
            <a:avLst/>
          </a:prstGeom>
          <a:noFill/>
        </p:spPr>
        <p:txBody>
          <a:bodyPr wrap="square">
            <a:spAutoFit/>
          </a:bodyPr>
          <a:lstStyle/>
          <a:p>
            <a:pPr algn="l"/>
            <a:r>
              <a:rPr lang="en-US" sz="1050" b="0" i="1" dirty="0">
                <a:solidFill>
                  <a:srgbClr val="6D4C41"/>
                </a:solidFill>
                <a:latin typeface="Calibri"/>
              </a:rPr>
              <a:t>Note: 10 ignitions simulating 101 fires is not enough – likely need closer to 1000 runs for reliable estimates and to align with operation use of </a:t>
            </a:r>
            <a:r>
              <a:rPr lang="en-US" sz="1050" b="0" i="1" dirty="0" err="1">
                <a:solidFill>
                  <a:srgbClr val="6D4C41"/>
                </a:solidFill>
                <a:latin typeface="Calibri"/>
              </a:rPr>
              <a:t>FSPro</a:t>
            </a:r>
            <a:endParaRPr sz="1050" b="0" i="1" dirty="0">
              <a:solidFill>
                <a:srgbClr val="6D4C41"/>
              </a:solidFill>
              <a:latin typeface="Calibri"/>
            </a:endParaRPr>
          </a:p>
        </p:txBody>
      </p:sp>
      <p:pic>
        <p:nvPicPr>
          <p:cNvPr id="4" name="Picture 3">
            <a:extLst>
              <a:ext uri="{FF2B5EF4-FFF2-40B4-BE49-F238E27FC236}">
                <a16:creationId xmlns:a16="http://schemas.microsoft.com/office/drawing/2014/main" id="{8F0A2326-D8C9-1DFE-21D2-FCDBC066C2DB}"/>
              </a:ext>
            </a:extLst>
          </p:cNvPr>
          <p:cNvPicPr>
            <a:picLocks noChangeAspect="1"/>
          </p:cNvPicPr>
          <p:nvPr/>
        </p:nvPicPr>
        <p:blipFill>
          <a:blip r:embed="rId3"/>
          <a:stretch>
            <a:fillRect/>
          </a:stretch>
        </p:blipFill>
        <p:spPr>
          <a:xfrm>
            <a:off x="327014" y="1320364"/>
            <a:ext cx="8265379" cy="2502771"/>
          </a:xfrm>
          <a:prstGeom prst="rect">
            <a:avLst/>
          </a:prstGeom>
        </p:spPr>
      </p:pic>
    </p:spTree>
    <p:extLst>
      <p:ext uri="{BB962C8B-B14F-4D97-AF65-F5344CB8AC3E}">
        <p14:creationId xmlns:p14="http://schemas.microsoft.com/office/powerpoint/2010/main" val="26600894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2608" y="525887"/>
            <a:ext cx="8412480" cy="461665"/>
          </a:xfrm>
          <a:prstGeom prst="rect">
            <a:avLst/>
          </a:prstGeom>
          <a:noFill/>
        </p:spPr>
        <p:txBody>
          <a:bodyPr wrap="square">
            <a:spAutoFit/>
          </a:bodyPr>
          <a:lstStyle/>
          <a:p>
            <a:pPr algn="l"/>
            <a:r>
              <a:rPr sz="2400" b="1" i="0" dirty="0">
                <a:solidFill>
                  <a:srgbClr val="1A1A2E"/>
                </a:solidFill>
                <a:latin typeface="Calibri"/>
              </a:rPr>
              <a:t>Suppression Difficulty Index (SDI)</a:t>
            </a:r>
          </a:p>
        </p:txBody>
      </p:sp>
      <p:sp>
        <p:nvSpPr>
          <p:cNvPr id="3" name="TextBox 2"/>
          <p:cNvSpPr txBox="1"/>
          <p:nvPr/>
        </p:nvSpPr>
        <p:spPr>
          <a:xfrm>
            <a:off x="292608" y="1042416"/>
            <a:ext cx="5074920" cy="475488"/>
          </a:xfrm>
          <a:prstGeom prst="rect">
            <a:avLst/>
          </a:prstGeom>
          <a:noFill/>
        </p:spPr>
        <p:txBody>
          <a:bodyPr wrap="square">
            <a:spAutoFit/>
          </a:bodyPr>
          <a:lstStyle/>
          <a:p>
            <a:pPr algn="l"/>
            <a:r>
              <a:rPr sz="1400" b="1" i="0">
                <a:solidFill>
                  <a:srgbClr val="1A1A2E"/>
                </a:solidFill>
                <a:latin typeface="Calibri"/>
              </a:rPr>
              <a:t>Rodriguez y Silva method</a:t>
            </a:r>
          </a:p>
        </p:txBody>
      </p:sp>
      <p:sp>
        <p:nvSpPr>
          <p:cNvPr id="4" name="TextBox 3"/>
          <p:cNvSpPr txBox="1"/>
          <p:nvPr/>
        </p:nvSpPr>
        <p:spPr>
          <a:xfrm>
            <a:off x="292608" y="1517904"/>
            <a:ext cx="4351311" cy="461665"/>
          </a:xfrm>
          <a:prstGeom prst="rect">
            <a:avLst/>
          </a:prstGeom>
          <a:noFill/>
        </p:spPr>
        <p:txBody>
          <a:bodyPr wrap="square">
            <a:spAutoFit/>
          </a:bodyPr>
          <a:lstStyle/>
          <a:p>
            <a:pPr algn="l"/>
            <a:r>
              <a:rPr sz="1200" b="0" i="0" dirty="0">
                <a:solidFill>
                  <a:srgbClr val="546E7A"/>
                </a:solidFill>
                <a:latin typeface="Calibri"/>
              </a:rPr>
              <a:t>Combines topography, vegetation structure, and road accessibility to estimate relative suppression difficulty across the landscape.</a:t>
            </a:r>
          </a:p>
        </p:txBody>
      </p:sp>
      <p:sp>
        <p:nvSpPr>
          <p:cNvPr id="5" name="Rectangle 4"/>
          <p:cNvSpPr/>
          <p:nvPr/>
        </p:nvSpPr>
        <p:spPr>
          <a:xfrm>
            <a:off x="292608" y="2249424"/>
            <a:ext cx="4053361" cy="822960"/>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292608" y="2249424"/>
            <a:ext cx="164592" cy="822960"/>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566928" y="2322576"/>
            <a:ext cx="4663440" cy="274320"/>
          </a:xfrm>
          <a:prstGeom prst="rect">
            <a:avLst/>
          </a:prstGeom>
          <a:noFill/>
        </p:spPr>
        <p:txBody>
          <a:bodyPr wrap="square">
            <a:spAutoFit/>
          </a:bodyPr>
          <a:lstStyle/>
          <a:p>
            <a:pPr algn="l"/>
            <a:r>
              <a:rPr sz="1300" b="1" i="0">
                <a:solidFill>
                  <a:srgbClr val="6D4C41"/>
                </a:solidFill>
                <a:latin typeface="Courier New"/>
              </a:rPr>
              <a:t>calculate_sdi()</a:t>
            </a:r>
          </a:p>
        </p:txBody>
      </p:sp>
      <p:sp>
        <p:nvSpPr>
          <p:cNvPr id="8" name="TextBox 7"/>
          <p:cNvSpPr txBox="1"/>
          <p:nvPr/>
        </p:nvSpPr>
        <p:spPr>
          <a:xfrm>
            <a:off x="566928" y="2569361"/>
            <a:ext cx="4663440" cy="430887"/>
          </a:xfrm>
          <a:prstGeom prst="rect">
            <a:avLst/>
          </a:prstGeom>
          <a:noFill/>
        </p:spPr>
        <p:txBody>
          <a:bodyPr wrap="square">
            <a:spAutoFit/>
          </a:bodyPr>
          <a:lstStyle/>
          <a:p>
            <a:pPr algn="l"/>
            <a:r>
              <a:rPr sz="1100" b="0" i="0" dirty="0">
                <a:solidFill>
                  <a:srgbClr val="546E7A"/>
                </a:solidFill>
                <a:latin typeface="Calibri"/>
              </a:rPr>
              <a:t>SDI raster from LCP inputs (slope, canopy,</a:t>
            </a:r>
            <a:r>
              <a:rPr lang="en-US" sz="1100" b="0" i="0" dirty="0">
                <a:solidFill>
                  <a:srgbClr val="546E7A"/>
                </a:solidFill>
                <a:latin typeface="Calibri"/>
              </a:rPr>
              <a:t> surface fuel model)</a:t>
            </a:r>
          </a:p>
          <a:p>
            <a:pPr algn="l"/>
            <a:r>
              <a:rPr lang="en-US" sz="1100" b="0" i="0" dirty="0">
                <a:solidFill>
                  <a:srgbClr val="546E7A"/>
                </a:solidFill>
                <a:latin typeface="Calibri"/>
              </a:rPr>
              <a:t>OpenStreetMap roads and trails</a:t>
            </a:r>
            <a:endParaRPr sz="1100" b="0" i="0" dirty="0">
              <a:solidFill>
                <a:srgbClr val="546E7A"/>
              </a:solidFill>
              <a:latin typeface="Calibri"/>
            </a:endParaRPr>
          </a:p>
        </p:txBody>
      </p:sp>
      <p:sp>
        <p:nvSpPr>
          <p:cNvPr id="9" name="Rectangle 8"/>
          <p:cNvSpPr/>
          <p:nvPr/>
        </p:nvSpPr>
        <p:spPr>
          <a:xfrm>
            <a:off x="292608" y="3273552"/>
            <a:ext cx="4053361" cy="822960"/>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292608" y="3273552"/>
            <a:ext cx="164592" cy="822960"/>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66928" y="3346704"/>
            <a:ext cx="4663440" cy="274320"/>
          </a:xfrm>
          <a:prstGeom prst="rect">
            <a:avLst/>
          </a:prstGeom>
          <a:noFill/>
        </p:spPr>
        <p:txBody>
          <a:bodyPr wrap="square">
            <a:spAutoFit/>
          </a:bodyPr>
          <a:lstStyle/>
          <a:p>
            <a:pPr algn="l"/>
            <a:r>
              <a:rPr sz="1300" b="1" i="0">
                <a:solidFill>
                  <a:srgbClr val="2C6E49"/>
                </a:solidFill>
                <a:latin typeface="Courier New"/>
              </a:rPr>
              <a:t>calculate_delta_sdi()</a:t>
            </a:r>
          </a:p>
        </p:txBody>
      </p:sp>
      <p:sp>
        <p:nvSpPr>
          <p:cNvPr id="12" name="TextBox 11"/>
          <p:cNvSpPr txBox="1"/>
          <p:nvPr/>
        </p:nvSpPr>
        <p:spPr>
          <a:xfrm>
            <a:off x="566928" y="3675888"/>
            <a:ext cx="4663440" cy="274320"/>
          </a:xfrm>
          <a:prstGeom prst="rect">
            <a:avLst/>
          </a:prstGeom>
          <a:noFill/>
        </p:spPr>
        <p:txBody>
          <a:bodyPr wrap="square">
            <a:spAutoFit/>
          </a:bodyPr>
          <a:lstStyle/>
          <a:p>
            <a:pPr algn="l"/>
            <a:r>
              <a:rPr sz="1100" b="0" i="0">
                <a:solidFill>
                  <a:srgbClr val="546E7A"/>
                </a:solidFill>
                <a:latin typeface="Calibri"/>
              </a:rPr>
              <a:t>Change in SDI between baseline and treated landscape</a:t>
            </a:r>
          </a:p>
        </p:txBody>
      </p:sp>
      <p:sp>
        <p:nvSpPr>
          <p:cNvPr id="15" name="Rectangle 14">
            <a:extLst>
              <a:ext uri="{FF2B5EF4-FFF2-40B4-BE49-F238E27FC236}">
                <a16:creationId xmlns:a16="http://schemas.microsoft.com/office/drawing/2014/main" id="{67CC222F-2866-01DF-0F3A-F8F47A740D28}"/>
              </a:ext>
            </a:extLst>
          </p:cNvPr>
          <p:cNvSpPr/>
          <p:nvPr/>
        </p:nvSpPr>
        <p:spPr>
          <a:xfrm>
            <a:off x="327014" y="136695"/>
            <a:ext cx="1508760" cy="256032"/>
          </a:xfrm>
          <a:prstGeom prst="rect">
            <a:avLst/>
          </a:prstGeom>
          <a:solidFill>
            <a:srgbClr val="2B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fuelscape/</a:t>
            </a:r>
          </a:p>
        </p:txBody>
      </p:sp>
      <p:sp>
        <p:nvSpPr>
          <p:cNvPr id="16" name="Rectangle 15">
            <a:extLst>
              <a:ext uri="{FF2B5EF4-FFF2-40B4-BE49-F238E27FC236}">
                <a16:creationId xmlns:a16="http://schemas.microsoft.com/office/drawing/2014/main" id="{D17469A2-E36F-369D-1565-2701BDB800C1}"/>
              </a:ext>
            </a:extLst>
          </p:cNvPr>
          <p:cNvSpPr/>
          <p:nvPr/>
        </p:nvSpPr>
        <p:spPr>
          <a:xfrm>
            <a:off x="2027798" y="136695"/>
            <a:ext cx="1508760" cy="2560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models/</a:t>
            </a:r>
          </a:p>
        </p:txBody>
      </p:sp>
      <p:sp>
        <p:nvSpPr>
          <p:cNvPr id="17" name="Rectangle 16">
            <a:extLst>
              <a:ext uri="{FF2B5EF4-FFF2-40B4-BE49-F238E27FC236}">
                <a16:creationId xmlns:a16="http://schemas.microsoft.com/office/drawing/2014/main" id="{8205713A-DB0E-0D45-5D92-269B194CD9C9}"/>
              </a:ext>
            </a:extLst>
          </p:cNvPr>
          <p:cNvSpPr/>
          <p:nvPr/>
        </p:nvSpPr>
        <p:spPr>
          <a:xfrm>
            <a:off x="3728582" y="136695"/>
            <a:ext cx="1508760" cy="2560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weather/</a:t>
            </a:r>
          </a:p>
        </p:txBody>
      </p:sp>
      <p:sp>
        <p:nvSpPr>
          <p:cNvPr id="18" name="Rectangle 17">
            <a:extLst>
              <a:ext uri="{FF2B5EF4-FFF2-40B4-BE49-F238E27FC236}">
                <a16:creationId xmlns:a16="http://schemas.microsoft.com/office/drawing/2014/main" id="{2A8AE6C3-F622-4FFF-F858-EA0F133DDBC9}"/>
              </a:ext>
            </a:extLst>
          </p:cNvPr>
          <p:cNvSpPr/>
          <p:nvPr/>
        </p:nvSpPr>
        <p:spPr>
          <a:xfrm>
            <a:off x="5429366" y="136695"/>
            <a:ext cx="1508760" cy="256032"/>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spread/</a:t>
            </a:r>
          </a:p>
        </p:txBody>
      </p:sp>
      <p:sp>
        <p:nvSpPr>
          <p:cNvPr id="19" name="Rectangle 18">
            <a:extLst>
              <a:ext uri="{FF2B5EF4-FFF2-40B4-BE49-F238E27FC236}">
                <a16:creationId xmlns:a16="http://schemas.microsoft.com/office/drawing/2014/main" id="{D1218A62-BEDF-844D-6AF1-FAF22CCB6F8C}"/>
              </a:ext>
            </a:extLst>
          </p:cNvPr>
          <p:cNvSpPr/>
          <p:nvPr/>
        </p:nvSpPr>
        <p:spPr>
          <a:xfrm>
            <a:off x="7130150" y="136695"/>
            <a:ext cx="1508760" cy="256032"/>
          </a:xfrm>
          <a:prstGeom prst="rect">
            <a:avLst/>
          </a:prstGeom>
          <a:solidFill>
            <a:srgbClr val="6D4C41"/>
          </a:solidFill>
          <a:ln>
            <a:solidFill>
              <a:srgbClr val="6D4C41"/>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0" i="0">
                <a:solidFill>
                  <a:srgbClr val="ECF0F1"/>
                </a:solidFill>
                <a:latin typeface="Courier New"/>
              </a:rPr>
              <a:t>suppression/</a:t>
            </a:r>
          </a:p>
        </p:txBody>
      </p:sp>
      <p:sp>
        <p:nvSpPr>
          <p:cNvPr id="20" name="Rectangle 19">
            <a:extLst>
              <a:ext uri="{FF2B5EF4-FFF2-40B4-BE49-F238E27FC236}">
                <a16:creationId xmlns:a16="http://schemas.microsoft.com/office/drawing/2014/main" id="{9508532C-0E62-3E46-545E-ADC46C728843}"/>
              </a:ext>
            </a:extLst>
          </p:cNvPr>
          <p:cNvSpPr/>
          <p:nvPr/>
        </p:nvSpPr>
        <p:spPr>
          <a:xfrm>
            <a:off x="3616412" y="8121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Rectangle 20">
            <a:extLst>
              <a:ext uri="{FF2B5EF4-FFF2-40B4-BE49-F238E27FC236}">
                <a16:creationId xmlns:a16="http://schemas.microsoft.com/office/drawing/2014/main" id="{7A58CCB8-7A24-4025-3327-B0E83848A77C}"/>
              </a:ext>
            </a:extLst>
          </p:cNvPr>
          <p:cNvSpPr/>
          <p:nvPr/>
        </p:nvSpPr>
        <p:spPr>
          <a:xfrm>
            <a:off x="252234" y="90975"/>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2" name="Rectangle 21">
            <a:extLst>
              <a:ext uri="{FF2B5EF4-FFF2-40B4-BE49-F238E27FC236}">
                <a16:creationId xmlns:a16="http://schemas.microsoft.com/office/drawing/2014/main" id="{A8A0136B-7002-B7B9-607D-389D44C2A096}"/>
              </a:ext>
            </a:extLst>
          </p:cNvPr>
          <p:cNvSpPr/>
          <p:nvPr/>
        </p:nvSpPr>
        <p:spPr>
          <a:xfrm>
            <a:off x="5354586" y="77491"/>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 name="Rectangle 22">
            <a:extLst>
              <a:ext uri="{FF2B5EF4-FFF2-40B4-BE49-F238E27FC236}">
                <a16:creationId xmlns:a16="http://schemas.microsoft.com/office/drawing/2014/main" id="{4BF116D7-86BE-27E8-719A-8706D4A8ED69}"/>
              </a:ext>
            </a:extLst>
          </p:cNvPr>
          <p:cNvSpPr/>
          <p:nvPr/>
        </p:nvSpPr>
        <p:spPr>
          <a:xfrm>
            <a:off x="1974250" y="54143"/>
            <a:ext cx="1658319" cy="402956"/>
          </a:xfrm>
          <a:prstGeom prst="rect">
            <a:avLst/>
          </a:prstGeom>
          <a:solidFill>
            <a:srgbClr val="FFFFFF">
              <a:alpha val="50196"/>
            </a:srgbClr>
          </a:solidFill>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nvGrpSpPr>
          <p:cNvPr id="26" name="Group 25">
            <a:extLst>
              <a:ext uri="{FF2B5EF4-FFF2-40B4-BE49-F238E27FC236}">
                <a16:creationId xmlns:a16="http://schemas.microsoft.com/office/drawing/2014/main" id="{535D8652-0FC1-DFEF-F916-AE8FC513A914}"/>
              </a:ext>
            </a:extLst>
          </p:cNvPr>
          <p:cNvGrpSpPr/>
          <p:nvPr/>
        </p:nvGrpSpPr>
        <p:grpSpPr>
          <a:xfrm>
            <a:off x="5147599" y="1735791"/>
            <a:ext cx="3491311" cy="3067875"/>
            <a:chOff x="4984869" y="1471427"/>
            <a:chExt cx="3491311" cy="3067875"/>
          </a:xfrm>
        </p:grpSpPr>
        <p:pic>
          <p:nvPicPr>
            <p:cNvPr id="24" name="Picture 23">
              <a:extLst>
                <a:ext uri="{FF2B5EF4-FFF2-40B4-BE49-F238E27FC236}">
                  <a16:creationId xmlns:a16="http://schemas.microsoft.com/office/drawing/2014/main" id="{F4A41D50-B31C-B5A1-3AFA-0633B72829DB}"/>
                </a:ext>
              </a:extLst>
            </p:cNvPr>
            <p:cNvPicPr>
              <a:picLocks noChangeAspect="1"/>
            </p:cNvPicPr>
            <p:nvPr/>
          </p:nvPicPr>
          <p:blipFill>
            <a:blip r:embed="rId2"/>
            <a:stretch>
              <a:fillRect/>
            </a:stretch>
          </p:blipFill>
          <p:spPr>
            <a:xfrm>
              <a:off x="4984869" y="1471427"/>
              <a:ext cx="1724640" cy="3057642"/>
            </a:xfrm>
            <a:prstGeom prst="rect">
              <a:avLst/>
            </a:prstGeom>
            <a:ln>
              <a:noFill/>
            </a:ln>
            <a:effectLst>
              <a:outerShdw blurRad="190500" algn="tl" rotWithShape="0">
                <a:srgbClr val="000000">
                  <a:alpha val="70000"/>
                </a:srgbClr>
              </a:outerShdw>
            </a:effectLst>
          </p:spPr>
        </p:pic>
        <p:pic>
          <p:nvPicPr>
            <p:cNvPr id="25" name="Picture 24">
              <a:extLst>
                <a:ext uri="{FF2B5EF4-FFF2-40B4-BE49-F238E27FC236}">
                  <a16:creationId xmlns:a16="http://schemas.microsoft.com/office/drawing/2014/main" id="{DEC02285-2BDC-B9F2-CC20-B8611F223C83}"/>
                </a:ext>
              </a:extLst>
            </p:cNvPr>
            <p:cNvPicPr>
              <a:picLocks noChangeAspect="1"/>
            </p:cNvPicPr>
            <p:nvPr/>
          </p:nvPicPr>
          <p:blipFill>
            <a:blip r:embed="rId3"/>
            <a:stretch>
              <a:fillRect/>
            </a:stretch>
          </p:blipFill>
          <p:spPr>
            <a:xfrm>
              <a:off x="6849389" y="1471428"/>
              <a:ext cx="1626791" cy="3067874"/>
            </a:xfrm>
            <a:prstGeom prst="rect">
              <a:avLst/>
            </a:prstGeom>
            <a:ln>
              <a:noFill/>
            </a:ln>
            <a:effectLst>
              <a:outerShdw blurRad="190500" algn="tl" rotWithShape="0">
                <a:srgbClr val="000000">
                  <a:alpha val="70000"/>
                </a:srgbClr>
              </a:outerShdw>
            </a:effectLst>
          </p:spPr>
        </p:pic>
      </p:grpSp>
      <p:sp>
        <p:nvSpPr>
          <p:cNvPr id="27" name="TextBox 26">
            <a:extLst>
              <a:ext uri="{FF2B5EF4-FFF2-40B4-BE49-F238E27FC236}">
                <a16:creationId xmlns:a16="http://schemas.microsoft.com/office/drawing/2014/main" id="{9F95D30B-07BE-7395-7933-18051E3030BC}"/>
              </a:ext>
            </a:extLst>
          </p:cNvPr>
          <p:cNvSpPr txBox="1"/>
          <p:nvPr/>
        </p:nvSpPr>
        <p:spPr>
          <a:xfrm>
            <a:off x="5656296" y="1349848"/>
            <a:ext cx="707245" cy="276999"/>
          </a:xfrm>
          <a:prstGeom prst="rect">
            <a:avLst/>
          </a:prstGeom>
          <a:noFill/>
        </p:spPr>
        <p:txBody>
          <a:bodyPr wrap="none" rtlCol="0">
            <a:spAutoFit/>
          </a:bodyPr>
          <a:lstStyle/>
          <a:p>
            <a:r>
              <a:rPr lang="en-US" sz="1200" dirty="0"/>
              <a:t>Baseline</a:t>
            </a:r>
          </a:p>
        </p:txBody>
      </p:sp>
      <p:sp>
        <p:nvSpPr>
          <p:cNvPr id="28" name="TextBox 27">
            <a:extLst>
              <a:ext uri="{FF2B5EF4-FFF2-40B4-BE49-F238E27FC236}">
                <a16:creationId xmlns:a16="http://schemas.microsoft.com/office/drawing/2014/main" id="{7E614C72-8B24-93AD-83C0-ECEC05F8E8E1}"/>
              </a:ext>
            </a:extLst>
          </p:cNvPr>
          <p:cNvSpPr txBox="1"/>
          <p:nvPr/>
        </p:nvSpPr>
        <p:spPr>
          <a:xfrm>
            <a:off x="7351120" y="1165182"/>
            <a:ext cx="1066820" cy="461665"/>
          </a:xfrm>
          <a:prstGeom prst="rect">
            <a:avLst/>
          </a:prstGeom>
          <a:noFill/>
        </p:spPr>
        <p:txBody>
          <a:bodyPr wrap="square" rtlCol="0">
            <a:spAutoFit/>
          </a:bodyPr>
          <a:lstStyle/>
          <a:p>
            <a:r>
              <a:rPr lang="en-US" sz="1200" dirty="0"/>
              <a:t>Mech Thin + Surface </a:t>
            </a:r>
            <a:r>
              <a:rPr lang="en-US" sz="1200" dirty="0" err="1"/>
              <a:t>Mgmt</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 name="Rectangle 80">
            <a:extLst>
              <a:ext uri="{FF2B5EF4-FFF2-40B4-BE49-F238E27FC236}">
                <a16:creationId xmlns:a16="http://schemas.microsoft.com/office/drawing/2014/main" id="{0D916BCC-EB1C-20F7-0120-52381336CAE8}"/>
              </a:ext>
            </a:extLst>
          </p:cNvPr>
          <p:cNvSpPr/>
          <p:nvPr/>
        </p:nvSpPr>
        <p:spPr>
          <a:xfrm>
            <a:off x="347472" y="4477678"/>
            <a:ext cx="4494122" cy="512063"/>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347472" y="146304"/>
            <a:ext cx="8412480" cy="420624"/>
          </a:xfrm>
          <a:prstGeom prst="rect">
            <a:avLst/>
          </a:prstGeom>
          <a:noFill/>
        </p:spPr>
        <p:txBody>
          <a:bodyPr wrap="square">
            <a:spAutoFit/>
          </a:bodyPr>
          <a:lstStyle/>
          <a:p>
            <a:pPr algn="l"/>
            <a:r>
              <a:rPr sz="2400" b="1" i="0" dirty="0">
                <a:solidFill>
                  <a:srgbClr val="1A1A2E"/>
                </a:solidFill>
                <a:latin typeface="Calibri"/>
              </a:rPr>
              <a:t>Installing </a:t>
            </a:r>
            <a:r>
              <a:rPr sz="2400" b="1" i="0" dirty="0" err="1">
                <a:solidFill>
                  <a:srgbClr val="1A1A2E"/>
                </a:solidFill>
                <a:latin typeface="Calibri"/>
              </a:rPr>
              <a:t>fb_tools</a:t>
            </a:r>
            <a:endParaRPr sz="2400" b="1" i="0" dirty="0">
              <a:solidFill>
                <a:srgbClr val="1A1A2E"/>
              </a:solidFill>
              <a:latin typeface="Calibri"/>
            </a:endParaRPr>
          </a:p>
        </p:txBody>
      </p:sp>
      <p:sp>
        <p:nvSpPr>
          <p:cNvPr id="48" name="TextBox 47">
            <a:extLst>
              <a:ext uri="{FF2B5EF4-FFF2-40B4-BE49-F238E27FC236}">
                <a16:creationId xmlns:a16="http://schemas.microsoft.com/office/drawing/2014/main" id="{CC5479ED-10D0-C010-DC59-619C284E050D}"/>
              </a:ext>
            </a:extLst>
          </p:cNvPr>
          <p:cNvSpPr txBox="1"/>
          <p:nvPr/>
        </p:nvSpPr>
        <p:spPr>
          <a:xfrm>
            <a:off x="347472" y="1149263"/>
            <a:ext cx="5303520" cy="219456"/>
          </a:xfrm>
          <a:prstGeom prst="rect">
            <a:avLst/>
          </a:prstGeom>
          <a:noFill/>
        </p:spPr>
        <p:txBody>
          <a:bodyPr wrap="square">
            <a:spAutoFit/>
          </a:bodyPr>
          <a:lstStyle/>
          <a:p>
            <a:pPr algn="l"/>
            <a:r>
              <a:rPr sz="1100" b="1" i="0">
                <a:solidFill>
                  <a:srgbClr val="1A7A6E"/>
                </a:solidFill>
                <a:latin typeface="Calibri"/>
              </a:rPr>
              <a:t>① Clone the repository</a:t>
            </a:r>
          </a:p>
        </p:txBody>
      </p:sp>
      <p:sp>
        <p:nvSpPr>
          <p:cNvPr id="49" name="Rectangle 48">
            <a:extLst>
              <a:ext uri="{FF2B5EF4-FFF2-40B4-BE49-F238E27FC236}">
                <a16:creationId xmlns:a16="http://schemas.microsoft.com/office/drawing/2014/main" id="{812C7B4E-3961-360F-D13B-8201FA8CA9B0}"/>
              </a:ext>
            </a:extLst>
          </p:cNvPr>
          <p:cNvSpPr/>
          <p:nvPr/>
        </p:nvSpPr>
        <p:spPr>
          <a:xfrm>
            <a:off x="347472" y="1387007"/>
            <a:ext cx="4494122" cy="731519"/>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a:extLst>
              <a:ext uri="{FF2B5EF4-FFF2-40B4-BE49-F238E27FC236}">
                <a16:creationId xmlns:a16="http://schemas.microsoft.com/office/drawing/2014/main" id="{6B5B3929-A5CD-AAF4-C420-F1946A339D36}"/>
              </a:ext>
            </a:extLst>
          </p:cNvPr>
          <p:cNvSpPr/>
          <p:nvPr/>
        </p:nvSpPr>
        <p:spPr>
          <a:xfrm>
            <a:off x="347472" y="1387007"/>
            <a:ext cx="4494122" cy="164592"/>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a:extLst>
              <a:ext uri="{FF2B5EF4-FFF2-40B4-BE49-F238E27FC236}">
                <a16:creationId xmlns:a16="http://schemas.microsoft.com/office/drawing/2014/main" id="{C85491C3-42F7-93ED-23C5-24526A5FCEB1}"/>
              </a:ext>
            </a:extLst>
          </p:cNvPr>
          <p:cNvSpPr txBox="1"/>
          <p:nvPr/>
        </p:nvSpPr>
        <p:spPr>
          <a:xfrm>
            <a:off x="475488" y="1624751"/>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52" name="TextBox 51">
            <a:extLst>
              <a:ext uri="{FF2B5EF4-FFF2-40B4-BE49-F238E27FC236}">
                <a16:creationId xmlns:a16="http://schemas.microsoft.com/office/drawing/2014/main" id="{C5662FE9-5C01-0618-DCA1-F1A88891535A}"/>
              </a:ext>
            </a:extLst>
          </p:cNvPr>
          <p:cNvSpPr txBox="1"/>
          <p:nvPr/>
        </p:nvSpPr>
        <p:spPr>
          <a:xfrm>
            <a:off x="676656" y="1624751"/>
            <a:ext cx="4846320" cy="201168"/>
          </a:xfrm>
          <a:prstGeom prst="rect">
            <a:avLst/>
          </a:prstGeom>
          <a:noFill/>
        </p:spPr>
        <p:txBody>
          <a:bodyPr wrap="square">
            <a:spAutoFit/>
          </a:bodyPr>
          <a:lstStyle/>
          <a:p>
            <a:pPr algn="l"/>
            <a:r>
              <a:rPr sz="950" b="0" i="0">
                <a:solidFill>
                  <a:srgbClr val="FFFFFF"/>
                </a:solidFill>
                <a:latin typeface="Courier New"/>
              </a:rPr>
              <a:t>git clone https://github.com/maxwellCcook/fb_tools.git</a:t>
            </a:r>
          </a:p>
        </p:txBody>
      </p:sp>
      <p:sp>
        <p:nvSpPr>
          <p:cNvPr id="53" name="TextBox 52">
            <a:extLst>
              <a:ext uri="{FF2B5EF4-FFF2-40B4-BE49-F238E27FC236}">
                <a16:creationId xmlns:a16="http://schemas.microsoft.com/office/drawing/2014/main" id="{A5585870-1992-1518-B6CA-9F8648394855}"/>
              </a:ext>
            </a:extLst>
          </p:cNvPr>
          <p:cNvSpPr txBox="1"/>
          <p:nvPr/>
        </p:nvSpPr>
        <p:spPr>
          <a:xfrm>
            <a:off x="475488" y="1825919"/>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54" name="TextBox 53">
            <a:extLst>
              <a:ext uri="{FF2B5EF4-FFF2-40B4-BE49-F238E27FC236}">
                <a16:creationId xmlns:a16="http://schemas.microsoft.com/office/drawing/2014/main" id="{579BC545-703D-B9B9-1C12-F93D765DD84C}"/>
              </a:ext>
            </a:extLst>
          </p:cNvPr>
          <p:cNvSpPr txBox="1"/>
          <p:nvPr/>
        </p:nvSpPr>
        <p:spPr>
          <a:xfrm>
            <a:off x="676656" y="1825919"/>
            <a:ext cx="4846320" cy="201168"/>
          </a:xfrm>
          <a:prstGeom prst="rect">
            <a:avLst/>
          </a:prstGeom>
          <a:noFill/>
        </p:spPr>
        <p:txBody>
          <a:bodyPr wrap="square">
            <a:spAutoFit/>
          </a:bodyPr>
          <a:lstStyle/>
          <a:p>
            <a:pPr algn="l"/>
            <a:r>
              <a:rPr sz="950" b="0" i="0">
                <a:solidFill>
                  <a:srgbClr val="FFFFFF"/>
                </a:solidFill>
                <a:latin typeface="Courier New"/>
              </a:rPr>
              <a:t>cd fb_tools</a:t>
            </a:r>
          </a:p>
        </p:txBody>
      </p:sp>
      <p:sp>
        <p:nvSpPr>
          <p:cNvPr id="55" name="TextBox 54">
            <a:extLst>
              <a:ext uri="{FF2B5EF4-FFF2-40B4-BE49-F238E27FC236}">
                <a16:creationId xmlns:a16="http://schemas.microsoft.com/office/drawing/2014/main" id="{68E6AAC5-0585-F3F2-9974-D65EC5E2DF7C}"/>
              </a:ext>
            </a:extLst>
          </p:cNvPr>
          <p:cNvSpPr txBox="1"/>
          <p:nvPr/>
        </p:nvSpPr>
        <p:spPr>
          <a:xfrm>
            <a:off x="347472" y="2246543"/>
            <a:ext cx="5285232" cy="261610"/>
          </a:xfrm>
          <a:prstGeom prst="rect">
            <a:avLst/>
          </a:prstGeom>
          <a:noFill/>
        </p:spPr>
        <p:txBody>
          <a:bodyPr wrap="square">
            <a:spAutoFit/>
          </a:bodyPr>
          <a:lstStyle/>
          <a:p>
            <a:pPr algn="l"/>
            <a:r>
              <a:rPr sz="1100" b="1" i="0" dirty="0">
                <a:solidFill>
                  <a:srgbClr val="1B6CA8"/>
                </a:solidFill>
                <a:latin typeface="Calibri"/>
              </a:rPr>
              <a:t>② Set </a:t>
            </a:r>
            <a:r>
              <a:rPr sz="1100" b="1" i="0" dirty="0" err="1">
                <a:solidFill>
                  <a:srgbClr val="1B6CA8"/>
                </a:solidFill>
                <a:latin typeface="Calibri"/>
              </a:rPr>
              <a:t>conda</a:t>
            </a:r>
            <a:r>
              <a:rPr sz="1100" b="1" i="0" dirty="0">
                <a:solidFill>
                  <a:srgbClr val="1B6CA8"/>
                </a:solidFill>
                <a:latin typeface="Calibri"/>
              </a:rPr>
              <a:t> channel priority</a:t>
            </a:r>
          </a:p>
        </p:txBody>
      </p:sp>
      <p:sp>
        <p:nvSpPr>
          <p:cNvPr id="56" name="Rectangle 55">
            <a:extLst>
              <a:ext uri="{FF2B5EF4-FFF2-40B4-BE49-F238E27FC236}">
                <a16:creationId xmlns:a16="http://schemas.microsoft.com/office/drawing/2014/main" id="{3FFC6A3B-F23E-8562-FCA0-9B2D1BFE93F6}"/>
              </a:ext>
            </a:extLst>
          </p:cNvPr>
          <p:cNvSpPr/>
          <p:nvPr/>
        </p:nvSpPr>
        <p:spPr>
          <a:xfrm>
            <a:off x="347472" y="2484287"/>
            <a:ext cx="4494122" cy="530352"/>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Rectangle 56">
            <a:extLst>
              <a:ext uri="{FF2B5EF4-FFF2-40B4-BE49-F238E27FC236}">
                <a16:creationId xmlns:a16="http://schemas.microsoft.com/office/drawing/2014/main" id="{AFE69FB8-090E-1AEF-44CA-0D266B075E42}"/>
              </a:ext>
            </a:extLst>
          </p:cNvPr>
          <p:cNvSpPr/>
          <p:nvPr/>
        </p:nvSpPr>
        <p:spPr>
          <a:xfrm>
            <a:off x="347472" y="2484287"/>
            <a:ext cx="4494122" cy="16459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8" name="TextBox 57">
            <a:extLst>
              <a:ext uri="{FF2B5EF4-FFF2-40B4-BE49-F238E27FC236}">
                <a16:creationId xmlns:a16="http://schemas.microsoft.com/office/drawing/2014/main" id="{411F9CF1-859D-0A29-A01D-3184DA1C9159}"/>
              </a:ext>
            </a:extLst>
          </p:cNvPr>
          <p:cNvSpPr txBox="1"/>
          <p:nvPr/>
        </p:nvSpPr>
        <p:spPr>
          <a:xfrm>
            <a:off x="475488" y="2722031"/>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59" name="TextBox 58">
            <a:extLst>
              <a:ext uri="{FF2B5EF4-FFF2-40B4-BE49-F238E27FC236}">
                <a16:creationId xmlns:a16="http://schemas.microsoft.com/office/drawing/2014/main" id="{F5F72D7A-8D5F-2B7A-F3B2-B0AC1FF12C05}"/>
              </a:ext>
            </a:extLst>
          </p:cNvPr>
          <p:cNvSpPr txBox="1"/>
          <p:nvPr/>
        </p:nvSpPr>
        <p:spPr>
          <a:xfrm>
            <a:off x="676656" y="2722031"/>
            <a:ext cx="4846320" cy="201168"/>
          </a:xfrm>
          <a:prstGeom prst="rect">
            <a:avLst/>
          </a:prstGeom>
          <a:noFill/>
        </p:spPr>
        <p:txBody>
          <a:bodyPr wrap="square">
            <a:spAutoFit/>
          </a:bodyPr>
          <a:lstStyle/>
          <a:p>
            <a:pPr algn="l"/>
            <a:r>
              <a:rPr sz="950" b="0" i="0">
                <a:solidFill>
                  <a:srgbClr val="FFFFFF"/>
                </a:solidFill>
                <a:latin typeface="Courier New"/>
              </a:rPr>
              <a:t>conda config --set channel_priority strict</a:t>
            </a:r>
          </a:p>
        </p:txBody>
      </p:sp>
      <p:sp>
        <p:nvSpPr>
          <p:cNvPr id="60" name="TextBox 59">
            <a:extLst>
              <a:ext uri="{FF2B5EF4-FFF2-40B4-BE49-F238E27FC236}">
                <a16:creationId xmlns:a16="http://schemas.microsoft.com/office/drawing/2014/main" id="{3A59C4E7-5C66-FED9-E741-3B225D36953E}"/>
              </a:ext>
            </a:extLst>
          </p:cNvPr>
          <p:cNvSpPr txBox="1"/>
          <p:nvPr/>
        </p:nvSpPr>
        <p:spPr>
          <a:xfrm>
            <a:off x="347472" y="3142655"/>
            <a:ext cx="5303520" cy="219456"/>
          </a:xfrm>
          <a:prstGeom prst="rect">
            <a:avLst/>
          </a:prstGeom>
          <a:noFill/>
        </p:spPr>
        <p:txBody>
          <a:bodyPr wrap="square">
            <a:spAutoFit/>
          </a:bodyPr>
          <a:lstStyle/>
          <a:p>
            <a:pPr algn="l"/>
            <a:r>
              <a:rPr sz="1100" b="1" i="0">
                <a:solidFill>
                  <a:srgbClr val="2C6E49"/>
                </a:solidFill>
                <a:latin typeface="Calibri"/>
              </a:rPr>
              <a:t>③ Create and activate the conda environment</a:t>
            </a:r>
          </a:p>
        </p:txBody>
      </p:sp>
      <p:sp>
        <p:nvSpPr>
          <p:cNvPr id="61" name="Rectangle 60">
            <a:extLst>
              <a:ext uri="{FF2B5EF4-FFF2-40B4-BE49-F238E27FC236}">
                <a16:creationId xmlns:a16="http://schemas.microsoft.com/office/drawing/2014/main" id="{D49C4565-3D47-BB0B-A30C-1529473E1012}"/>
              </a:ext>
            </a:extLst>
          </p:cNvPr>
          <p:cNvSpPr/>
          <p:nvPr/>
        </p:nvSpPr>
        <p:spPr>
          <a:xfrm>
            <a:off x="347472" y="3380399"/>
            <a:ext cx="4494122" cy="731519"/>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a:extLst>
              <a:ext uri="{FF2B5EF4-FFF2-40B4-BE49-F238E27FC236}">
                <a16:creationId xmlns:a16="http://schemas.microsoft.com/office/drawing/2014/main" id="{A4E001AB-68AD-7B61-3D67-899B3A434DE1}"/>
              </a:ext>
            </a:extLst>
          </p:cNvPr>
          <p:cNvSpPr/>
          <p:nvPr/>
        </p:nvSpPr>
        <p:spPr>
          <a:xfrm>
            <a:off x="347472" y="3380399"/>
            <a:ext cx="4494122" cy="146302"/>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5ECE9D93-4774-6730-5AEF-5B126955983C}"/>
              </a:ext>
            </a:extLst>
          </p:cNvPr>
          <p:cNvSpPr txBox="1"/>
          <p:nvPr/>
        </p:nvSpPr>
        <p:spPr>
          <a:xfrm>
            <a:off x="475488" y="3618142"/>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64" name="TextBox 63">
            <a:extLst>
              <a:ext uri="{FF2B5EF4-FFF2-40B4-BE49-F238E27FC236}">
                <a16:creationId xmlns:a16="http://schemas.microsoft.com/office/drawing/2014/main" id="{A6160B0C-88A3-0645-D524-B575707F90EF}"/>
              </a:ext>
            </a:extLst>
          </p:cNvPr>
          <p:cNvSpPr txBox="1"/>
          <p:nvPr/>
        </p:nvSpPr>
        <p:spPr>
          <a:xfrm>
            <a:off x="676656" y="3618142"/>
            <a:ext cx="4846320" cy="201168"/>
          </a:xfrm>
          <a:prstGeom prst="rect">
            <a:avLst/>
          </a:prstGeom>
          <a:noFill/>
        </p:spPr>
        <p:txBody>
          <a:bodyPr wrap="square">
            <a:spAutoFit/>
          </a:bodyPr>
          <a:lstStyle/>
          <a:p>
            <a:pPr algn="l"/>
            <a:r>
              <a:rPr sz="950" b="0" i="0">
                <a:solidFill>
                  <a:srgbClr val="FFFFFF"/>
                </a:solidFill>
                <a:latin typeface="Courier New"/>
              </a:rPr>
              <a:t>conda env create -f environment.yml</a:t>
            </a:r>
          </a:p>
        </p:txBody>
      </p:sp>
      <p:sp>
        <p:nvSpPr>
          <p:cNvPr id="65" name="TextBox 64">
            <a:extLst>
              <a:ext uri="{FF2B5EF4-FFF2-40B4-BE49-F238E27FC236}">
                <a16:creationId xmlns:a16="http://schemas.microsoft.com/office/drawing/2014/main" id="{BB2EDA36-018E-E48F-57B2-4D524D7518CD}"/>
              </a:ext>
            </a:extLst>
          </p:cNvPr>
          <p:cNvSpPr txBox="1"/>
          <p:nvPr/>
        </p:nvSpPr>
        <p:spPr>
          <a:xfrm>
            <a:off x="475488" y="3819310"/>
            <a:ext cx="201168" cy="201168"/>
          </a:xfrm>
          <a:prstGeom prst="rect">
            <a:avLst/>
          </a:prstGeom>
          <a:noFill/>
        </p:spPr>
        <p:txBody>
          <a:bodyPr wrap="square">
            <a:spAutoFit/>
          </a:bodyPr>
          <a:lstStyle/>
          <a:p>
            <a:pPr algn="l"/>
            <a:r>
              <a:rPr sz="900" b="1" i="0" dirty="0">
                <a:solidFill>
                  <a:srgbClr val="7EE787"/>
                </a:solidFill>
                <a:latin typeface="Courier New"/>
              </a:rPr>
              <a:t>$</a:t>
            </a:r>
          </a:p>
        </p:txBody>
      </p:sp>
      <p:sp>
        <p:nvSpPr>
          <p:cNvPr id="66" name="TextBox 65">
            <a:extLst>
              <a:ext uri="{FF2B5EF4-FFF2-40B4-BE49-F238E27FC236}">
                <a16:creationId xmlns:a16="http://schemas.microsoft.com/office/drawing/2014/main" id="{0D585766-6B5E-BDA8-4B5F-3D042520619F}"/>
              </a:ext>
            </a:extLst>
          </p:cNvPr>
          <p:cNvSpPr txBox="1"/>
          <p:nvPr/>
        </p:nvSpPr>
        <p:spPr>
          <a:xfrm>
            <a:off x="676656" y="3819310"/>
            <a:ext cx="4846320" cy="201168"/>
          </a:xfrm>
          <a:prstGeom prst="rect">
            <a:avLst/>
          </a:prstGeom>
          <a:noFill/>
        </p:spPr>
        <p:txBody>
          <a:bodyPr wrap="square">
            <a:spAutoFit/>
          </a:bodyPr>
          <a:lstStyle/>
          <a:p>
            <a:pPr algn="l"/>
            <a:r>
              <a:rPr sz="950" b="0" i="0">
                <a:solidFill>
                  <a:srgbClr val="FFFFFF"/>
                </a:solidFill>
                <a:latin typeface="Courier New"/>
              </a:rPr>
              <a:t>conda activate fb_tools</a:t>
            </a:r>
          </a:p>
        </p:txBody>
      </p:sp>
      <p:sp>
        <p:nvSpPr>
          <p:cNvPr id="67" name="TextBox 66">
            <a:extLst>
              <a:ext uri="{FF2B5EF4-FFF2-40B4-BE49-F238E27FC236}">
                <a16:creationId xmlns:a16="http://schemas.microsoft.com/office/drawing/2014/main" id="{96D3ED59-FDC6-B98B-1AB2-A9890660FF85}"/>
              </a:ext>
            </a:extLst>
          </p:cNvPr>
          <p:cNvSpPr txBox="1"/>
          <p:nvPr/>
        </p:nvSpPr>
        <p:spPr>
          <a:xfrm>
            <a:off x="347472" y="4239934"/>
            <a:ext cx="5303520" cy="219456"/>
          </a:xfrm>
          <a:prstGeom prst="rect">
            <a:avLst/>
          </a:prstGeom>
          <a:noFill/>
        </p:spPr>
        <p:txBody>
          <a:bodyPr wrap="square">
            <a:spAutoFit/>
          </a:bodyPr>
          <a:lstStyle/>
          <a:p>
            <a:pPr algn="l"/>
            <a:r>
              <a:rPr sz="1100" b="1" i="0">
                <a:solidFill>
                  <a:srgbClr val="D4622A"/>
                </a:solidFill>
                <a:latin typeface="Calibri"/>
              </a:rPr>
              <a:t>④ Editable install  —  --no-deps is required</a:t>
            </a:r>
          </a:p>
        </p:txBody>
      </p:sp>
      <p:sp>
        <p:nvSpPr>
          <p:cNvPr id="68" name="Rectangle 67">
            <a:extLst>
              <a:ext uri="{FF2B5EF4-FFF2-40B4-BE49-F238E27FC236}">
                <a16:creationId xmlns:a16="http://schemas.microsoft.com/office/drawing/2014/main" id="{E5794EF4-9956-618F-C316-FA3A41B15AE7}"/>
              </a:ext>
            </a:extLst>
          </p:cNvPr>
          <p:cNvSpPr/>
          <p:nvPr/>
        </p:nvSpPr>
        <p:spPr>
          <a:xfrm>
            <a:off x="347472" y="4477678"/>
            <a:ext cx="4494122" cy="16459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TextBox 78">
            <a:extLst>
              <a:ext uri="{FF2B5EF4-FFF2-40B4-BE49-F238E27FC236}">
                <a16:creationId xmlns:a16="http://schemas.microsoft.com/office/drawing/2014/main" id="{9ADE7609-6768-F230-B960-D26FAF9D5FA6}"/>
              </a:ext>
            </a:extLst>
          </p:cNvPr>
          <p:cNvSpPr txBox="1"/>
          <p:nvPr/>
        </p:nvSpPr>
        <p:spPr>
          <a:xfrm>
            <a:off x="347472" y="640080"/>
            <a:ext cx="8412480" cy="219456"/>
          </a:xfrm>
          <a:prstGeom prst="rect">
            <a:avLst/>
          </a:prstGeom>
          <a:noFill/>
        </p:spPr>
        <p:txBody>
          <a:bodyPr wrap="square">
            <a:spAutoFit/>
          </a:bodyPr>
          <a:lstStyle/>
          <a:p>
            <a:pPr algn="l"/>
            <a:r>
              <a:rPr sz="1000" b="0" i="1" dirty="0">
                <a:solidFill>
                  <a:srgbClr val="546E7A"/>
                </a:solidFill>
                <a:latin typeface="Calibri"/>
              </a:rPr>
              <a:t>Python 3.10–3.12 · </a:t>
            </a:r>
            <a:r>
              <a:rPr sz="1000" b="0" i="1" dirty="0" err="1">
                <a:solidFill>
                  <a:srgbClr val="546E7A"/>
                </a:solidFill>
                <a:latin typeface="Calibri"/>
              </a:rPr>
              <a:t>conda</a:t>
            </a:r>
            <a:r>
              <a:rPr sz="1000" b="0" i="1" dirty="0">
                <a:solidFill>
                  <a:srgbClr val="546E7A"/>
                </a:solidFill>
                <a:latin typeface="Calibri"/>
              </a:rPr>
              <a:t>-forge · pip editable install · GitHub</a:t>
            </a:r>
          </a:p>
        </p:txBody>
      </p:sp>
      <p:sp>
        <p:nvSpPr>
          <p:cNvPr id="80" name="TextBox 79">
            <a:extLst>
              <a:ext uri="{FF2B5EF4-FFF2-40B4-BE49-F238E27FC236}">
                <a16:creationId xmlns:a16="http://schemas.microsoft.com/office/drawing/2014/main" id="{001AFF23-602F-2DA0-0B89-C221FA3E9600}"/>
              </a:ext>
            </a:extLst>
          </p:cNvPr>
          <p:cNvSpPr txBox="1"/>
          <p:nvPr/>
        </p:nvSpPr>
        <p:spPr>
          <a:xfrm>
            <a:off x="201168" y="881289"/>
            <a:ext cx="5303520" cy="246221"/>
          </a:xfrm>
          <a:prstGeom prst="rect">
            <a:avLst/>
          </a:prstGeom>
          <a:noFill/>
        </p:spPr>
        <p:txBody>
          <a:bodyPr wrap="square">
            <a:spAutoFit/>
          </a:bodyPr>
          <a:lstStyle/>
          <a:p>
            <a:pPr algn="l"/>
            <a:r>
              <a:rPr sz="1000" b="1" i="0" dirty="0">
                <a:solidFill>
                  <a:srgbClr val="546E7A"/>
                </a:solidFill>
                <a:latin typeface="Calibri"/>
              </a:rPr>
              <a:t>Critical path  (run in order)</a:t>
            </a:r>
            <a:r>
              <a:rPr lang="en-US" sz="1000" b="1" i="0" dirty="0">
                <a:solidFill>
                  <a:srgbClr val="546E7A"/>
                </a:solidFill>
                <a:latin typeface="Calibri"/>
              </a:rPr>
              <a:t> – more instructions on GitHub README</a:t>
            </a:r>
            <a:endParaRPr sz="1000" b="1" i="0" dirty="0">
              <a:solidFill>
                <a:srgbClr val="546E7A"/>
              </a:solidFill>
              <a:latin typeface="Calibri"/>
            </a:endParaRPr>
          </a:p>
        </p:txBody>
      </p:sp>
      <p:sp>
        <p:nvSpPr>
          <p:cNvPr id="82" name="TextBox 81">
            <a:extLst>
              <a:ext uri="{FF2B5EF4-FFF2-40B4-BE49-F238E27FC236}">
                <a16:creationId xmlns:a16="http://schemas.microsoft.com/office/drawing/2014/main" id="{4D63BF15-E5A7-892D-5962-972354703726}"/>
              </a:ext>
            </a:extLst>
          </p:cNvPr>
          <p:cNvSpPr txBox="1"/>
          <p:nvPr/>
        </p:nvSpPr>
        <p:spPr>
          <a:xfrm>
            <a:off x="676656" y="4696742"/>
            <a:ext cx="2432304" cy="238527"/>
          </a:xfrm>
          <a:prstGeom prst="rect">
            <a:avLst/>
          </a:prstGeom>
          <a:noFill/>
        </p:spPr>
        <p:txBody>
          <a:bodyPr wrap="square">
            <a:spAutoFit/>
          </a:bodyPr>
          <a:lstStyle/>
          <a:p>
            <a:pPr algn="l"/>
            <a:r>
              <a:rPr lang="en-US" sz="950" dirty="0">
                <a:solidFill>
                  <a:srgbClr val="FFFFFF"/>
                </a:solidFill>
                <a:latin typeface="Courier New"/>
              </a:rPr>
              <a:t>p</a:t>
            </a:r>
            <a:r>
              <a:rPr lang="en-US" sz="950" b="0" i="0" dirty="0">
                <a:solidFill>
                  <a:srgbClr val="FFFFFF"/>
                </a:solidFill>
                <a:latin typeface="Courier New"/>
              </a:rPr>
              <a:t>ip install –e . --no-deps</a:t>
            </a:r>
            <a:endParaRPr sz="950" b="0" i="0" dirty="0">
              <a:solidFill>
                <a:srgbClr val="FFFFFF"/>
              </a:solidFill>
              <a:latin typeface="Courier New"/>
            </a:endParaRPr>
          </a:p>
        </p:txBody>
      </p:sp>
      <p:sp>
        <p:nvSpPr>
          <p:cNvPr id="83" name="Rectangle 82">
            <a:extLst>
              <a:ext uri="{FF2B5EF4-FFF2-40B4-BE49-F238E27FC236}">
                <a16:creationId xmlns:a16="http://schemas.microsoft.com/office/drawing/2014/main" id="{0331C943-2DE9-C510-6EDF-AC6CF4E50CA0}"/>
              </a:ext>
            </a:extLst>
          </p:cNvPr>
          <p:cNvSpPr/>
          <p:nvPr/>
        </p:nvSpPr>
        <p:spPr>
          <a:xfrm>
            <a:off x="5264427" y="2376818"/>
            <a:ext cx="3319272" cy="776848"/>
          </a:xfrm>
          <a:prstGeom prst="rect">
            <a:avLst/>
          </a:prstGeom>
          <a:solidFill>
            <a:srgbClr val="FFF8E1"/>
          </a:solidFill>
          <a:ln>
            <a:solidFill>
              <a:srgbClr val="FFD54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TextBox 83">
            <a:extLst>
              <a:ext uri="{FF2B5EF4-FFF2-40B4-BE49-F238E27FC236}">
                <a16:creationId xmlns:a16="http://schemas.microsoft.com/office/drawing/2014/main" id="{E063F313-1530-0E5F-575B-0BF5E46C9B86}"/>
              </a:ext>
            </a:extLst>
          </p:cNvPr>
          <p:cNvSpPr txBox="1"/>
          <p:nvPr/>
        </p:nvSpPr>
        <p:spPr>
          <a:xfrm>
            <a:off x="5264427" y="2324752"/>
            <a:ext cx="961539" cy="230832"/>
          </a:xfrm>
          <a:prstGeom prst="rect">
            <a:avLst/>
          </a:prstGeom>
          <a:noFill/>
        </p:spPr>
        <p:txBody>
          <a:bodyPr wrap="square">
            <a:spAutoFit/>
          </a:bodyPr>
          <a:lstStyle/>
          <a:p>
            <a:pPr algn="l"/>
            <a:r>
              <a:rPr sz="900" b="1" i="0" dirty="0">
                <a:solidFill>
                  <a:srgbClr val="6D4C41"/>
                </a:solidFill>
                <a:latin typeface="Calibri"/>
              </a:rPr>
              <a:t>Windows note:</a:t>
            </a:r>
          </a:p>
        </p:txBody>
      </p:sp>
      <p:sp>
        <p:nvSpPr>
          <p:cNvPr id="85" name="TextBox 84">
            <a:extLst>
              <a:ext uri="{FF2B5EF4-FFF2-40B4-BE49-F238E27FC236}">
                <a16:creationId xmlns:a16="http://schemas.microsoft.com/office/drawing/2014/main" id="{61AED7DE-F29C-3A95-1625-5BEE8288C1AE}"/>
              </a:ext>
            </a:extLst>
          </p:cNvPr>
          <p:cNvSpPr txBox="1"/>
          <p:nvPr/>
        </p:nvSpPr>
        <p:spPr>
          <a:xfrm>
            <a:off x="6162445" y="2452863"/>
            <a:ext cx="2337034" cy="646331"/>
          </a:xfrm>
          <a:prstGeom prst="rect">
            <a:avLst/>
          </a:prstGeom>
          <a:noFill/>
        </p:spPr>
        <p:txBody>
          <a:bodyPr wrap="square">
            <a:spAutoFit/>
          </a:bodyPr>
          <a:lstStyle/>
          <a:p>
            <a:pPr algn="l"/>
            <a:r>
              <a:rPr sz="900" b="0" i="0" dirty="0">
                <a:solidFill>
                  <a:srgbClr val="6D4C41"/>
                </a:solidFill>
                <a:latin typeface="Calibri"/>
              </a:rPr>
              <a:t>Always create and activate the environment from Anaconda Prompt, not PowerShell. Anaconda Prompt sets the DLL search path correctly for the geospatial stack.</a:t>
            </a:r>
          </a:p>
        </p:txBody>
      </p:sp>
      <p:sp>
        <p:nvSpPr>
          <p:cNvPr id="89" name="TextBox 88">
            <a:extLst>
              <a:ext uri="{FF2B5EF4-FFF2-40B4-BE49-F238E27FC236}">
                <a16:creationId xmlns:a16="http://schemas.microsoft.com/office/drawing/2014/main" id="{37636FFB-AC05-C9A6-B1AF-719D7567FEB1}"/>
              </a:ext>
            </a:extLst>
          </p:cNvPr>
          <p:cNvSpPr txBox="1"/>
          <p:nvPr/>
        </p:nvSpPr>
        <p:spPr>
          <a:xfrm>
            <a:off x="475488" y="4668085"/>
            <a:ext cx="353568" cy="230832"/>
          </a:xfrm>
          <a:prstGeom prst="rect">
            <a:avLst/>
          </a:prstGeom>
          <a:noFill/>
        </p:spPr>
        <p:txBody>
          <a:bodyPr wrap="square">
            <a:spAutoFit/>
          </a:bodyPr>
          <a:lstStyle/>
          <a:p>
            <a:pPr algn="l"/>
            <a:r>
              <a:rPr sz="900" b="1" i="0" dirty="0">
                <a:solidFill>
                  <a:srgbClr val="7EE787"/>
                </a:solidFill>
                <a:latin typeface="Courier New"/>
              </a:rPr>
              <a:t>$</a:t>
            </a:r>
          </a:p>
        </p:txBody>
      </p:sp>
      <p:sp>
        <p:nvSpPr>
          <p:cNvPr id="90" name="TextBox 89">
            <a:extLst>
              <a:ext uri="{FF2B5EF4-FFF2-40B4-BE49-F238E27FC236}">
                <a16:creationId xmlns:a16="http://schemas.microsoft.com/office/drawing/2014/main" id="{93061842-4CEC-CAF1-8133-ECE44C1857BE}"/>
              </a:ext>
            </a:extLst>
          </p:cNvPr>
          <p:cNvSpPr txBox="1"/>
          <p:nvPr/>
        </p:nvSpPr>
        <p:spPr>
          <a:xfrm>
            <a:off x="5264427" y="1368719"/>
            <a:ext cx="3319272" cy="219456"/>
          </a:xfrm>
          <a:prstGeom prst="rect">
            <a:avLst/>
          </a:prstGeom>
          <a:noFill/>
        </p:spPr>
        <p:txBody>
          <a:bodyPr wrap="square">
            <a:spAutoFit/>
          </a:bodyPr>
          <a:lstStyle/>
          <a:p>
            <a:pPr algn="l"/>
            <a:r>
              <a:rPr sz="1000" b="1" i="0">
                <a:solidFill>
                  <a:srgbClr val="546E7A"/>
                </a:solidFill>
                <a:latin typeface="Calibri"/>
              </a:rPr>
              <a:t>⑤ Optional — HRRR wind extraction only</a:t>
            </a:r>
          </a:p>
        </p:txBody>
      </p:sp>
      <p:sp>
        <p:nvSpPr>
          <p:cNvPr id="91" name="Rectangle 90">
            <a:extLst>
              <a:ext uri="{FF2B5EF4-FFF2-40B4-BE49-F238E27FC236}">
                <a16:creationId xmlns:a16="http://schemas.microsoft.com/office/drawing/2014/main" id="{0F216128-87F0-9ABE-59EF-4409465DA848}"/>
              </a:ext>
            </a:extLst>
          </p:cNvPr>
          <p:cNvSpPr/>
          <p:nvPr/>
        </p:nvSpPr>
        <p:spPr>
          <a:xfrm>
            <a:off x="5264427" y="1606464"/>
            <a:ext cx="3319272" cy="365760"/>
          </a:xfrm>
          <a:prstGeom prst="rect">
            <a:avLst/>
          </a:prstGeom>
          <a:solidFill>
            <a:srgbClr val="12222D"/>
          </a:solidFill>
          <a:ln>
            <a:solidFill>
              <a:srgbClr val="12222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a:extLst>
              <a:ext uri="{FF2B5EF4-FFF2-40B4-BE49-F238E27FC236}">
                <a16:creationId xmlns:a16="http://schemas.microsoft.com/office/drawing/2014/main" id="{186D2299-AC22-EBF6-2E42-F2B5C8A3DB24}"/>
              </a:ext>
            </a:extLst>
          </p:cNvPr>
          <p:cNvSpPr txBox="1"/>
          <p:nvPr/>
        </p:nvSpPr>
        <p:spPr>
          <a:xfrm>
            <a:off x="5392442" y="1600118"/>
            <a:ext cx="201168" cy="201168"/>
          </a:xfrm>
          <a:prstGeom prst="rect">
            <a:avLst/>
          </a:prstGeom>
          <a:noFill/>
        </p:spPr>
        <p:txBody>
          <a:bodyPr wrap="square">
            <a:spAutoFit/>
          </a:bodyPr>
          <a:lstStyle/>
          <a:p>
            <a:pPr algn="l"/>
            <a:r>
              <a:rPr sz="900" b="1" i="0">
                <a:solidFill>
                  <a:srgbClr val="7EE787"/>
                </a:solidFill>
                <a:latin typeface="Courier New"/>
              </a:rPr>
              <a:t>$</a:t>
            </a:r>
          </a:p>
        </p:txBody>
      </p:sp>
      <p:sp>
        <p:nvSpPr>
          <p:cNvPr id="93" name="TextBox 92">
            <a:extLst>
              <a:ext uri="{FF2B5EF4-FFF2-40B4-BE49-F238E27FC236}">
                <a16:creationId xmlns:a16="http://schemas.microsoft.com/office/drawing/2014/main" id="{46744A7A-2A2A-1EA7-2A4C-BD5E49D47E4D}"/>
              </a:ext>
            </a:extLst>
          </p:cNvPr>
          <p:cNvSpPr txBox="1"/>
          <p:nvPr/>
        </p:nvSpPr>
        <p:spPr>
          <a:xfrm>
            <a:off x="5593610" y="1679616"/>
            <a:ext cx="2862071" cy="201168"/>
          </a:xfrm>
          <a:prstGeom prst="rect">
            <a:avLst/>
          </a:prstGeom>
          <a:noFill/>
        </p:spPr>
        <p:txBody>
          <a:bodyPr wrap="square">
            <a:spAutoFit/>
          </a:bodyPr>
          <a:lstStyle/>
          <a:p>
            <a:pPr algn="l"/>
            <a:r>
              <a:rPr sz="950" b="0" i="0">
                <a:solidFill>
                  <a:srgbClr val="FFFFFF"/>
                </a:solidFill>
                <a:latin typeface="Courier New"/>
              </a:rPr>
              <a:t>pip install herbie-data</a:t>
            </a:r>
          </a:p>
        </p:txBody>
      </p:sp>
      <p:sp>
        <p:nvSpPr>
          <p:cNvPr id="94" name="TextBox 93">
            <a:extLst>
              <a:ext uri="{FF2B5EF4-FFF2-40B4-BE49-F238E27FC236}">
                <a16:creationId xmlns:a16="http://schemas.microsoft.com/office/drawing/2014/main" id="{3180D9BE-721C-E3B4-7A49-1B191F252F59}"/>
              </a:ext>
            </a:extLst>
          </p:cNvPr>
          <p:cNvSpPr txBox="1"/>
          <p:nvPr/>
        </p:nvSpPr>
        <p:spPr>
          <a:xfrm>
            <a:off x="5264427" y="2008800"/>
            <a:ext cx="3319272" cy="201168"/>
          </a:xfrm>
          <a:prstGeom prst="rect">
            <a:avLst/>
          </a:prstGeom>
          <a:noFill/>
        </p:spPr>
        <p:txBody>
          <a:bodyPr wrap="square">
            <a:spAutoFit/>
          </a:bodyPr>
          <a:lstStyle/>
          <a:p>
            <a:pPr algn="l"/>
            <a:r>
              <a:rPr sz="850" b="0" i="1">
                <a:solidFill>
                  <a:srgbClr val="546E7A"/>
                </a:solidFill>
                <a:latin typeface="Calibri"/>
              </a:rPr>
              <a:t>Not in conda-forge; omit if HRRR winds are not needed.</a:t>
            </a:r>
          </a:p>
        </p:txBody>
      </p:sp>
      <p:sp>
        <p:nvSpPr>
          <p:cNvPr id="95" name="Rectangle 94">
            <a:extLst>
              <a:ext uri="{FF2B5EF4-FFF2-40B4-BE49-F238E27FC236}">
                <a16:creationId xmlns:a16="http://schemas.microsoft.com/office/drawing/2014/main" id="{17F819D5-B824-A5AA-3457-1A829E213E37}"/>
              </a:ext>
            </a:extLst>
          </p:cNvPr>
          <p:cNvSpPr/>
          <p:nvPr/>
        </p:nvSpPr>
        <p:spPr>
          <a:xfrm>
            <a:off x="5264427" y="3450085"/>
            <a:ext cx="3319272" cy="1536192"/>
          </a:xfrm>
          <a:prstGeom prst="rect">
            <a:avLst/>
          </a:prstGeom>
          <a:solidFill>
            <a:srgbClr val="FAD7D3"/>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a:extLst>
              <a:ext uri="{FF2B5EF4-FFF2-40B4-BE49-F238E27FC236}">
                <a16:creationId xmlns:a16="http://schemas.microsoft.com/office/drawing/2014/main" id="{54505A02-4DB1-0582-7575-9B62D8C32253}"/>
              </a:ext>
            </a:extLst>
          </p:cNvPr>
          <p:cNvSpPr/>
          <p:nvPr/>
        </p:nvSpPr>
        <p:spPr>
          <a:xfrm>
            <a:off x="5264427" y="3450085"/>
            <a:ext cx="3319272" cy="36576"/>
          </a:xfrm>
          <a:prstGeom prst="rect">
            <a:avLst/>
          </a:prstGeom>
          <a:solidFill>
            <a:srgbClr val="C0392B"/>
          </a:solidFill>
          <a:ln>
            <a:solidFill>
              <a:srgbClr val="C0392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TextBox 96">
            <a:extLst>
              <a:ext uri="{FF2B5EF4-FFF2-40B4-BE49-F238E27FC236}">
                <a16:creationId xmlns:a16="http://schemas.microsoft.com/office/drawing/2014/main" id="{9D6E703B-A8B3-59A5-3505-F99810B11862}"/>
              </a:ext>
            </a:extLst>
          </p:cNvPr>
          <p:cNvSpPr txBox="1"/>
          <p:nvPr/>
        </p:nvSpPr>
        <p:spPr>
          <a:xfrm>
            <a:off x="5392442" y="3523237"/>
            <a:ext cx="3063239" cy="237744"/>
          </a:xfrm>
          <a:prstGeom prst="rect">
            <a:avLst/>
          </a:prstGeom>
          <a:noFill/>
        </p:spPr>
        <p:txBody>
          <a:bodyPr wrap="square">
            <a:spAutoFit/>
          </a:bodyPr>
          <a:lstStyle/>
          <a:p>
            <a:pPr algn="l"/>
            <a:r>
              <a:rPr sz="1100" b="1" i="0" dirty="0">
                <a:solidFill>
                  <a:srgbClr val="C0392B"/>
                </a:solidFill>
                <a:latin typeface="Calibri"/>
              </a:rPr>
              <a:t>Why --no-deps?</a:t>
            </a:r>
          </a:p>
        </p:txBody>
      </p:sp>
      <p:sp>
        <p:nvSpPr>
          <p:cNvPr id="98" name="TextBox 97">
            <a:extLst>
              <a:ext uri="{FF2B5EF4-FFF2-40B4-BE49-F238E27FC236}">
                <a16:creationId xmlns:a16="http://schemas.microsoft.com/office/drawing/2014/main" id="{9A263C22-A9A1-151B-B34C-47BF7E61BBB3}"/>
              </a:ext>
            </a:extLst>
          </p:cNvPr>
          <p:cNvSpPr txBox="1"/>
          <p:nvPr/>
        </p:nvSpPr>
        <p:spPr>
          <a:xfrm>
            <a:off x="5392442" y="3797557"/>
            <a:ext cx="3063239" cy="1097280"/>
          </a:xfrm>
          <a:prstGeom prst="rect">
            <a:avLst/>
          </a:prstGeom>
          <a:noFill/>
        </p:spPr>
        <p:txBody>
          <a:bodyPr wrap="square">
            <a:spAutoFit/>
          </a:bodyPr>
          <a:lstStyle/>
          <a:p>
            <a:pPr algn="l"/>
            <a:r>
              <a:rPr sz="950" b="0" i="0" dirty="0" err="1">
                <a:solidFill>
                  <a:srgbClr val="6D4C41"/>
                </a:solidFill>
                <a:latin typeface="Calibri"/>
              </a:rPr>
              <a:t>conda</a:t>
            </a:r>
            <a:r>
              <a:rPr sz="950" b="0" i="0" dirty="0">
                <a:solidFill>
                  <a:srgbClr val="6D4C41"/>
                </a:solidFill>
                <a:latin typeface="Calibri"/>
              </a:rPr>
              <a:t> builds GDAL, PROJ, </a:t>
            </a:r>
            <a:r>
              <a:rPr sz="950" b="0" i="0" dirty="0" err="1">
                <a:solidFill>
                  <a:srgbClr val="6D4C41"/>
                </a:solidFill>
                <a:latin typeface="Calibri"/>
              </a:rPr>
              <a:t>rasterio</a:t>
            </a:r>
            <a:r>
              <a:rPr sz="950" b="0" i="0" dirty="0">
                <a:solidFill>
                  <a:srgbClr val="6D4C41"/>
                </a:solidFill>
                <a:latin typeface="Calibri"/>
              </a:rPr>
              <a:t>, and </a:t>
            </a:r>
            <a:r>
              <a:rPr sz="950" b="0" i="0" dirty="0" err="1">
                <a:solidFill>
                  <a:srgbClr val="6D4C41"/>
                </a:solidFill>
                <a:latin typeface="Calibri"/>
              </a:rPr>
              <a:t>rioxarray</a:t>
            </a:r>
            <a:r>
              <a:rPr sz="950" b="0" i="0" dirty="0">
                <a:solidFill>
                  <a:srgbClr val="6D4C41"/>
                </a:solidFill>
                <a:latin typeface="Calibri"/>
              </a:rPr>
              <a:t> against shared C libraries. If pip re-resolves dependencies it overwrites those builds with </a:t>
            </a:r>
            <a:r>
              <a:rPr sz="950" b="0" i="0" dirty="0" err="1">
                <a:solidFill>
                  <a:srgbClr val="6D4C41"/>
                </a:solidFill>
                <a:latin typeface="Calibri"/>
              </a:rPr>
              <a:t>PyPI</a:t>
            </a:r>
            <a:r>
              <a:rPr sz="950" b="0" i="0" dirty="0">
                <a:solidFill>
                  <a:srgbClr val="6D4C41"/>
                </a:solidFill>
                <a:latin typeface="Calibri"/>
              </a:rPr>
              <a:t> wheels that carry their own GDAL — and the two versions conflict at import time. --no-deps tells pip to install only </a:t>
            </a:r>
            <a:r>
              <a:rPr sz="950" b="0" i="0" dirty="0" err="1">
                <a:solidFill>
                  <a:srgbClr val="6D4C41"/>
                </a:solidFill>
                <a:latin typeface="Calibri"/>
              </a:rPr>
              <a:t>fb_tools</a:t>
            </a:r>
            <a:r>
              <a:rPr sz="950" b="0" i="0" dirty="0">
                <a:solidFill>
                  <a:srgbClr val="6D4C41"/>
                </a:solidFill>
                <a:latin typeface="Calibri"/>
              </a:rPr>
              <a:t> itself, leaving the geospatial stack untouched.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65760" y="201168"/>
            <a:ext cx="8412480" cy="492443"/>
          </a:xfrm>
          <a:prstGeom prst="rect">
            <a:avLst/>
          </a:prstGeom>
          <a:noFill/>
        </p:spPr>
        <p:txBody>
          <a:bodyPr wrap="square">
            <a:spAutoFit/>
          </a:bodyPr>
          <a:lstStyle/>
          <a:p>
            <a:pPr algn="l"/>
            <a:r>
              <a:rPr sz="2600" b="1" i="0" dirty="0">
                <a:solidFill>
                  <a:srgbClr val="1A1A2E"/>
                </a:solidFill>
                <a:latin typeface="Calibri"/>
              </a:rPr>
              <a:t>Roadmap — Not Yet </a:t>
            </a:r>
            <a:r>
              <a:rPr lang="en-US" sz="2600" b="1" i="0" dirty="0">
                <a:solidFill>
                  <a:srgbClr val="1A1A2E"/>
                </a:solidFill>
                <a:latin typeface="Calibri"/>
              </a:rPr>
              <a:t>Fully </a:t>
            </a:r>
            <a:r>
              <a:rPr sz="2600" b="1" i="0" dirty="0">
                <a:solidFill>
                  <a:srgbClr val="1A1A2E"/>
                </a:solidFill>
                <a:latin typeface="Calibri"/>
              </a:rPr>
              <a:t>Implemented</a:t>
            </a:r>
          </a:p>
        </p:txBody>
      </p:sp>
      <p:sp>
        <p:nvSpPr>
          <p:cNvPr id="3" name="Rectangle 2"/>
          <p:cNvSpPr/>
          <p:nvPr/>
        </p:nvSpPr>
        <p:spPr>
          <a:xfrm>
            <a:off x="292608" y="960120"/>
            <a:ext cx="8558784" cy="51196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411480" y="1087410"/>
            <a:ext cx="749808" cy="256032"/>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D4622A"/>
                </a:solidFill>
                <a:latin typeface="Calibri"/>
              </a:rPr>
              <a:t>High</a:t>
            </a:r>
          </a:p>
        </p:txBody>
      </p:sp>
      <p:sp>
        <p:nvSpPr>
          <p:cNvPr id="5" name="TextBox 4"/>
          <p:cNvSpPr txBox="1"/>
          <p:nvPr/>
        </p:nvSpPr>
        <p:spPr>
          <a:xfrm>
            <a:off x="1280160" y="960120"/>
            <a:ext cx="7406640" cy="292388"/>
          </a:xfrm>
          <a:prstGeom prst="rect">
            <a:avLst/>
          </a:prstGeom>
          <a:noFill/>
        </p:spPr>
        <p:txBody>
          <a:bodyPr wrap="square">
            <a:spAutoFit/>
          </a:bodyPr>
          <a:lstStyle/>
          <a:p>
            <a:pPr algn="l"/>
            <a:r>
              <a:rPr sz="1300" b="1" i="0" dirty="0">
                <a:solidFill>
                  <a:srgbClr val="1A1A2E"/>
                </a:solidFill>
                <a:latin typeface="Calibri"/>
              </a:rPr>
              <a:t>Cell2Fire </a:t>
            </a:r>
            <a:r>
              <a:rPr lang="en-US" sz="1300" b="1" i="0" dirty="0">
                <a:solidFill>
                  <a:srgbClr val="1A1A2E"/>
                </a:solidFill>
                <a:latin typeface="Calibri"/>
              </a:rPr>
              <a:t>w</a:t>
            </a:r>
            <a:r>
              <a:rPr sz="1300" b="1" i="0" dirty="0">
                <a:solidFill>
                  <a:srgbClr val="1A1A2E"/>
                </a:solidFill>
                <a:latin typeface="Calibri"/>
              </a:rPr>
              <a:t>rapper</a:t>
            </a:r>
          </a:p>
        </p:txBody>
      </p:sp>
      <p:sp>
        <p:nvSpPr>
          <p:cNvPr id="6" name="TextBox 5"/>
          <p:cNvSpPr txBox="1"/>
          <p:nvPr/>
        </p:nvSpPr>
        <p:spPr>
          <a:xfrm>
            <a:off x="1280160" y="1188720"/>
            <a:ext cx="7406640" cy="256032"/>
          </a:xfrm>
          <a:prstGeom prst="rect">
            <a:avLst/>
          </a:prstGeom>
          <a:noFill/>
        </p:spPr>
        <p:txBody>
          <a:bodyPr wrap="square">
            <a:spAutoFit/>
          </a:bodyPr>
          <a:lstStyle/>
          <a:p>
            <a:pPr algn="l"/>
            <a:r>
              <a:rPr sz="1000" b="0" i="0" dirty="0">
                <a:solidFill>
                  <a:srgbClr val="546E7A"/>
                </a:solidFill>
                <a:latin typeface="Calibri"/>
              </a:rPr>
              <a:t>cell2fire.py stub + spread/</a:t>
            </a:r>
            <a:r>
              <a:rPr sz="1000" b="0" i="0" dirty="0" err="1">
                <a:solidFill>
                  <a:srgbClr val="546E7A"/>
                </a:solidFill>
                <a:latin typeface="Calibri"/>
              </a:rPr>
              <a:t>convert.py</a:t>
            </a:r>
            <a:r>
              <a:rPr sz="1000" b="0" i="0" dirty="0">
                <a:solidFill>
                  <a:srgbClr val="546E7A"/>
                </a:solidFill>
                <a:latin typeface="Calibri"/>
              </a:rPr>
              <a:t> — alternative fire spread engine</a:t>
            </a:r>
          </a:p>
        </p:txBody>
      </p:sp>
      <p:sp>
        <p:nvSpPr>
          <p:cNvPr id="24" name="Rectangle 23">
            <a:extLst>
              <a:ext uri="{FF2B5EF4-FFF2-40B4-BE49-F238E27FC236}">
                <a16:creationId xmlns:a16="http://schemas.microsoft.com/office/drawing/2014/main" id="{1AEE4D93-0C54-8979-5E0C-014B1D35003E}"/>
              </a:ext>
            </a:extLst>
          </p:cNvPr>
          <p:cNvSpPr/>
          <p:nvPr/>
        </p:nvSpPr>
        <p:spPr>
          <a:xfrm>
            <a:off x="292608" y="1567761"/>
            <a:ext cx="8558784" cy="51196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a:extLst>
              <a:ext uri="{FF2B5EF4-FFF2-40B4-BE49-F238E27FC236}">
                <a16:creationId xmlns:a16="http://schemas.microsoft.com/office/drawing/2014/main" id="{E8022C51-16A1-2588-52C5-618A831D1F14}"/>
              </a:ext>
            </a:extLst>
          </p:cNvPr>
          <p:cNvSpPr txBox="1"/>
          <p:nvPr/>
        </p:nvSpPr>
        <p:spPr>
          <a:xfrm>
            <a:off x="1280160" y="1567761"/>
            <a:ext cx="7406640" cy="292388"/>
          </a:xfrm>
          <a:prstGeom prst="rect">
            <a:avLst/>
          </a:prstGeom>
          <a:noFill/>
        </p:spPr>
        <p:txBody>
          <a:bodyPr wrap="square">
            <a:spAutoFit/>
          </a:bodyPr>
          <a:lstStyle/>
          <a:p>
            <a:pPr algn="l"/>
            <a:r>
              <a:rPr lang="en-US" sz="1300" b="1" i="0" dirty="0">
                <a:solidFill>
                  <a:srgbClr val="1A1A2E"/>
                </a:solidFill>
                <a:latin typeface="Calibri"/>
              </a:rPr>
              <a:t>Ember cast and probabilistic </a:t>
            </a:r>
            <a:r>
              <a:rPr lang="en-US" sz="1300" b="1" i="0" dirty="0" err="1">
                <a:solidFill>
                  <a:srgbClr val="1A1A2E"/>
                </a:solidFill>
                <a:latin typeface="Calibri"/>
              </a:rPr>
              <a:t>flowpaths</a:t>
            </a:r>
            <a:endParaRPr sz="1300" b="1" i="0" dirty="0">
              <a:solidFill>
                <a:srgbClr val="1A1A2E"/>
              </a:solidFill>
              <a:latin typeface="Calibri"/>
            </a:endParaRPr>
          </a:p>
        </p:txBody>
      </p:sp>
      <p:sp>
        <p:nvSpPr>
          <p:cNvPr id="26" name="TextBox 25">
            <a:extLst>
              <a:ext uri="{FF2B5EF4-FFF2-40B4-BE49-F238E27FC236}">
                <a16:creationId xmlns:a16="http://schemas.microsoft.com/office/drawing/2014/main" id="{CB85F7A1-B19E-5444-B344-75377DA1A692}"/>
              </a:ext>
            </a:extLst>
          </p:cNvPr>
          <p:cNvSpPr txBox="1"/>
          <p:nvPr/>
        </p:nvSpPr>
        <p:spPr>
          <a:xfrm>
            <a:off x="1303020" y="1814539"/>
            <a:ext cx="7406640" cy="256032"/>
          </a:xfrm>
          <a:prstGeom prst="rect">
            <a:avLst/>
          </a:prstGeom>
          <a:noFill/>
        </p:spPr>
        <p:txBody>
          <a:bodyPr wrap="square">
            <a:spAutoFit/>
          </a:bodyPr>
          <a:lstStyle/>
          <a:p>
            <a:pPr algn="l"/>
            <a:r>
              <a:rPr lang="en-US" sz="1000" b="0" i="0" dirty="0">
                <a:solidFill>
                  <a:srgbClr val="546E7A"/>
                </a:solidFill>
                <a:latin typeface="Calibri"/>
              </a:rPr>
              <a:t>MTT-based probabilistic</a:t>
            </a:r>
            <a:endParaRPr sz="1000" b="0" i="0" dirty="0">
              <a:solidFill>
                <a:srgbClr val="546E7A"/>
              </a:solidFill>
              <a:latin typeface="Calibri"/>
            </a:endParaRPr>
          </a:p>
        </p:txBody>
      </p:sp>
      <p:sp>
        <p:nvSpPr>
          <p:cNvPr id="27" name="Rectangle 26">
            <a:extLst>
              <a:ext uri="{FF2B5EF4-FFF2-40B4-BE49-F238E27FC236}">
                <a16:creationId xmlns:a16="http://schemas.microsoft.com/office/drawing/2014/main" id="{4229A37B-52FC-9114-E3DF-3ADA8B67707A}"/>
              </a:ext>
            </a:extLst>
          </p:cNvPr>
          <p:cNvSpPr/>
          <p:nvPr/>
        </p:nvSpPr>
        <p:spPr>
          <a:xfrm>
            <a:off x="411480" y="1677746"/>
            <a:ext cx="749808" cy="256032"/>
          </a:xfrm>
          <a:prstGeom prst="rect">
            <a:avLst/>
          </a:prstGeom>
          <a:solidFill>
            <a:srgbClr val="FDE9D6"/>
          </a:solidFill>
          <a:ln>
            <a:solidFill>
              <a:srgbClr val="D4622A"/>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a:solidFill>
                  <a:srgbClr val="D4622A"/>
                </a:solidFill>
                <a:latin typeface="Calibri"/>
              </a:rPr>
              <a:t>High</a:t>
            </a:r>
          </a:p>
        </p:txBody>
      </p:sp>
      <p:sp>
        <p:nvSpPr>
          <p:cNvPr id="34" name="Rectangle 33">
            <a:extLst>
              <a:ext uri="{FF2B5EF4-FFF2-40B4-BE49-F238E27FC236}">
                <a16:creationId xmlns:a16="http://schemas.microsoft.com/office/drawing/2014/main" id="{82BC0EF9-8164-CDA8-4D2B-6DC3F4B6F26F}"/>
              </a:ext>
            </a:extLst>
          </p:cNvPr>
          <p:cNvSpPr/>
          <p:nvPr/>
        </p:nvSpPr>
        <p:spPr>
          <a:xfrm>
            <a:off x="269748" y="4002963"/>
            <a:ext cx="8558784" cy="51196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a:extLst>
              <a:ext uri="{FF2B5EF4-FFF2-40B4-BE49-F238E27FC236}">
                <a16:creationId xmlns:a16="http://schemas.microsoft.com/office/drawing/2014/main" id="{2FC1A4B9-BACC-A6A0-2B46-9A7D876EF19C}"/>
              </a:ext>
            </a:extLst>
          </p:cNvPr>
          <p:cNvSpPr txBox="1"/>
          <p:nvPr/>
        </p:nvSpPr>
        <p:spPr>
          <a:xfrm>
            <a:off x="1257300" y="4002963"/>
            <a:ext cx="7406640" cy="274320"/>
          </a:xfrm>
          <a:prstGeom prst="rect">
            <a:avLst/>
          </a:prstGeom>
          <a:noFill/>
        </p:spPr>
        <p:txBody>
          <a:bodyPr wrap="square">
            <a:spAutoFit/>
          </a:bodyPr>
          <a:lstStyle/>
          <a:p>
            <a:pPr algn="l"/>
            <a:r>
              <a:rPr sz="1300" b="1" i="0" dirty="0">
                <a:solidFill>
                  <a:srgbClr val="1A1A2E"/>
                </a:solidFill>
                <a:latin typeface="Calibri"/>
              </a:rPr>
              <a:t>Real-time ERC (GEE)</a:t>
            </a:r>
          </a:p>
        </p:txBody>
      </p:sp>
      <p:sp>
        <p:nvSpPr>
          <p:cNvPr id="36" name="TextBox 35">
            <a:extLst>
              <a:ext uri="{FF2B5EF4-FFF2-40B4-BE49-F238E27FC236}">
                <a16:creationId xmlns:a16="http://schemas.microsoft.com/office/drawing/2014/main" id="{969BE998-A21C-0E90-FBC1-ACB4510076DA}"/>
              </a:ext>
            </a:extLst>
          </p:cNvPr>
          <p:cNvSpPr txBox="1"/>
          <p:nvPr/>
        </p:nvSpPr>
        <p:spPr>
          <a:xfrm>
            <a:off x="1257300" y="4231563"/>
            <a:ext cx="7406640" cy="256032"/>
          </a:xfrm>
          <a:prstGeom prst="rect">
            <a:avLst/>
          </a:prstGeom>
          <a:noFill/>
        </p:spPr>
        <p:txBody>
          <a:bodyPr wrap="square">
            <a:spAutoFit/>
          </a:bodyPr>
          <a:lstStyle/>
          <a:p>
            <a:pPr algn="l"/>
            <a:r>
              <a:rPr sz="1000" b="0" i="0" dirty="0" err="1">
                <a:solidFill>
                  <a:srgbClr val="546E7A"/>
                </a:solidFill>
                <a:latin typeface="Calibri"/>
              </a:rPr>
              <a:t>fetch_current_erc_gee</a:t>
            </a:r>
            <a:r>
              <a:rPr sz="1000" b="0" i="0" dirty="0">
                <a:solidFill>
                  <a:srgbClr val="546E7A"/>
                </a:solidFill>
                <a:latin typeface="Calibri"/>
              </a:rPr>
              <a:t>() — operational </a:t>
            </a:r>
            <a:r>
              <a:rPr sz="1000" b="0" i="0" dirty="0" err="1">
                <a:solidFill>
                  <a:srgbClr val="546E7A"/>
                </a:solidFill>
                <a:latin typeface="Calibri"/>
              </a:rPr>
              <a:t>CurrentERCValues</a:t>
            </a:r>
            <a:r>
              <a:rPr sz="1000" b="0" i="0" dirty="0">
                <a:solidFill>
                  <a:srgbClr val="546E7A"/>
                </a:solidFill>
                <a:latin typeface="Calibri"/>
              </a:rPr>
              <a:t> for live runs</a:t>
            </a:r>
          </a:p>
        </p:txBody>
      </p:sp>
      <p:sp>
        <p:nvSpPr>
          <p:cNvPr id="37" name="Rectangle 36">
            <a:extLst>
              <a:ext uri="{FF2B5EF4-FFF2-40B4-BE49-F238E27FC236}">
                <a16:creationId xmlns:a16="http://schemas.microsoft.com/office/drawing/2014/main" id="{A28C7213-84AF-5412-2C43-3CE7D3D34DCD}"/>
              </a:ext>
            </a:extLst>
          </p:cNvPr>
          <p:cNvSpPr/>
          <p:nvPr/>
        </p:nvSpPr>
        <p:spPr>
          <a:xfrm>
            <a:off x="388620" y="4103547"/>
            <a:ext cx="749808" cy="256032"/>
          </a:xfrm>
          <a:prstGeom prst="rect">
            <a:avLst/>
          </a:prstGeom>
          <a:solidFill>
            <a:srgbClr val="ECEFF1"/>
          </a:solidFill>
          <a:ln>
            <a:solidFill>
              <a:srgbClr val="90A4A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dirty="0">
                <a:solidFill>
                  <a:srgbClr val="90A4AE"/>
                </a:solidFill>
                <a:latin typeface="Calibri"/>
              </a:rPr>
              <a:t>Low</a:t>
            </a:r>
          </a:p>
        </p:txBody>
      </p:sp>
      <p:sp>
        <p:nvSpPr>
          <p:cNvPr id="38" name="Rectangle 37">
            <a:extLst>
              <a:ext uri="{FF2B5EF4-FFF2-40B4-BE49-F238E27FC236}">
                <a16:creationId xmlns:a16="http://schemas.microsoft.com/office/drawing/2014/main" id="{69D59FE0-0157-7B8E-6C7A-A7B5D366F2B4}"/>
              </a:ext>
            </a:extLst>
          </p:cNvPr>
          <p:cNvSpPr/>
          <p:nvPr/>
        </p:nvSpPr>
        <p:spPr>
          <a:xfrm>
            <a:off x="269748" y="2170002"/>
            <a:ext cx="8558784" cy="51196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a:extLst>
              <a:ext uri="{FF2B5EF4-FFF2-40B4-BE49-F238E27FC236}">
                <a16:creationId xmlns:a16="http://schemas.microsoft.com/office/drawing/2014/main" id="{3ABA933C-C637-7B6C-494D-456FEE29DD23}"/>
              </a:ext>
            </a:extLst>
          </p:cNvPr>
          <p:cNvSpPr txBox="1"/>
          <p:nvPr/>
        </p:nvSpPr>
        <p:spPr>
          <a:xfrm>
            <a:off x="1280160" y="2152859"/>
            <a:ext cx="7406640" cy="292388"/>
          </a:xfrm>
          <a:prstGeom prst="rect">
            <a:avLst/>
          </a:prstGeom>
          <a:noFill/>
        </p:spPr>
        <p:txBody>
          <a:bodyPr wrap="square">
            <a:spAutoFit/>
          </a:bodyPr>
          <a:lstStyle/>
          <a:p>
            <a:pPr algn="l"/>
            <a:r>
              <a:rPr lang="en-US" sz="1300" b="1" i="0" dirty="0" err="1">
                <a:solidFill>
                  <a:srgbClr val="1A1A2E"/>
                </a:solidFill>
                <a:latin typeface="Calibri"/>
              </a:rPr>
              <a:t>QuicFire</a:t>
            </a:r>
            <a:r>
              <a:rPr lang="en-US" sz="1300" b="1" i="0" dirty="0">
                <a:solidFill>
                  <a:srgbClr val="1A1A2E"/>
                </a:solidFill>
                <a:latin typeface="Calibri"/>
              </a:rPr>
              <a:t> wrapper</a:t>
            </a:r>
            <a:endParaRPr sz="1300" b="1" i="0" dirty="0">
              <a:solidFill>
                <a:srgbClr val="1A1A2E"/>
              </a:solidFill>
              <a:latin typeface="Calibri"/>
            </a:endParaRPr>
          </a:p>
        </p:txBody>
      </p:sp>
      <p:sp>
        <p:nvSpPr>
          <p:cNvPr id="41" name="TextBox 40">
            <a:extLst>
              <a:ext uri="{FF2B5EF4-FFF2-40B4-BE49-F238E27FC236}">
                <a16:creationId xmlns:a16="http://schemas.microsoft.com/office/drawing/2014/main" id="{4B397038-CD62-5561-2287-128DA10C5186}"/>
              </a:ext>
            </a:extLst>
          </p:cNvPr>
          <p:cNvSpPr txBox="1"/>
          <p:nvPr/>
        </p:nvSpPr>
        <p:spPr>
          <a:xfrm>
            <a:off x="1257300" y="2408208"/>
            <a:ext cx="7406640" cy="256032"/>
          </a:xfrm>
          <a:prstGeom prst="rect">
            <a:avLst/>
          </a:prstGeom>
          <a:noFill/>
        </p:spPr>
        <p:txBody>
          <a:bodyPr wrap="square">
            <a:spAutoFit/>
          </a:bodyPr>
          <a:lstStyle/>
          <a:p>
            <a:pPr algn="l"/>
            <a:r>
              <a:rPr lang="en-US" sz="1000" b="0" i="0" dirty="0">
                <a:solidFill>
                  <a:srgbClr val="546E7A"/>
                </a:solidFill>
                <a:latin typeface="Calibri"/>
              </a:rPr>
              <a:t>Python CLI integration</a:t>
            </a:r>
            <a:endParaRPr sz="1000" b="0" i="0" dirty="0">
              <a:solidFill>
                <a:srgbClr val="546E7A"/>
              </a:solidFill>
              <a:latin typeface="Calibri"/>
            </a:endParaRPr>
          </a:p>
        </p:txBody>
      </p:sp>
      <p:sp>
        <p:nvSpPr>
          <p:cNvPr id="42" name="Rectangle 41">
            <a:extLst>
              <a:ext uri="{FF2B5EF4-FFF2-40B4-BE49-F238E27FC236}">
                <a16:creationId xmlns:a16="http://schemas.microsoft.com/office/drawing/2014/main" id="{652CCF3A-194E-6D97-620D-95A8481B12B8}"/>
              </a:ext>
            </a:extLst>
          </p:cNvPr>
          <p:cNvSpPr/>
          <p:nvPr/>
        </p:nvSpPr>
        <p:spPr>
          <a:xfrm>
            <a:off x="269748" y="2798011"/>
            <a:ext cx="8558784" cy="51196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ectangle 42">
            <a:extLst>
              <a:ext uri="{FF2B5EF4-FFF2-40B4-BE49-F238E27FC236}">
                <a16:creationId xmlns:a16="http://schemas.microsoft.com/office/drawing/2014/main" id="{19155202-C13F-0D8D-330E-EEA5F623E4DE}"/>
              </a:ext>
            </a:extLst>
          </p:cNvPr>
          <p:cNvSpPr/>
          <p:nvPr/>
        </p:nvSpPr>
        <p:spPr>
          <a:xfrm>
            <a:off x="388620" y="2893690"/>
            <a:ext cx="749808" cy="256032"/>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dirty="0">
                <a:solidFill>
                  <a:srgbClr val="1B6CA8"/>
                </a:solidFill>
                <a:latin typeface="Calibri"/>
              </a:rPr>
              <a:t>Medium</a:t>
            </a:r>
          </a:p>
        </p:txBody>
      </p:sp>
      <p:sp>
        <p:nvSpPr>
          <p:cNvPr id="44" name="TextBox 43">
            <a:extLst>
              <a:ext uri="{FF2B5EF4-FFF2-40B4-BE49-F238E27FC236}">
                <a16:creationId xmlns:a16="http://schemas.microsoft.com/office/drawing/2014/main" id="{C8726BC5-F6C5-FEEB-172A-CF59DAB277AF}"/>
              </a:ext>
            </a:extLst>
          </p:cNvPr>
          <p:cNvSpPr txBox="1"/>
          <p:nvPr/>
        </p:nvSpPr>
        <p:spPr>
          <a:xfrm>
            <a:off x="1257300" y="2782548"/>
            <a:ext cx="7406640" cy="292388"/>
          </a:xfrm>
          <a:prstGeom prst="rect">
            <a:avLst/>
          </a:prstGeom>
          <a:noFill/>
        </p:spPr>
        <p:txBody>
          <a:bodyPr wrap="square">
            <a:spAutoFit/>
          </a:bodyPr>
          <a:lstStyle/>
          <a:p>
            <a:pPr algn="l"/>
            <a:r>
              <a:rPr sz="1300" b="1" i="0" dirty="0">
                <a:solidFill>
                  <a:srgbClr val="1A1A2E"/>
                </a:solidFill>
                <a:latin typeface="Calibri"/>
              </a:rPr>
              <a:t>Integration</a:t>
            </a:r>
            <a:r>
              <a:rPr lang="en-US" sz="1300" b="1" i="0" dirty="0">
                <a:solidFill>
                  <a:srgbClr val="1A1A2E"/>
                </a:solidFill>
                <a:latin typeface="Calibri"/>
              </a:rPr>
              <a:t>/Sensitivity</a:t>
            </a:r>
            <a:r>
              <a:rPr sz="1300" b="1" i="0" dirty="0">
                <a:solidFill>
                  <a:srgbClr val="1A1A2E"/>
                </a:solidFill>
                <a:latin typeface="Calibri"/>
              </a:rPr>
              <a:t> Tests</a:t>
            </a:r>
          </a:p>
        </p:txBody>
      </p:sp>
      <p:sp>
        <p:nvSpPr>
          <p:cNvPr id="45" name="TextBox 44">
            <a:extLst>
              <a:ext uri="{FF2B5EF4-FFF2-40B4-BE49-F238E27FC236}">
                <a16:creationId xmlns:a16="http://schemas.microsoft.com/office/drawing/2014/main" id="{8C949A6C-A12F-BFED-AEB4-96917DD91BBC}"/>
              </a:ext>
            </a:extLst>
          </p:cNvPr>
          <p:cNvSpPr txBox="1"/>
          <p:nvPr/>
        </p:nvSpPr>
        <p:spPr>
          <a:xfrm>
            <a:off x="1257300" y="3028023"/>
            <a:ext cx="7406640" cy="256032"/>
          </a:xfrm>
          <a:prstGeom prst="rect">
            <a:avLst/>
          </a:prstGeom>
          <a:noFill/>
        </p:spPr>
        <p:txBody>
          <a:bodyPr wrap="square">
            <a:spAutoFit/>
          </a:bodyPr>
          <a:lstStyle/>
          <a:p>
            <a:pPr algn="l"/>
            <a:r>
              <a:rPr sz="1000" b="0" i="0" dirty="0">
                <a:solidFill>
                  <a:srgbClr val="546E7A"/>
                </a:solidFill>
                <a:latin typeface="Calibri"/>
              </a:rPr>
              <a:t>End-to-end </a:t>
            </a:r>
            <a:r>
              <a:rPr lang="en-US" sz="1000" b="0" i="0" dirty="0" err="1">
                <a:solidFill>
                  <a:srgbClr val="546E7A"/>
                </a:solidFill>
                <a:latin typeface="Calibri"/>
              </a:rPr>
              <a:t>Fsim</a:t>
            </a:r>
            <a:r>
              <a:rPr lang="en-US" sz="1000" b="0" i="0" dirty="0">
                <a:solidFill>
                  <a:srgbClr val="546E7A"/>
                </a:solidFill>
                <a:latin typeface="Calibri"/>
              </a:rPr>
              <a:t>, </a:t>
            </a:r>
            <a:r>
              <a:rPr sz="1000" b="0" i="0" dirty="0">
                <a:solidFill>
                  <a:srgbClr val="546E7A"/>
                </a:solidFill>
                <a:latin typeface="Calibri"/>
              </a:rPr>
              <a:t>MTT and </a:t>
            </a:r>
            <a:r>
              <a:rPr sz="1000" b="0" i="0" dirty="0" err="1">
                <a:solidFill>
                  <a:srgbClr val="546E7A"/>
                </a:solidFill>
                <a:latin typeface="Calibri"/>
              </a:rPr>
              <a:t>FSPro</a:t>
            </a:r>
            <a:r>
              <a:rPr sz="1000" b="0" i="0" dirty="0">
                <a:solidFill>
                  <a:srgbClr val="546E7A"/>
                </a:solidFill>
                <a:latin typeface="Calibri"/>
              </a:rPr>
              <a:t> tests vs. known outputs</a:t>
            </a:r>
          </a:p>
        </p:txBody>
      </p:sp>
      <p:sp>
        <p:nvSpPr>
          <p:cNvPr id="46" name="Rectangle 45">
            <a:extLst>
              <a:ext uri="{FF2B5EF4-FFF2-40B4-BE49-F238E27FC236}">
                <a16:creationId xmlns:a16="http://schemas.microsoft.com/office/drawing/2014/main" id="{F63C5F98-9C06-5C3A-8BEA-663BCAC9D317}"/>
              </a:ext>
            </a:extLst>
          </p:cNvPr>
          <p:cNvSpPr/>
          <p:nvPr/>
        </p:nvSpPr>
        <p:spPr>
          <a:xfrm>
            <a:off x="388620" y="2270586"/>
            <a:ext cx="749808" cy="256032"/>
          </a:xfrm>
          <a:prstGeom prst="rect">
            <a:avLst/>
          </a:prstGeom>
          <a:solidFill>
            <a:srgbClr val="D6E8F7"/>
          </a:solidFill>
          <a:ln>
            <a:solidFill>
              <a:srgbClr val="1B6CA8"/>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dirty="0">
                <a:solidFill>
                  <a:srgbClr val="1B6CA8"/>
                </a:solidFill>
                <a:latin typeface="Calibri"/>
              </a:rPr>
              <a:t>Medium</a:t>
            </a:r>
          </a:p>
        </p:txBody>
      </p:sp>
      <p:sp>
        <p:nvSpPr>
          <p:cNvPr id="51" name="Rectangle 50">
            <a:extLst>
              <a:ext uri="{FF2B5EF4-FFF2-40B4-BE49-F238E27FC236}">
                <a16:creationId xmlns:a16="http://schemas.microsoft.com/office/drawing/2014/main" id="{45C8441C-2A86-E849-BFC9-CABECD3412E4}"/>
              </a:ext>
            </a:extLst>
          </p:cNvPr>
          <p:cNvSpPr/>
          <p:nvPr/>
        </p:nvSpPr>
        <p:spPr>
          <a:xfrm>
            <a:off x="269748" y="3400487"/>
            <a:ext cx="8558784" cy="511962"/>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a:extLst>
              <a:ext uri="{FF2B5EF4-FFF2-40B4-BE49-F238E27FC236}">
                <a16:creationId xmlns:a16="http://schemas.microsoft.com/office/drawing/2014/main" id="{F7099B75-B9DF-C3A9-C059-AA91D16672FF}"/>
              </a:ext>
            </a:extLst>
          </p:cNvPr>
          <p:cNvSpPr txBox="1"/>
          <p:nvPr/>
        </p:nvSpPr>
        <p:spPr>
          <a:xfrm>
            <a:off x="1257300" y="3400487"/>
            <a:ext cx="7406640" cy="292388"/>
          </a:xfrm>
          <a:prstGeom prst="rect">
            <a:avLst/>
          </a:prstGeom>
          <a:noFill/>
        </p:spPr>
        <p:txBody>
          <a:bodyPr wrap="square">
            <a:spAutoFit/>
          </a:bodyPr>
          <a:lstStyle/>
          <a:p>
            <a:pPr algn="l"/>
            <a:r>
              <a:rPr lang="en-US" sz="1300" b="1" i="0" dirty="0">
                <a:solidFill>
                  <a:srgbClr val="1A1A2E"/>
                </a:solidFill>
                <a:latin typeface="Calibri"/>
              </a:rPr>
              <a:t>Integration with </a:t>
            </a:r>
            <a:r>
              <a:rPr lang="en-US" sz="1300" b="1" i="1" dirty="0" err="1">
                <a:solidFill>
                  <a:srgbClr val="1A1A2E"/>
                </a:solidFill>
                <a:latin typeface="Calibri"/>
              </a:rPr>
              <a:t>rastertools</a:t>
            </a:r>
            <a:endParaRPr sz="1300" b="1" i="1" dirty="0">
              <a:solidFill>
                <a:srgbClr val="1A1A2E"/>
              </a:solidFill>
              <a:latin typeface="Calibri"/>
            </a:endParaRPr>
          </a:p>
        </p:txBody>
      </p:sp>
      <p:sp>
        <p:nvSpPr>
          <p:cNvPr id="53" name="TextBox 52">
            <a:extLst>
              <a:ext uri="{FF2B5EF4-FFF2-40B4-BE49-F238E27FC236}">
                <a16:creationId xmlns:a16="http://schemas.microsoft.com/office/drawing/2014/main" id="{C98AC97A-4CB3-1554-C27E-2A04D109E6CE}"/>
              </a:ext>
            </a:extLst>
          </p:cNvPr>
          <p:cNvSpPr txBox="1"/>
          <p:nvPr/>
        </p:nvSpPr>
        <p:spPr>
          <a:xfrm>
            <a:off x="1257300" y="3629087"/>
            <a:ext cx="7406640" cy="256032"/>
          </a:xfrm>
          <a:prstGeom prst="rect">
            <a:avLst/>
          </a:prstGeom>
          <a:noFill/>
        </p:spPr>
        <p:txBody>
          <a:bodyPr wrap="square">
            <a:spAutoFit/>
          </a:bodyPr>
          <a:lstStyle/>
          <a:p>
            <a:pPr algn="l"/>
            <a:r>
              <a:rPr lang="en-US" sz="1000" b="0" i="0" dirty="0">
                <a:solidFill>
                  <a:srgbClr val="546E7A"/>
                </a:solidFill>
                <a:latin typeface="Calibri"/>
              </a:rPr>
              <a:t>USFS </a:t>
            </a:r>
            <a:r>
              <a:rPr lang="en-US" sz="1000" b="0" i="0" dirty="0" err="1">
                <a:solidFill>
                  <a:srgbClr val="546E7A"/>
                </a:solidFill>
                <a:latin typeface="Calibri"/>
              </a:rPr>
              <a:t>rastertools</a:t>
            </a:r>
            <a:r>
              <a:rPr lang="en-US" sz="1000" b="0" i="0" dirty="0">
                <a:solidFill>
                  <a:srgbClr val="546E7A"/>
                </a:solidFill>
                <a:latin typeface="Calibri"/>
              </a:rPr>
              <a:t> (John Hogland) can improve on some of the workflows</a:t>
            </a:r>
            <a:endParaRPr sz="1000" b="0" i="0" dirty="0">
              <a:solidFill>
                <a:srgbClr val="546E7A"/>
              </a:solidFill>
              <a:latin typeface="Calibri"/>
            </a:endParaRPr>
          </a:p>
        </p:txBody>
      </p:sp>
      <p:sp>
        <p:nvSpPr>
          <p:cNvPr id="54" name="Rectangle 53">
            <a:extLst>
              <a:ext uri="{FF2B5EF4-FFF2-40B4-BE49-F238E27FC236}">
                <a16:creationId xmlns:a16="http://schemas.microsoft.com/office/drawing/2014/main" id="{C4820672-7DEE-4321-7D23-C8DD48F2766E}"/>
              </a:ext>
            </a:extLst>
          </p:cNvPr>
          <p:cNvSpPr/>
          <p:nvPr/>
        </p:nvSpPr>
        <p:spPr>
          <a:xfrm>
            <a:off x="388620" y="3501071"/>
            <a:ext cx="749808" cy="256032"/>
          </a:xfrm>
          <a:prstGeom prst="rect">
            <a:avLst/>
          </a:prstGeom>
          <a:solidFill>
            <a:srgbClr val="ECEFF1"/>
          </a:solidFill>
          <a:ln>
            <a:solidFill>
              <a:srgbClr val="90A4AE"/>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900" b="1" i="0" dirty="0">
                <a:solidFill>
                  <a:srgbClr val="90A4AE"/>
                </a:solidFill>
                <a:latin typeface="Calibri"/>
              </a:rPr>
              <a:t>Low</a:t>
            </a:r>
          </a:p>
        </p:txBody>
      </p:sp>
      <p:sp>
        <p:nvSpPr>
          <p:cNvPr id="55" name="Rectangle 54">
            <a:extLst>
              <a:ext uri="{FF2B5EF4-FFF2-40B4-BE49-F238E27FC236}">
                <a16:creationId xmlns:a16="http://schemas.microsoft.com/office/drawing/2014/main" id="{2CBEDD02-FE2F-7B46-D96B-18D7DDD507B4}"/>
              </a:ext>
            </a:extLst>
          </p:cNvPr>
          <p:cNvSpPr/>
          <p:nvPr/>
        </p:nvSpPr>
        <p:spPr>
          <a:xfrm>
            <a:off x="269748" y="4615509"/>
            <a:ext cx="8558784" cy="420471"/>
          </a:xfrm>
          <a:prstGeom prst="rect">
            <a:avLst/>
          </a:prstGeom>
          <a:solidFill>
            <a:srgbClr val="F5F7F8"/>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a:extLst>
              <a:ext uri="{FF2B5EF4-FFF2-40B4-BE49-F238E27FC236}">
                <a16:creationId xmlns:a16="http://schemas.microsoft.com/office/drawing/2014/main" id="{BD368BFA-769C-95E9-DA44-D0162D423AA3}"/>
              </a:ext>
            </a:extLst>
          </p:cNvPr>
          <p:cNvSpPr txBox="1"/>
          <p:nvPr/>
        </p:nvSpPr>
        <p:spPr>
          <a:xfrm>
            <a:off x="374031" y="4679550"/>
            <a:ext cx="7406640" cy="292388"/>
          </a:xfrm>
          <a:prstGeom prst="rect">
            <a:avLst/>
          </a:prstGeom>
          <a:noFill/>
        </p:spPr>
        <p:txBody>
          <a:bodyPr wrap="square">
            <a:spAutoFit/>
          </a:bodyPr>
          <a:lstStyle/>
          <a:p>
            <a:pPr algn="l"/>
            <a:r>
              <a:rPr lang="en-US" sz="1300" b="1" i="0" dirty="0">
                <a:solidFill>
                  <a:srgbClr val="1A1A2E"/>
                </a:solidFill>
                <a:latin typeface="Calibri"/>
              </a:rPr>
              <a:t>Many others … ?</a:t>
            </a:r>
            <a:endParaRPr sz="1300" b="1" i="0" dirty="0">
              <a:solidFill>
                <a:srgbClr val="1A1A2E"/>
              </a:solidFill>
              <a:latin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9144000" cy="5143500"/>
          </a:xfrm>
          <a:prstGeom prst="rect">
            <a:avLst/>
          </a:prstGeom>
          <a:solidFill>
            <a:srgbClr val="1B3A4B"/>
          </a:solidFill>
          <a:ln>
            <a:solidFill>
              <a:srgbClr val="1B3A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6858000" y="-457200"/>
            <a:ext cx="3657600" cy="3657600"/>
          </a:xfrm>
          <a:prstGeom prst="ellipse">
            <a:avLst/>
          </a:prstGeom>
          <a:solidFill>
            <a:srgbClr val="224A5E"/>
          </a:solidFill>
          <a:ln>
            <a:solidFill>
              <a:srgbClr val="224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5052060"/>
            <a:ext cx="9144000" cy="91440"/>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457200" y="256032"/>
            <a:ext cx="8229600" cy="530352"/>
          </a:xfrm>
          <a:prstGeom prst="rect">
            <a:avLst/>
          </a:prstGeom>
          <a:noFill/>
        </p:spPr>
        <p:txBody>
          <a:bodyPr wrap="square">
            <a:spAutoFit/>
          </a:bodyPr>
          <a:lstStyle/>
          <a:p>
            <a:pPr algn="l"/>
            <a:r>
              <a:rPr sz="3000" b="1" i="0">
                <a:solidFill>
                  <a:srgbClr val="ECF0F1"/>
                </a:solidFill>
                <a:latin typeface="Calibri"/>
              </a:rPr>
              <a:t>Summary &amp; Next Steps</a:t>
            </a:r>
          </a:p>
        </p:txBody>
      </p:sp>
      <p:sp>
        <p:nvSpPr>
          <p:cNvPr id="6" name="Rectangle 5"/>
          <p:cNvSpPr/>
          <p:nvPr/>
        </p:nvSpPr>
        <p:spPr>
          <a:xfrm>
            <a:off x="457200" y="877824"/>
            <a:ext cx="3474720" cy="36576"/>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57200" y="1005840"/>
            <a:ext cx="4114800" cy="230832"/>
          </a:xfrm>
          <a:prstGeom prst="rect">
            <a:avLst/>
          </a:prstGeom>
          <a:noFill/>
        </p:spPr>
        <p:txBody>
          <a:bodyPr wrap="square">
            <a:spAutoFit/>
          </a:bodyPr>
          <a:lstStyle/>
          <a:p>
            <a:pPr algn="l"/>
            <a:r>
              <a:rPr sz="900" b="1" i="0" dirty="0">
                <a:solidFill>
                  <a:srgbClr val="52B788"/>
                </a:solidFill>
                <a:latin typeface="Calibri"/>
              </a:rPr>
              <a:t>CURRENT CAPABILITIES</a:t>
            </a:r>
            <a:r>
              <a:rPr lang="en-US" sz="900" b="1" i="0" dirty="0">
                <a:solidFill>
                  <a:srgbClr val="52B788"/>
                </a:solidFill>
                <a:latin typeface="Calibri"/>
              </a:rPr>
              <a:t> DEMONSTRATED</a:t>
            </a:r>
            <a:endParaRPr sz="900" b="1" i="0" dirty="0">
              <a:solidFill>
                <a:srgbClr val="52B788"/>
              </a:solidFill>
              <a:latin typeface="Calibri"/>
            </a:endParaRPr>
          </a:p>
        </p:txBody>
      </p:sp>
      <p:sp>
        <p:nvSpPr>
          <p:cNvPr id="8" name="TextBox 7"/>
          <p:cNvSpPr txBox="1"/>
          <p:nvPr/>
        </p:nvSpPr>
        <p:spPr>
          <a:xfrm>
            <a:off x="457200" y="1878699"/>
            <a:ext cx="4114800" cy="276999"/>
          </a:xfrm>
          <a:prstGeom prst="rect">
            <a:avLst/>
          </a:prstGeom>
          <a:noFill/>
        </p:spPr>
        <p:txBody>
          <a:bodyPr wrap="square">
            <a:spAutoFit/>
          </a:bodyPr>
          <a:lstStyle/>
          <a:p>
            <a:pPr algn="l"/>
            <a:r>
              <a:rPr sz="1200" b="0" i="0" dirty="0">
                <a:solidFill>
                  <a:srgbClr val="ECF0F1"/>
                </a:solidFill>
                <a:latin typeface="Calibri"/>
              </a:rPr>
              <a:t>• End-to-end FlamMap </a:t>
            </a:r>
            <a:r>
              <a:rPr lang="en-US" sz="1200" dirty="0">
                <a:solidFill>
                  <a:srgbClr val="ECF0F1"/>
                </a:solidFill>
                <a:latin typeface="Calibri"/>
              </a:rPr>
              <a:t>batch runs</a:t>
            </a:r>
            <a:endParaRPr sz="1200" b="0" i="0" dirty="0">
              <a:solidFill>
                <a:srgbClr val="ECF0F1"/>
              </a:solidFill>
              <a:latin typeface="Calibri"/>
            </a:endParaRPr>
          </a:p>
        </p:txBody>
      </p:sp>
      <p:sp>
        <p:nvSpPr>
          <p:cNvPr id="9" name="TextBox 8"/>
          <p:cNvSpPr txBox="1"/>
          <p:nvPr/>
        </p:nvSpPr>
        <p:spPr>
          <a:xfrm>
            <a:off x="457200" y="2210276"/>
            <a:ext cx="4114800" cy="420624"/>
          </a:xfrm>
          <a:prstGeom prst="rect">
            <a:avLst/>
          </a:prstGeom>
          <a:noFill/>
        </p:spPr>
        <p:txBody>
          <a:bodyPr wrap="square">
            <a:spAutoFit/>
          </a:bodyPr>
          <a:lstStyle/>
          <a:p>
            <a:pPr algn="l"/>
            <a:r>
              <a:rPr sz="1200" b="0" i="0" dirty="0">
                <a:solidFill>
                  <a:srgbClr val="ECF0F1"/>
                </a:solidFill>
                <a:latin typeface="Calibri"/>
              </a:rPr>
              <a:t>• </a:t>
            </a:r>
            <a:r>
              <a:rPr sz="1200" b="0" i="0" dirty="0" err="1">
                <a:solidFill>
                  <a:srgbClr val="ECF0F1"/>
                </a:solidFill>
                <a:latin typeface="Calibri"/>
              </a:rPr>
              <a:t>FSPro</a:t>
            </a:r>
            <a:r>
              <a:rPr sz="1200" b="0" i="0" dirty="0">
                <a:solidFill>
                  <a:srgbClr val="ECF0F1"/>
                </a:solidFill>
                <a:latin typeface="Calibri"/>
              </a:rPr>
              <a:t> counterfactual paired comparisons</a:t>
            </a:r>
          </a:p>
        </p:txBody>
      </p:sp>
      <p:sp>
        <p:nvSpPr>
          <p:cNvPr id="10" name="TextBox 9"/>
          <p:cNvSpPr txBox="1"/>
          <p:nvPr/>
        </p:nvSpPr>
        <p:spPr>
          <a:xfrm>
            <a:off x="457200" y="1362456"/>
            <a:ext cx="4114800" cy="461665"/>
          </a:xfrm>
          <a:prstGeom prst="rect">
            <a:avLst/>
          </a:prstGeom>
          <a:noFill/>
        </p:spPr>
        <p:txBody>
          <a:bodyPr wrap="square">
            <a:spAutoFit/>
          </a:bodyPr>
          <a:lstStyle/>
          <a:p>
            <a:pPr algn="l"/>
            <a:r>
              <a:rPr sz="1200" b="0" i="0" dirty="0">
                <a:solidFill>
                  <a:srgbClr val="ECF0F1"/>
                </a:solidFill>
                <a:latin typeface="Calibri"/>
              </a:rPr>
              <a:t>• RTMA-based hourly fuel moisture pipeline</a:t>
            </a:r>
            <a:r>
              <a:rPr lang="en-US" sz="1200" b="0" i="0" dirty="0">
                <a:solidFill>
                  <a:srgbClr val="ECF0F1"/>
                </a:solidFill>
                <a:latin typeface="Calibri"/>
              </a:rPr>
              <a:t> (and HRR, GridMET)</a:t>
            </a:r>
            <a:endParaRPr sz="1200" b="0" i="0" dirty="0">
              <a:solidFill>
                <a:srgbClr val="ECF0F1"/>
              </a:solidFill>
              <a:latin typeface="Calibri"/>
            </a:endParaRPr>
          </a:p>
        </p:txBody>
      </p:sp>
      <p:sp>
        <p:nvSpPr>
          <p:cNvPr id="11" name="TextBox 10"/>
          <p:cNvSpPr txBox="1"/>
          <p:nvPr/>
        </p:nvSpPr>
        <p:spPr>
          <a:xfrm>
            <a:off x="457200" y="2582983"/>
            <a:ext cx="4114800" cy="276999"/>
          </a:xfrm>
          <a:prstGeom prst="rect">
            <a:avLst/>
          </a:prstGeom>
          <a:noFill/>
        </p:spPr>
        <p:txBody>
          <a:bodyPr wrap="square">
            <a:spAutoFit/>
          </a:bodyPr>
          <a:lstStyle/>
          <a:p>
            <a:pPr algn="l"/>
            <a:r>
              <a:rPr sz="1200" b="0" i="0" dirty="0">
                <a:solidFill>
                  <a:srgbClr val="ECF0F1"/>
                </a:solidFill>
                <a:latin typeface="Calibri"/>
              </a:rPr>
              <a:t>• </a:t>
            </a:r>
            <a:r>
              <a:rPr lang="en-US" sz="1200" b="0" i="0" dirty="0">
                <a:solidFill>
                  <a:srgbClr val="ECF0F1"/>
                </a:solidFill>
                <a:latin typeface="Calibri"/>
              </a:rPr>
              <a:t>Suppression Difficulty Index</a:t>
            </a:r>
            <a:endParaRPr sz="1200" b="0" i="0" dirty="0">
              <a:solidFill>
                <a:srgbClr val="ECF0F1"/>
              </a:solidFill>
              <a:latin typeface="Calibri"/>
            </a:endParaRPr>
          </a:p>
        </p:txBody>
      </p:sp>
      <p:sp>
        <p:nvSpPr>
          <p:cNvPr id="16" name="Rectangle 15"/>
          <p:cNvSpPr/>
          <p:nvPr/>
        </p:nvSpPr>
        <p:spPr>
          <a:xfrm>
            <a:off x="457200" y="4169663"/>
            <a:ext cx="3474720" cy="676656"/>
          </a:xfrm>
          <a:prstGeom prst="rect">
            <a:avLst/>
          </a:prstGeom>
          <a:solidFill>
            <a:srgbClr val="224A5E"/>
          </a:solidFill>
          <a:ln>
            <a:solidFill>
              <a:srgbClr val="224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66928" y="4224528"/>
            <a:ext cx="4352544" cy="274320"/>
          </a:xfrm>
          <a:prstGeom prst="rect">
            <a:avLst/>
          </a:prstGeom>
          <a:noFill/>
        </p:spPr>
        <p:txBody>
          <a:bodyPr wrap="square">
            <a:spAutoFit/>
          </a:bodyPr>
          <a:lstStyle/>
          <a:p>
            <a:pPr algn="l"/>
            <a:r>
              <a:rPr sz="1200" b="0" i="0" dirty="0" err="1">
                <a:solidFill>
                  <a:srgbClr val="ECF0F1"/>
                </a:solidFill>
                <a:latin typeface="Courier New"/>
              </a:rPr>
              <a:t>github.com</a:t>
            </a:r>
            <a:r>
              <a:rPr sz="1200" b="0" i="0" dirty="0">
                <a:solidFill>
                  <a:srgbClr val="ECF0F1"/>
                </a:solidFill>
                <a:latin typeface="Courier New"/>
              </a:rPr>
              <a:t>/</a:t>
            </a:r>
            <a:r>
              <a:rPr sz="1200" b="0" i="0" dirty="0" err="1">
                <a:solidFill>
                  <a:srgbClr val="ECF0F1"/>
                </a:solidFill>
                <a:latin typeface="Courier New"/>
              </a:rPr>
              <a:t>maxwellCcook</a:t>
            </a:r>
            <a:r>
              <a:rPr sz="1200" b="0" i="0" dirty="0">
                <a:solidFill>
                  <a:srgbClr val="ECF0F1"/>
                </a:solidFill>
                <a:latin typeface="Courier New"/>
              </a:rPr>
              <a:t>/</a:t>
            </a:r>
            <a:r>
              <a:rPr sz="1200" b="0" i="0" dirty="0" err="1">
                <a:solidFill>
                  <a:srgbClr val="ECF0F1"/>
                </a:solidFill>
                <a:latin typeface="Courier New"/>
              </a:rPr>
              <a:t>fb_tools</a:t>
            </a:r>
            <a:endParaRPr sz="1200" b="0" i="0" dirty="0">
              <a:solidFill>
                <a:srgbClr val="ECF0F1"/>
              </a:solidFill>
              <a:latin typeface="Courier New"/>
            </a:endParaRPr>
          </a:p>
        </p:txBody>
      </p:sp>
      <p:sp>
        <p:nvSpPr>
          <p:cNvPr id="18" name="TextBox 17"/>
          <p:cNvSpPr txBox="1"/>
          <p:nvPr/>
        </p:nvSpPr>
        <p:spPr>
          <a:xfrm>
            <a:off x="566928" y="4535424"/>
            <a:ext cx="4352544" cy="256032"/>
          </a:xfrm>
          <a:prstGeom prst="rect">
            <a:avLst/>
          </a:prstGeom>
          <a:noFill/>
        </p:spPr>
        <p:txBody>
          <a:bodyPr wrap="square">
            <a:spAutoFit/>
          </a:bodyPr>
          <a:lstStyle/>
          <a:p>
            <a:pPr algn="l"/>
            <a:r>
              <a:rPr sz="1100" b="0" i="0">
                <a:solidFill>
                  <a:srgbClr val="90A4AE"/>
                </a:solidFill>
                <a:latin typeface="Calibri"/>
              </a:rPr>
              <a:t>maxwell.cook@colostate.edu</a:t>
            </a:r>
          </a:p>
        </p:txBody>
      </p:sp>
      <p:sp>
        <p:nvSpPr>
          <p:cNvPr id="19" name="Rectangle 18">
            <a:extLst>
              <a:ext uri="{FF2B5EF4-FFF2-40B4-BE49-F238E27FC236}">
                <a16:creationId xmlns:a16="http://schemas.microsoft.com/office/drawing/2014/main" id="{FE967DCB-DF92-A7B3-9751-B2084F44526F}"/>
              </a:ext>
            </a:extLst>
          </p:cNvPr>
          <p:cNvSpPr/>
          <p:nvPr/>
        </p:nvSpPr>
        <p:spPr>
          <a:xfrm>
            <a:off x="4919472" y="877824"/>
            <a:ext cx="3474720" cy="36576"/>
          </a:xfrm>
          <a:prstGeom prst="rect">
            <a:avLst/>
          </a:prstGeom>
          <a:solidFill>
            <a:srgbClr val="52B788"/>
          </a:solidFill>
          <a:ln>
            <a:solidFill>
              <a:srgbClr val="52B78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a:extLst>
              <a:ext uri="{FF2B5EF4-FFF2-40B4-BE49-F238E27FC236}">
                <a16:creationId xmlns:a16="http://schemas.microsoft.com/office/drawing/2014/main" id="{93C8E148-9FED-5860-C908-7D228D6756F6}"/>
              </a:ext>
            </a:extLst>
          </p:cNvPr>
          <p:cNvSpPr txBox="1"/>
          <p:nvPr/>
        </p:nvSpPr>
        <p:spPr>
          <a:xfrm>
            <a:off x="4919472" y="1005840"/>
            <a:ext cx="4114800" cy="230832"/>
          </a:xfrm>
          <a:prstGeom prst="rect">
            <a:avLst/>
          </a:prstGeom>
          <a:noFill/>
        </p:spPr>
        <p:txBody>
          <a:bodyPr wrap="square">
            <a:spAutoFit/>
          </a:bodyPr>
          <a:lstStyle/>
          <a:p>
            <a:pPr algn="l"/>
            <a:r>
              <a:rPr lang="en-US" sz="900" b="1" i="0" dirty="0">
                <a:solidFill>
                  <a:srgbClr val="52B788"/>
                </a:solidFill>
                <a:latin typeface="Calibri"/>
              </a:rPr>
              <a:t>ONGOING </a:t>
            </a:r>
            <a:endParaRPr sz="900" b="1" i="0" dirty="0">
              <a:solidFill>
                <a:srgbClr val="52B788"/>
              </a:solidFill>
              <a:latin typeface="Calibri"/>
            </a:endParaRPr>
          </a:p>
        </p:txBody>
      </p:sp>
      <p:sp>
        <p:nvSpPr>
          <p:cNvPr id="21" name="TextBox 20">
            <a:extLst>
              <a:ext uri="{FF2B5EF4-FFF2-40B4-BE49-F238E27FC236}">
                <a16:creationId xmlns:a16="http://schemas.microsoft.com/office/drawing/2014/main" id="{1821B78C-2E71-C0C3-8ECD-D987295DA14C}"/>
              </a:ext>
            </a:extLst>
          </p:cNvPr>
          <p:cNvSpPr txBox="1"/>
          <p:nvPr/>
        </p:nvSpPr>
        <p:spPr>
          <a:xfrm>
            <a:off x="4919472" y="1366539"/>
            <a:ext cx="4114800" cy="276999"/>
          </a:xfrm>
          <a:prstGeom prst="rect">
            <a:avLst/>
          </a:prstGeom>
          <a:noFill/>
        </p:spPr>
        <p:txBody>
          <a:bodyPr wrap="square">
            <a:spAutoFit/>
          </a:bodyPr>
          <a:lstStyle/>
          <a:p>
            <a:pPr algn="l"/>
            <a:r>
              <a:rPr sz="1200" b="0" i="0" dirty="0">
                <a:solidFill>
                  <a:srgbClr val="ECF0F1"/>
                </a:solidFill>
                <a:latin typeface="Calibri"/>
              </a:rPr>
              <a:t>• </a:t>
            </a:r>
            <a:r>
              <a:rPr lang="en-US" sz="1200" dirty="0">
                <a:solidFill>
                  <a:srgbClr val="ECF0F1"/>
                </a:solidFill>
                <a:latin typeface="Calibri"/>
              </a:rPr>
              <a:t>Cloud processing (CSU HPC)</a:t>
            </a:r>
            <a:endParaRPr sz="1200" b="0" i="0" dirty="0">
              <a:solidFill>
                <a:srgbClr val="ECF0F1"/>
              </a:solidFill>
              <a:latin typeface="Calibri"/>
            </a:endParaRPr>
          </a:p>
        </p:txBody>
      </p:sp>
      <p:sp>
        <p:nvSpPr>
          <p:cNvPr id="22" name="TextBox 21">
            <a:extLst>
              <a:ext uri="{FF2B5EF4-FFF2-40B4-BE49-F238E27FC236}">
                <a16:creationId xmlns:a16="http://schemas.microsoft.com/office/drawing/2014/main" id="{CA4B5C1C-023D-0484-5739-39F046E24A7B}"/>
              </a:ext>
            </a:extLst>
          </p:cNvPr>
          <p:cNvSpPr txBox="1"/>
          <p:nvPr/>
        </p:nvSpPr>
        <p:spPr>
          <a:xfrm>
            <a:off x="4919472" y="1810512"/>
            <a:ext cx="4114800" cy="276999"/>
          </a:xfrm>
          <a:prstGeom prst="rect">
            <a:avLst/>
          </a:prstGeom>
          <a:noFill/>
        </p:spPr>
        <p:txBody>
          <a:bodyPr wrap="square">
            <a:spAutoFit/>
          </a:bodyPr>
          <a:lstStyle/>
          <a:p>
            <a:pPr algn="l"/>
            <a:r>
              <a:rPr sz="1200" b="0" i="0" dirty="0">
                <a:solidFill>
                  <a:srgbClr val="ECF0F1"/>
                </a:solidFill>
                <a:latin typeface="Calibri"/>
              </a:rPr>
              <a:t>• </a:t>
            </a:r>
            <a:r>
              <a:rPr lang="en-US" sz="1200" dirty="0" err="1">
                <a:solidFill>
                  <a:srgbClr val="ECF0F1"/>
                </a:solidFill>
                <a:latin typeface="Calibri"/>
              </a:rPr>
              <a:t>Fsim</a:t>
            </a:r>
            <a:r>
              <a:rPr lang="en-US" sz="1200" dirty="0">
                <a:solidFill>
                  <a:srgbClr val="ECF0F1"/>
                </a:solidFill>
                <a:latin typeface="Calibri"/>
              </a:rPr>
              <a:t> calibration to known outputs for sensitivity testing</a:t>
            </a:r>
            <a:endParaRPr sz="1200" b="0" i="0" dirty="0">
              <a:solidFill>
                <a:srgbClr val="ECF0F1"/>
              </a:solidFill>
              <a:latin typeface="Calibri"/>
            </a:endParaRPr>
          </a:p>
        </p:txBody>
      </p:sp>
      <p:sp>
        <p:nvSpPr>
          <p:cNvPr id="23" name="TextBox 22">
            <a:extLst>
              <a:ext uri="{FF2B5EF4-FFF2-40B4-BE49-F238E27FC236}">
                <a16:creationId xmlns:a16="http://schemas.microsoft.com/office/drawing/2014/main" id="{7A6259F7-A638-592A-FA50-2D1A8D768E6C}"/>
              </a:ext>
            </a:extLst>
          </p:cNvPr>
          <p:cNvSpPr txBox="1"/>
          <p:nvPr/>
        </p:nvSpPr>
        <p:spPr>
          <a:xfrm>
            <a:off x="4919472" y="2249031"/>
            <a:ext cx="4114800" cy="276999"/>
          </a:xfrm>
          <a:prstGeom prst="rect">
            <a:avLst/>
          </a:prstGeom>
          <a:noFill/>
        </p:spPr>
        <p:txBody>
          <a:bodyPr wrap="square">
            <a:spAutoFit/>
          </a:bodyPr>
          <a:lstStyle/>
          <a:p>
            <a:pPr algn="l"/>
            <a:r>
              <a:rPr sz="1200" b="0" i="0" dirty="0">
                <a:solidFill>
                  <a:srgbClr val="ECF0F1"/>
                </a:solidFill>
                <a:latin typeface="Calibri"/>
              </a:rPr>
              <a:t>• </a:t>
            </a:r>
            <a:r>
              <a:rPr lang="en-US" sz="1200" dirty="0">
                <a:solidFill>
                  <a:srgbClr val="ECF0F1"/>
                </a:solidFill>
                <a:latin typeface="Calibri"/>
              </a:rPr>
              <a:t>Probabilistic MTT (Monte Carlo) for ember cast and </a:t>
            </a:r>
            <a:r>
              <a:rPr lang="en-US" sz="1200" dirty="0" err="1">
                <a:solidFill>
                  <a:srgbClr val="ECF0F1"/>
                </a:solidFill>
                <a:latin typeface="Calibri"/>
              </a:rPr>
              <a:t>flowpaths</a:t>
            </a:r>
            <a:endParaRPr sz="1200" b="0" i="0" dirty="0">
              <a:solidFill>
                <a:srgbClr val="ECF0F1"/>
              </a:solidFill>
              <a:latin typeface="Calibri"/>
            </a:endParaRPr>
          </a:p>
        </p:txBody>
      </p:sp>
      <p:sp>
        <p:nvSpPr>
          <p:cNvPr id="24" name="TextBox 23">
            <a:extLst>
              <a:ext uri="{FF2B5EF4-FFF2-40B4-BE49-F238E27FC236}">
                <a16:creationId xmlns:a16="http://schemas.microsoft.com/office/drawing/2014/main" id="{66F151F4-053B-EF80-3BDF-50669F802F57}"/>
              </a:ext>
            </a:extLst>
          </p:cNvPr>
          <p:cNvSpPr txBox="1"/>
          <p:nvPr/>
        </p:nvSpPr>
        <p:spPr>
          <a:xfrm>
            <a:off x="4919472" y="2687550"/>
            <a:ext cx="4114800" cy="276999"/>
          </a:xfrm>
          <a:prstGeom prst="rect">
            <a:avLst/>
          </a:prstGeom>
          <a:noFill/>
        </p:spPr>
        <p:txBody>
          <a:bodyPr wrap="square">
            <a:spAutoFit/>
          </a:bodyPr>
          <a:lstStyle/>
          <a:p>
            <a:pPr algn="l"/>
            <a:r>
              <a:rPr sz="1200" b="0" i="0" dirty="0">
                <a:solidFill>
                  <a:srgbClr val="ECF0F1"/>
                </a:solidFill>
                <a:latin typeface="Calibri"/>
              </a:rPr>
              <a:t>• </a:t>
            </a:r>
            <a:r>
              <a:rPr lang="en-US" sz="1200" dirty="0">
                <a:solidFill>
                  <a:srgbClr val="ECF0F1"/>
                </a:solidFill>
                <a:latin typeface="Calibri"/>
              </a:rPr>
              <a:t>Cell2Fire for alternative spread model (MacOS capable)</a:t>
            </a:r>
            <a:endParaRPr sz="1200" b="0" i="0" dirty="0">
              <a:solidFill>
                <a:srgbClr val="ECF0F1"/>
              </a:solidFill>
              <a:latin typeface="Calibri"/>
            </a:endParaRPr>
          </a:p>
        </p:txBody>
      </p:sp>
      <p:sp>
        <p:nvSpPr>
          <p:cNvPr id="12" name="TextBox 11">
            <a:extLst>
              <a:ext uri="{FF2B5EF4-FFF2-40B4-BE49-F238E27FC236}">
                <a16:creationId xmlns:a16="http://schemas.microsoft.com/office/drawing/2014/main" id="{A9766608-7394-7357-8B35-8D213BA7F617}"/>
              </a:ext>
            </a:extLst>
          </p:cNvPr>
          <p:cNvSpPr txBox="1"/>
          <p:nvPr/>
        </p:nvSpPr>
        <p:spPr>
          <a:xfrm>
            <a:off x="457200" y="2935125"/>
            <a:ext cx="4114800" cy="276999"/>
          </a:xfrm>
          <a:prstGeom prst="rect">
            <a:avLst/>
          </a:prstGeom>
          <a:noFill/>
        </p:spPr>
        <p:txBody>
          <a:bodyPr wrap="square">
            <a:spAutoFit/>
          </a:bodyPr>
          <a:lstStyle/>
          <a:p>
            <a:pPr algn="l"/>
            <a:r>
              <a:rPr sz="1200" b="0" i="0" dirty="0">
                <a:solidFill>
                  <a:srgbClr val="ECF0F1"/>
                </a:solidFill>
                <a:latin typeface="Calibri"/>
              </a:rPr>
              <a:t>• </a:t>
            </a:r>
            <a:r>
              <a:rPr lang="en-US" sz="1200" b="0" i="0" dirty="0" err="1">
                <a:solidFill>
                  <a:srgbClr val="ECF0F1"/>
                </a:solidFill>
                <a:latin typeface="Calibri"/>
              </a:rPr>
              <a:t>fb_tools</a:t>
            </a:r>
            <a:r>
              <a:rPr lang="en-US" sz="1200" b="0" i="0" dirty="0">
                <a:solidFill>
                  <a:srgbClr val="ECF0F1"/>
                </a:solidFill>
                <a:latin typeface="Calibri"/>
              </a:rPr>
              <a:t> </a:t>
            </a:r>
            <a:r>
              <a:rPr lang="en-US" sz="1200" dirty="0">
                <a:solidFill>
                  <a:srgbClr val="ECF0F1"/>
                </a:solidFill>
                <a:latin typeface="Calibri"/>
                <a:sym typeface="Wingdings" pitchFamily="2" charset="2"/>
              </a:rPr>
              <a:t>&lt;-&gt; </a:t>
            </a:r>
            <a:r>
              <a:rPr lang="en-US" sz="1200" dirty="0" err="1">
                <a:solidFill>
                  <a:srgbClr val="ECF0F1"/>
                </a:solidFill>
                <a:latin typeface="Calibri"/>
                <a:sym typeface="Wingdings" pitchFamily="2" charset="2"/>
              </a:rPr>
              <a:t>tealom</a:t>
            </a:r>
            <a:r>
              <a:rPr lang="en-US" sz="1200" dirty="0">
                <a:solidFill>
                  <a:srgbClr val="ECF0F1"/>
                </a:solidFill>
                <a:latin typeface="Calibri"/>
                <a:sym typeface="Wingdings" pitchFamily="2" charset="2"/>
              </a:rPr>
              <a:t> (not presented, highlight here)</a:t>
            </a:r>
            <a:endParaRPr sz="1200" b="0" i="0" dirty="0">
              <a:solidFill>
                <a:srgbClr val="ECF0F1"/>
              </a:solidFill>
              <a:latin typeface="Calibri"/>
            </a:endParaRPr>
          </a:p>
        </p:txBody>
      </p:sp>
      <p:sp>
        <p:nvSpPr>
          <p:cNvPr id="13" name="Rectangle 12">
            <a:extLst>
              <a:ext uri="{FF2B5EF4-FFF2-40B4-BE49-F238E27FC236}">
                <a16:creationId xmlns:a16="http://schemas.microsoft.com/office/drawing/2014/main" id="{407DD360-4303-4099-94BD-9CD112400507}"/>
              </a:ext>
            </a:extLst>
          </p:cNvPr>
          <p:cNvSpPr/>
          <p:nvPr/>
        </p:nvSpPr>
        <p:spPr>
          <a:xfrm>
            <a:off x="4919472" y="4139553"/>
            <a:ext cx="3474720" cy="676656"/>
          </a:xfrm>
          <a:prstGeom prst="rect">
            <a:avLst/>
          </a:prstGeom>
          <a:solidFill>
            <a:srgbClr val="224A5E"/>
          </a:solidFill>
          <a:ln>
            <a:solidFill>
              <a:srgbClr val="224A5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D587D39E-49CF-95DE-4BF1-86A1FC9573BD}"/>
              </a:ext>
            </a:extLst>
          </p:cNvPr>
          <p:cNvSpPr txBox="1"/>
          <p:nvPr/>
        </p:nvSpPr>
        <p:spPr>
          <a:xfrm>
            <a:off x="4919472" y="4223324"/>
            <a:ext cx="4352544" cy="461665"/>
          </a:xfrm>
          <a:prstGeom prst="rect">
            <a:avLst/>
          </a:prstGeom>
          <a:noFill/>
        </p:spPr>
        <p:txBody>
          <a:bodyPr wrap="square">
            <a:spAutoFit/>
          </a:bodyPr>
          <a:lstStyle/>
          <a:p>
            <a:r>
              <a:rPr lang="en-US" sz="1200" dirty="0">
                <a:solidFill>
                  <a:srgbClr val="ECF0F1"/>
                </a:solidFill>
                <a:latin typeface="Courier New"/>
              </a:rPr>
              <a:t>https://</a:t>
            </a:r>
            <a:r>
              <a:rPr lang="en-US" sz="1200" dirty="0" err="1">
                <a:solidFill>
                  <a:srgbClr val="ECF0F1"/>
                </a:solidFill>
                <a:latin typeface="Courier New"/>
              </a:rPr>
              <a:t>github.com</a:t>
            </a:r>
            <a:r>
              <a:rPr lang="en-US" sz="1200" dirty="0">
                <a:solidFill>
                  <a:srgbClr val="ECF0F1"/>
                </a:solidFill>
                <a:latin typeface="Courier New"/>
              </a:rPr>
              <a:t>/Colorado-Forest-Restoration-Institute/TEALOM</a:t>
            </a:r>
            <a:endParaRPr sz="1200" b="0" i="0" dirty="0">
              <a:solidFill>
                <a:srgbClr val="ECF0F1"/>
              </a:solidFill>
              <a:latin typeface="Courier New"/>
            </a:endParaRPr>
          </a:p>
        </p:txBody>
      </p:sp>
      <p:cxnSp>
        <p:nvCxnSpPr>
          <p:cNvPr id="25" name="Straight Arrow Connector 24">
            <a:extLst>
              <a:ext uri="{FF2B5EF4-FFF2-40B4-BE49-F238E27FC236}">
                <a16:creationId xmlns:a16="http://schemas.microsoft.com/office/drawing/2014/main" id="{892973B3-DE02-41E3-39BA-FF8B4CE4C6BB}"/>
              </a:ext>
            </a:extLst>
          </p:cNvPr>
          <p:cNvCxnSpPr/>
          <p:nvPr/>
        </p:nvCxnSpPr>
        <p:spPr>
          <a:xfrm>
            <a:off x="3787073" y="3285366"/>
            <a:ext cx="582626" cy="88429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47472" y="146304"/>
            <a:ext cx="8412480" cy="420624"/>
          </a:xfrm>
          <a:prstGeom prst="rect">
            <a:avLst/>
          </a:prstGeom>
          <a:noFill/>
        </p:spPr>
        <p:txBody>
          <a:bodyPr wrap="square">
            <a:spAutoFit/>
          </a:bodyPr>
          <a:lstStyle/>
          <a:p>
            <a:pPr algn="l"/>
            <a:r>
              <a:rPr sz="2400" b="1" i="0">
                <a:solidFill>
                  <a:srgbClr val="1A1A2E"/>
                </a:solidFill>
                <a:latin typeface="Calibri"/>
              </a:rPr>
              <a:t>References &amp; Data Sources</a:t>
            </a:r>
          </a:p>
        </p:txBody>
      </p:sp>
      <p:sp>
        <p:nvSpPr>
          <p:cNvPr id="3" name="Rectangle 2"/>
          <p:cNvSpPr/>
          <p:nvPr/>
        </p:nvSpPr>
        <p:spPr>
          <a:xfrm>
            <a:off x="347472" y="594360"/>
            <a:ext cx="8449056" cy="36576"/>
          </a:xfrm>
          <a:prstGeom prst="rect">
            <a:avLst/>
          </a:prstGeom>
          <a:solidFill>
            <a:srgbClr val="E0E6EA"/>
          </a:solidFill>
          <a:ln>
            <a:solidFill>
              <a:srgbClr val="E0E6E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201168" y="658368"/>
            <a:ext cx="4261104" cy="201168"/>
          </a:xfrm>
          <a:prstGeom prst="rect">
            <a:avLst/>
          </a:prstGeom>
          <a:noFill/>
        </p:spPr>
        <p:txBody>
          <a:bodyPr wrap="square">
            <a:spAutoFit/>
          </a:bodyPr>
          <a:lstStyle/>
          <a:p>
            <a:pPr algn="l"/>
            <a:r>
              <a:rPr sz="900" b="1" i="0">
                <a:solidFill>
                  <a:srgbClr val="D4622A"/>
                </a:solidFill>
                <a:latin typeface="Calibri"/>
              </a:rPr>
              <a:t>DEAD FUEL MOISTURE / NFDRS</a:t>
            </a:r>
          </a:p>
        </p:txBody>
      </p:sp>
      <p:sp>
        <p:nvSpPr>
          <p:cNvPr id="5" name="Rectangle 4"/>
          <p:cNvSpPr/>
          <p:nvPr/>
        </p:nvSpPr>
        <p:spPr>
          <a:xfrm>
            <a:off x="201168" y="859536"/>
            <a:ext cx="4261104" cy="27432"/>
          </a:xfrm>
          <a:prstGeom prst="rect">
            <a:avLst/>
          </a:prstGeom>
          <a:solidFill>
            <a:srgbClr val="D4622A"/>
          </a:solidFill>
          <a:ln>
            <a:solidFill>
              <a:srgbClr val="D4622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201168" y="969264"/>
            <a:ext cx="4261104" cy="201168"/>
          </a:xfrm>
          <a:prstGeom prst="rect">
            <a:avLst/>
          </a:prstGeom>
          <a:noFill/>
        </p:spPr>
        <p:txBody>
          <a:bodyPr wrap="square">
            <a:spAutoFit/>
          </a:bodyPr>
          <a:lstStyle/>
          <a:p>
            <a:pPr algn="l"/>
            <a:r>
              <a:rPr sz="900" b="1" i="0">
                <a:solidFill>
                  <a:srgbClr val="1A1A2E"/>
                </a:solidFill>
                <a:latin typeface="Calibri"/>
              </a:rPr>
              <a:t>Byram &amp; Jemison (1943)</a:t>
            </a:r>
          </a:p>
        </p:txBody>
      </p:sp>
      <p:sp>
        <p:nvSpPr>
          <p:cNvPr id="7" name="TextBox 6"/>
          <p:cNvSpPr txBox="1"/>
          <p:nvPr/>
        </p:nvSpPr>
        <p:spPr>
          <a:xfrm>
            <a:off x="201168" y="1170432"/>
            <a:ext cx="4261104" cy="256032"/>
          </a:xfrm>
          <a:prstGeom prst="rect">
            <a:avLst/>
          </a:prstGeom>
          <a:noFill/>
        </p:spPr>
        <p:txBody>
          <a:bodyPr wrap="square">
            <a:spAutoFit/>
          </a:bodyPr>
          <a:lstStyle/>
          <a:p>
            <a:pPr algn="l"/>
            <a:r>
              <a:rPr sz="800" b="0" i="1">
                <a:solidFill>
                  <a:srgbClr val="546E7A"/>
                </a:solidFill>
                <a:latin typeface="Calibri"/>
              </a:rPr>
              <a:t>Solar radiation and forest fuel moisture.  J. Agric. Res., 67(4), 149–176.</a:t>
            </a:r>
          </a:p>
        </p:txBody>
      </p:sp>
      <p:sp>
        <p:nvSpPr>
          <p:cNvPr id="8" name="TextBox 7"/>
          <p:cNvSpPr txBox="1"/>
          <p:nvPr/>
        </p:nvSpPr>
        <p:spPr>
          <a:xfrm>
            <a:off x="201168" y="1481328"/>
            <a:ext cx="4261104" cy="201168"/>
          </a:xfrm>
          <a:prstGeom prst="rect">
            <a:avLst/>
          </a:prstGeom>
          <a:noFill/>
        </p:spPr>
        <p:txBody>
          <a:bodyPr wrap="square">
            <a:spAutoFit/>
          </a:bodyPr>
          <a:lstStyle/>
          <a:p>
            <a:pPr algn="l"/>
            <a:r>
              <a:rPr sz="900" b="1" i="0">
                <a:solidFill>
                  <a:srgbClr val="1A1A2E"/>
                </a:solidFill>
                <a:latin typeface="Calibri"/>
              </a:rPr>
              <a:t>Deeming, Burgan &amp; Cohen (1977)</a:t>
            </a:r>
          </a:p>
        </p:txBody>
      </p:sp>
      <p:sp>
        <p:nvSpPr>
          <p:cNvPr id="9" name="TextBox 8"/>
          <p:cNvSpPr txBox="1"/>
          <p:nvPr/>
        </p:nvSpPr>
        <p:spPr>
          <a:xfrm>
            <a:off x="201168" y="1682496"/>
            <a:ext cx="4261104" cy="256032"/>
          </a:xfrm>
          <a:prstGeom prst="rect">
            <a:avLst/>
          </a:prstGeom>
          <a:noFill/>
        </p:spPr>
        <p:txBody>
          <a:bodyPr wrap="square">
            <a:spAutoFit/>
          </a:bodyPr>
          <a:lstStyle/>
          <a:p>
            <a:pPr algn="l"/>
            <a:r>
              <a:rPr sz="800" b="0" i="1">
                <a:solidFill>
                  <a:srgbClr val="546E7A"/>
                </a:solidFill>
                <a:latin typeface="Calibri"/>
              </a:rPr>
              <a:t>The National Fire-Danger Rating System—1978.  USDA FS GTR INT-39, 63 p.</a:t>
            </a:r>
          </a:p>
        </p:txBody>
      </p:sp>
      <p:sp>
        <p:nvSpPr>
          <p:cNvPr id="10" name="TextBox 9"/>
          <p:cNvSpPr txBox="1"/>
          <p:nvPr/>
        </p:nvSpPr>
        <p:spPr>
          <a:xfrm>
            <a:off x="201168" y="1993392"/>
            <a:ext cx="4261104" cy="201168"/>
          </a:xfrm>
          <a:prstGeom prst="rect">
            <a:avLst/>
          </a:prstGeom>
          <a:noFill/>
        </p:spPr>
        <p:txBody>
          <a:bodyPr wrap="square">
            <a:spAutoFit/>
          </a:bodyPr>
          <a:lstStyle/>
          <a:p>
            <a:pPr algn="l"/>
            <a:r>
              <a:rPr sz="900" b="1" i="0">
                <a:solidFill>
                  <a:srgbClr val="1A1A2E"/>
                </a:solidFill>
                <a:latin typeface="Calibri"/>
              </a:rPr>
              <a:t>Bradshaw, Deeming, Burgan &amp; Cohen (1984)</a:t>
            </a:r>
          </a:p>
        </p:txBody>
      </p:sp>
      <p:sp>
        <p:nvSpPr>
          <p:cNvPr id="11" name="TextBox 10"/>
          <p:cNvSpPr txBox="1"/>
          <p:nvPr/>
        </p:nvSpPr>
        <p:spPr>
          <a:xfrm>
            <a:off x="201168" y="2194560"/>
            <a:ext cx="4261104" cy="256032"/>
          </a:xfrm>
          <a:prstGeom prst="rect">
            <a:avLst/>
          </a:prstGeom>
          <a:noFill/>
        </p:spPr>
        <p:txBody>
          <a:bodyPr wrap="square">
            <a:spAutoFit/>
          </a:bodyPr>
          <a:lstStyle/>
          <a:p>
            <a:pPr algn="l"/>
            <a:r>
              <a:rPr sz="800" b="0" i="1">
                <a:solidFill>
                  <a:srgbClr val="546E7A"/>
                </a:solidFill>
                <a:latin typeface="Calibri"/>
              </a:rPr>
              <a:t>The 1978 National Fire-Danger Rating System: Technical documentation.  USDA FS GTR INT-169, 44 p.</a:t>
            </a:r>
          </a:p>
        </p:txBody>
      </p:sp>
      <p:sp>
        <p:nvSpPr>
          <p:cNvPr id="12" name="TextBox 11"/>
          <p:cNvSpPr txBox="1"/>
          <p:nvPr/>
        </p:nvSpPr>
        <p:spPr>
          <a:xfrm>
            <a:off x="201168" y="2596896"/>
            <a:ext cx="4261104" cy="201168"/>
          </a:xfrm>
          <a:prstGeom prst="rect">
            <a:avLst/>
          </a:prstGeom>
          <a:noFill/>
        </p:spPr>
        <p:txBody>
          <a:bodyPr wrap="square">
            <a:spAutoFit/>
          </a:bodyPr>
          <a:lstStyle/>
          <a:p>
            <a:pPr algn="l"/>
            <a:r>
              <a:rPr sz="900" b="1" i="0">
                <a:solidFill>
                  <a:srgbClr val="1B6CA8"/>
                </a:solidFill>
                <a:latin typeface="Calibri"/>
              </a:rPr>
              <a:t>EQUILIBRIUM MOISTURE CONTENT</a:t>
            </a:r>
          </a:p>
        </p:txBody>
      </p:sp>
      <p:sp>
        <p:nvSpPr>
          <p:cNvPr id="13" name="Rectangle 12"/>
          <p:cNvSpPr/>
          <p:nvPr/>
        </p:nvSpPr>
        <p:spPr>
          <a:xfrm>
            <a:off x="201168" y="2798064"/>
            <a:ext cx="4261104" cy="27432"/>
          </a:xfrm>
          <a:prstGeom prst="rect">
            <a:avLst/>
          </a:prstGeom>
          <a:solidFill>
            <a:srgbClr val="1B6CA8"/>
          </a:solidFill>
          <a:ln>
            <a:solidFill>
              <a:srgbClr val="1B6CA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01168" y="2907792"/>
            <a:ext cx="4261104" cy="201168"/>
          </a:xfrm>
          <a:prstGeom prst="rect">
            <a:avLst/>
          </a:prstGeom>
          <a:noFill/>
        </p:spPr>
        <p:txBody>
          <a:bodyPr wrap="square">
            <a:spAutoFit/>
          </a:bodyPr>
          <a:lstStyle/>
          <a:p>
            <a:pPr algn="l"/>
            <a:r>
              <a:rPr sz="900" b="1" i="0">
                <a:solidFill>
                  <a:srgbClr val="1A1A2E"/>
                </a:solidFill>
                <a:latin typeface="Calibri"/>
              </a:rPr>
              <a:t>Nelson (1984)</a:t>
            </a:r>
          </a:p>
        </p:txBody>
      </p:sp>
      <p:sp>
        <p:nvSpPr>
          <p:cNvPr id="15" name="TextBox 14"/>
          <p:cNvSpPr txBox="1"/>
          <p:nvPr/>
        </p:nvSpPr>
        <p:spPr>
          <a:xfrm>
            <a:off x="201168" y="3108960"/>
            <a:ext cx="4261104" cy="256032"/>
          </a:xfrm>
          <a:prstGeom prst="rect">
            <a:avLst/>
          </a:prstGeom>
          <a:noFill/>
        </p:spPr>
        <p:txBody>
          <a:bodyPr wrap="square">
            <a:spAutoFit/>
          </a:bodyPr>
          <a:lstStyle/>
          <a:p>
            <a:pPr algn="l"/>
            <a:r>
              <a:rPr sz="800" b="0" i="1">
                <a:solidFill>
                  <a:srgbClr val="546E7A"/>
                </a:solidFill>
                <a:latin typeface="Calibri"/>
              </a:rPr>
              <a:t>A method for describing equilibrium moisture content of forest fuels.  Can. J. For. Res., 14(4), 597–600.  doi:10.1139/x84-108</a:t>
            </a:r>
          </a:p>
        </p:txBody>
      </p:sp>
      <p:sp>
        <p:nvSpPr>
          <p:cNvPr id="16" name="TextBox 15"/>
          <p:cNvSpPr txBox="1"/>
          <p:nvPr/>
        </p:nvSpPr>
        <p:spPr>
          <a:xfrm>
            <a:off x="201168" y="3438144"/>
            <a:ext cx="4261104" cy="201168"/>
          </a:xfrm>
          <a:prstGeom prst="rect">
            <a:avLst/>
          </a:prstGeom>
          <a:noFill/>
        </p:spPr>
        <p:txBody>
          <a:bodyPr wrap="square">
            <a:spAutoFit/>
          </a:bodyPr>
          <a:lstStyle/>
          <a:p>
            <a:pPr algn="l"/>
            <a:r>
              <a:rPr sz="900" b="1" i="0">
                <a:solidFill>
                  <a:srgbClr val="1A1A2E"/>
                </a:solidFill>
                <a:latin typeface="Calibri"/>
              </a:rPr>
              <a:t>Cohen &amp; Deeming (1985)</a:t>
            </a:r>
          </a:p>
        </p:txBody>
      </p:sp>
      <p:sp>
        <p:nvSpPr>
          <p:cNvPr id="17" name="TextBox 16"/>
          <p:cNvSpPr txBox="1"/>
          <p:nvPr/>
        </p:nvSpPr>
        <p:spPr>
          <a:xfrm>
            <a:off x="201168" y="3639312"/>
            <a:ext cx="4261104" cy="256032"/>
          </a:xfrm>
          <a:prstGeom prst="rect">
            <a:avLst/>
          </a:prstGeom>
          <a:noFill/>
        </p:spPr>
        <p:txBody>
          <a:bodyPr wrap="square">
            <a:spAutoFit/>
          </a:bodyPr>
          <a:lstStyle/>
          <a:p>
            <a:pPr algn="l"/>
            <a:r>
              <a:rPr sz="800" b="0" i="1">
                <a:solidFill>
                  <a:srgbClr val="546E7A"/>
                </a:solidFill>
                <a:latin typeface="Calibri"/>
              </a:rPr>
              <a:t>The National Fire-Danger Rating System: Basic equations.  USDA FS GTR PSW-82, 16 p.</a:t>
            </a:r>
          </a:p>
        </p:txBody>
      </p:sp>
      <p:sp>
        <p:nvSpPr>
          <p:cNvPr id="18" name="TextBox 17"/>
          <p:cNvSpPr txBox="1"/>
          <p:nvPr/>
        </p:nvSpPr>
        <p:spPr>
          <a:xfrm>
            <a:off x="4681728" y="658368"/>
            <a:ext cx="4261104" cy="201168"/>
          </a:xfrm>
          <a:prstGeom prst="rect">
            <a:avLst/>
          </a:prstGeom>
          <a:noFill/>
        </p:spPr>
        <p:txBody>
          <a:bodyPr wrap="square">
            <a:spAutoFit/>
          </a:bodyPr>
          <a:lstStyle/>
          <a:p>
            <a:pPr algn="l"/>
            <a:r>
              <a:rPr sz="900" b="1" i="0">
                <a:solidFill>
                  <a:srgbClr val="2C6E49"/>
                </a:solidFill>
                <a:latin typeface="Calibri"/>
              </a:rPr>
              <a:t>LIVE FUEL MOISTURE</a:t>
            </a:r>
          </a:p>
        </p:txBody>
      </p:sp>
      <p:sp>
        <p:nvSpPr>
          <p:cNvPr id="19" name="Rectangle 18"/>
          <p:cNvSpPr/>
          <p:nvPr/>
        </p:nvSpPr>
        <p:spPr>
          <a:xfrm>
            <a:off x="4681728" y="859536"/>
            <a:ext cx="4261104" cy="27432"/>
          </a:xfrm>
          <a:prstGeom prst="rect">
            <a:avLst/>
          </a:prstGeom>
          <a:solidFill>
            <a:srgbClr val="2C6E49"/>
          </a:solidFill>
          <a:ln>
            <a:solidFill>
              <a:srgbClr val="2C6E49"/>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681728" y="969264"/>
            <a:ext cx="4261104" cy="201168"/>
          </a:xfrm>
          <a:prstGeom prst="rect">
            <a:avLst/>
          </a:prstGeom>
          <a:noFill/>
        </p:spPr>
        <p:txBody>
          <a:bodyPr wrap="square">
            <a:spAutoFit/>
          </a:bodyPr>
          <a:lstStyle/>
          <a:p>
            <a:pPr algn="l"/>
            <a:r>
              <a:rPr sz="900" b="1" i="0">
                <a:solidFill>
                  <a:srgbClr val="1A1A2E"/>
                </a:solidFill>
                <a:latin typeface="Calibri"/>
              </a:rPr>
              <a:t>Jolly, Nemani &amp; Running (2005)</a:t>
            </a:r>
          </a:p>
        </p:txBody>
      </p:sp>
      <p:sp>
        <p:nvSpPr>
          <p:cNvPr id="21" name="TextBox 20"/>
          <p:cNvSpPr txBox="1"/>
          <p:nvPr/>
        </p:nvSpPr>
        <p:spPr>
          <a:xfrm>
            <a:off x="4681728" y="1170432"/>
            <a:ext cx="4261104" cy="256032"/>
          </a:xfrm>
          <a:prstGeom prst="rect">
            <a:avLst/>
          </a:prstGeom>
          <a:noFill/>
        </p:spPr>
        <p:txBody>
          <a:bodyPr wrap="square">
            <a:spAutoFit/>
          </a:bodyPr>
          <a:lstStyle/>
          <a:p>
            <a:pPr algn="l"/>
            <a:r>
              <a:rPr sz="800" b="0" i="1">
                <a:solidFill>
                  <a:srgbClr val="546E7A"/>
                </a:solidFill>
                <a:latin typeface="Calibri"/>
              </a:rPr>
              <a:t>A generalized bioclimatic index to predict foliar phenology in response to climate.  Glob. Change Biol., 11(4), 619–632.  doi:10.1111/j.1365-2486.2005.00930.x</a:t>
            </a:r>
          </a:p>
        </p:txBody>
      </p:sp>
      <p:sp>
        <p:nvSpPr>
          <p:cNvPr id="22" name="TextBox 21"/>
          <p:cNvSpPr txBox="1"/>
          <p:nvPr/>
        </p:nvSpPr>
        <p:spPr>
          <a:xfrm>
            <a:off x="4681728" y="1591056"/>
            <a:ext cx="4261104" cy="201168"/>
          </a:xfrm>
          <a:prstGeom prst="rect">
            <a:avLst/>
          </a:prstGeom>
          <a:noFill/>
        </p:spPr>
        <p:txBody>
          <a:bodyPr wrap="square">
            <a:spAutoFit/>
          </a:bodyPr>
          <a:lstStyle/>
          <a:p>
            <a:pPr algn="l"/>
            <a:r>
              <a:rPr sz="900" b="1" i="0">
                <a:solidFill>
                  <a:srgbClr val="1A7A6E"/>
                </a:solidFill>
                <a:latin typeface="Calibri"/>
              </a:rPr>
              <a:t>WEATHER DATA</a:t>
            </a:r>
          </a:p>
        </p:txBody>
      </p:sp>
      <p:sp>
        <p:nvSpPr>
          <p:cNvPr id="23" name="Rectangle 22"/>
          <p:cNvSpPr/>
          <p:nvPr/>
        </p:nvSpPr>
        <p:spPr>
          <a:xfrm>
            <a:off x="4681728" y="1792224"/>
            <a:ext cx="4261104" cy="27432"/>
          </a:xfrm>
          <a:prstGeom prst="rect">
            <a:avLst/>
          </a:prstGeom>
          <a:solidFill>
            <a:srgbClr val="1A7A6E"/>
          </a:solidFill>
          <a:ln>
            <a:solidFill>
              <a:srgbClr val="1A7A6E"/>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681728" y="1901952"/>
            <a:ext cx="4261104" cy="201168"/>
          </a:xfrm>
          <a:prstGeom prst="rect">
            <a:avLst/>
          </a:prstGeom>
          <a:noFill/>
        </p:spPr>
        <p:txBody>
          <a:bodyPr wrap="square">
            <a:spAutoFit/>
          </a:bodyPr>
          <a:lstStyle/>
          <a:p>
            <a:pPr algn="l"/>
            <a:r>
              <a:rPr sz="900" b="1" i="0">
                <a:solidFill>
                  <a:srgbClr val="1A1A2E"/>
                </a:solidFill>
                <a:latin typeface="Calibri"/>
              </a:rPr>
              <a:t>De Pondeca et al. (2011)</a:t>
            </a:r>
          </a:p>
        </p:txBody>
      </p:sp>
      <p:sp>
        <p:nvSpPr>
          <p:cNvPr id="25" name="TextBox 24"/>
          <p:cNvSpPr txBox="1"/>
          <p:nvPr/>
        </p:nvSpPr>
        <p:spPr>
          <a:xfrm>
            <a:off x="4681728" y="2103120"/>
            <a:ext cx="4261104" cy="256032"/>
          </a:xfrm>
          <a:prstGeom prst="rect">
            <a:avLst/>
          </a:prstGeom>
          <a:noFill/>
        </p:spPr>
        <p:txBody>
          <a:bodyPr wrap="square">
            <a:spAutoFit/>
          </a:bodyPr>
          <a:lstStyle/>
          <a:p>
            <a:pPr algn="l"/>
            <a:r>
              <a:rPr sz="800" b="0" i="1">
                <a:solidFill>
                  <a:srgbClr val="546E7A"/>
                </a:solidFill>
                <a:latin typeface="Calibri"/>
              </a:rPr>
              <a:t>The Real-Time Mesoscale Analysis at NOAA's NCEP: Current status and development.  Weather Forecast., 26(5), 593–612.  doi:10.1175/WAF-D-10-05037.1</a:t>
            </a:r>
          </a:p>
        </p:txBody>
      </p:sp>
      <p:sp>
        <p:nvSpPr>
          <p:cNvPr id="26" name="TextBox 25"/>
          <p:cNvSpPr txBox="1"/>
          <p:nvPr/>
        </p:nvSpPr>
        <p:spPr>
          <a:xfrm>
            <a:off x="4681728" y="2432304"/>
            <a:ext cx="4261104" cy="201168"/>
          </a:xfrm>
          <a:prstGeom prst="rect">
            <a:avLst/>
          </a:prstGeom>
          <a:noFill/>
        </p:spPr>
        <p:txBody>
          <a:bodyPr wrap="square">
            <a:spAutoFit/>
          </a:bodyPr>
          <a:lstStyle/>
          <a:p>
            <a:pPr algn="l"/>
            <a:r>
              <a:rPr sz="900" b="1" i="0">
                <a:solidFill>
                  <a:srgbClr val="1A1A2E"/>
                </a:solidFill>
                <a:latin typeface="Calibri"/>
              </a:rPr>
              <a:t>Dowell et al. (2022)</a:t>
            </a:r>
          </a:p>
        </p:txBody>
      </p:sp>
      <p:sp>
        <p:nvSpPr>
          <p:cNvPr id="27" name="TextBox 26"/>
          <p:cNvSpPr txBox="1"/>
          <p:nvPr/>
        </p:nvSpPr>
        <p:spPr>
          <a:xfrm>
            <a:off x="4681728" y="2633472"/>
            <a:ext cx="4261104" cy="256032"/>
          </a:xfrm>
          <a:prstGeom prst="rect">
            <a:avLst/>
          </a:prstGeom>
          <a:noFill/>
        </p:spPr>
        <p:txBody>
          <a:bodyPr wrap="square">
            <a:spAutoFit/>
          </a:bodyPr>
          <a:lstStyle/>
          <a:p>
            <a:pPr algn="l"/>
            <a:r>
              <a:rPr sz="800" b="0" i="1">
                <a:solidFill>
                  <a:srgbClr val="546E7A"/>
                </a:solidFill>
                <a:latin typeface="Calibri"/>
              </a:rPr>
              <a:t>The High-Resolution Rapid Refresh (HRRR): An hourly updating convection-allowing forecast model.  Weather Forecast., 37(8), 1371–1395.  doi:10.1175/WAF-D-21-0151.1</a:t>
            </a:r>
          </a:p>
        </p:txBody>
      </p:sp>
      <p:sp>
        <p:nvSpPr>
          <p:cNvPr id="28" name="TextBox 27"/>
          <p:cNvSpPr txBox="1"/>
          <p:nvPr/>
        </p:nvSpPr>
        <p:spPr>
          <a:xfrm>
            <a:off x="4681728" y="2962656"/>
            <a:ext cx="4261104" cy="201168"/>
          </a:xfrm>
          <a:prstGeom prst="rect">
            <a:avLst/>
          </a:prstGeom>
          <a:noFill/>
        </p:spPr>
        <p:txBody>
          <a:bodyPr wrap="square">
            <a:spAutoFit/>
          </a:bodyPr>
          <a:lstStyle/>
          <a:p>
            <a:pPr algn="l"/>
            <a:r>
              <a:rPr sz="900" b="1" i="0">
                <a:solidFill>
                  <a:srgbClr val="1A1A2E"/>
                </a:solidFill>
                <a:latin typeface="Calibri"/>
              </a:rPr>
              <a:t>Abatzoglou (2013)</a:t>
            </a:r>
          </a:p>
        </p:txBody>
      </p:sp>
      <p:sp>
        <p:nvSpPr>
          <p:cNvPr id="29" name="TextBox 28"/>
          <p:cNvSpPr txBox="1"/>
          <p:nvPr/>
        </p:nvSpPr>
        <p:spPr>
          <a:xfrm>
            <a:off x="4681728" y="3163824"/>
            <a:ext cx="4261104" cy="256032"/>
          </a:xfrm>
          <a:prstGeom prst="rect">
            <a:avLst/>
          </a:prstGeom>
          <a:noFill/>
        </p:spPr>
        <p:txBody>
          <a:bodyPr wrap="square">
            <a:spAutoFit/>
          </a:bodyPr>
          <a:lstStyle/>
          <a:p>
            <a:pPr algn="l"/>
            <a:r>
              <a:rPr sz="800" b="0" i="1">
                <a:solidFill>
                  <a:srgbClr val="546E7A"/>
                </a:solidFill>
                <a:latin typeface="Calibri"/>
              </a:rPr>
              <a:t>Development of gridded surface meteorological data for ecological applications and modelling.  Int. J. Climatol., 33(1), 121–131.  doi:10.1002/joc.3413</a:t>
            </a:r>
          </a:p>
        </p:txBody>
      </p:sp>
      <p:sp>
        <p:nvSpPr>
          <p:cNvPr id="30" name="TextBox 29"/>
          <p:cNvSpPr txBox="1"/>
          <p:nvPr/>
        </p:nvSpPr>
        <p:spPr>
          <a:xfrm>
            <a:off x="4681728" y="3584448"/>
            <a:ext cx="4261104" cy="201168"/>
          </a:xfrm>
          <a:prstGeom prst="rect">
            <a:avLst/>
          </a:prstGeom>
          <a:noFill/>
        </p:spPr>
        <p:txBody>
          <a:bodyPr wrap="square">
            <a:spAutoFit/>
          </a:bodyPr>
          <a:lstStyle/>
          <a:p>
            <a:pPr algn="l"/>
            <a:r>
              <a:rPr sz="900" b="1" i="0">
                <a:solidFill>
                  <a:srgbClr val="546E7A"/>
                </a:solidFill>
                <a:latin typeface="Calibri"/>
              </a:rPr>
              <a:t>SUPPORTING INFRASTRUCTURE</a:t>
            </a:r>
          </a:p>
        </p:txBody>
      </p:sp>
      <p:sp>
        <p:nvSpPr>
          <p:cNvPr id="31" name="Rectangle 30"/>
          <p:cNvSpPr/>
          <p:nvPr/>
        </p:nvSpPr>
        <p:spPr>
          <a:xfrm>
            <a:off x="4681728" y="3785615"/>
            <a:ext cx="4261104" cy="27432"/>
          </a:xfrm>
          <a:prstGeom prst="rect">
            <a:avLst/>
          </a:prstGeom>
          <a:solidFill>
            <a:srgbClr val="546E7A"/>
          </a:solidFill>
          <a:ln>
            <a:solidFill>
              <a:srgbClr val="546E7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681728" y="3895344"/>
            <a:ext cx="4261104" cy="201168"/>
          </a:xfrm>
          <a:prstGeom prst="rect">
            <a:avLst/>
          </a:prstGeom>
          <a:noFill/>
        </p:spPr>
        <p:txBody>
          <a:bodyPr wrap="square">
            <a:spAutoFit/>
          </a:bodyPr>
          <a:lstStyle/>
          <a:p>
            <a:pPr algn="l"/>
            <a:r>
              <a:rPr sz="900" b="1" i="0">
                <a:solidFill>
                  <a:srgbClr val="1A1A2E"/>
                </a:solidFill>
                <a:latin typeface="Calibri"/>
              </a:rPr>
              <a:t>Gorelick et al. (2017)</a:t>
            </a:r>
          </a:p>
        </p:txBody>
      </p:sp>
      <p:sp>
        <p:nvSpPr>
          <p:cNvPr id="33" name="TextBox 32"/>
          <p:cNvSpPr txBox="1"/>
          <p:nvPr/>
        </p:nvSpPr>
        <p:spPr>
          <a:xfrm>
            <a:off x="4681728" y="4096511"/>
            <a:ext cx="4261104" cy="256032"/>
          </a:xfrm>
          <a:prstGeom prst="rect">
            <a:avLst/>
          </a:prstGeom>
          <a:noFill/>
        </p:spPr>
        <p:txBody>
          <a:bodyPr wrap="square">
            <a:spAutoFit/>
          </a:bodyPr>
          <a:lstStyle/>
          <a:p>
            <a:pPr algn="l"/>
            <a:r>
              <a:rPr sz="800" b="0" i="1">
                <a:solidFill>
                  <a:srgbClr val="546E7A"/>
                </a:solidFill>
                <a:latin typeface="Calibri"/>
              </a:rPr>
              <a:t>Google Earth Engine: Planetary-scale geospatial analysis for everyone.  Remote Sens. Environ., 202, 18–27.  doi:10.1016/j.rse.2017.06.031</a:t>
            </a:r>
          </a:p>
        </p:txBody>
      </p:sp>
      <p:sp>
        <p:nvSpPr>
          <p:cNvPr id="34" name="TextBox 33"/>
          <p:cNvSpPr txBox="1"/>
          <p:nvPr/>
        </p:nvSpPr>
        <p:spPr>
          <a:xfrm>
            <a:off x="4681728" y="4425696"/>
            <a:ext cx="4261104" cy="201168"/>
          </a:xfrm>
          <a:prstGeom prst="rect">
            <a:avLst/>
          </a:prstGeom>
          <a:noFill/>
        </p:spPr>
        <p:txBody>
          <a:bodyPr wrap="square">
            <a:spAutoFit/>
          </a:bodyPr>
          <a:lstStyle/>
          <a:p>
            <a:pPr algn="l"/>
            <a:r>
              <a:rPr sz="900" b="1" i="0">
                <a:solidFill>
                  <a:srgbClr val="1A1A2E"/>
                </a:solidFill>
                <a:latin typeface="Calibri"/>
              </a:rPr>
              <a:t>Short (2022)</a:t>
            </a:r>
          </a:p>
        </p:txBody>
      </p:sp>
      <p:sp>
        <p:nvSpPr>
          <p:cNvPr id="35" name="TextBox 34"/>
          <p:cNvSpPr txBox="1"/>
          <p:nvPr/>
        </p:nvSpPr>
        <p:spPr>
          <a:xfrm>
            <a:off x="4681728" y="4626864"/>
            <a:ext cx="4261104" cy="256032"/>
          </a:xfrm>
          <a:prstGeom prst="rect">
            <a:avLst/>
          </a:prstGeom>
          <a:noFill/>
        </p:spPr>
        <p:txBody>
          <a:bodyPr wrap="square">
            <a:spAutoFit/>
          </a:bodyPr>
          <a:lstStyle/>
          <a:p>
            <a:pPr algn="l"/>
            <a:r>
              <a:rPr sz="800" b="0" i="1">
                <a:solidFill>
                  <a:srgbClr val="546E7A"/>
                </a:solidFill>
                <a:latin typeface="Calibri"/>
              </a:rPr>
              <a:t>Spatial wildfire occurrence data for the United States, 1992–2020 [FPA FOD].  USDA FS Research Data Archive.  doi:10.2737/RDS-2013-0009.6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1549</TotalTime>
  <Words>4699</Words>
  <Application>Microsoft Macintosh PowerPoint</Application>
  <PresentationFormat>On-screen Show (16:9)</PresentationFormat>
  <Paragraphs>777</Paragraphs>
  <Slides>28</Slides>
  <Notes>21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28</vt:i4>
      </vt:variant>
    </vt:vector>
  </HeadingPairs>
  <TitlesOfParts>
    <vt:vector size="32" baseType="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Maxwell Cook</cp:lastModifiedBy>
  <cp:revision>4</cp:revision>
  <dcterms:created xsi:type="dcterms:W3CDTF">2013-01-27T09:14:16Z</dcterms:created>
  <dcterms:modified xsi:type="dcterms:W3CDTF">2026-06-10T19:55:07Z</dcterms:modified>
  <cp:category/>
</cp:coreProperties>
</file>