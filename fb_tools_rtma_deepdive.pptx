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Supplemental deep-dive on the RTMA weather module — context before the RAWS vs. RTMA 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RTMA's key advantages: spatial continuity, fire masking, and 1-hr time steps. The tradeoff is that pyrome-mean spatial averaging compresses FM variability compared to a point RAWS — this is the primary driver of the RTMA vs. RAWS FM differences seen in Section 9 of the notebook.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fire mask sanity check (00b_RTMA-EMC.ipynb) showed 0–3.7% fire-environment pixel coverage per pyrome — below the 20% target. This is worth revisiting: the mask may need a less restrictive threshold or a broader MODIS product (e.g. MCD64A1 burn confidence &lt; 50 threshold).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insight for the audience: EMC is what the fuels are trying to reach; the lag just slows how fast they get there. FM1 nearly equals EMC at any moment. FM100 is an integral of weeks of weather history. Hourly RTMA lets us run this properly — at daily resolution FM10 α≈0.91, meaning it's essentially just EMC with almost no memory.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audience takeaway: any one limiter at zero kills the whole GSI. In CO, VPD is the killer during fire season. The product structure means there's no partial credit — even if temperature and daylength are both favorable, a very dry afternoon (VPD&gt;4100 Pa) zeros out live FM. This explains why the median FM_herb in the RTMA record sits at the 30% dormant floor despite it being summer.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GSI collapse at high ERC percentiles is a key finding — during extreme fire weather in CO, the RTMA-derived live FM often hits the dormant floor (30/60%), which is also what RAWS-based FireFamilyPlus sees at these ERC levels. That convergence is actually reassuring for the dead FM comparison.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designed to be drop-in: switching dead_fm_source between 'gridmet' and 'rtma' produces scenario JSONs with the same schema. The comparison between the two sources is what Section 9 of the notebook quantifies — and what the next slides examine.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herbie-data is an optional dependency (not in conda-forge) — install with 'pip install herbie-data' outside the conda env. The GRIB cache directory (~6 GB for CO 2016-2023) is crucial for repeat runs. Without it, each run re-downloads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Calm % of only 1–2% during fire hours (19–22Z) confirms the UTC window is sampling active fire-weather hours, not overnight calm periods. Pyrome 53 has the most observations (4,479) because it covers a larger fire-prone area with more FOD points. Pyrome 45 has the fewest (803) — may warrant checking sample size adequacy for FSPro runs.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6×8 WindCellValues table is a joint probability distribution (speed AND direction together), not independent marginals. CalmValue is kept separate because calm obs have no meaningful direction. The k=9 neighbor approach boosts sample size ~9× without extra GRIB downloads — valid because HRRR 3-km resolution means adjacent cells are nearly identical for synoptic-scale fire-weather winds. Calm % of ~1-2% at fire hours (19-22Z) confirms the UTC window captures active fire weather.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5 ERC class bins are typically set at roughly the 20th, 40th, 60th, 80th, and 97th percentile of the historical ERC distribution per pyrome. The FM values in each class come from build_erc_classes() — either the GridMET snapshot path (FM10 ≈ 1.28×EMC) or the RTMA hourly-lag path for improved FM1/FM10. SPOTTING_SEED is held constant across baseline/treated pairs for the counterfactual delta-burn-probability comparison. CurrentERCValues covers the ~79-day peak fire-season window (approx. late July through Sept).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notes: Deeming et al. (1977) describes the '1978 NFDRS' — the year discrepancy is intentional (published 1977, describes system effective 1978). Bradshaw et al. (1984) is the technical documentation that specifies the precip saturation ceiling (FM10=35%, FM100=50%). Jolly et al. (2005) GSI thresholds were calibrated on temperate/boreal flux tower sites — not validated for semi-arid intermountain systems. HRRR reference is Part I (model description); Part II (data assimilation) is Dowell et al. 2022 doi:10.1175/WAF-D-21-0152.1.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--no-deps flag is the single most common source of broken installs. Without it, pip will re-download GDAL, rasterio, and shapely from PyPI, which are incompatible with the conda-forge builds at the C-library level. The editable install (-e .) means changes to fb_tools source are reflected immediately without reinstalling — useful for active development. herbie-data brings in cfgrib/eccodes for GRIB2 reading; those binaries can conflict with the conda geospatial stack on some platforms, which is why it stays out of environment.yml.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223760" y="0"/>
            <a:ext cx="1920240" cy="5143500"/>
          </a:xfrm>
          <a:prstGeom prst="rect">
            <a:avLst/>
          </a:prstGeom>
          <a:solidFill>
            <a:srgbClr val="224A5E"/>
          </a:solidFill>
          <a:ln>
            <a:solidFill>
              <a:srgbClr val="224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052060"/>
            <a:ext cx="9144000" cy="91440"/>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438912"/>
            <a:ext cx="2560320" cy="274320"/>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ECF0F1"/>
                </a:solidFill>
                <a:latin typeface="Calibri"/>
              </a:rPr>
              <a:t>WEATHER MODULE — DEEP DIVE</a:t>
            </a:r>
          </a:p>
        </p:txBody>
      </p:sp>
      <p:sp>
        <p:nvSpPr>
          <p:cNvPr id="6" name="TextBox 5"/>
          <p:cNvSpPr txBox="1"/>
          <p:nvPr/>
        </p:nvSpPr>
        <p:spPr>
          <a:xfrm>
            <a:off x="365760" y="914400"/>
            <a:ext cx="6583680" cy="960120"/>
          </a:xfrm>
          <a:prstGeom prst="rect">
            <a:avLst/>
          </a:prstGeom>
          <a:noFill/>
        </p:spPr>
        <p:txBody>
          <a:bodyPr wrap="square">
            <a:spAutoFit/>
          </a:bodyPr>
          <a:lstStyle/>
          <a:p>
            <a:pPr algn="l"/>
            <a:r>
              <a:rPr sz="4400" b="1" i="0">
                <a:solidFill>
                  <a:srgbClr val="ECF0F1"/>
                </a:solidFill>
                <a:latin typeface="Calibri"/>
              </a:rPr>
              <a:t>RTMA Fuel Moisture</a:t>
            </a:r>
          </a:p>
        </p:txBody>
      </p:sp>
      <p:sp>
        <p:nvSpPr>
          <p:cNvPr id="7" name="TextBox 6"/>
          <p:cNvSpPr txBox="1"/>
          <p:nvPr/>
        </p:nvSpPr>
        <p:spPr>
          <a:xfrm>
            <a:off x="365760" y="1828800"/>
            <a:ext cx="6583680" cy="502920"/>
          </a:xfrm>
          <a:prstGeom prst="rect">
            <a:avLst/>
          </a:prstGeom>
          <a:noFill/>
        </p:spPr>
        <p:txBody>
          <a:bodyPr wrap="square">
            <a:spAutoFit/>
          </a:bodyPr>
          <a:lstStyle/>
          <a:p>
            <a:pPr algn="l"/>
            <a:r>
              <a:rPr sz="1800" b="0" i="0">
                <a:solidFill>
                  <a:srgbClr val="FDE9D6"/>
                </a:solidFill>
                <a:latin typeface="Calibri"/>
              </a:rPr>
              <a:t>Data sources, pipeline, analysis, and fb_tools integration</a:t>
            </a:r>
          </a:p>
        </p:txBody>
      </p:sp>
      <p:sp>
        <p:nvSpPr>
          <p:cNvPr id="8" name="Rectangle 7"/>
          <p:cNvSpPr/>
          <p:nvPr/>
        </p:nvSpPr>
        <p:spPr>
          <a:xfrm>
            <a:off x="365760" y="2487168"/>
            <a:ext cx="3840480" cy="36576"/>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633472"/>
            <a:ext cx="6400800" cy="347472"/>
          </a:xfrm>
          <a:prstGeom prst="rect">
            <a:avLst/>
          </a:prstGeom>
          <a:noFill/>
        </p:spPr>
        <p:txBody>
          <a:bodyPr wrap="square">
            <a:spAutoFit/>
          </a:bodyPr>
          <a:lstStyle/>
          <a:p>
            <a:pPr algn="l"/>
            <a:r>
              <a:rPr sz="1200" b="0" i="1">
                <a:solidFill>
                  <a:srgbClr val="90A4AE"/>
                </a:solidFill>
                <a:latin typeface="Calibri"/>
              </a:rPr>
              <a:t>NWS Real-Time Mesoscale Analysis · NFDRS78 · GSI</a:t>
            </a:r>
          </a:p>
        </p:txBody>
      </p:sp>
      <p:sp>
        <p:nvSpPr>
          <p:cNvPr id="10" name="Rectangle 9"/>
          <p:cNvSpPr/>
          <p:nvPr/>
        </p:nvSpPr>
        <p:spPr>
          <a:xfrm>
            <a:off x="365760" y="3200400"/>
            <a:ext cx="118872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ECF0F1"/>
                </a:solidFill>
                <a:latin typeface="Calibri"/>
              </a:rPr>
              <a:t>HRRR</a:t>
            </a:r>
          </a:p>
        </p:txBody>
      </p:sp>
      <p:sp>
        <p:nvSpPr>
          <p:cNvPr id="11" name="Rectangle 10"/>
          <p:cNvSpPr/>
          <p:nvPr/>
        </p:nvSpPr>
        <p:spPr>
          <a:xfrm>
            <a:off x="1737360" y="3200400"/>
            <a:ext cx="1188720" cy="256032"/>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ECF0F1"/>
                </a:solidFill>
                <a:latin typeface="Calibri"/>
              </a:rPr>
              <a:t>GridMET</a:t>
            </a:r>
          </a:p>
        </p:txBody>
      </p:sp>
      <p:sp>
        <p:nvSpPr>
          <p:cNvPr id="12" name="Rectangle 11"/>
          <p:cNvSpPr/>
          <p:nvPr/>
        </p:nvSpPr>
        <p:spPr>
          <a:xfrm>
            <a:off x="3108960" y="3200400"/>
            <a:ext cx="118872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ECF0F1"/>
                </a:solidFill>
                <a:latin typeface="Calibri"/>
              </a:rPr>
              <a:t>RTMA</a:t>
            </a:r>
          </a:p>
        </p:txBody>
      </p:sp>
      <p:sp>
        <p:nvSpPr>
          <p:cNvPr id="13" name="TextBox 12"/>
          <p:cNvSpPr txBox="1"/>
          <p:nvPr/>
        </p:nvSpPr>
        <p:spPr>
          <a:xfrm>
            <a:off x="365760" y="4709160"/>
            <a:ext cx="8412480" cy="256032"/>
          </a:xfrm>
          <a:prstGeom prst="rect">
            <a:avLst/>
          </a:prstGeom>
          <a:noFill/>
        </p:spPr>
        <p:txBody>
          <a:bodyPr wrap="square">
            <a:spAutoFit/>
          </a:bodyPr>
          <a:lstStyle/>
          <a:p>
            <a:pPr algn="r"/>
            <a:r>
              <a:rPr sz="900" b="0" i="0">
                <a:solidFill>
                  <a:srgbClr val="90A4AE"/>
                </a:solidFill>
                <a:latin typeface="Courier New"/>
              </a:rPr>
              <a:t>00b_RTMA-EMC.ipynb · 00b_RTMA-FM.ipynb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8412480" cy="475488"/>
          </a:xfrm>
          <a:prstGeom prst="rect">
            <a:avLst/>
          </a:prstGeom>
          <a:noFill/>
        </p:spPr>
        <p:txBody>
          <a:bodyPr wrap="square">
            <a:spAutoFit/>
          </a:bodyPr>
          <a:lstStyle/>
          <a:p>
            <a:pPr algn="l"/>
            <a:r>
              <a:rPr sz="2800" b="1" i="0">
                <a:solidFill>
                  <a:srgbClr val="1A1A2E"/>
                </a:solidFill>
                <a:latin typeface="Calibri"/>
              </a:rPr>
              <a:t>What is NWS RTMA?</a:t>
            </a:r>
          </a:p>
        </p:txBody>
      </p:sp>
      <p:sp>
        <p:nvSpPr>
          <p:cNvPr id="3" name="TextBox 2"/>
          <p:cNvSpPr txBox="1"/>
          <p:nvPr/>
        </p:nvSpPr>
        <p:spPr>
          <a:xfrm>
            <a:off x="347472" y="822960"/>
            <a:ext cx="4937760" cy="512064"/>
          </a:xfrm>
          <a:prstGeom prst="rect">
            <a:avLst/>
          </a:prstGeom>
          <a:noFill/>
        </p:spPr>
        <p:txBody>
          <a:bodyPr wrap="square">
            <a:spAutoFit/>
          </a:bodyPr>
          <a:lstStyle/>
          <a:p>
            <a:pPr algn="l"/>
            <a:r>
              <a:rPr sz="1500" b="1" i="0">
                <a:solidFill>
                  <a:srgbClr val="1A1A2E"/>
                </a:solidFill>
                <a:latin typeface="Calibri"/>
              </a:rPr>
              <a:t>NWS Real-Time Mesoscale Analysis</a:t>
            </a:r>
          </a:p>
        </p:txBody>
      </p:sp>
      <p:sp>
        <p:nvSpPr>
          <p:cNvPr id="4" name="TextBox 3"/>
          <p:cNvSpPr txBox="1"/>
          <p:nvPr/>
        </p:nvSpPr>
        <p:spPr>
          <a:xfrm>
            <a:off x="347472" y="1335024"/>
            <a:ext cx="4937760" cy="658368"/>
          </a:xfrm>
          <a:prstGeom prst="rect">
            <a:avLst/>
          </a:prstGeom>
          <a:noFill/>
        </p:spPr>
        <p:txBody>
          <a:bodyPr wrap="square">
            <a:spAutoFit/>
          </a:bodyPr>
          <a:lstStyle/>
          <a:p>
            <a:pPr algn="l"/>
            <a:r>
              <a:rPr sz="1100" b="0" i="0">
                <a:solidFill>
                  <a:srgbClr val="546E7A"/>
                </a:solidFill>
                <a:latin typeface="Calibri"/>
              </a:rPr>
              <a:t>Produced by NOAA/NWS using the Rapid Refresh (RAP) assimilation system. Ingests surface observations, radar, satellite, and NWP model output to produce a gridded, analysis-quality surface weather field at hourly cadence.</a:t>
            </a:r>
          </a:p>
        </p:txBody>
      </p:sp>
      <p:sp>
        <p:nvSpPr>
          <p:cNvPr id="5" name="TextBox 4"/>
          <p:cNvSpPr txBox="1"/>
          <p:nvPr/>
        </p:nvSpPr>
        <p:spPr>
          <a:xfrm>
            <a:off x="347472" y="2103120"/>
            <a:ext cx="4937760" cy="420624"/>
          </a:xfrm>
          <a:prstGeom prst="rect">
            <a:avLst/>
          </a:prstGeom>
          <a:noFill/>
        </p:spPr>
        <p:txBody>
          <a:bodyPr wrap="square">
            <a:spAutoFit/>
          </a:bodyPr>
          <a:lstStyle/>
          <a:p>
            <a:pPr algn="l"/>
            <a:r>
              <a:rPr sz="1100" b="0" i="0">
                <a:solidFill>
                  <a:srgbClr val="1A1A2E"/>
                </a:solidFill>
                <a:latin typeface="Calibri"/>
              </a:rPr>
              <a:t>• Continuous hourly archive from 2011 to present</a:t>
            </a:r>
          </a:p>
        </p:txBody>
      </p:sp>
      <p:sp>
        <p:nvSpPr>
          <p:cNvPr id="6" name="TextBox 5"/>
          <p:cNvSpPr txBox="1"/>
          <p:nvPr/>
        </p:nvSpPr>
        <p:spPr>
          <a:xfrm>
            <a:off x="347472" y="2578608"/>
            <a:ext cx="4937760" cy="420624"/>
          </a:xfrm>
          <a:prstGeom prst="rect">
            <a:avLst/>
          </a:prstGeom>
          <a:noFill/>
        </p:spPr>
        <p:txBody>
          <a:bodyPr wrap="square">
            <a:spAutoFit/>
          </a:bodyPr>
          <a:lstStyle/>
          <a:p>
            <a:pPr algn="l"/>
            <a:r>
              <a:rPr sz="1100" b="0" i="0">
                <a:solidFill>
                  <a:srgbClr val="1A1A2E"/>
                </a:solidFill>
                <a:latin typeface="Calibri"/>
              </a:rPr>
              <a:t>• CONUS coverage at native 2.5 km resolution</a:t>
            </a:r>
          </a:p>
        </p:txBody>
      </p:sp>
      <p:sp>
        <p:nvSpPr>
          <p:cNvPr id="7" name="TextBox 6"/>
          <p:cNvSpPr txBox="1"/>
          <p:nvPr/>
        </p:nvSpPr>
        <p:spPr>
          <a:xfrm>
            <a:off x="347472" y="3054096"/>
            <a:ext cx="4937760" cy="420624"/>
          </a:xfrm>
          <a:prstGeom prst="rect">
            <a:avLst/>
          </a:prstGeom>
          <a:noFill/>
        </p:spPr>
        <p:txBody>
          <a:bodyPr wrap="square">
            <a:spAutoFit/>
          </a:bodyPr>
          <a:lstStyle/>
          <a:p>
            <a:pPr algn="l"/>
            <a:r>
              <a:rPr sz="1100" b="0" i="0">
                <a:solidFill>
                  <a:srgbClr val="1A1A2E"/>
                </a:solidFill>
                <a:latin typeface="Calibri"/>
              </a:rPr>
              <a:t>• Available via Google Earth Engine: NOAA/NWS/RTMA</a:t>
            </a:r>
          </a:p>
        </p:txBody>
      </p:sp>
      <p:sp>
        <p:nvSpPr>
          <p:cNvPr id="8" name="TextBox 7"/>
          <p:cNvSpPr txBox="1"/>
          <p:nvPr/>
        </p:nvSpPr>
        <p:spPr>
          <a:xfrm>
            <a:off x="347472" y="3529584"/>
            <a:ext cx="4937760" cy="420624"/>
          </a:xfrm>
          <a:prstGeom prst="rect">
            <a:avLst/>
          </a:prstGeom>
          <a:noFill/>
        </p:spPr>
        <p:txBody>
          <a:bodyPr wrap="square">
            <a:spAutoFit/>
          </a:bodyPr>
          <a:lstStyle/>
          <a:p>
            <a:pPr algn="l"/>
            <a:r>
              <a:rPr sz="1100" b="0" i="0">
                <a:solidFill>
                  <a:srgbClr val="1A1A2E"/>
                </a:solidFill>
                <a:latin typeface="Calibri"/>
              </a:rPr>
              <a:t>• Key bands: TMP (°C), DPT (°C), ACPC01 (precip, mm/hr)</a:t>
            </a:r>
          </a:p>
        </p:txBody>
      </p:sp>
      <p:sp>
        <p:nvSpPr>
          <p:cNvPr id="9" name="TextBox 8"/>
          <p:cNvSpPr txBox="1"/>
          <p:nvPr/>
        </p:nvSpPr>
        <p:spPr>
          <a:xfrm>
            <a:off x="347472" y="4005072"/>
            <a:ext cx="4937760" cy="420624"/>
          </a:xfrm>
          <a:prstGeom prst="rect">
            <a:avLst/>
          </a:prstGeom>
          <a:noFill/>
        </p:spPr>
        <p:txBody>
          <a:bodyPr wrap="square">
            <a:spAutoFit/>
          </a:bodyPr>
          <a:lstStyle/>
          <a:p>
            <a:pPr algn="l"/>
            <a:r>
              <a:rPr sz="1100" b="0" i="0">
                <a:solidFill>
                  <a:srgbClr val="1A1A2E"/>
                </a:solidFill>
                <a:latin typeface="Calibri"/>
              </a:rPr>
              <a:t>• Derived: RH (%), VPD (Pa), EMC (%) computed per-pixel in GEE</a:t>
            </a:r>
          </a:p>
        </p:txBody>
      </p:sp>
      <p:sp>
        <p:nvSpPr>
          <p:cNvPr id="10" name="Rectangle 9"/>
          <p:cNvSpPr/>
          <p:nvPr/>
        </p:nvSpPr>
        <p:spPr>
          <a:xfrm>
            <a:off x="5486400" y="749808"/>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0" y="749808"/>
            <a:ext cx="146304" cy="603504"/>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87568" y="795528"/>
            <a:ext cx="2971800" cy="228600"/>
          </a:xfrm>
          <a:prstGeom prst="rect">
            <a:avLst/>
          </a:prstGeom>
          <a:noFill/>
        </p:spPr>
        <p:txBody>
          <a:bodyPr wrap="square">
            <a:spAutoFit/>
          </a:bodyPr>
          <a:lstStyle/>
          <a:p>
            <a:pPr algn="l"/>
            <a:r>
              <a:rPr sz="1000" b="1" i="0">
                <a:solidFill>
                  <a:srgbClr val="546E7A"/>
                </a:solidFill>
                <a:latin typeface="Calibri"/>
              </a:rPr>
              <a:t>Resolution</a:t>
            </a:r>
          </a:p>
        </p:txBody>
      </p:sp>
      <p:sp>
        <p:nvSpPr>
          <p:cNvPr id="13" name="TextBox 12"/>
          <p:cNvSpPr txBox="1"/>
          <p:nvPr/>
        </p:nvSpPr>
        <p:spPr>
          <a:xfrm>
            <a:off x="5687568" y="1042415"/>
            <a:ext cx="2971800" cy="256032"/>
          </a:xfrm>
          <a:prstGeom prst="rect">
            <a:avLst/>
          </a:prstGeom>
          <a:noFill/>
        </p:spPr>
        <p:txBody>
          <a:bodyPr wrap="square">
            <a:spAutoFit/>
          </a:bodyPr>
          <a:lstStyle/>
          <a:p>
            <a:pPr algn="l"/>
            <a:r>
              <a:rPr sz="1200" b="1" i="0">
                <a:solidFill>
                  <a:srgbClr val="1A1A2E"/>
                </a:solidFill>
                <a:latin typeface="Courier New"/>
              </a:rPr>
              <a:t>2.5 km (CONUS)</a:t>
            </a:r>
          </a:p>
        </p:txBody>
      </p:sp>
      <p:sp>
        <p:nvSpPr>
          <p:cNvPr id="14" name="Rectangle 13"/>
          <p:cNvSpPr/>
          <p:nvPr/>
        </p:nvSpPr>
        <p:spPr>
          <a:xfrm>
            <a:off x="5486400" y="1463040"/>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0" y="1463040"/>
            <a:ext cx="146304" cy="603504"/>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87568" y="1508760"/>
            <a:ext cx="2971800" cy="228600"/>
          </a:xfrm>
          <a:prstGeom prst="rect">
            <a:avLst/>
          </a:prstGeom>
          <a:noFill/>
        </p:spPr>
        <p:txBody>
          <a:bodyPr wrap="square">
            <a:spAutoFit/>
          </a:bodyPr>
          <a:lstStyle/>
          <a:p>
            <a:pPr algn="l"/>
            <a:r>
              <a:rPr sz="1000" b="1" i="0">
                <a:solidFill>
                  <a:srgbClr val="546E7A"/>
                </a:solidFill>
                <a:latin typeface="Calibri"/>
              </a:rPr>
              <a:t>Cadence</a:t>
            </a:r>
          </a:p>
        </p:txBody>
      </p:sp>
      <p:sp>
        <p:nvSpPr>
          <p:cNvPr id="17" name="TextBox 16"/>
          <p:cNvSpPr txBox="1"/>
          <p:nvPr/>
        </p:nvSpPr>
        <p:spPr>
          <a:xfrm>
            <a:off x="5687568" y="1755648"/>
            <a:ext cx="2971800" cy="256032"/>
          </a:xfrm>
          <a:prstGeom prst="rect">
            <a:avLst/>
          </a:prstGeom>
          <a:noFill/>
        </p:spPr>
        <p:txBody>
          <a:bodyPr wrap="square">
            <a:spAutoFit/>
          </a:bodyPr>
          <a:lstStyle/>
          <a:p>
            <a:pPr algn="l"/>
            <a:r>
              <a:rPr sz="1200" b="1" i="0">
                <a:solidFill>
                  <a:srgbClr val="1A1A2E"/>
                </a:solidFill>
                <a:latin typeface="Courier New"/>
              </a:rPr>
              <a:t>Hourly</a:t>
            </a:r>
          </a:p>
        </p:txBody>
      </p:sp>
      <p:sp>
        <p:nvSpPr>
          <p:cNvPr id="18" name="Rectangle 17"/>
          <p:cNvSpPr/>
          <p:nvPr/>
        </p:nvSpPr>
        <p:spPr>
          <a:xfrm>
            <a:off x="5486400" y="2176272"/>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0" y="2176272"/>
            <a:ext cx="146304" cy="603504"/>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87568" y="2221991"/>
            <a:ext cx="2971800" cy="228600"/>
          </a:xfrm>
          <a:prstGeom prst="rect">
            <a:avLst/>
          </a:prstGeom>
          <a:noFill/>
        </p:spPr>
        <p:txBody>
          <a:bodyPr wrap="square">
            <a:spAutoFit/>
          </a:bodyPr>
          <a:lstStyle/>
          <a:p>
            <a:pPr algn="l"/>
            <a:r>
              <a:rPr sz="1000" b="1" i="0">
                <a:solidFill>
                  <a:srgbClr val="546E7A"/>
                </a:solidFill>
                <a:latin typeface="Calibri"/>
              </a:rPr>
              <a:t>Archive</a:t>
            </a:r>
          </a:p>
        </p:txBody>
      </p:sp>
      <p:sp>
        <p:nvSpPr>
          <p:cNvPr id="21" name="TextBox 20"/>
          <p:cNvSpPr txBox="1"/>
          <p:nvPr/>
        </p:nvSpPr>
        <p:spPr>
          <a:xfrm>
            <a:off x="5687568" y="2468879"/>
            <a:ext cx="2971800" cy="256032"/>
          </a:xfrm>
          <a:prstGeom prst="rect">
            <a:avLst/>
          </a:prstGeom>
          <a:noFill/>
        </p:spPr>
        <p:txBody>
          <a:bodyPr wrap="square">
            <a:spAutoFit/>
          </a:bodyPr>
          <a:lstStyle/>
          <a:p>
            <a:pPr algn="l"/>
            <a:r>
              <a:rPr sz="1200" b="1" i="0">
                <a:solidFill>
                  <a:srgbClr val="1A1A2E"/>
                </a:solidFill>
                <a:latin typeface="Courier New"/>
              </a:rPr>
              <a:t>2011–present (15 years)</a:t>
            </a:r>
          </a:p>
        </p:txBody>
      </p:sp>
      <p:sp>
        <p:nvSpPr>
          <p:cNvPr id="22" name="Rectangle 21"/>
          <p:cNvSpPr/>
          <p:nvPr/>
        </p:nvSpPr>
        <p:spPr>
          <a:xfrm>
            <a:off x="5486400" y="2889503"/>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0" y="2889503"/>
            <a:ext cx="146304" cy="603504"/>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87568" y="2935223"/>
            <a:ext cx="2971800" cy="228600"/>
          </a:xfrm>
          <a:prstGeom prst="rect">
            <a:avLst/>
          </a:prstGeom>
          <a:noFill/>
        </p:spPr>
        <p:txBody>
          <a:bodyPr wrap="square">
            <a:spAutoFit/>
          </a:bodyPr>
          <a:lstStyle/>
          <a:p>
            <a:pPr algn="l"/>
            <a:r>
              <a:rPr sz="1000" b="1" i="0">
                <a:solidFill>
                  <a:srgbClr val="546E7A"/>
                </a:solidFill>
                <a:latin typeface="Calibri"/>
              </a:rPr>
              <a:t>GEE</a:t>
            </a:r>
          </a:p>
        </p:txBody>
      </p:sp>
      <p:sp>
        <p:nvSpPr>
          <p:cNvPr id="25" name="TextBox 24"/>
          <p:cNvSpPr txBox="1"/>
          <p:nvPr/>
        </p:nvSpPr>
        <p:spPr>
          <a:xfrm>
            <a:off x="5687568" y="3182111"/>
            <a:ext cx="2971800" cy="256032"/>
          </a:xfrm>
          <a:prstGeom prst="rect">
            <a:avLst/>
          </a:prstGeom>
          <a:noFill/>
        </p:spPr>
        <p:txBody>
          <a:bodyPr wrap="square">
            <a:spAutoFit/>
          </a:bodyPr>
          <a:lstStyle/>
          <a:p>
            <a:pPr algn="l"/>
            <a:r>
              <a:rPr sz="1200" b="1" i="0">
                <a:solidFill>
                  <a:srgbClr val="1A1A2E"/>
                </a:solidFill>
                <a:latin typeface="Courier New"/>
              </a:rPr>
              <a:t>NOAA/NWS/RTMA</a:t>
            </a:r>
          </a:p>
        </p:txBody>
      </p:sp>
      <p:sp>
        <p:nvSpPr>
          <p:cNvPr id="26" name="Rectangle 25"/>
          <p:cNvSpPr/>
          <p:nvPr/>
        </p:nvSpPr>
        <p:spPr>
          <a:xfrm>
            <a:off x="5486400" y="3602736"/>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0" y="3602736"/>
            <a:ext cx="146304" cy="60350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87568" y="3648456"/>
            <a:ext cx="2971800" cy="228600"/>
          </a:xfrm>
          <a:prstGeom prst="rect">
            <a:avLst/>
          </a:prstGeom>
          <a:noFill/>
        </p:spPr>
        <p:txBody>
          <a:bodyPr wrap="square">
            <a:spAutoFit/>
          </a:bodyPr>
          <a:lstStyle/>
          <a:p>
            <a:pPr algn="l"/>
            <a:r>
              <a:rPr sz="1000" b="1" i="0">
                <a:solidFill>
                  <a:srgbClr val="546E7A"/>
                </a:solidFill>
                <a:latin typeface="Calibri"/>
              </a:rPr>
              <a:t>CO Pyromes</a:t>
            </a:r>
          </a:p>
        </p:txBody>
      </p:sp>
      <p:sp>
        <p:nvSpPr>
          <p:cNvPr id="29" name="TextBox 28"/>
          <p:cNvSpPr txBox="1"/>
          <p:nvPr/>
        </p:nvSpPr>
        <p:spPr>
          <a:xfrm>
            <a:off x="5687568" y="3895344"/>
            <a:ext cx="2971800" cy="256032"/>
          </a:xfrm>
          <a:prstGeom prst="rect">
            <a:avLst/>
          </a:prstGeom>
          <a:noFill/>
        </p:spPr>
        <p:txBody>
          <a:bodyPr wrap="square">
            <a:spAutoFit/>
          </a:bodyPr>
          <a:lstStyle/>
          <a:p>
            <a:pPr algn="l"/>
            <a:r>
              <a:rPr sz="1200" b="1" i="0">
                <a:solidFill>
                  <a:srgbClr val="1A1A2E"/>
                </a:solidFill>
                <a:latin typeface="Courier New"/>
              </a:rPr>
              <a:t>42, 43, 45, 46, 47, 52, 53, 56, 128</a:t>
            </a:r>
          </a:p>
        </p:txBody>
      </p:sp>
      <p:sp>
        <p:nvSpPr>
          <p:cNvPr id="30" name="Rectangle 29"/>
          <p:cNvSpPr/>
          <p:nvPr/>
        </p:nvSpPr>
        <p:spPr>
          <a:xfrm>
            <a:off x="5486400" y="4315968"/>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0" y="4315968"/>
            <a:ext cx="146304" cy="60350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87568" y="4361688"/>
            <a:ext cx="2971800" cy="228600"/>
          </a:xfrm>
          <a:prstGeom prst="rect">
            <a:avLst/>
          </a:prstGeom>
          <a:noFill/>
        </p:spPr>
        <p:txBody>
          <a:bodyPr wrap="square">
            <a:spAutoFit/>
          </a:bodyPr>
          <a:lstStyle/>
          <a:p>
            <a:pPr algn="l"/>
            <a:r>
              <a:rPr sz="1000" b="1" i="0">
                <a:solidFill>
                  <a:srgbClr val="546E7A"/>
                </a:solidFill>
                <a:latin typeface="Calibri"/>
              </a:rPr>
              <a:t>Fire season</a:t>
            </a:r>
          </a:p>
        </p:txBody>
      </p:sp>
      <p:sp>
        <p:nvSpPr>
          <p:cNvPr id="33" name="TextBox 32"/>
          <p:cNvSpPr txBox="1"/>
          <p:nvPr/>
        </p:nvSpPr>
        <p:spPr>
          <a:xfrm>
            <a:off x="5687568" y="4608576"/>
            <a:ext cx="2971800" cy="256032"/>
          </a:xfrm>
          <a:prstGeom prst="rect">
            <a:avLst/>
          </a:prstGeom>
          <a:noFill/>
        </p:spPr>
        <p:txBody>
          <a:bodyPr wrap="square">
            <a:spAutoFit/>
          </a:bodyPr>
          <a:lstStyle/>
          <a:p>
            <a:pPr algn="l"/>
            <a:r>
              <a:rPr sz="1200" b="1" i="0">
                <a:solidFill>
                  <a:srgbClr val="1A1A2E"/>
                </a:solidFill>
                <a:latin typeface="Courier New"/>
              </a:rPr>
              <a:t>April 1 – October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82880"/>
            <a:ext cx="8412480" cy="475488"/>
          </a:xfrm>
          <a:prstGeom prst="rect">
            <a:avLst/>
          </a:prstGeom>
          <a:noFill/>
        </p:spPr>
        <p:txBody>
          <a:bodyPr wrap="square">
            <a:spAutoFit/>
          </a:bodyPr>
          <a:lstStyle/>
          <a:p>
            <a:pPr algn="l"/>
            <a:r>
              <a:rPr sz="2600" b="1" i="0">
                <a:solidFill>
                  <a:srgbClr val="1A1A2E"/>
                </a:solidFill>
                <a:latin typeface="Calibri"/>
              </a:rPr>
              <a:t>Why RTMA? Context vs. RAWS Stations</a:t>
            </a:r>
          </a:p>
        </p:txBody>
      </p:sp>
      <p:sp>
        <p:nvSpPr>
          <p:cNvPr id="3" name="Rectangle 2"/>
          <p:cNvSpPr/>
          <p:nvPr/>
        </p:nvSpPr>
        <p:spPr>
          <a:xfrm>
            <a:off x="292608" y="804672"/>
            <a:ext cx="3931920" cy="402336"/>
          </a:xfrm>
          <a:prstGeom prst="rect">
            <a:avLst/>
          </a:prstGeom>
          <a:solidFill>
            <a:srgbClr val="78909C"/>
          </a:solidFill>
          <a:ln>
            <a:solidFill>
              <a:srgbClr val="7890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2608" y="804672"/>
            <a:ext cx="3931920" cy="402336"/>
          </a:xfrm>
          <a:prstGeom prst="rect">
            <a:avLst/>
          </a:prstGeom>
          <a:noFill/>
        </p:spPr>
        <p:txBody>
          <a:bodyPr wrap="square">
            <a:spAutoFit/>
          </a:bodyPr>
          <a:lstStyle/>
          <a:p>
            <a:pPr algn="ctr"/>
            <a:r>
              <a:rPr sz="1400" b="1" i="0">
                <a:solidFill>
                  <a:srgbClr val="FFFFFF"/>
                </a:solidFill>
                <a:latin typeface="Calibri"/>
              </a:rPr>
              <a:t>RAWS / FireFamilyPlus</a:t>
            </a:r>
          </a:p>
        </p:txBody>
      </p:sp>
      <p:sp>
        <p:nvSpPr>
          <p:cNvPr id="5" name="Rectangle 4"/>
          <p:cNvSpPr/>
          <p:nvPr/>
        </p:nvSpPr>
        <p:spPr>
          <a:xfrm>
            <a:off x="4919472" y="804672"/>
            <a:ext cx="3931920" cy="402336"/>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919472" y="804672"/>
            <a:ext cx="3931920" cy="402336"/>
          </a:xfrm>
          <a:prstGeom prst="rect">
            <a:avLst/>
          </a:prstGeom>
          <a:noFill/>
        </p:spPr>
        <p:txBody>
          <a:bodyPr wrap="square">
            <a:spAutoFit/>
          </a:bodyPr>
          <a:lstStyle/>
          <a:p>
            <a:pPr algn="ctr"/>
            <a:r>
              <a:rPr sz="1400" b="1" i="0">
                <a:solidFill>
                  <a:srgbClr val="FFFFFF"/>
                </a:solidFill>
                <a:latin typeface="Calibri"/>
              </a:rPr>
              <a:t>NWS RTMA (this model)</a:t>
            </a:r>
          </a:p>
        </p:txBody>
      </p:sp>
      <p:sp>
        <p:nvSpPr>
          <p:cNvPr id="7" name="Rectangle 6"/>
          <p:cNvSpPr/>
          <p:nvPr/>
        </p:nvSpPr>
        <p:spPr>
          <a:xfrm>
            <a:off x="292608" y="1335024"/>
            <a:ext cx="3931920" cy="603504"/>
          </a:xfrm>
          <a:prstGeom prst="rect">
            <a:avLst/>
          </a:prstGeom>
          <a:solidFill>
            <a:srgbClr val="ECEFF1"/>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02336" y="1389888"/>
            <a:ext cx="3712463" cy="219456"/>
          </a:xfrm>
          <a:prstGeom prst="rect">
            <a:avLst/>
          </a:prstGeom>
          <a:noFill/>
        </p:spPr>
        <p:txBody>
          <a:bodyPr wrap="square">
            <a:spAutoFit/>
          </a:bodyPr>
          <a:lstStyle/>
          <a:p>
            <a:pPr algn="l"/>
            <a:r>
              <a:rPr sz="1100" b="1" i="0">
                <a:solidFill>
                  <a:srgbClr val="546E7A"/>
                </a:solidFill>
                <a:latin typeface="Calibri"/>
              </a:rPr>
              <a:t>Point observation</a:t>
            </a:r>
          </a:p>
        </p:txBody>
      </p:sp>
      <p:sp>
        <p:nvSpPr>
          <p:cNvPr id="9" name="TextBox 8"/>
          <p:cNvSpPr txBox="1"/>
          <p:nvPr/>
        </p:nvSpPr>
        <p:spPr>
          <a:xfrm>
            <a:off x="402336" y="1627632"/>
            <a:ext cx="3712463" cy="256032"/>
          </a:xfrm>
          <a:prstGeom prst="rect">
            <a:avLst/>
          </a:prstGeom>
          <a:noFill/>
        </p:spPr>
        <p:txBody>
          <a:bodyPr wrap="square">
            <a:spAutoFit/>
          </a:bodyPr>
          <a:lstStyle/>
          <a:p>
            <a:pPr algn="l"/>
            <a:r>
              <a:rPr sz="1000" b="0" i="0">
                <a:solidFill>
                  <a:srgbClr val="1A1A2E"/>
                </a:solidFill>
                <a:latin typeface="Calibri"/>
              </a:rPr>
              <a:t>Single station; spatial representativeness varies with terrain</a:t>
            </a:r>
          </a:p>
        </p:txBody>
      </p:sp>
      <p:sp>
        <p:nvSpPr>
          <p:cNvPr id="10" name="Rectangle 9"/>
          <p:cNvSpPr/>
          <p:nvPr/>
        </p:nvSpPr>
        <p:spPr>
          <a:xfrm>
            <a:off x="292608" y="2011680"/>
            <a:ext cx="3931920" cy="603504"/>
          </a:xfrm>
          <a:prstGeom prst="rect">
            <a:avLst/>
          </a:prstGeom>
          <a:solidFill>
            <a:srgbClr val="ECEFF1"/>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2336" y="2066544"/>
            <a:ext cx="3712463" cy="219456"/>
          </a:xfrm>
          <a:prstGeom prst="rect">
            <a:avLst/>
          </a:prstGeom>
          <a:noFill/>
        </p:spPr>
        <p:txBody>
          <a:bodyPr wrap="square">
            <a:spAutoFit/>
          </a:bodyPr>
          <a:lstStyle/>
          <a:p>
            <a:pPr algn="l"/>
            <a:r>
              <a:rPr sz="1100" b="1" i="0">
                <a:solidFill>
                  <a:srgbClr val="546E7A"/>
                </a:solidFill>
                <a:latin typeface="Calibri"/>
              </a:rPr>
              <a:t>Uneven coverage</a:t>
            </a:r>
          </a:p>
        </p:txBody>
      </p:sp>
      <p:sp>
        <p:nvSpPr>
          <p:cNvPr id="12" name="TextBox 11"/>
          <p:cNvSpPr txBox="1"/>
          <p:nvPr/>
        </p:nvSpPr>
        <p:spPr>
          <a:xfrm>
            <a:off x="402336" y="2304288"/>
            <a:ext cx="3712463" cy="256032"/>
          </a:xfrm>
          <a:prstGeom prst="rect">
            <a:avLst/>
          </a:prstGeom>
          <a:noFill/>
        </p:spPr>
        <p:txBody>
          <a:bodyPr wrap="square">
            <a:spAutoFit/>
          </a:bodyPr>
          <a:lstStyle/>
          <a:p>
            <a:pPr algn="l"/>
            <a:r>
              <a:rPr sz="1000" b="0" i="0">
                <a:solidFill>
                  <a:srgbClr val="1A1A2E"/>
                </a:solidFill>
                <a:latin typeface="Calibri"/>
              </a:rPr>
              <a:t>Gaps in high-elevation and remote areas common in CO</a:t>
            </a:r>
          </a:p>
        </p:txBody>
      </p:sp>
      <p:sp>
        <p:nvSpPr>
          <p:cNvPr id="13" name="Rectangle 12"/>
          <p:cNvSpPr/>
          <p:nvPr/>
        </p:nvSpPr>
        <p:spPr>
          <a:xfrm>
            <a:off x="292608" y="2688336"/>
            <a:ext cx="3931920" cy="603504"/>
          </a:xfrm>
          <a:prstGeom prst="rect">
            <a:avLst/>
          </a:prstGeom>
          <a:solidFill>
            <a:srgbClr val="ECEFF1"/>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2336" y="2743200"/>
            <a:ext cx="3712463" cy="219456"/>
          </a:xfrm>
          <a:prstGeom prst="rect">
            <a:avLst/>
          </a:prstGeom>
          <a:noFill/>
        </p:spPr>
        <p:txBody>
          <a:bodyPr wrap="square">
            <a:spAutoFit/>
          </a:bodyPr>
          <a:lstStyle/>
          <a:p>
            <a:pPr algn="l"/>
            <a:r>
              <a:rPr sz="1100" b="1" i="0">
                <a:solidFill>
                  <a:srgbClr val="546E7A"/>
                </a:solidFill>
                <a:latin typeface="Calibri"/>
              </a:rPr>
              <a:t>24-hr lag dt</a:t>
            </a:r>
          </a:p>
        </p:txBody>
      </p:sp>
      <p:sp>
        <p:nvSpPr>
          <p:cNvPr id="15" name="TextBox 14"/>
          <p:cNvSpPr txBox="1"/>
          <p:nvPr/>
        </p:nvSpPr>
        <p:spPr>
          <a:xfrm>
            <a:off x="402336" y="2980944"/>
            <a:ext cx="3712463" cy="256032"/>
          </a:xfrm>
          <a:prstGeom prst="rect">
            <a:avLst/>
          </a:prstGeom>
          <a:noFill/>
        </p:spPr>
        <p:txBody>
          <a:bodyPr wrap="square">
            <a:spAutoFit/>
          </a:bodyPr>
          <a:lstStyle/>
          <a:p>
            <a:pPr algn="l"/>
            <a:r>
              <a:rPr sz="1000" b="0" i="0">
                <a:solidFill>
                  <a:srgbClr val="1A1A2E"/>
                </a:solidFill>
                <a:latin typeface="Calibri"/>
              </a:rPr>
              <a:t>FireFamilyPlus uses daily 1300 LST obs; coarser temporal integration</a:t>
            </a:r>
          </a:p>
        </p:txBody>
      </p:sp>
      <p:sp>
        <p:nvSpPr>
          <p:cNvPr id="16" name="Rectangle 15"/>
          <p:cNvSpPr/>
          <p:nvPr/>
        </p:nvSpPr>
        <p:spPr>
          <a:xfrm>
            <a:off x="292608" y="3364991"/>
            <a:ext cx="3931920" cy="603504"/>
          </a:xfrm>
          <a:prstGeom prst="rect">
            <a:avLst/>
          </a:prstGeom>
          <a:solidFill>
            <a:srgbClr val="ECEFF1"/>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3419856"/>
            <a:ext cx="3712463" cy="219456"/>
          </a:xfrm>
          <a:prstGeom prst="rect">
            <a:avLst/>
          </a:prstGeom>
          <a:noFill/>
        </p:spPr>
        <p:txBody>
          <a:bodyPr wrap="square">
            <a:spAutoFit/>
          </a:bodyPr>
          <a:lstStyle/>
          <a:p>
            <a:pPr algn="l"/>
            <a:r>
              <a:rPr sz="1100" b="1" i="0">
                <a:solidFill>
                  <a:srgbClr val="546E7A"/>
                </a:solidFill>
                <a:latin typeface="Calibri"/>
              </a:rPr>
              <a:t>ERC from RAWS</a:t>
            </a:r>
          </a:p>
        </p:txBody>
      </p:sp>
      <p:sp>
        <p:nvSpPr>
          <p:cNvPr id="18" name="TextBox 17"/>
          <p:cNvSpPr txBox="1"/>
          <p:nvPr/>
        </p:nvSpPr>
        <p:spPr>
          <a:xfrm>
            <a:off x="402336" y="3657599"/>
            <a:ext cx="3712463" cy="256032"/>
          </a:xfrm>
          <a:prstGeom prst="rect">
            <a:avLst/>
          </a:prstGeom>
          <a:noFill/>
        </p:spPr>
        <p:txBody>
          <a:bodyPr wrap="square">
            <a:spAutoFit/>
          </a:bodyPr>
          <a:lstStyle/>
          <a:p>
            <a:pPr algn="l"/>
            <a:r>
              <a:rPr sz="1000" b="0" i="0">
                <a:solidFill>
                  <a:srgbClr val="1A1A2E"/>
                </a:solidFill>
                <a:latin typeface="Calibri"/>
              </a:rPr>
              <a:t>NFDRS78 from on-site T/RH; calibrated locally but station-specific</a:t>
            </a:r>
          </a:p>
        </p:txBody>
      </p:sp>
      <p:sp>
        <p:nvSpPr>
          <p:cNvPr id="19" name="Rectangle 18"/>
          <p:cNvSpPr/>
          <p:nvPr/>
        </p:nvSpPr>
        <p:spPr>
          <a:xfrm>
            <a:off x="292608" y="4041648"/>
            <a:ext cx="3931920" cy="603504"/>
          </a:xfrm>
          <a:prstGeom prst="rect">
            <a:avLst/>
          </a:prstGeom>
          <a:solidFill>
            <a:srgbClr val="ECEFF1"/>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2336" y="4096511"/>
            <a:ext cx="3712463" cy="219456"/>
          </a:xfrm>
          <a:prstGeom prst="rect">
            <a:avLst/>
          </a:prstGeom>
          <a:noFill/>
        </p:spPr>
        <p:txBody>
          <a:bodyPr wrap="square">
            <a:spAutoFit/>
          </a:bodyPr>
          <a:lstStyle/>
          <a:p>
            <a:pPr algn="l"/>
            <a:r>
              <a:rPr sz="1100" b="1" i="0">
                <a:solidFill>
                  <a:srgbClr val="546E7A"/>
                </a:solidFill>
                <a:latin typeface="Calibri"/>
              </a:rPr>
              <a:t>~20 yr record</a:t>
            </a:r>
          </a:p>
        </p:txBody>
      </p:sp>
      <p:sp>
        <p:nvSpPr>
          <p:cNvPr id="21" name="TextBox 20"/>
          <p:cNvSpPr txBox="1"/>
          <p:nvPr/>
        </p:nvSpPr>
        <p:spPr>
          <a:xfrm>
            <a:off x="402336" y="4334256"/>
            <a:ext cx="3712463" cy="256032"/>
          </a:xfrm>
          <a:prstGeom prst="rect">
            <a:avLst/>
          </a:prstGeom>
          <a:noFill/>
        </p:spPr>
        <p:txBody>
          <a:bodyPr wrap="square">
            <a:spAutoFit/>
          </a:bodyPr>
          <a:lstStyle/>
          <a:p>
            <a:pPr algn="l"/>
            <a:r>
              <a:rPr sz="1000" b="0" i="0">
                <a:solidFill>
                  <a:srgbClr val="1A1A2E"/>
                </a:solidFill>
                <a:latin typeface="Calibri"/>
              </a:rPr>
              <a:t>Typical 2000–2020 calibration window for CO Front Range</a:t>
            </a:r>
          </a:p>
        </p:txBody>
      </p:sp>
      <p:sp>
        <p:nvSpPr>
          <p:cNvPr id="22" name="Rectangle 21"/>
          <p:cNvSpPr/>
          <p:nvPr/>
        </p:nvSpPr>
        <p:spPr>
          <a:xfrm>
            <a:off x="4919472" y="1335024"/>
            <a:ext cx="3931920" cy="603504"/>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1389888"/>
            <a:ext cx="3712463" cy="219456"/>
          </a:xfrm>
          <a:prstGeom prst="rect">
            <a:avLst/>
          </a:prstGeom>
          <a:noFill/>
        </p:spPr>
        <p:txBody>
          <a:bodyPr wrap="square">
            <a:spAutoFit/>
          </a:bodyPr>
          <a:lstStyle/>
          <a:p>
            <a:pPr algn="l"/>
            <a:r>
              <a:rPr sz="1100" b="1" i="0">
                <a:solidFill>
                  <a:srgbClr val="D4622A"/>
                </a:solidFill>
                <a:latin typeface="Calibri"/>
              </a:rPr>
              <a:t>Continuous grid</a:t>
            </a:r>
          </a:p>
        </p:txBody>
      </p:sp>
      <p:sp>
        <p:nvSpPr>
          <p:cNvPr id="24" name="TextBox 23"/>
          <p:cNvSpPr txBox="1"/>
          <p:nvPr/>
        </p:nvSpPr>
        <p:spPr>
          <a:xfrm>
            <a:off x="5029200" y="1627632"/>
            <a:ext cx="3712463" cy="256032"/>
          </a:xfrm>
          <a:prstGeom prst="rect">
            <a:avLst/>
          </a:prstGeom>
          <a:noFill/>
        </p:spPr>
        <p:txBody>
          <a:bodyPr wrap="square">
            <a:spAutoFit/>
          </a:bodyPr>
          <a:lstStyle/>
          <a:p>
            <a:pPr algn="l"/>
            <a:r>
              <a:rPr sz="1000" b="0" i="0">
                <a:solidFill>
                  <a:srgbClr val="1A1A2E"/>
                </a:solidFill>
                <a:latin typeface="Calibri"/>
              </a:rPr>
              <a:t>2.5 km CONUS coverage — no gaps over remote or high-elevation terrain</a:t>
            </a:r>
          </a:p>
        </p:txBody>
      </p:sp>
      <p:sp>
        <p:nvSpPr>
          <p:cNvPr id="25" name="Rectangle 24"/>
          <p:cNvSpPr/>
          <p:nvPr/>
        </p:nvSpPr>
        <p:spPr>
          <a:xfrm>
            <a:off x="4919472" y="2011680"/>
            <a:ext cx="3931920" cy="603504"/>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0" y="2066544"/>
            <a:ext cx="3712463" cy="219456"/>
          </a:xfrm>
          <a:prstGeom prst="rect">
            <a:avLst/>
          </a:prstGeom>
          <a:noFill/>
        </p:spPr>
        <p:txBody>
          <a:bodyPr wrap="square">
            <a:spAutoFit/>
          </a:bodyPr>
          <a:lstStyle/>
          <a:p>
            <a:pPr algn="l"/>
            <a:r>
              <a:rPr sz="1100" b="1" i="0">
                <a:solidFill>
                  <a:srgbClr val="D4622A"/>
                </a:solidFill>
                <a:latin typeface="Calibri"/>
              </a:rPr>
              <a:t>Fire-masked means</a:t>
            </a:r>
          </a:p>
        </p:txBody>
      </p:sp>
      <p:sp>
        <p:nvSpPr>
          <p:cNvPr id="27" name="TextBox 26"/>
          <p:cNvSpPr txBox="1"/>
          <p:nvPr/>
        </p:nvSpPr>
        <p:spPr>
          <a:xfrm>
            <a:off x="5029200" y="2304288"/>
            <a:ext cx="3712463" cy="256032"/>
          </a:xfrm>
          <a:prstGeom prst="rect">
            <a:avLst/>
          </a:prstGeom>
          <a:noFill/>
        </p:spPr>
        <p:txBody>
          <a:bodyPr wrap="square">
            <a:spAutoFit/>
          </a:bodyPr>
          <a:lstStyle/>
          <a:p>
            <a:pPr algn="l"/>
            <a:r>
              <a:rPr sz="1000" b="0" i="0">
                <a:solidFill>
                  <a:srgbClr val="1A1A2E"/>
                </a:solidFill>
                <a:latin typeface="Calibri"/>
              </a:rPr>
              <a:t>Restricts pyrome averages to historically burned pixels (MODIS 2001–2022)</a:t>
            </a:r>
          </a:p>
        </p:txBody>
      </p:sp>
      <p:sp>
        <p:nvSpPr>
          <p:cNvPr id="28" name="Rectangle 27"/>
          <p:cNvSpPr/>
          <p:nvPr/>
        </p:nvSpPr>
        <p:spPr>
          <a:xfrm>
            <a:off x="4919472" y="2688336"/>
            <a:ext cx="3931920" cy="603504"/>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0" y="2743200"/>
            <a:ext cx="3712463" cy="219456"/>
          </a:xfrm>
          <a:prstGeom prst="rect">
            <a:avLst/>
          </a:prstGeom>
          <a:noFill/>
        </p:spPr>
        <p:txBody>
          <a:bodyPr wrap="square">
            <a:spAutoFit/>
          </a:bodyPr>
          <a:lstStyle/>
          <a:p>
            <a:pPr algn="l"/>
            <a:r>
              <a:rPr sz="1100" b="1" i="0">
                <a:solidFill>
                  <a:srgbClr val="D4622A"/>
                </a:solidFill>
                <a:latin typeface="Calibri"/>
              </a:rPr>
              <a:t>1-hr lag dt</a:t>
            </a:r>
          </a:p>
        </p:txBody>
      </p:sp>
      <p:sp>
        <p:nvSpPr>
          <p:cNvPr id="30" name="TextBox 29"/>
          <p:cNvSpPr txBox="1"/>
          <p:nvPr/>
        </p:nvSpPr>
        <p:spPr>
          <a:xfrm>
            <a:off x="5029200" y="2980944"/>
            <a:ext cx="3712463" cy="256032"/>
          </a:xfrm>
          <a:prstGeom prst="rect">
            <a:avLst/>
          </a:prstGeom>
          <a:noFill/>
        </p:spPr>
        <p:txBody>
          <a:bodyPr wrap="square">
            <a:spAutoFit/>
          </a:bodyPr>
          <a:lstStyle/>
          <a:p>
            <a:pPr algn="l"/>
            <a:r>
              <a:rPr sz="1000" b="0" i="0">
                <a:solidFill>
                  <a:srgbClr val="1A1A2E"/>
                </a:solidFill>
                <a:latin typeface="Calibri"/>
              </a:rPr>
              <a:t>Full hourly NFDRS78 integration — more accurate precip rebound response</a:t>
            </a:r>
          </a:p>
        </p:txBody>
      </p:sp>
      <p:sp>
        <p:nvSpPr>
          <p:cNvPr id="31" name="Rectangle 30"/>
          <p:cNvSpPr/>
          <p:nvPr/>
        </p:nvSpPr>
        <p:spPr>
          <a:xfrm>
            <a:off x="4919472" y="3364991"/>
            <a:ext cx="3931920" cy="603504"/>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0" y="3419856"/>
            <a:ext cx="3712463" cy="219456"/>
          </a:xfrm>
          <a:prstGeom prst="rect">
            <a:avLst/>
          </a:prstGeom>
          <a:noFill/>
        </p:spPr>
        <p:txBody>
          <a:bodyPr wrap="square">
            <a:spAutoFit/>
          </a:bodyPr>
          <a:lstStyle/>
          <a:p>
            <a:pPr algn="l"/>
            <a:r>
              <a:rPr sz="1100" b="1" i="0">
                <a:solidFill>
                  <a:srgbClr val="D4622A"/>
                </a:solidFill>
                <a:latin typeface="Calibri"/>
              </a:rPr>
              <a:t>ERC from GridMET</a:t>
            </a:r>
          </a:p>
        </p:txBody>
      </p:sp>
      <p:sp>
        <p:nvSpPr>
          <p:cNvPr id="33" name="TextBox 32"/>
          <p:cNvSpPr txBox="1"/>
          <p:nvPr/>
        </p:nvSpPr>
        <p:spPr>
          <a:xfrm>
            <a:off x="5029200" y="3657599"/>
            <a:ext cx="3712463" cy="256032"/>
          </a:xfrm>
          <a:prstGeom prst="rect">
            <a:avLst/>
          </a:prstGeom>
          <a:noFill/>
        </p:spPr>
        <p:txBody>
          <a:bodyPr wrap="square">
            <a:spAutoFit/>
          </a:bodyPr>
          <a:lstStyle/>
          <a:p>
            <a:pPr algn="l"/>
            <a:r>
              <a:rPr sz="1000" b="0" i="0">
                <a:solidFill>
                  <a:srgbClr val="1A1A2E"/>
                </a:solidFill>
                <a:latin typeface="Calibri"/>
              </a:rPr>
              <a:t>Daily GEE-derived ERC climatology; consistent spatial basis across pyromes</a:t>
            </a:r>
          </a:p>
        </p:txBody>
      </p:sp>
      <p:sp>
        <p:nvSpPr>
          <p:cNvPr id="34" name="Rectangle 33"/>
          <p:cNvSpPr/>
          <p:nvPr/>
        </p:nvSpPr>
        <p:spPr>
          <a:xfrm>
            <a:off x="4919472" y="4041648"/>
            <a:ext cx="3931920" cy="603504"/>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0" y="4096511"/>
            <a:ext cx="3712463" cy="219456"/>
          </a:xfrm>
          <a:prstGeom prst="rect">
            <a:avLst/>
          </a:prstGeom>
          <a:noFill/>
        </p:spPr>
        <p:txBody>
          <a:bodyPr wrap="square">
            <a:spAutoFit/>
          </a:bodyPr>
          <a:lstStyle/>
          <a:p>
            <a:pPr algn="l"/>
            <a:r>
              <a:rPr sz="1100" b="1" i="0">
                <a:solidFill>
                  <a:srgbClr val="D4622A"/>
                </a:solidFill>
                <a:latin typeface="Calibri"/>
              </a:rPr>
              <a:t>2011–2025 record</a:t>
            </a:r>
          </a:p>
        </p:txBody>
      </p:sp>
      <p:sp>
        <p:nvSpPr>
          <p:cNvPr id="36" name="TextBox 35"/>
          <p:cNvSpPr txBox="1"/>
          <p:nvPr/>
        </p:nvSpPr>
        <p:spPr>
          <a:xfrm>
            <a:off x="5029200" y="4334256"/>
            <a:ext cx="3712463" cy="256032"/>
          </a:xfrm>
          <a:prstGeom prst="rect">
            <a:avLst/>
          </a:prstGeom>
          <a:noFill/>
        </p:spPr>
        <p:txBody>
          <a:bodyPr wrap="square">
            <a:spAutoFit/>
          </a:bodyPr>
          <a:lstStyle/>
          <a:p>
            <a:pPr algn="l"/>
            <a:r>
              <a:rPr sz="1000" b="0" i="0">
                <a:solidFill>
                  <a:srgbClr val="1A1A2E"/>
                </a:solidFill>
                <a:latin typeface="Calibri"/>
              </a:rPr>
              <a:t>15-year archive; same period, consistent inputs across all 9 CO pyromes</a:t>
            </a:r>
          </a:p>
        </p:txBody>
      </p:sp>
      <p:sp>
        <p:nvSpPr>
          <p:cNvPr id="37" name="Rectangle 36"/>
          <p:cNvSpPr/>
          <p:nvPr/>
        </p:nvSpPr>
        <p:spPr>
          <a:xfrm>
            <a:off x="4343400" y="1188720"/>
            <a:ext cx="457200" cy="3474720"/>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i="0">
                <a:solidFill>
                  <a:srgbClr val="546E7A"/>
                </a:solidFill>
                <a:latin typeface="Calibri"/>
              </a:rPr>
              <a:t>VS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8412480" cy="457200"/>
          </a:xfrm>
          <a:prstGeom prst="rect">
            <a:avLst/>
          </a:prstGeom>
          <a:noFill/>
        </p:spPr>
        <p:txBody>
          <a:bodyPr wrap="square">
            <a:spAutoFit/>
          </a:bodyPr>
          <a:lstStyle/>
          <a:p>
            <a:pPr algn="l"/>
            <a:r>
              <a:rPr sz="2600" b="1" i="0">
                <a:solidFill>
                  <a:srgbClr val="1A1A2E"/>
                </a:solidFill>
                <a:latin typeface="Calibri"/>
              </a:rPr>
              <a:t>GEE Export Pipeline</a:t>
            </a:r>
          </a:p>
        </p:txBody>
      </p:sp>
      <p:sp>
        <p:nvSpPr>
          <p:cNvPr id="3" name="TextBox 2"/>
          <p:cNvSpPr txBox="1"/>
          <p:nvPr/>
        </p:nvSpPr>
        <p:spPr>
          <a:xfrm>
            <a:off x="365760" y="621792"/>
            <a:ext cx="8412480" cy="237744"/>
          </a:xfrm>
          <a:prstGeom prst="rect">
            <a:avLst/>
          </a:prstGeom>
          <a:noFill/>
        </p:spPr>
        <p:txBody>
          <a:bodyPr wrap="square">
            <a:spAutoFit/>
          </a:bodyPr>
          <a:lstStyle/>
          <a:p>
            <a:pPr algn="l"/>
            <a:r>
              <a:rPr sz="1000" b="0" i="1">
                <a:solidFill>
                  <a:srgbClr val="546E7A"/>
                </a:solidFill>
                <a:latin typeface="Courier New"/>
              </a:rPr>
              <a:t>Notebook: code/notebooks/00b_RTMA-EMC.ipynb</a:t>
            </a:r>
          </a:p>
        </p:txBody>
      </p:sp>
      <p:sp>
        <p:nvSpPr>
          <p:cNvPr id="4" name="Oval 3"/>
          <p:cNvSpPr/>
          <p:nvPr/>
        </p:nvSpPr>
        <p:spPr>
          <a:xfrm>
            <a:off x="256032" y="987552"/>
            <a:ext cx="365760" cy="365760"/>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1</a:t>
            </a:r>
          </a:p>
        </p:txBody>
      </p:sp>
      <p:sp>
        <p:nvSpPr>
          <p:cNvPr id="5" name="TextBox 4"/>
          <p:cNvSpPr txBox="1"/>
          <p:nvPr/>
        </p:nvSpPr>
        <p:spPr>
          <a:xfrm>
            <a:off x="768096" y="950976"/>
            <a:ext cx="5212080" cy="274320"/>
          </a:xfrm>
          <a:prstGeom prst="rect">
            <a:avLst/>
          </a:prstGeom>
          <a:noFill/>
        </p:spPr>
        <p:txBody>
          <a:bodyPr wrap="square">
            <a:spAutoFit/>
          </a:bodyPr>
          <a:lstStyle/>
          <a:p>
            <a:pPr algn="l"/>
            <a:r>
              <a:rPr sz="1300" b="1" i="0">
                <a:solidFill>
                  <a:srgbClr val="1A1A2E"/>
                </a:solidFill>
                <a:latin typeface="Calibri"/>
              </a:rPr>
              <a:t>Pull RTMA Collection</a:t>
            </a:r>
          </a:p>
        </p:txBody>
      </p:sp>
      <p:sp>
        <p:nvSpPr>
          <p:cNvPr id="6" name="TextBox 5"/>
          <p:cNvSpPr txBox="1"/>
          <p:nvPr/>
        </p:nvSpPr>
        <p:spPr>
          <a:xfrm>
            <a:off x="768096" y="1225295"/>
            <a:ext cx="5212080" cy="347472"/>
          </a:xfrm>
          <a:prstGeom prst="rect">
            <a:avLst/>
          </a:prstGeom>
          <a:noFill/>
        </p:spPr>
        <p:txBody>
          <a:bodyPr wrap="square">
            <a:spAutoFit/>
          </a:bodyPr>
          <a:lstStyle/>
          <a:p>
            <a:pPr algn="l"/>
            <a:r>
              <a:rPr sz="1000" b="0" i="0">
                <a:solidFill>
                  <a:srgbClr val="546E7A"/>
                </a:solidFill>
                <a:latin typeface="Calibri"/>
              </a:rPr>
              <a:t>NOAA/NWS/RTMA filtered to CO pyrome bounds · April 1 – October 31 · one year per export task</a:t>
            </a:r>
          </a:p>
        </p:txBody>
      </p:sp>
      <p:sp>
        <p:nvSpPr>
          <p:cNvPr id="7" name="Rectangle 6"/>
          <p:cNvSpPr/>
          <p:nvPr/>
        </p:nvSpPr>
        <p:spPr>
          <a:xfrm>
            <a:off x="6144768" y="1005840"/>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1">
                <a:solidFill>
                  <a:srgbClr val="6D4C41"/>
                </a:solidFill>
                <a:latin typeface="Calibri"/>
              </a:rPr>
              <a:t>Bands kept: TMP, DPT, ACPC01 (drop unused bands early for speed)</a:t>
            </a:r>
          </a:p>
        </p:txBody>
      </p:sp>
      <p:cxnSp>
        <p:nvCxnSpPr>
          <p:cNvPr id="8" name="Connector 7"/>
          <p:cNvCxnSpPr/>
          <p:nvPr/>
        </p:nvCxnSpPr>
        <p:spPr>
          <a:xfrm>
            <a:off x="438912" y="1353312"/>
            <a:ext cx="0" cy="36576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256032" y="1773936"/>
            <a:ext cx="365760" cy="36576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2</a:t>
            </a:r>
          </a:p>
        </p:txBody>
      </p:sp>
      <p:sp>
        <p:nvSpPr>
          <p:cNvPr id="10" name="TextBox 9"/>
          <p:cNvSpPr txBox="1"/>
          <p:nvPr/>
        </p:nvSpPr>
        <p:spPr>
          <a:xfrm>
            <a:off x="768096" y="1737360"/>
            <a:ext cx="5212080" cy="274320"/>
          </a:xfrm>
          <a:prstGeom prst="rect">
            <a:avLst/>
          </a:prstGeom>
          <a:noFill/>
        </p:spPr>
        <p:txBody>
          <a:bodyPr wrap="square">
            <a:spAutoFit/>
          </a:bodyPr>
          <a:lstStyle/>
          <a:p>
            <a:pPr algn="l"/>
            <a:r>
              <a:rPr sz="1300" b="1" i="0">
                <a:solidFill>
                  <a:srgbClr val="1A1A2E"/>
                </a:solidFill>
                <a:latin typeface="Calibri"/>
              </a:rPr>
              <a:t>Per-pixel Derived Bands</a:t>
            </a:r>
          </a:p>
        </p:txBody>
      </p:sp>
      <p:sp>
        <p:nvSpPr>
          <p:cNvPr id="11" name="TextBox 10"/>
          <p:cNvSpPr txBox="1"/>
          <p:nvPr/>
        </p:nvSpPr>
        <p:spPr>
          <a:xfrm>
            <a:off x="768096" y="2011679"/>
            <a:ext cx="5212080" cy="347472"/>
          </a:xfrm>
          <a:prstGeom prst="rect">
            <a:avLst/>
          </a:prstGeom>
          <a:noFill/>
        </p:spPr>
        <p:txBody>
          <a:bodyPr wrap="square">
            <a:spAutoFit/>
          </a:bodyPr>
          <a:lstStyle/>
          <a:p>
            <a:pPr algn="l"/>
            <a:r>
              <a:rPr sz="1000" b="0" i="0">
                <a:solidFill>
                  <a:srgbClr val="546E7A"/>
                </a:solidFill>
                <a:latin typeface="Calibri"/>
              </a:rPr>
              <a:t>T°C → T°F · Magnus formula → RH (%) and VPD (Pa) · 3-regime NFDRS EMC (Cohen &amp; Deeming 1985)</a:t>
            </a:r>
          </a:p>
        </p:txBody>
      </p:sp>
      <p:sp>
        <p:nvSpPr>
          <p:cNvPr id="12" name="Rectangle 11"/>
          <p:cNvSpPr/>
          <p:nvPr/>
        </p:nvSpPr>
        <p:spPr>
          <a:xfrm>
            <a:off x="6144768" y="1792224"/>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1">
                <a:solidFill>
                  <a:srgbClr val="6D4C41"/>
                </a:solidFill>
                <a:latin typeface="Calibri"/>
              </a:rPr>
              <a:t>EMC per pixel BEFORE spatial averaging — avoids EMC(mean T, mean RH) nonlinear bias</a:t>
            </a:r>
          </a:p>
        </p:txBody>
      </p:sp>
      <p:cxnSp>
        <p:nvCxnSpPr>
          <p:cNvPr id="13" name="Connector 12"/>
          <p:cNvCxnSpPr/>
          <p:nvPr/>
        </p:nvCxnSpPr>
        <p:spPr>
          <a:xfrm>
            <a:off x="438912" y="2139696"/>
            <a:ext cx="0" cy="36576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56032" y="2560320"/>
            <a:ext cx="365760" cy="365760"/>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3</a:t>
            </a:r>
          </a:p>
        </p:txBody>
      </p:sp>
      <p:sp>
        <p:nvSpPr>
          <p:cNvPr id="15" name="TextBox 14"/>
          <p:cNvSpPr txBox="1"/>
          <p:nvPr/>
        </p:nvSpPr>
        <p:spPr>
          <a:xfrm>
            <a:off x="768096" y="2523744"/>
            <a:ext cx="5212080" cy="274320"/>
          </a:xfrm>
          <a:prstGeom prst="rect">
            <a:avLst/>
          </a:prstGeom>
          <a:noFill/>
        </p:spPr>
        <p:txBody>
          <a:bodyPr wrap="square">
            <a:spAutoFit/>
          </a:bodyPr>
          <a:lstStyle/>
          <a:p>
            <a:pPr algn="l"/>
            <a:r>
              <a:rPr sz="1300" b="1" i="0">
                <a:solidFill>
                  <a:srgbClr val="1A1A2E"/>
                </a:solidFill>
                <a:latin typeface="Calibri"/>
              </a:rPr>
              <a:t>Apply MODIS Fire Mask</a:t>
            </a:r>
          </a:p>
        </p:txBody>
      </p:sp>
      <p:sp>
        <p:nvSpPr>
          <p:cNvPr id="16" name="TextBox 15"/>
          <p:cNvSpPr txBox="1"/>
          <p:nvPr/>
        </p:nvSpPr>
        <p:spPr>
          <a:xfrm>
            <a:off x="768096" y="2798064"/>
            <a:ext cx="5212080" cy="347472"/>
          </a:xfrm>
          <a:prstGeom prst="rect">
            <a:avLst/>
          </a:prstGeom>
          <a:noFill/>
        </p:spPr>
        <p:txBody>
          <a:bodyPr wrap="square">
            <a:spAutoFit/>
          </a:bodyPr>
          <a:lstStyle/>
          <a:p>
            <a:pPr algn="l"/>
            <a:r>
              <a:rPr sz="1000" b="0" i="0">
                <a:solidFill>
                  <a:srgbClr val="546E7A"/>
                </a:solidFill>
                <a:latin typeface="Calibri"/>
              </a:rPr>
              <a:t>MCD64A1 burned area 2001–2022 → ever_burned_500m → aggregated to 2.5 km via reduceResolution</a:t>
            </a:r>
          </a:p>
        </p:txBody>
      </p:sp>
      <p:sp>
        <p:nvSpPr>
          <p:cNvPr id="17" name="Rectangle 16"/>
          <p:cNvSpPr/>
          <p:nvPr/>
        </p:nvSpPr>
        <p:spPr>
          <a:xfrm>
            <a:off x="6144768" y="2578608"/>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1">
                <a:solidFill>
                  <a:srgbClr val="6D4C41"/>
                </a:solidFill>
                <a:latin typeface="Calibri"/>
              </a:rPr>
              <a:t>Restricts all pyrome reductions to historically burnable pixels</a:t>
            </a:r>
          </a:p>
        </p:txBody>
      </p:sp>
      <p:cxnSp>
        <p:nvCxnSpPr>
          <p:cNvPr id="18" name="Connector 17"/>
          <p:cNvCxnSpPr/>
          <p:nvPr/>
        </p:nvCxnSpPr>
        <p:spPr>
          <a:xfrm>
            <a:off x="438912" y="2926080"/>
            <a:ext cx="0" cy="36576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256032" y="3346704"/>
            <a:ext cx="365760" cy="365760"/>
          </a:xfrm>
          <a:prstGeom prst="ellipse">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4</a:t>
            </a:r>
          </a:p>
        </p:txBody>
      </p:sp>
      <p:sp>
        <p:nvSpPr>
          <p:cNvPr id="20" name="TextBox 19"/>
          <p:cNvSpPr txBox="1"/>
          <p:nvPr/>
        </p:nvSpPr>
        <p:spPr>
          <a:xfrm>
            <a:off x="768096" y="3310128"/>
            <a:ext cx="5212080" cy="274320"/>
          </a:xfrm>
          <a:prstGeom prst="rect">
            <a:avLst/>
          </a:prstGeom>
          <a:noFill/>
        </p:spPr>
        <p:txBody>
          <a:bodyPr wrap="square">
            <a:spAutoFit/>
          </a:bodyPr>
          <a:lstStyle/>
          <a:p>
            <a:pPr algn="l"/>
            <a:r>
              <a:rPr sz="1300" b="1" i="0">
                <a:solidFill>
                  <a:srgbClr val="1A1A2E"/>
                </a:solidFill>
                <a:latin typeface="Calibri"/>
              </a:rPr>
              <a:t>Batch Reduce to Pyrome Means</a:t>
            </a:r>
          </a:p>
        </p:txBody>
      </p:sp>
      <p:sp>
        <p:nvSpPr>
          <p:cNvPr id="21" name="TextBox 20"/>
          <p:cNvSpPr txBox="1"/>
          <p:nvPr/>
        </p:nvSpPr>
        <p:spPr>
          <a:xfrm>
            <a:off x="768096" y="3584448"/>
            <a:ext cx="5212080" cy="347472"/>
          </a:xfrm>
          <a:prstGeom prst="rect">
            <a:avLst/>
          </a:prstGeom>
          <a:noFill/>
        </p:spPr>
        <p:txBody>
          <a:bodyPr wrap="square">
            <a:spAutoFit/>
          </a:bodyPr>
          <a:lstStyle/>
          <a:p>
            <a:pPr algn="l"/>
            <a:r>
              <a:rPr sz="1000" b="0" i="0">
                <a:solidFill>
                  <a:srgbClr val="546E7A"/>
                </a:solidFill>
                <a:latin typeface="Calibri"/>
              </a:rPr>
              <a:t>reduceRegions across 9 CO pyromes in one server operation (replaced 9 serial reduceRegion calls)</a:t>
            </a:r>
          </a:p>
        </p:txBody>
      </p:sp>
      <p:sp>
        <p:nvSpPr>
          <p:cNvPr id="22" name="Rectangle 21"/>
          <p:cNvSpPr/>
          <p:nvPr/>
        </p:nvSpPr>
        <p:spPr>
          <a:xfrm>
            <a:off x="6144768" y="3364992"/>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1">
                <a:solidFill>
                  <a:srgbClr val="6D4C41"/>
                </a:solidFill>
                <a:latin typeface="Calibri"/>
              </a:rPr>
              <a:t>tileScale=4 prevents memory-limit errors on large pyrome geometries</a:t>
            </a:r>
          </a:p>
        </p:txBody>
      </p:sp>
      <p:cxnSp>
        <p:nvCxnSpPr>
          <p:cNvPr id="23" name="Connector 22"/>
          <p:cNvCxnSpPr/>
          <p:nvPr/>
        </p:nvCxnSpPr>
        <p:spPr>
          <a:xfrm>
            <a:off x="438912" y="3712464"/>
            <a:ext cx="0" cy="36576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256032" y="4133087"/>
            <a:ext cx="365760" cy="365760"/>
          </a:xfrm>
          <a:prstGeom prst="ellipse">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FFFFFF"/>
                </a:solidFill>
                <a:latin typeface="Calibri"/>
              </a:rPr>
              <a:t>5</a:t>
            </a:r>
          </a:p>
        </p:txBody>
      </p:sp>
      <p:sp>
        <p:nvSpPr>
          <p:cNvPr id="25" name="TextBox 24"/>
          <p:cNvSpPr txBox="1"/>
          <p:nvPr/>
        </p:nvSpPr>
        <p:spPr>
          <a:xfrm>
            <a:off x="768096" y="4096511"/>
            <a:ext cx="5212080" cy="274320"/>
          </a:xfrm>
          <a:prstGeom prst="rect">
            <a:avLst/>
          </a:prstGeom>
          <a:noFill/>
        </p:spPr>
        <p:txBody>
          <a:bodyPr wrap="square">
            <a:spAutoFit/>
          </a:bodyPr>
          <a:lstStyle/>
          <a:p>
            <a:pPr algn="l"/>
            <a:r>
              <a:rPr sz="1300" b="1" i="0">
                <a:solidFill>
                  <a:srgbClr val="1A1A2E"/>
                </a:solidFill>
                <a:latin typeface="Calibri"/>
              </a:rPr>
              <a:t>Export CSV to Google Drive</a:t>
            </a:r>
          </a:p>
        </p:txBody>
      </p:sp>
      <p:sp>
        <p:nvSpPr>
          <p:cNvPr id="26" name="TextBox 25"/>
          <p:cNvSpPr txBox="1"/>
          <p:nvPr/>
        </p:nvSpPr>
        <p:spPr>
          <a:xfrm>
            <a:off x="768096" y="4370832"/>
            <a:ext cx="5212080" cy="347472"/>
          </a:xfrm>
          <a:prstGeom prst="rect">
            <a:avLst/>
          </a:prstGeom>
          <a:noFill/>
        </p:spPr>
        <p:txBody>
          <a:bodyPr wrap="square">
            <a:spAutoFit/>
          </a:bodyPr>
          <a:lstStyle/>
          <a:p>
            <a:pPr algn="l"/>
            <a:r>
              <a:rPr sz="1000" b="0" i="0">
                <a:solidFill>
                  <a:srgbClr val="546E7A"/>
                </a:solidFill>
                <a:latin typeface="Calibri"/>
              </a:rPr>
              <a:t>One task per year → fb_tools_weather/rtma_hourly_CO_pyromes_YYYY.csv</a:t>
            </a:r>
          </a:p>
        </p:txBody>
      </p:sp>
      <p:sp>
        <p:nvSpPr>
          <p:cNvPr id="27" name="Rectangle 26"/>
          <p:cNvSpPr/>
          <p:nvPr/>
        </p:nvSpPr>
        <p:spPr>
          <a:xfrm>
            <a:off x="6144768" y="4151376"/>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1">
                <a:solidFill>
                  <a:srgbClr val="6D4C41"/>
                </a:solidFill>
                <a:latin typeface="Calibri"/>
              </a:rPr>
              <a:t>Schema: pyrome_id, datetime_utc, tmp_f, rh_pct, emc_pct, vpd_pa, pcp_mm_hr</a:t>
            </a:r>
          </a:p>
        </p:txBody>
      </p:sp>
      <p:sp>
        <p:nvSpPr>
          <p:cNvPr id="28" name="Rectangle 27"/>
          <p:cNvSpPr/>
          <p:nvPr/>
        </p:nvSpPr>
        <p:spPr>
          <a:xfrm>
            <a:off x="292608" y="4773168"/>
            <a:ext cx="8558784" cy="256032"/>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1">
                <a:solidFill>
                  <a:srgbClr val="6D4C41"/>
                </a:solidFill>
                <a:latin typeface="Calibri"/>
              </a:rPr>
              <a:t>Output: 15 yearly CSVs · 683,676 hourly rows · 9 CO pyromes · 2011–2025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46304"/>
            <a:ext cx="8412480" cy="420624"/>
          </a:xfrm>
          <a:prstGeom prst="rect">
            <a:avLst/>
          </a:prstGeom>
          <a:noFill/>
        </p:spPr>
        <p:txBody>
          <a:bodyPr wrap="square">
            <a:spAutoFit/>
          </a:bodyPr>
          <a:lstStyle/>
          <a:p>
            <a:pPr algn="l"/>
            <a:r>
              <a:rPr sz="2400" b="1" i="0">
                <a:solidFill>
                  <a:srgbClr val="1A1A2E"/>
                </a:solidFill>
                <a:latin typeface="Calibri"/>
              </a:rPr>
              <a:t>Dead Fuel Moisture — How It Works</a:t>
            </a:r>
          </a:p>
        </p:txBody>
      </p:sp>
      <p:sp>
        <p:nvSpPr>
          <p:cNvPr id="3" name="Rectangle 2"/>
          <p:cNvSpPr/>
          <p:nvPr/>
        </p:nvSpPr>
        <p:spPr>
          <a:xfrm>
            <a:off x="201168" y="676656"/>
            <a:ext cx="1883664" cy="1664208"/>
          </a:xfrm>
          <a:prstGeom prst="rect">
            <a:avLst/>
          </a:prstGeom>
          <a:solidFill>
            <a:srgbClr val="FDE9D6"/>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1168" y="676656"/>
            <a:ext cx="128016" cy="1664208"/>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02336" y="768096"/>
            <a:ext cx="1627632" cy="256032"/>
          </a:xfrm>
          <a:prstGeom prst="rect">
            <a:avLst/>
          </a:prstGeom>
          <a:noFill/>
        </p:spPr>
        <p:txBody>
          <a:bodyPr wrap="square">
            <a:spAutoFit/>
          </a:bodyPr>
          <a:lstStyle/>
          <a:p>
            <a:pPr algn="l"/>
            <a:r>
              <a:rPr sz="1100" b="1" i="0">
                <a:solidFill>
                  <a:srgbClr val="D4622A"/>
                </a:solidFill>
                <a:latin typeface="Calibri"/>
              </a:rPr>
              <a:t>① RTMA  Inputs</a:t>
            </a:r>
          </a:p>
        </p:txBody>
      </p:sp>
      <p:sp>
        <p:nvSpPr>
          <p:cNvPr id="6" name="TextBox 5"/>
          <p:cNvSpPr txBox="1"/>
          <p:nvPr/>
        </p:nvSpPr>
        <p:spPr>
          <a:xfrm>
            <a:off x="402336" y="1078992"/>
            <a:ext cx="1627632" cy="274320"/>
          </a:xfrm>
          <a:prstGeom prst="rect">
            <a:avLst/>
          </a:prstGeom>
          <a:noFill/>
        </p:spPr>
        <p:txBody>
          <a:bodyPr wrap="square">
            <a:spAutoFit/>
          </a:bodyPr>
          <a:lstStyle/>
          <a:p>
            <a:pPr algn="l"/>
            <a:r>
              <a:rPr sz="1000" b="0" i="0">
                <a:solidFill>
                  <a:srgbClr val="1A1A2E"/>
                </a:solidFill>
                <a:latin typeface="Calibri"/>
              </a:rPr>
              <a:t>T (°F)  — TMP band</a:t>
            </a:r>
          </a:p>
        </p:txBody>
      </p:sp>
      <p:sp>
        <p:nvSpPr>
          <p:cNvPr id="7" name="TextBox 6"/>
          <p:cNvSpPr txBox="1"/>
          <p:nvPr/>
        </p:nvSpPr>
        <p:spPr>
          <a:xfrm>
            <a:off x="402336" y="1380744"/>
            <a:ext cx="1627632" cy="274320"/>
          </a:xfrm>
          <a:prstGeom prst="rect">
            <a:avLst/>
          </a:prstGeom>
          <a:noFill/>
        </p:spPr>
        <p:txBody>
          <a:bodyPr wrap="square">
            <a:spAutoFit/>
          </a:bodyPr>
          <a:lstStyle/>
          <a:p>
            <a:pPr algn="l"/>
            <a:r>
              <a:rPr sz="1000" b="0" i="0">
                <a:solidFill>
                  <a:srgbClr val="1A1A2E"/>
                </a:solidFill>
                <a:latin typeface="Calibri"/>
              </a:rPr>
              <a:t>RH (%)  — from T / Td</a:t>
            </a:r>
          </a:p>
        </p:txBody>
      </p:sp>
      <p:sp>
        <p:nvSpPr>
          <p:cNvPr id="8" name="TextBox 7"/>
          <p:cNvSpPr txBox="1"/>
          <p:nvPr/>
        </p:nvSpPr>
        <p:spPr>
          <a:xfrm>
            <a:off x="402336" y="1682495"/>
            <a:ext cx="1627632" cy="274320"/>
          </a:xfrm>
          <a:prstGeom prst="rect">
            <a:avLst/>
          </a:prstGeom>
          <a:noFill/>
        </p:spPr>
        <p:txBody>
          <a:bodyPr wrap="square">
            <a:spAutoFit/>
          </a:bodyPr>
          <a:lstStyle/>
          <a:p>
            <a:pPr algn="l"/>
            <a:r>
              <a:rPr sz="1000" b="0" i="0">
                <a:solidFill>
                  <a:srgbClr val="1A1A2E"/>
                </a:solidFill>
                <a:latin typeface="Calibri"/>
              </a:rPr>
              <a:t>Precip (mm/hr) — ACPC01</a:t>
            </a:r>
          </a:p>
        </p:txBody>
      </p:sp>
      <p:sp>
        <p:nvSpPr>
          <p:cNvPr id="9" name="TextBox 8"/>
          <p:cNvSpPr txBox="1"/>
          <p:nvPr/>
        </p:nvSpPr>
        <p:spPr>
          <a:xfrm>
            <a:off x="402336" y="1984248"/>
            <a:ext cx="1627632" cy="274320"/>
          </a:xfrm>
          <a:prstGeom prst="rect">
            <a:avLst/>
          </a:prstGeom>
          <a:noFill/>
        </p:spPr>
        <p:txBody>
          <a:bodyPr wrap="square">
            <a:spAutoFit/>
          </a:bodyPr>
          <a:lstStyle/>
          <a:p>
            <a:pPr algn="l"/>
            <a:r>
              <a:rPr sz="1000" b="0" i="0">
                <a:solidFill>
                  <a:srgbClr val="1A1A2E"/>
                </a:solidFill>
                <a:latin typeface="Calibri"/>
              </a:rPr>
              <a:t>Hourly · 2.5 km · GEE</a:t>
            </a:r>
          </a:p>
        </p:txBody>
      </p:sp>
      <p:sp>
        <p:nvSpPr>
          <p:cNvPr id="10" name="TextBox 9"/>
          <p:cNvSpPr txBox="1"/>
          <p:nvPr/>
        </p:nvSpPr>
        <p:spPr>
          <a:xfrm>
            <a:off x="2121408" y="1371600"/>
            <a:ext cx="256032" cy="256032"/>
          </a:xfrm>
          <a:prstGeom prst="rect">
            <a:avLst/>
          </a:prstGeom>
          <a:noFill/>
        </p:spPr>
        <p:txBody>
          <a:bodyPr wrap="square">
            <a:spAutoFit/>
          </a:bodyPr>
          <a:lstStyle/>
          <a:p>
            <a:pPr algn="ctr"/>
            <a:r>
              <a:rPr sz="1800" b="1" i="0">
                <a:solidFill>
                  <a:srgbClr val="90A4AE"/>
                </a:solidFill>
                <a:latin typeface="Calibri"/>
              </a:rPr>
              <a:t>→</a:t>
            </a:r>
          </a:p>
        </p:txBody>
      </p:sp>
      <p:sp>
        <p:nvSpPr>
          <p:cNvPr id="11" name="Rectangle 10"/>
          <p:cNvSpPr/>
          <p:nvPr/>
        </p:nvSpPr>
        <p:spPr>
          <a:xfrm>
            <a:off x="2395728" y="676656"/>
            <a:ext cx="1956816" cy="1664208"/>
          </a:xfrm>
          <a:prstGeom prst="rect">
            <a:avLst/>
          </a:prstGeom>
          <a:solidFill>
            <a:srgbClr val="D6E8F7"/>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395728" y="676656"/>
            <a:ext cx="128016" cy="1664208"/>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6896" y="768096"/>
            <a:ext cx="1700784" cy="256032"/>
          </a:xfrm>
          <a:prstGeom prst="rect">
            <a:avLst/>
          </a:prstGeom>
          <a:noFill/>
        </p:spPr>
        <p:txBody>
          <a:bodyPr wrap="square">
            <a:spAutoFit/>
          </a:bodyPr>
          <a:lstStyle/>
          <a:p>
            <a:pPr algn="l"/>
            <a:r>
              <a:rPr sz="1100" b="1" i="0">
                <a:solidFill>
                  <a:srgbClr val="1B6CA8"/>
                </a:solidFill>
                <a:latin typeface="Calibri"/>
              </a:rPr>
              <a:t>② EMC  (per pixel, GEE)</a:t>
            </a:r>
          </a:p>
        </p:txBody>
      </p:sp>
      <p:sp>
        <p:nvSpPr>
          <p:cNvPr id="14" name="TextBox 13"/>
          <p:cNvSpPr txBox="1"/>
          <p:nvPr/>
        </p:nvSpPr>
        <p:spPr>
          <a:xfrm>
            <a:off x="2596896" y="1078992"/>
            <a:ext cx="1700784" cy="274320"/>
          </a:xfrm>
          <a:prstGeom prst="rect">
            <a:avLst/>
          </a:prstGeom>
          <a:noFill/>
        </p:spPr>
        <p:txBody>
          <a:bodyPr wrap="square">
            <a:spAutoFit/>
          </a:bodyPr>
          <a:lstStyle/>
          <a:p>
            <a:pPr algn="l"/>
            <a:r>
              <a:rPr sz="1000" b="0" i="0">
                <a:solidFill>
                  <a:srgbClr val="1A1A2E"/>
                </a:solidFill>
                <a:latin typeface="Calibri"/>
              </a:rPr>
              <a:t>Cohen &amp; Deeming (1985)</a:t>
            </a:r>
          </a:p>
        </p:txBody>
      </p:sp>
      <p:sp>
        <p:nvSpPr>
          <p:cNvPr id="15" name="TextBox 14"/>
          <p:cNvSpPr txBox="1"/>
          <p:nvPr/>
        </p:nvSpPr>
        <p:spPr>
          <a:xfrm>
            <a:off x="2596896" y="1380744"/>
            <a:ext cx="1700784" cy="274320"/>
          </a:xfrm>
          <a:prstGeom prst="rect">
            <a:avLst/>
          </a:prstGeom>
          <a:noFill/>
        </p:spPr>
        <p:txBody>
          <a:bodyPr wrap="square">
            <a:spAutoFit/>
          </a:bodyPr>
          <a:lstStyle/>
          <a:p>
            <a:pPr algn="l"/>
            <a:r>
              <a:rPr sz="1000" b="0" i="0">
                <a:solidFill>
                  <a:srgbClr val="1A1A2E"/>
                </a:solidFill>
                <a:latin typeface="Calibri"/>
              </a:rPr>
              <a:t>3-regime piecewise in T, RH</a:t>
            </a:r>
          </a:p>
        </p:txBody>
      </p:sp>
      <p:sp>
        <p:nvSpPr>
          <p:cNvPr id="16" name="TextBox 15"/>
          <p:cNvSpPr txBox="1"/>
          <p:nvPr/>
        </p:nvSpPr>
        <p:spPr>
          <a:xfrm>
            <a:off x="2596896" y="1682495"/>
            <a:ext cx="1700784" cy="274320"/>
          </a:xfrm>
          <a:prstGeom prst="rect">
            <a:avLst/>
          </a:prstGeom>
          <a:noFill/>
        </p:spPr>
        <p:txBody>
          <a:bodyPr wrap="square">
            <a:spAutoFit/>
          </a:bodyPr>
          <a:lstStyle/>
          <a:p>
            <a:pPr algn="l"/>
            <a:r>
              <a:rPr sz="1000" b="0" i="0">
                <a:solidFill>
                  <a:srgbClr val="1A1A2E"/>
                </a:solidFill>
                <a:latin typeface="Calibri"/>
              </a:rPr>
              <a:t>"moisture fuels aim for"</a:t>
            </a:r>
          </a:p>
        </p:txBody>
      </p:sp>
      <p:sp>
        <p:nvSpPr>
          <p:cNvPr id="17" name="TextBox 16"/>
          <p:cNvSpPr txBox="1"/>
          <p:nvPr/>
        </p:nvSpPr>
        <p:spPr>
          <a:xfrm>
            <a:off x="2596896" y="1984248"/>
            <a:ext cx="1700784" cy="274320"/>
          </a:xfrm>
          <a:prstGeom prst="rect">
            <a:avLst/>
          </a:prstGeom>
          <a:noFill/>
        </p:spPr>
        <p:txBody>
          <a:bodyPr wrap="square">
            <a:spAutoFit/>
          </a:bodyPr>
          <a:lstStyle/>
          <a:p>
            <a:pPr algn="l"/>
            <a:r>
              <a:rPr sz="1000" b="0" i="0">
                <a:solidFill>
                  <a:srgbClr val="1A1A2E"/>
                </a:solidFill>
                <a:latin typeface="Calibri"/>
              </a:rPr>
              <a:t>→ per pixel before avg</a:t>
            </a:r>
          </a:p>
        </p:txBody>
      </p:sp>
      <p:sp>
        <p:nvSpPr>
          <p:cNvPr id="18" name="TextBox 17"/>
          <p:cNvSpPr txBox="1"/>
          <p:nvPr/>
        </p:nvSpPr>
        <p:spPr>
          <a:xfrm>
            <a:off x="4389120" y="1371600"/>
            <a:ext cx="256032" cy="256032"/>
          </a:xfrm>
          <a:prstGeom prst="rect">
            <a:avLst/>
          </a:prstGeom>
          <a:noFill/>
        </p:spPr>
        <p:txBody>
          <a:bodyPr wrap="square">
            <a:spAutoFit/>
          </a:bodyPr>
          <a:lstStyle/>
          <a:p>
            <a:pPr algn="ctr"/>
            <a:r>
              <a:rPr sz="1800" b="1" i="0">
                <a:solidFill>
                  <a:srgbClr val="90A4AE"/>
                </a:solidFill>
                <a:latin typeface="Calibri"/>
              </a:rPr>
              <a:t>→</a:t>
            </a:r>
          </a:p>
        </p:txBody>
      </p:sp>
      <p:sp>
        <p:nvSpPr>
          <p:cNvPr id="19" name="Rectangle 18"/>
          <p:cNvSpPr/>
          <p:nvPr/>
        </p:nvSpPr>
        <p:spPr>
          <a:xfrm>
            <a:off x="4663440" y="676656"/>
            <a:ext cx="2816352" cy="1664208"/>
          </a:xfrm>
          <a:prstGeom prst="rect">
            <a:avLst/>
          </a:prstGeom>
          <a:solidFill>
            <a:srgbClr val="D8F3DC"/>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63440" y="676656"/>
            <a:ext cx="128016" cy="1664208"/>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4607" y="768096"/>
            <a:ext cx="2560320" cy="256032"/>
          </a:xfrm>
          <a:prstGeom prst="rect">
            <a:avLst/>
          </a:prstGeom>
          <a:noFill/>
        </p:spPr>
        <p:txBody>
          <a:bodyPr wrap="square">
            <a:spAutoFit/>
          </a:bodyPr>
          <a:lstStyle/>
          <a:p>
            <a:pPr algn="l"/>
            <a:r>
              <a:rPr sz="1100" b="1" i="0">
                <a:solidFill>
                  <a:srgbClr val="2C6E49"/>
                </a:solidFill>
                <a:latin typeface="Calibri"/>
              </a:rPr>
              <a:t>③ NFDRS78 Time-Lag  (Python)</a:t>
            </a:r>
          </a:p>
        </p:txBody>
      </p:sp>
      <p:sp>
        <p:nvSpPr>
          <p:cNvPr id="22" name="TextBox 21"/>
          <p:cNvSpPr txBox="1"/>
          <p:nvPr/>
        </p:nvSpPr>
        <p:spPr>
          <a:xfrm>
            <a:off x="4864607" y="1078992"/>
            <a:ext cx="2560320" cy="274320"/>
          </a:xfrm>
          <a:prstGeom prst="rect">
            <a:avLst/>
          </a:prstGeom>
          <a:noFill/>
        </p:spPr>
        <p:txBody>
          <a:bodyPr wrap="square">
            <a:spAutoFit/>
          </a:bodyPr>
          <a:lstStyle/>
          <a:p>
            <a:pPr algn="l"/>
            <a:r>
              <a:rPr sz="1000" b="0" i="0">
                <a:solidFill>
                  <a:srgbClr val="1A1A2E"/>
                </a:solidFill>
                <a:latin typeface="Calibri"/>
              </a:rPr>
              <a:t>Each hour: fuel moisture nudges toward EMC</a:t>
            </a:r>
          </a:p>
        </p:txBody>
      </p:sp>
      <p:sp>
        <p:nvSpPr>
          <p:cNvPr id="23" name="TextBox 22"/>
          <p:cNvSpPr txBox="1"/>
          <p:nvPr/>
        </p:nvSpPr>
        <p:spPr>
          <a:xfrm>
            <a:off x="4864607" y="1380744"/>
            <a:ext cx="2560320" cy="274320"/>
          </a:xfrm>
          <a:prstGeom prst="rect">
            <a:avLst/>
          </a:prstGeom>
          <a:noFill/>
        </p:spPr>
        <p:txBody>
          <a:bodyPr wrap="square">
            <a:spAutoFit/>
          </a:bodyPr>
          <a:lstStyle/>
          <a:p>
            <a:pPr algn="l"/>
            <a:r>
              <a:rPr sz="1000" b="0" i="0">
                <a:solidFill>
                  <a:srgbClr val="1A1A2E"/>
                </a:solidFill>
                <a:latin typeface="Calibri"/>
              </a:rPr>
              <a:t>How fast depends on the time constant (τ)</a:t>
            </a:r>
          </a:p>
        </p:txBody>
      </p:sp>
      <p:sp>
        <p:nvSpPr>
          <p:cNvPr id="24" name="TextBox 23"/>
          <p:cNvSpPr txBox="1"/>
          <p:nvPr/>
        </p:nvSpPr>
        <p:spPr>
          <a:xfrm>
            <a:off x="4864607" y="1682495"/>
            <a:ext cx="2560320" cy="274320"/>
          </a:xfrm>
          <a:prstGeom prst="rect">
            <a:avLst/>
          </a:prstGeom>
          <a:noFill/>
        </p:spPr>
        <p:txBody>
          <a:bodyPr wrap="square">
            <a:spAutoFit/>
          </a:bodyPr>
          <a:lstStyle/>
          <a:p>
            <a:pPr algn="l"/>
            <a:r>
              <a:rPr sz="1000" b="0" i="0">
                <a:solidFill>
                  <a:srgbClr val="1A1A2E"/>
                </a:solidFill>
                <a:latin typeface="Calibri"/>
              </a:rPr>
              <a:t>FM1 nearly tracks EMC; FM100 integrates weeks</a:t>
            </a:r>
          </a:p>
        </p:txBody>
      </p:sp>
      <p:sp>
        <p:nvSpPr>
          <p:cNvPr id="25" name="TextBox 24"/>
          <p:cNvSpPr txBox="1"/>
          <p:nvPr/>
        </p:nvSpPr>
        <p:spPr>
          <a:xfrm>
            <a:off x="4864607" y="1984248"/>
            <a:ext cx="2560320" cy="274320"/>
          </a:xfrm>
          <a:prstGeom prst="rect">
            <a:avLst/>
          </a:prstGeom>
          <a:noFill/>
        </p:spPr>
        <p:txBody>
          <a:bodyPr wrap="square">
            <a:spAutoFit/>
          </a:bodyPr>
          <a:lstStyle/>
          <a:p>
            <a:pPr algn="l"/>
            <a:r>
              <a:rPr sz="1000" b="0" i="0">
                <a:solidFill>
                  <a:srgbClr val="1A1A2E"/>
                </a:solidFill>
                <a:latin typeface="Calibri"/>
              </a:rPr>
              <a:t>Run hourly per-pyrome on the RTMA export</a:t>
            </a:r>
          </a:p>
        </p:txBody>
      </p:sp>
      <p:sp>
        <p:nvSpPr>
          <p:cNvPr id="26" name="TextBox 25"/>
          <p:cNvSpPr txBox="1"/>
          <p:nvPr/>
        </p:nvSpPr>
        <p:spPr>
          <a:xfrm>
            <a:off x="7516368" y="1371600"/>
            <a:ext cx="256032" cy="256032"/>
          </a:xfrm>
          <a:prstGeom prst="rect">
            <a:avLst/>
          </a:prstGeom>
          <a:noFill/>
        </p:spPr>
        <p:txBody>
          <a:bodyPr wrap="square">
            <a:spAutoFit/>
          </a:bodyPr>
          <a:lstStyle/>
          <a:p>
            <a:pPr algn="ctr"/>
            <a:r>
              <a:rPr sz="1800" b="1" i="0">
                <a:solidFill>
                  <a:srgbClr val="90A4AE"/>
                </a:solidFill>
                <a:latin typeface="Calibri"/>
              </a:rPr>
              <a:t>→</a:t>
            </a:r>
          </a:p>
        </p:txBody>
      </p:sp>
      <p:sp>
        <p:nvSpPr>
          <p:cNvPr id="27" name="Rectangle 26"/>
          <p:cNvSpPr/>
          <p:nvPr/>
        </p:nvSpPr>
        <p:spPr>
          <a:xfrm>
            <a:off x="7790688" y="676656"/>
            <a:ext cx="1152144" cy="1664208"/>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863840" y="749808"/>
            <a:ext cx="1024128" cy="237744"/>
          </a:xfrm>
          <a:prstGeom prst="rect">
            <a:avLst/>
          </a:prstGeom>
          <a:noFill/>
        </p:spPr>
        <p:txBody>
          <a:bodyPr wrap="square">
            <a:spAutoFit/>
          </a:bodyPr>
          <a:lstStyle/>
          <a:p>
            <a:pPr algn="ctr"/>
            <a:r>
              <a:rPr sz="1000" b="1" i="0">
                <a:solidFill>
                  <a:srgbClr val="546E7A"/>
                </a:solidFill>
                <a:latin typeface="Calibri"/>
              </a:rPr>
              <a:t>Outputs</a:t>
            </a:r>
          </a:p>
        </p:txBody>
      </p:sp>
      <p:sp>
        <p:nvSpPr>
          <p:cNvPr id="29" name="Rectangle 28"/>
          <p:cNvSpPr/>
          <p:nvPr/>
        </p:nvSpPr>
        <p:spPr>
          <a:xfrm>
            <a:off x="7863840" y="1060704"/>
            <a:ext cx="1024128" cy="329184"/>
          </a:xfrm>
          <a:prstGeom prst="rect">
            <a:avLst/>
          </a:prstGeom>
          <a:solidFill>
            <a:srgbClr val="FAD7D3"/>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C0392B"/>
                </a:solidFill>
                <a:latin typeface="Calibri"/>
              </a:rPr>
              <a:t>FM1</a:t>
            </a:r>
          </a:p>
        </p:txBody>
      </p:sp>
      <p:sp>
        <p:nvSpPr>
          <p:cNvPr id="30" name="Rectangle 29"/>
          <p:cNvSpPr/>
          <p:nvPr/>
        </p:nvSpPr>
        <p:spPr>
          <a:xfrm>
            <a:off x="7863840" y="1463039"/>
            <a:ext cx="1024128" cy="329184"/>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D4622A"/>
                </a:solidFill>
                <a:latin typeface="Calibri"/>
              </a:rPr>
              <a:t>FM10</a:t>
            </a:r>
          </a:p>
        </p:txBody>
      </p:sp>
      <p:sp>
        <p:nvSpPr>
          <p:cNvPr id="31" name="Rectangle 30"/>
          <p:cNvSpPr/>
          <p:nvPr/>
        </p:nvSpPr>
        <p:spPr>
          <a:xfrm>
            <a:off x="7863840" y="1865376"/>
            <a:ext cx="1024128" cy="329184"/>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1B6CA8"/>
                </a:solidFill>
                <a:latin typeface="Calibri"/>
              </a:rPr>
              <a:t>FM100</a:t>
            </a:r>
          </a:p>
        </p:txBody>
      </p:sp>
      <p:sp>
        <p:nvSpPr>
          <p:cNvPr id="32" name="TextBox 31"/>
          <p:cNvSpPr txBox="1"/>
          <p:nvPr/>
        </p:nvSpPr>
        <p:spPr>
          <a:xfrm>
            <a:off x="201168" y="2505456"/>
            <a:ext cx="8732520" cy="237744"/>
          </a:xfrm>
          <a:prstGeom prst="rect">
            <a:avLst/>
          </a:prstGeom>
          <a:noFill/>
        </p:spPr>
        <p:txBody>
          <a:bodyPr wrap="square">
            <a:spAutoFit/>
          </a:bodyPr>
          <a:lstStyle/>
          <a:p>
            <a:pPr algn="l"/>
            <a:r>
              <a:rPr sz="1000" b="1" i="0">
                <a:solidFill>
                  <a:srgbClr val="546E7A"/>
                </a:solidFill>
                <a:latin typeface="Calibri"/>
              </a:rPr>
              <a:t>How fast does each fuel class respond?</a:t>
            </a:r>
          </a:p>
        </p:txBody>
      </p:sp>
      <p:sp>
        <p:nvSpPr>
          <p:cNvPr id="33" name="Rectangle 32"/>
          <p:cNvSpPr/>
          <p:nvPr/>
        </p:nvSpPr>
        <p:spPr>
          <a:xfrm>
            <a:off x="201168" y="2798064"/>
            <a:ext cx="2798064" cy="1426464"/>
          </a:xfrm>
          <a:prstGeom prst="rect">
            <a:avLst/>
          </a:prstGeom>
          <a:solidFill>
            <a:srgbClr val="FAD7D3"/>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1168" y="2798064"/>
            <a:ext cx="2798064" cy="36576"/>
          </a:xfrm>
          <a:prstGeom prst="rect">
            <a:avLst/>
          </a:prstGeom>
          <a:solidFill>
            <a:srgbClr val="C0392B"/>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0896" y="2871216"/>
            <a:ext cx="804672" cy="457200"/>
          </a:xfrm>
          <a:prstGeom prst="rect">
            <a:avLst/>
          </a:prstGeom>
          <a:solidFill>
            <a:srgbClr val="C0392B"/>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Calibri"/>
              </a:rPr>
              <a:t>FM1</a:t>
            </a:r>
          </a:p>
        </p:txBody>
      </p:sp>
      <p:sp>
        <p:nvSpPr>
          <p:cNvPr id="36" name="TextBox 35"/>
          <p:cNvSpPr txBox="1"/>
          <p:nvPr/>
        </p:nvSpPr>
        <p:spPr>
          <a:xfrm>
            <a:off x="1188720" y="2889504"/>
            <a:ext cx="1700784" cy="256032"/>
          </a:xfrm>
          <a:prstGeom prst="rect">
            <a:avLst/>
          </a:prstGeom>
          <a:noFill/>
        </p:spPr>
        <p:txBody>
          <a:bodyPr wrap="square">
            <a:spAutoFit/>
          </a:bodyPr>
          <a:lstStyle/>
          <a:p>
            <a:pPr algn="l"/>
            <a:r>
              <a:rPr sz="1400" b="1" i="0">
                <a:solidFill>
                  <a:srgbClr val="C0392B"/>
                </a:solidFill>
                <a:latin typeface="Courier New"/>
              </a:rPr>
              <a:t>τ = 1 hr</a:t>
            </a:r>
          </a:p>
        </p:txBody>
      </p:sp>
      <p:sp>
        <p:nvSpPr>
          <p:cNvPr id="37" name="TextBox 36"/>
          <p:cNvSpPr txBox="1"/>
          <p:nvPr/>
        </p:nvSpPr>
        <p:spPr>
          <a:xfrm>
            <a:off x="1188720" y="3145536"/>
            <a:ext cx="1700784" cy="201168"/>
          </a:xfrm>
          <a:prstGeom prst="rect">
            <a:avLst/>
          </a:prstGeom>
          <a:noFill/>
        </p:spPr>
        <p:txBody>
          <a:bodyPr wrap="square">
            <a:spAutoFit/>
          </a:bodyPr>
          <a:lstStyle/>
          <a:p>
            <a:pPr algn="l"/>
            <a:r>
              <a:rPr sz="900" b="0" i="1">
                <a:solidFill>
                  <a:srgbClr val="546E7A"/>
                </a:solidFill>
                <a:latin typeface="Courier New"/>
              </a:rPr>
              <a:t>α ≈ 0.63/hr</a:t>
            </a:r>
          </a:p>
        </p:txBody>
      </p:sp>
      <p:sp>
        <p:nvSpPr>
          <p:cNvPr id="38" name="TextBox 37"/>
          <p:cNvSpPr txBox="1"/>
          <p:nvPr/>
        </p:nvSpPr>
        <p:spPr>
          <a:xfrm>
            <a:off x="310896" y="3401568"/>
            <a:ext cx="2578608" cy="713232"/>
          </a:xfrm>
          <a:prstGeom prst="rect">
            <a:avLst/>
          </a:prstGeom>
          <a:noFill/>
        </p:spPr>
        <p:txBody>
          <a:bodyPr wrap="square">
            <a:spAutoFit/>
          </a:bodyPr>
          <a:lstStyle/>
          <a:p>
            <a:pPr algn="l"/>
            <a:r>
              <a:rPr sz="1000" b="0" i="0">
                <a:solidFill>
                  <a:srgbClr val="1A1A2E"/>
                </a:solidFill>
                <a:latin typeface="Calibri"/>
              </a:rPr>
              <a:t>Responds within 1–2 hours.
Tracks EMC almost instantly — very sensitive to afternoon drying.</a:t>
            </a:r>
          </a:p>
        </p:txBody>
      </p:sp>
      <p:sp>
        <p:nvSpPr>
          <p:cNvPr id="39" name="Rectangle 38"/>
          <p:cNvSpPr/>
          <p:nvPr/>
        </p:nvSpPr>
        <p:spPr>
          <a:xfrm>
            <a:off x="3182112" y="2798064"/>
            <a:ext cx="2798064" cy="1426464"/>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182112" y="2798064"/>
            <a:ext cx="2798064" cy="36576"/>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291840" y="2871216"/>
            <a:ext cx="804672" cy="457200"/>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Calibri"/>
              </a:rPr>
              <a:t>FM10</a:t>
            </a:r>
          </a:p>
        </p:txBody>
      </p:sp>
      <p:sp>
        <p:nvSpPr>
          <p:cNvPr id="42" name="TextBox 41"/>
          <p:cNvSpPr txBox="1"/>
          <p:nvPr/>
        </p:nvSpPr>
        <p:spPr>
          <a:xfrm>
            <a:off x="4169664" y="2889504"/>
            <a:ext cx="1700784" cy="256032"/>
          </a:xfrm>
          <a:prstGeom prst="rect">
            <a:avLst/>
          </a:prstGeom>
          <a:noFill/>
        </p:spPr>
        <p:txBody>
          <a:bodyPr wrap="square">
            <a:spAutoFit/>
          </a:bodyPr>
          <a:lstStyle/>
          <a:p>
            <a:pPr algn="l"/>
            <a:r>
              <a:rPr sz="1400" b="1" i="0">
                <a:solidFill>
                  <a:srgbClr val="D4622A"/>
                </a:solidFill>
                <a:latin typeface="Courier New"/>
              </a:rPr>
              <a:t>τ = 10 hr</a:t>
            </a:r>
          </a:p>
        </p:txBody>
      </p:sp>
      <p:sp>
        <p:nvSpPr>
          <p:cNvPr id="43" name="TextBox 42"/>
          <p:cNvSpPr txBox="1"/>
          <p:nvPr/>
        </p:nvSpPr>
        <p:spPr>
          <a:xfrm>
            <a:off x="4169664" y="3145536"/>
            <a:ext cx="1700784" cy="201168"/>
          </a:xfrm>
          <a:prstGeom prst="rect">
            <a:avLst/>
          </a:prstGeom>
          <a:noFill/>
        </p:spPr>
        <p:txBody>
          <a:bodyPr wrap="square">
            <a:spAutoFit/>
          </a:bodyPr>
          <a:lstStyle/>
          <a:p>
            <a:pPr algn="l"/>
            <a:r>
              <a:rPr sz="900" b="0" i="1">
                <a:solidFill>
                  <a:srgbClr val="546E7A"/>
                </a:solidFill>
                <a:latin typeface="Courier New"/>
              </a:rPr>
              <a:t>α ≈ 0.095/hr</a:t>
            </a:r>
          </a:p>
        </p:txBody>
      </p:sp>
      <p:sp>
        <p:nvSpPr>
          <p:cNvPr id="44" name="TextBox 43"/>
          <p:cNvSpPr txBox="1"/>
          <p:nvPr/>
        </p:nvSpPr>
        <p:spPr>
          <a:xfrm>
            <a:off x="3291840" y="3401568"/>
            <a:ext cx="2578608" cy="713232"/>
          </a:xfrm>
          <a:prstGeom prst="rect">
            <a:avLst/>
          </a:prstGeom>
          <a:noFill/>
        </p:spPr>
        <p:txBody>
          <a:bodyPr wrap="square">
            <a:spAutoFit/>
          </a:bodyPr>
          <a:lstStyle/>
          <a:p>
            <a:pPr algn="l"/>
            <a:r>
              <a:rPr sz="1000" b="0" i="0">
                <a:solidFill>
                  <a:srgbClr val="1A1A2E"/>
                </a:solidFill>
                <a:latin typeface="Calibri"/>
              </a:rPr>
              <a:t>~1-day memory. Smooths the diurnal cycle; rises overnight, falls through the afternoon.</a:t>
            </a:r>
          </a:p>
        </p:txBody>
      </p:sp>
      <p:sp>
        <p:nvSpPr>
          <p:cNvPr id="45" name="Rectangle 44"/>
          <p:cNvSpPr/>
          <p:nvPr/>
        </p:nvSpPr>
        <p:spPr>
          <a:xfrm>
            <a:off x="6163055" y="2798064"/>
            <a:ext cx="2798064" cy="1426464"/>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63055" y="2798064"/>
            <a:ext cx="2798064" cy="36576"/>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72783" y="2871216"/>
            <a:ext cx="804672" cy="457200"/>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i="0">
                <a:solidFill>
                  <a:srgbClr val="FFFFFF"/>
                </a:solidFill>
                <a:latin typeface="Calibri"/>
              </a:rPr>
              <a:t>FM100</a:t>
            </a:r>
          </a:p>
        </p:txBody>
      </p:sp>
      <p:sp>
        <p:nvSpPr>
          <p:cNvPr id="48" name="TextBox 47"/>
          <p:cNvSpPr txBox="1"/>
          <p:nvPr/>
        </p:nvSpPr>
        <p:spPr>
          <a:xfrm>
            <a:off x="7150607" y="2889504"/>
            <a:ext cx="1700784" cy="256032"/>
          </a:xfrm>
          <a:prstGeom prst="rect">
            <a:avLst/>
          </a:prstGeom>
          <a:noFill/>
        </p:spPr>
        <p:txBody>
          <a:bodyPr wrap="square">
            <a:spAutoFit/>
          </a:bodyPr>
          <a:lstStyle/>
          <a:p>
            <a:pPr algn="l"/>
            <a:r>
              <a:rPr sz="1400" b="1" i="0">
                <a:solidFill>
                  <a:srgbClr val="1B6CA8"/>
                </a:solidFill>
                <a:latin typeface="Courier New"/>
              </a:rPr>
              <a:t>τ = 100 hr</a:t>
            </a:r>
          </a:p>
        </p:txBody>
      </p:sp>
      <p:sp>
        <p:nvSpPr>
          <p:cNvPr id="49" name="TextBox 48"/>
          <p:cNvSpPr txBox="1"/>
          <p:nvPr/>
        </p:nvSpPr>
        <p:spPr>
          <a:xfrm>
            <a:off x="7150607" y="3145536"/>
            <a:ext cx="1700784" cy="201168"/>
          </a:xfrm>
          <a:prstGeom prst="rect">
            <a:avLst/>
          </a:prstGeom>
          <a:noFill/>
        </p:spPr>
        <p:txBody>
          <a:bodyPr wrap="square">
            <a:spAutoFit/>
          </a:bodyPr>
          <a:lstStyle/>
          <a:p>
            <a:pPr algn="l"/>
            <a:r>
              <a:rPr sz="900" b="0" i="1">
                <a:solidFill>
                  <a:srgbClr val="546E7A"/>
                </a:solidFill>
                <a:latin typeface="Courier New"/>
              </a:rPr>
              <a:t>α ≈ 0.010/hr</a:t>
            </a:r>
          </a:p>
        </p:txBody>
      </p:sp>
      <p:sp>
        <p:nvSpPr>
          <p:cNvPr id="50" name="TextBox 49"/>
          <p:cNvSpPr txBox="1"/>
          <p:nvPr/>
        </p:nvSpPr>
        <p:spPr>
          <a:xfrm>
            <a:off x="6272783" y="3401568"/>
            <a:ext cx="2578608" cy="713232"/>
          </a:xfrm>
          <a:prstGeom prst="rect">
            <a:avLst/>
          </a:prstGeom>
          <a:noFill/>
        </p:spPr>
        <p:txBody>
          <a:bodyPr wrap="square">
            <a:spAutoFit/>
          </a:bodyPr>
          <a:lstStyle/>
          <a:p>
            <a:pPr algn="l"/>
            <a:r>
              <a:rPr sz="1000" b="0" i="0">
                <a:solidFill>
                  <a:srgbClr val="1A1A2E"/>
                </a:solidFill>
                <a:latin typeface="Calibri"/>
              </a:rPr>
              <a:t>~3-week memory. Reflects antecedent drought history — slow to dry, slow to recover.</a:t>
            </a:r>
          </a:p>
        </p:txBody>
      </p:sp>
      <p:sp>
        <p:nvSpPr>
          <p:cNvPr id="51" name="Rectangle 50"/>
          <p:cNvSpPr/>
          <p:nvPr/>
        </p:nvSpPr>
        <p:spPr>
          <a:xfrm>
            <a:off x="201168" y="4334256"/>
            <a:ext cx="8732520" cy="658368"/>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7472" y="4370832"/>
            <a:ext cx="1828800" cy="237744"/>
          </a:xfrm>
          <a:prstGeom prst="rect">
            <a:avLst/>
          </a:prstGeom>
          <a:noFill/>
        </p:spPr>
        <p:txBody>
          <a:bodyPr wrap="square">
            <a:spAutoFit/>
          </a:bodyPr>
          <a:lstStyle/>
          <a:p>
            <a:pPr algn="l"/>
            <a:r>
              <a:rPr sz="1100" b="1" i="0">
                <a:solidFill>
                  <a:srgbClr val="6D4C41"/>
                </a:solidFill>
                <a:latin typeface="Calibri"/>
              </a:rPr>
              <a:t>Precip stall:</a:t>
            </a:r>
          </a:p>
        </p:txBody>
      </p:sp>
      <p:sp>
        <p:nvSpPr>
          <p:cNvPr id="53" name="TextBox 52"/>
          <p:cNvSpPr txBox="1"/>
          <p:nvPr/>
        </p:nvSpPr>
        <p:spPr>
          <a:xfrm>
            <a:off x="2212848" y="4370832"/>
            <a:ext cx="6583680" cy="548640"/>
          </a:xfrm>
          <a:prstGeom prst="rect">
            <a:avLst/>
          </a:prstGeom>
          <a:noFill/>
        </p:spPr>
        <p:txBody>
          <a:bodyPr wrap="square">
            <a:spAutoFit/>
          </a:bodyPr>
          <a:lstStyle/>
          <a:p>
            <a:pPr algn="l"/>
            <a:r>
              <a:rPr sz="1000" b="0" i="0">
                <a:solidFill>
                  <a:srgbClr val="6D4C41"/>
                </a:solidFill>
                <a:latin typeface="Calibri"/>
              </a:rPr>
              <a:t>When pcp &gt; 0.25 mm/hr the EMC input is forced to a saturation ceiling (FM10 = 35%, FM100 = 50%). Fuels continue lagging toward this higher value until the rain stops. — Bradshaw (1984)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46304"/>
            <a:ext cx="8412480" cy="420624"/>
          </a:xfrm>
          <a:prstGeom prst="rect">
            <a:avLst/>
          </a:prstGeom>
          <a:noFill/>
        </p:spPr>
        <p:txBody>
          <a:bodyPr wrap="square">
            <a:spAutoFit/>
          </a:bodyPr>
          <a:lstStyle/>
          <a:p>
            <a:pPr algn="l"/>
            <a:r>
              <a:rPr sz="2400" b="1" i="0">
                <a:solidFill>
                  <a:srgbClr val="1A1A2E"/>
                </a:solidFill>
                <a:latin typeface="Calibri"/>
              </a:rPr>
              <a:t>Live Fuel Moisture — Growing Season Index (GSI)</a:t>
            </a:r>
          </a:p>
        </p:txBody>
      </p:sp>
      <p:sp>
        <p:nvSpPr>
          <p:cNvPr id="3" name="TextBox 2"/>
          <p:cNvSpPr txBox="1"/>
          <p:nvPr/>
        </p:nvSpPr>
        <p:spPr>
          <a:xfrm>
            <a:off x="347472" y="566928"/>
            <a:ext cx="8412480" cy="237744"/>
          </a:xfrm>
          <a:prstGeom prst="rect">
            <a:avLst/>
          </a:prstGeom>
          <a:noFill/>
        </p:spPr>
        <p:txBody>
          <a:bodyPr wrap="square">
            <a:spAutoFit/>
          </a:bodyPr>
          <a:lstStyle/>
          <a:p>
            <a:pPr algn="l"/>
            <a:r>
              <a:rPr sz="1000" b="0" i="1">
                <a:solidFill>
                  <a:srgbClr val="546E7A"/>
                </a:solidFill>
                <a:latin typeface="Calibri"/>
              </a:rPr>
              <a:t>Three environmental limiters multiply to give a 0–1 greenness index  (Jolly et al. 2005)</a:t>
            </a:r>
          </a:p>
        </p:txBody>
      </p:sp>
      <p:sp>
        <p:nvSpPr>
          <p:cNvPr id="4" name="Rectangle 3"/>
          <p:cNvSpPr/>
          <p:nvPr/>
        </p:nvSpPr>
        <p:spPr>
          <a:xfrm>
            <a:off x="201168" y="950976"/>
            <a:ext cx="4279392" cy="1097280"/>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01168" y="950976"/>
            <a:ext cx="128016" cy="1097280"/>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84048" y="1024128"/>
            <a:ext cx="960120" cy="256032"/>
          </a:xfrm>
          <a:prstGeom prst="rect">
            <a:avLst/>
          </a:prstGeom>
          <a:noFill/>
        </p:spPr>
        <p:txBody>
          <a:bodyPr wrap="square">
            <a:spAutoFit/>
          </a:bodyPr>
          <a:lstStyle/>
          <a:p>
            <a:pPr algn="l"/>
            <a:r>
              <a:rPr sz="1200" b="1" i="0">
                <a:solidFill>
                  <a:srgbClr val="1B6CA8"/>
                </a:solidFill>
                <a:latin typeface="Courier New"/>
              </a:rPr>
              <a:t>i_Tmin</a:t>
            </a:r>
          </a:p>
        </p:txBody>
      </p:sp>
      <p:sp>
        <p:nvSpPr>
          <p:cNvPr id="7" name="TextBox 6"/>
          <p:cNvSpPr txBox="1"/>
          <p:nvPr/>
        </p:nvSpPr>
        <p:spPr>
          <a:xfrm>
            <a:off x="1389888" y="1024128"/>
            <a:ext cx="2980944" cy="256032"/>
          </a:xfrm>
          <a:prstGeom prst="rect">
            <a:avLst/>
          </a:prstGeom>
          <a:noFill/>
        </p:spPr>
        <p:txBody>
          <a:bodyPr wrap="square">
            <a:spAutoFit/>
          </a:bodyPr>
          <a:lstStyle/>
          <a:p>
            <a:pPr algn="l"/>
            <a:r>
              <a:rPr sz="1200" b="1" i="0">
                <a:solidFill>
                  <a:srgbClr val="1A1A2E"/>
                </a:solidFill>
                <a:latin typeface="Calibri"/>
              </a:rPr>
              <a:t>Minimum Temperature</a:t>
            </a:r>
          </a:p>
        </p:txBody>
      </p:sp>
      <p:sp>
        <p:nvSpPr>
          <p:cNvPr id="8" name="TextBox 7"/>
          <p:cNvSpPr txBox="1"/>
          <p:nvPr/>
        </p:nvSpPr>
        <p:spPr>
          <a:xfrm>
            <a:off x="384048" y="1316736"/>
            <a:ext cx="3968496" cy="201168"/>
          </a:xfrm>
          <a:prstGeom prst="rect">
            <a:avLst/>
          </a:prstGeom>
          <a:noFill/>
        </p:spPr>
        <p:txBody>
          <a:bodyPr wrap="square">
            <a:spAutoFit/>
          </a:bodyPr>
          <a:lstStyle/>
          <a:p>
            <a:pPr algn="l"/>
            <a:r>
              <a:rPr sz="1000" b="0" i="1">
                <a:solidFill>
                  <a:srgbClr val="546E7A"/>
                </a:solidFill>
                <a:latin typeface="Calibri"/>
              </a:rPr>
              <a:t>Daily Tmin</a:t>
            </a:r>
          </a:p>
        </p:txBody>
      </p:sp>
      <p:sp>
        <p:nvSpPr>
          <p:cNvPr id="9" name="TextBox 8"/>
          <p:cNvSpPr txBox="1"/>
          <p:nvPr/>
        </p:nvSpPr>
        <p:spPr>
          <a:xfrm>
            <a:off x="384048" y="1536192"/>
            <a:ext cx="3968496" cy="201168"/>
          </a:xfrm>
          <a:prstGeom prst="rect">
            <a:avLst/>
          </a:prstGeom>
          <a:noFill/>
        </p:spPr>
        <p:txBody>
          <a:bodyPr wrap="square">
            <a:spAutoFit/>
          </a:bodyPr>
          <a:lstStyle/>
          <a:p>
            <a:pPr algn="l"/>
            <a:r>
              <a:rPr sz="1000" b="0" i="0">
                <a:solidFill>
                  <a:srgbClr val="1A1A2E"/>
                </a:solidFill>
                <a:latin typeface="Calibri"/>
              </a:rPr>
              <a:t>Freezing → dormant:  ≤ −2°C  →  i = 0</a:t>
            </a:r>
          </a:p>
        </p:txBody>
      </p:sp>
      <p:sp>
        <p:nvSpPr>
          <p:cNvPr id="10" name="TextBox 9"/>
          <p:cNvSpPr txBox="1"/>
          <p:nvPr/>
        </p:nvSpPr>
        <p:spPr>
          <a:xfrm>
            <a:off x="384048" y="1755648"/>
            <a:ext cx="3968496" cy="201168"/>
          </a:xfrm>
          <a:prstGeom prst="rect">
            <a:avLst/>
          </a:prstGeom>
          <a:noFill/>
        </p:spPr>
        <p:txBody>
          <a:bodyPr wrap="square">
            <a:spAutoFit/>
          </a:bodyPr>
          <a:lstStyle/>
          <a:p>
            <a:pPr algn="l"/>
            <a:r>
              <a:rPr sz="1000" b="0" i="0">
                <a:solidFill>
                  <a:srgbClr val="1A1A2E"/>
                </a:solidFill>
                <a:latin typeface="Calibri"/>
              </a:rPr>
              <a:t>Warm enough → active:  ≥  5°C  →  i = 1</a:t>
            </a:r>
          </a:p>
        </p:txBody>
      </p:sp>
      <p:sp>
        <p:nvSpPr>
          <p:cNvPr id="11" name="TextBox 10"/>
          <p:cNvSpPr txBox="1"/>
          <p:nvPr/>
        </p:nvSpPr>
        <p:spPr>
          <a:xfrm>
            <a:off x="1920240" y="2011680"/>
            <a:ext cx="402336" cy="237744"/>
          </a:xfrm>
          <a:prstGeom prst="rect">
            <a:avLst/>
          </a:prstGeom>
          <a:noFill/>
        </p:spPr>
        <p:txBody>
          <a:bodyPr wrap="square">
            <a:spAutoFit/>
          </a:bodyPr>
          <a:lstStyle/>
          <a:p>
            <a:pPr algn="ctr"/>
            <a:r>
              <a:rPr sz="1600" b="1" i="0">
                <a:solidFill>
                  <a:srgbClr val="90A4AE"/>
                </a:solidFill>
                <a:latin typeface="Calibri"/>
              </a:rPr>
              <a:t>×</a:t>
            </a:r>
          </a:p>
        </p:txBody>
      </p:sp>
      <p:sp>
        <p:nvSpPr>
          <p:cNvPr id="12" name="Rectangle 11"/>
          <p:cNvSpPr/>
          <p:nvPr/>
        </p:nvSpPr>
        <p:spPr>
          <a:xfrm>
            <a:off x="201168" y="2176272"/>
            <a:ext cx="4279392" cy="1097280"/>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1168" y="2176272"/>
            <a:ext cx="128016" cy="1097280"/>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4048" y="2249424"/>
            <a:ext cx="960120" cy="256032"/>
          </a:xfrm>
          <a:prstGeom prst="rect">
            <a:avLst/>
          </a:prstGeom>
          <a:noFill/>
        </p:spPr>
        <p:txBody>
          <a:bodyPr wrap="square">
            <a:spAutoFit/>
          </a:bodyPr>
          <a:lstStyle/>
          <a:p>
            <a:pPr algn="l"/>
            <a:r>
              <a:rPr sz="1200" b="1" i="0">
                <a:solidFill>
                  <a:srgbClr val="D4622A"/>
                </a:solidFill>
                <a:latin typeface="Courier New"/>
              </a:rPr>
              <a:t>i_VPD</a:t>
            </a:r>
          </a:p>
        </p:txBody>
      </p:sp>
      <p:sp>
        <p:nvSpPr>
          <p:cNvPr id="15" name="TextBox 14"/>
          <p:cNvSpPr txBox="1"/>
          <p:nvPr/>
        </p:nvSpPr>
        <p:spPr>
          <a:xfrm>
            <a:off x="1389888" y="2249424"/>
            <a:ext cx="2980944" cy="256032"/>
          </a:xfrm>
          <a:prstGeom prst="rect">
            <a:avLst/>
          </a:prstGeom>
          <a:noFill/>
        </p:spPr>
        <p:txBody>
          <a:bodyPr wrap="square">
            <a:spAutoFit/>
          </a:bodyPr>
          <a:lstStyle/>
          <a:p>
            <a:pPr algn="l"/>
            <a:r>
              <a:rPr sz="1200" b="1" i="0">
                <a:solidFill>
                  <a:srgbClr val="1A1A2E"/>
                </a:solidFill>
                <a:latin typeface="Calibri"/>
              </a:rPr>
              <a:t>Vapour Pressure Deficit</a:t>
            </a:r>
          </a:p>
        </p:txBody>
      </p:sp>
      <p:sp>
        <p:nvSpPr>
          <p:cNvPr id="16" name="TextBox 15"/>
          <p:cNvSpPr txBox="1"/>
          <p:nvPr/>
        </p:nvSpPr>
        <p:spPr>
          <a:xfrm>
            <a:off x="384048" y="2542032"/>
            <a:ext cx="3968496" cy="201168"/>
          </a:xfrm>
          <a:prstGeom prst="rect">
            <a:avLst/>
          </a:prstGeom>
          <a:noFill/>
        </p:spPr>
        <p:txBody>
          <a:bodyPr wrap="square">
            <a:spAutoFit/>
          </a:bodyPr>
          <a:lstStyle/>
          <a:p>
            <a:pPr algn="l"/>
            <a:r>
              <a:rPr sz="1000" b="0" i="1">
                <a:solidFill>
                  <a:srgbClr val="546E7A"/>
                </a:solidFill>
                <a:latin typeface="Calibri"/>
              </a:rPr>
              <a:t>Mean VPD  13:00–16:00 LST</a:t>
            </a:r>
          </a:p>
        </p:txBody>
      </p:sp>
      <p:sp>
        <p:nvSpPr>
          <p:cNvPr id="17" name="TextBox 16"/>
          <p:cNvSpPr txBox="1"/>
          <p:nvPr/>
        </p:nvSpPr>
        <p:spPr>
          <a:xfrm>
            <a:off x="384048" y="2761488"/>
            <a:ext cx="3968496" cy="201168"/>
          </a:xfrm>
          <a:prstGeom prst="rect">
            <a:avLst/>
          </a:prstGeom>
          <a:noFill/>
        </p:spPr>
        <p:txBody>
          <a:bodyPr wrap="square">
            <a:spAutoFit/>
          </a:bodyPr>
          <a:lstStyle/>
          <a:p>
            <a:pPr algn="l"/>
            <a:r>
              <a:rPr sz="1000" b="0" i="0">
                <a:solidFill>
                  <a:srgbClr val="1A1A2E"/>
                </a:solidFill>
                <a:latin typeface="Calibri"/>
              </a:rPr>
              <a:t>Very dry → stomata close:  ≥ 4100 Pa  →  i = 0</a:t>
            </a:r>
          </a:p>
        </p:txBody>
      </p:sp>
      <p:sp>
        <p:nvSpPr>
          <p:cNvPr id="18" name="TextBox 17"/>
          <p:cNvSpPr txBox="1"/>
          <p:nvPr/>
        </p:nvSpPr>
        <p:spPr>
          <a:xfrm>
            <a:off x="384048" y="2980944"/>
            <a:ext cx="3968496" cy="201168"/>
          </a:xfrm>
          <a:prstGeom prst="rect">
            <a:avLst/>
          </a:prstGeom>
          <a:noFill/>
        </p:spPr>
        <p:txBody>
          <a:bodyPr wrap="square">
            <a:spAutoFit/>
          </a:bodyPr>
          <a:lstStyle/>
          <a:p>
            <a:pPr algn="l"/>
            <a:r>
              <a:rPr sz="1000" b="0" i="0">
                <a:solidFill>
                  <a:srgbClr val="1A1A2E"/>
                </a:solidFill>
                <a:latin typeface="Calibri"/>
              </a:rPr>
              <a:t>Moist enough → active:    ≤  900 Pa  →  i = 1</a:t>
            </a:r>
          </a:p>
        </p:txBody>
      </p:sp>
      <p:sp>
        <p:nvSpPr>
          <p:cNvPr id="19" name="TextBox 18"/>
          <p:cNvSpPr txBox="1"/>
          <p:nvPr/>
        </p:nvSpPr>
        <p:spPr>
          <a:xfrm>
            <a:off x="1920240" y="3236976"/>
            <a:ext cx="402336" cy="237744"/>
          </a:xfrm>
          <a:prstGeom prst="rect">
            <a:avLst/>
          </a:prstGeom>
          <a:noFill/>
        </p:spPr>
        <p:txBody>
          <a:bodyPr wrap="square">
            <a:spAutoFit/>
          </a:bodyPr>
          <a:lstStyle/>
          <a:p>
            <a:pPr algn="ctr"/>
            <a:r>
              <a:rPr sz="1600" b="1" i="0">
                <a:solidFill>
                  <a:srgbClr val="90A4AE"/>
                </a:solidFill>
                <a:latin typeface="Calibri"/>
              </a:rPr>
              <a:t>×</a:t>
            </a:r>
          </a:p>
        </p:txBody>
      </p:sp>
      <p:sp>
        <p:nvSpPr>
          <p:cNvPr id="20" name="Rectangle 19"/>
          <p:cNvSpPr/>
          <p:nvPr/>
        </p:nvSpPr>
        <p:spPr>
          <a:xfrm>
            <a:off x="201168" y="3401568"/>
            <a:ext cx="4279392" cy="1097280"/>
          </a:xfrm>
          <a:prstGeom prst="rect">
            <a:avLst/>
          </a:prstGeom>
          <a:solidFill>
            <a:srgbClr val="D8F3DC"/>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1168" y="3401568"/>
            <a:ext cx="128016" cy="1097280"/>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474720"/>
            <a:ext cx="960120" cy="256032"/>
          </a:xfrm>
          <a:prstGeom prst="rect">
            <a:avLst/>
          </a:prstGeom>
          <a:noFill/>
        </p:spPr>
        <p:txBody>
          <a:bodyPr wrap="square">
            <a:spAutoFit/>
          </a:bodyPr>
          <a:lstStyle/>
          <a:p>
            <a:pPr algn="l"/>
            <a:r>
              <a:rPr sz="1200" b="1" i="0">
                <a:solidFill>
                  <a:srgbClr val="2C6E49"/>
                </a:solidFill>
                <a:latin typeface="Courier New"/>
              </a:rPr>
              <a:t>i_Photo</a:t>
            </a:r>
          </a:p>
        </p:txBody>
      </p:sp>
      <p:sp>
        <p:nvSpPr>
          <p:cNvPr id="23" name="TextBox 22"/>
          <p:cNvSpPr txBox="1"/>
          <p:nvPr/>
        </p:nvSpPr>
        <p:spPr>
          <a:xfrm>
            <a:off x="1389888" y="3474720"/>
            <a:ext cx="2980944" cy="256032"/>
          </a:xfrm>
          <a:prstGeom prst="rect">
            <a:avLst/>
          </a:prstGeom>
          <a:noFill/>
        </p:spPr>
        <p:txBody>
          <a:bodyPr wrap="square">
            <a:spAutoFit/>
          </a:bodyPr>
          <a:lstStyle/>
          <a:p>
            <a:pPr algn="l"/>
            <a:r>
              <a:rPr sz="1200" b="1" i="0">
                <a:solidFill>
                  <a:srgbClr val="1A1A2E"/>
                </a:solidFill>
                <a:latin typeface="Calibri"/>
              </a:rPr>
              <a:t>Daylength</a:t>
            </a:r>
          </a:p>
        </p:txBody>
      </p:sp>
      <p:sp>
        <p:nvSpPr>
          <p:cNvPr id="24" name="TextBox 23"/>
          <p:cNvSpPr txBox="1"/>
          <p:nvPr/>
        </p:nvSpPr>
        <p:spPr>
          <a:xfrm>
            <a:off x="384048" y="3767328"/>
            <a:ext cx="3968496" cy="201168"/>
          </a:xfrm>
          <a:prstGeom prst="rect">
            <a:avLst/>
          </a:prstGeom>
          <a:noFill/>
        </p:spPr>
        <p:txBody>
          <a:bodyPr wrap="square">
            <a:spAutoFit/>
          </a:bodyPr>
          <a:lstStyle/>
          <a:p>
            <a:pPr algn="l"/>
            <a:r>
              <a:rPr sz="1000" b="0" i="1">
                <a:solidFill>
                  <a:srgbClr val="546E7A"/>
                </a:solidFill>
                <a:latin typeface="Calibri"/>
              </a:rPr>
              <a:t>Photoperiod (sunrise → sunset)</a:t>
            </a:r>
          </a:p>
        </p:txBody>
      </p:sp>
      <p:sp>
        <p:nvSpPr>
          <p:cNvPr id="25" name="TextBox 24"/>
          <p:cNvSpPr txBox="1"/>
          <p:nvPr/>
        </p:nvSpPr>
        <p:spPr>
          <a:xfrm>
            <a:off x="384048" y="3986784"/>
            <a:ext cx="3968496" cy="201168"/>
          </a:xfrm>
          <a:prstGeom prst="rect">
            <a:avLst/>
          </a:prstGeom>
          <a:noFill/>
        </p:spPr>
        <p:txBody>
          <a:bodyPr wrap="square">
            <a:spAutoFit/>
          </a:bodyPr>
          <a:lstStyle/>
          <a:p>
            <a:pPr algn="l"/>
            <a:r>
              <a:rPr sz="1000" b="0" i="0">
                <a:solidFill>
                  <a:srgbClr val="1A1A2E"/>
                </a:solidFill>
                <a:latin typeface="Calibri"/>
              </a:rPr>
              <a:t>Short days → dormant:  ≤ 10 hr  →  i = 0</a:t>
            </a:r>
          </a:p>
        </p:txBody>
      </p:sp>
      <p:sp>
        <p:nvSpPr>
          <p:cNvPr id="26" name="TextBox 25"/>
          <p:cNvSpPr txBox="1"/>
          <p:nvPr/>
        </p:nvSpPr>
        <p:spPr>
          <a:xfrm>
            <a:off x="384048" y="4206240"/>
            <a:ext cx="3968496" cy="201168"/>
          </a:xfrm>
          <a:prstGeom prst="rect">
            <a:avLst/>
          </a:prstGeom>
          <a:noFill/>
        </p:spPr>
        <p:txBody>
          <a:bodyPr wrap="square">
            <a:spAutoFit/>
          </a:bodyPr>
          <a:lstStyle/>
          <a:p>
            <a:pPr algn="l"/>
            <a:r>
              <a:rPr sz="1000" b="0" i="0">
                <a:solidFill>
                  <a:srgbClr val="1A1A2E"/>
                </a:solidFill>
                <a:latin typeface="Calibri"/>
              </a:rPr>
              <a:t>Long days → active:    ≥ 11 hr  →  i = 1</a:t>
            </a:r>
          </a:p>
        </p:txBody>
      </p:sp>
      <p:sp>
        <p:nvSpPr>
          <p:cNvPr id="27" name="TextBox 26"/>
          <p:cNvSpPr txBox="1"/>
          <p:nvPr/>
        </p:nvSpPr>
        <p:spPr>
          <a:xfrm>
            <a:off x="4626864" y="1408176"/>
            <a:ext cx="256032" cy="237744"/>
          </a:xfrm>
          <a:prstGeom prst="rect">
            <a:avLst/>
          </a:prstGeom>
          <a:noFill/>
        </p:spPr>
        <p:txBody>
          <a:bodyPr wrap="square">
            <a:spAutoFit/>
          </a:bodyPr>
          <a:lstStyle/>
          <a:p>
            <a:pPr algn="ctr"/>
            <a:r>
              <a:rPr sz="1800" b="1" i="0">
                <a:solidFill>
                  <a:srgbClr val="90A4AE"/>
                </a:solidFill>
                <a:latin typeface="Calibri"/>
              </a:rPr>
              <a:t>→</a:t>
            </a:r>
          </a:p>
        </p:txBody>
      </p:sp>
      <p:sp>
        <p:nvSpPr>
          <p:cNvPr id="28" name="Rectangle 27"/>
          <p:cNvSpPr/>
          <p:nvPr/>
        </p:nvSpPr>
        <p:spPr>
          <a:xfrm>
            <a:off x="4901184" y="1261872"/>
            <a:ext cx="1572768" cy="1536192"/>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i="0">
                <a:solidFill>
                  <a:srgbClr val="FFFFFF"/>
                </a:solidFill>
                <a:latin typeface="Calibri"/>
              </a:rPr>
              <a:t>GSI
i_Tmin
× i_VPD
× i_Photo
(0 – 1)</a:t>
            </a:r>
          </a:p>
        </p:txBody>
      </p:sp>
      <p:sp>
        <p:nvSpPr>
          <p:cNvPr id="29" name="TextBox 28"/>
          <p:cNvSpPr txBox="1"/>
          <p:nvPr/>
        </p:nvSpPr>
        <p:spPr>
          <a:xfrm>
            <a:off x="4901184" y="2871216"/>
            <a:ext cx="1572768" cy="274320"/>
          </a:xfrm>
          <a:prstGeom prst="rect">
            <a:avLst/>
          </a:prstGeom>
          <a:noFill/>
        </p:spPr>
        <p:txBody>
          <a:bodyPr wrap="square">
            <a:spAutoFit/>
          </a:bodyPr>
          <a:lstStyle/>
          <a:p>
            <a:pPr algn="ctr"/>
            <a:r>
              <a:rPr sz="900" b="0" i="1">
                <a:solidFill>
                  <a:srgbClr val="546E7A"/>
                </a:solidFill>
                <a:latin typeface="Calibri"/>
              </a:rPr>
              <a:t>0 = dormant
1 = fully green</a:t>
            </a:r>
          </a:p>
        </p:txBody>
      </p:sp>
      <p:sp>
        <p:nvSpPr>
          <p:cNvPr id="30" name="TextBox 29"/>
          <p:cNvSpPr txBox="1"/>
          <p:nvPr/>
        </p:nvSpPr>
        <p:spPr>
          <a:xfrm>
            <a:off x="6510528" y="1975104"/>
            <a:ext cx="256032" cy="237744"/>
          </a:xfrm>
          <a:prstGeom prst="rect">
            <a:avLst/>
          </a:prstGeom>
          <a:noFill/>
        </p:spPr>
        <p:txBody>
          <a:bodyPr wrap="square">
            <a:spAutoFit/>
          </a:bodyPr>
          <a:lstStyle/>
          <a:p>
            <a:pPr algn="ctr"/>
            <a:r>
              <a:rPr sz="1800" b="1" i="0">
                <a:solidFill>
                  <a:srgbClr val="90A4AE"/>
                </a:solidFill>
                <a:latin typeface="Calibri"/>
              </a:rPr>
              <a:t>→</a:t>
            </a:r>
          </a:p>
        </p:txBody>
      </p:sp>
      <p:sp>
        <p:nvSpPr>
          <p:cNvPr id="31" name="TextBox 30"/>
          <p:cNvSpPr txBox="1"/>
          <p:nvPr/>
        </p:nvSpPr>
        <p:spPr>
          <a:xfrm>
            <a:off x="6803136" y="1170432"/>
            <a:ext cx="2139696" cy="237744"/>
          </a:xfrm>
          <a:prstGeom prst="rect">
            <a:avLst/>
          </a:prstGeom>
          <a:noFill/>
        </p:spPr>
        <p:txBody>
          <a:bodyPr wrap="square">
            <a:spAutoFit/>
          </a:bodyPr>
          <a:lstStyle/>
          <a:p>
            <a:pPr algn="l"/>
            <a:r>
              <a:rPr sz="1100" b="1" i="0">
                <a:solidFill>
                  <a:srgbClr val="546E7A"/>
                </a:solidFill>
                <a:latin typeface="Calibri"/>
              </a:rPr>
              <a:t>FM outputs</a:t>
            </a:r>
          </a:p>
        </p:txBody>
      </p:sp>
      <p:sp>
        <p:nvSpPr>
          <p:cNvPr id="32" name="Rectangle 31"/>
          <p:cNvSpPr/>
          <p:nvPr/>
        </p:nvSpPr>
        <p:spPr>
          <a:xfrm>
            <a:off x="6803136" y="1481328"/>
            <a:ext cx="2139696" cy="1005840"/>
          </a:xfrm>
          <a:prstGeom prst="rect">
            <a:avLst/>
          </a:prstGeom>
          <a:solidFill>
            <a:srgbClr val="D8F3DC"/>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03136" y="1481328"/>
            <a:ext cx="128016" cy="1005840"/>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86016" y="1554480"/>
            <a:ext cx="1901952" cy="237744"/>
          </a:xfrm>
          <a:prstGeom prst="rect">
            <a:avLst/>
          </a:prstGeom>
          <a:noFill/>
        </p:spPr>
        <p:txBody>
          <a:bodyPr wrap="square">
            <a:spAutoFit/>
          </a:bodyPr>
          <a:lstStyle/>
          <a:p>
            <a:pPr algn="l"/>
            <a:r>
              <a:rPr sz="1200" b="1" i="0">
                <a:solidFill>
                  <a:srgbClr val="2C6E49"/>
                </a:solidFill>
                <a:latin typeface="Courier New"/>
              </a:rPr>
              <a:t>FM_herb</a:t>
            </a:r>
          </a:p>
        </p:txBody>
      </p:sp>
      <p:sp>
        <p:nvSpPr>
          <p:cNvPr id="35" name="TextBox 34"/>
          <p:cNvSpPr txBox="1"/>
          <p:nvPr/>
        </p:nvSpPr>
        <p:spPr>
          <a:xfrm>
            <a:off x="6986016" y="1792224"/>
            <a:ext cx="1901952" cy="201168"/>
          </a:xfrm>
          <a:prstGeom prst="rect">
            <a:avLst/>
          </a:prstGeom>
          <a:noFill/>
        </p:spPr>
        <p:txBody>
          <a:bodyPr wrap="square">
            <a:spAutoFit/>
          </a:bodyPr>
          <a:lstStyle/>
          <a:p>
            <a:pPr algn="l"/>
            <a:r>
              <a:rPr sz="1000" b="0" i="1">
                <a:solidFill>
                  <a:srgbClr val="546E7A"/>
                </a:solidFill>
                <a:latin typeface="Calibri"/>
              </a:rPr>
              <a:t>Herbaceous</a:t>
            </a:r>
          </a:p>
        </p:txBody>
      </p:sp>
      <p:sp>
        <p:nvSpPr>
          <p:cNvPr id="36" name="TextBox 35"/>
          <p:cNvSpPr txBox="1"/>
          <p:nvPr/>
        </p:nvSpPr>
        <p:spPr>
          <a:xfrm>
            <a:off x="6986016" y="2011680"/>
            <a:ext cx="1901952" cy="201168"/>
          </a:xfrm>
          <a:prstGeom prst="rect">
            <a:avLst/>
          </a:prstGeom>
          <a:noFill/>
        </p:spPr>
        <p:txBody>
          <a:bodyPr wrap="square">
            <a:spAutoFit/>
          </a:bodyPr>
          <a:lstStyle/>
          <a:p>
            <a:pPr algn="l"/>
            <a:r>
              <a:rPr sz="1000" b="0" i="0">
                <a:solidFill>
                  <a:srgbClr val="1A1A2E"/>
                </a:solidFill>
                <a:latin typeface="Calibri"/>
              </a:rPr>
              <a:t>GSI = 0  →   30%  (dormant)</a:t>
            </a:r>
          </a:p>
        </p:txBody>
      </p:sp>
      <p:sp>
        <p:nvSpPr>
          <p:cNvPr id="37" name="TextBox 36"/>
          <p:cNvSpPr txBox="1"/>
          <p:nvPr/>
        </p:nvSpPr>
        <p:spPr>
          <a:xfrm>
            <a:off x="6986016" y="2212848"/>
            <a:ext cx="1901952" cy="201168"/>
          </a:xfrm>
          <a:prstGeom prst="rect">
            <a:avLst/>
          </a:prstGeom>
          <a:noFill/>
        </p:spPr>
        <p:txBody>
          <a:bodyPr wrap="square">
            <a:spAutoFit/>
          </a:bodyPr>
          <a:lstStyle/>
          <a:p>
            <a:pPr algn="l"/>
            <a:r>
              <a:rPr sz="1000" b="0" i="0">
                <a:solidFill>
                  <a:srgbClr val="1A1A2E"/>
                </a:solidFill>
                <a:latin typeface="Calibri"/>
              </a:rPr>
              <a:t>GSI = 1  → 250%  (fully green)</a:t>
            </a:r>
          </a:p>
        </p:txBody>
      </p:sp>
      <p:sp>
        <p:nvSpPr>
          <p:cNvPr id="38" name="Rectangle 37"/>
          <p:cNvSpPr/>
          <p:nvPr/>
        </p:nvSpPr>
        <p:spPr>
          <a:xfrm>
            <a:off x="6803136" y="2651760"/>
            <a:ext cx="2139696" cy="1005840"/>
          </a:xfrm>
          <a:prstGeom prst="rect">
            <a:avLst/>
          </a:prstGeom>
          <a:solidFill>
            <a:srgbClr val="D4EDEB"/>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03136" y="2651760"/>
            <a:ext cx="128016" cy="1005840"/>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86016" y="2724912"/>
            <a:ext cx="1901952" cy="237744"/>
          </a:xfrm>
          <a:prstGeom prst="rect">
            <a:avLst/>
          </a:prstGeom>
          <a:noFill/>
        </p:spPr>
        <p:txBody>
          <a:bodyPr wrap="square">
            <a:spAutoFit/>
          </a:bodyPr>
          <a:lstStyle/>
          <a:p>
            <a:pPr algn="l"/>
            <a:r>
              <a:rPr sz="1200" b="1" i="0">
                <a:solidFill>
                  <a:srgbClr val="1A7A6E"/>
                </a:solidFill>
                <a:latin typeface="Courier New"/>
              </a:rPr>
              <a:t>FM_woody</a:t>
            </a:r>
          </a:p>
        </p:txBody>
      </p:sp>
      <p:sp>
        <p:nvSpPr>
          <p:cNvPr id="41" name="TextBox 40"/>
          <p:cNvSpPr txBox="1"/>
          <p:nvPr/>
        </p:nvSpPr>
        <p:spPr>
          <a:xfrm>
            <a:off x="6986016" y="2962656"/>
            <a:ext cx="1901952" cy="201168"/>
          </a:xfrm>
          <a:prstGeom prst="rect">
            <a:avLst/>
          </a:prstGeom>
          <a:noFill/>
        </p:spPr>
        <p:txBody>
          <a:bodyPr wrap="square">
            <a:spAutoFit/>
          </a:bodyPr>
          <a:lstStyle/>
          <a:p>
            <a:pPr algn="l"/>
            <a:r>
              <a:rPr sz="1000" b="0" i="1">
                <a:solidFill>
                  <a:srgbClr val="546E7A"/>
                </a:solidFill>
                <a:latin typeface="Calibri"/>
              </a:rPr>
              <a:t>Woody</a:t>
            </a:r>
          </a:p>
        </p:txBody>
      </p:sp>
      <p:sp>
        <p:nvSpPr>
          <p:cNvPr id="42" name="TextBox 41"/>
          <p:cNvSpPr txBox="1"/>
          <p:nvPr/>
        </p:nvSpPr>
        <p:spPr>
          <a:xfrm>
            <a:off x="6986016" y="3182112"/>
            <a:ext cx="1901952" cy="201168"/>
          </a:xfrm>
          <a:prstGeom prst="rect">
            <a:avLst/>
          </a:prstGeom>
          <a:noFill/>
        </p:spPr>
        <p:txBody>
          <a:bodyPr wrap="square">
            <a:spAutoFit/>
          </a:bodyPr>
          <a:lstStyle/>
          <a:p>
            <a:pPr algn="l"/>
            <a:r>
              <a:rPr sz="1000" b="0" i="0">
                <a:solidFill>
                  <a:srgbClr val="1A1A2E"/>
                </a:solidFill>
                <a:latin typeface="Calibri"/>
              </a:rPr>
              <a:t>GSI = 0  →   60%  (dormant)</a:t>
            </a:r>
          </a:p>
        </p:txBody>
      </p:sp>
      <p:sp>
        <p:nvSpPr>
          <p:cNvPr id="43" name="TextBox 42"/>
          <p:cNvSpPr txBox="1"/>
          <p:nvPr/>
        </p:nvSpPr>
        <p:spPr>
          <a:xfrm>
            <a:off x="6986016" y="3383280"/>
            <a:ext cx="1901952" cy="201168"/>
          </a:xfrm>
          <a:prstGeom prst="rect">
            <a:avLst/>
          </a:prstGeom>
          <a:noFill/>
        </p:spPr>
        <p:txBody>
          <a:bodyPr wrap="square">
            <a:spAutoFit/>
          </a:bodyPr>
          <a:lstStyle/>
          <a:p>
            <a:pPr algn="l"/>
            <a:r>
              <a:rPr sz="1000" b="0" i="0">
                <a:solidFill>
                  <a:srgbClr val="1A1A2E"/>
                </a:solidFill>
                <a:latin typeface="Calibri"/>
              </a:rPr>
              <a:t>GSI = 1  → 200%  (fully green)</a:t>
            </a:r>
          </a:p>
        </p:txBody>
      </p:sp>
      <p:sp>
        <p:nvSpPr>
          <p:cNvPr id="44" name="Rectangle 43"/>
          <p:cNvSpPr/>
          <p:nvPr/>
        </p:nvSpPr>
        <p:spPr>
          <a:xfrm>
            <a:off x="201168" y="4626864"/>
            <a:ext cx="8732520" cy="402336"/>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7472" y="4663440"/>
            <a:ext cx="1481328" cy="237744"/>
          </a:xfrm>
          <a:prstGeom prst="rect">
            <a:avLst/>
          </a:prstGeom>
          <a:noFill/>
        </p:spPr>
        <p:txBody>
          <a:bodyPr wrap="square">
            <a:spAutoFit/>
          </a:bodyPr>
          <a:lstStyle/>
          <a:p>
            <a:pPr algn="l"/>
            <a:r>
              <a:rPr sz="1100" b="1" i="0">
                <a:solidFill>
                  <a:srgbClr val="D4622A"/>
                </a:solidFill>
                <a:latin typeface="Calibri"/>
              </a:rPr>
              <a:t>⚠  CO limitation:</a:t>
            </a:r>
          </a:p>
        </p:txBody>
      </p:sp>
      <p:sp>
        <p:nvSpPr>
          <p:cNvPr id="46" name="TextBox 45"/>
          <p:cNvSpPr txBox="1"/>
          <p:nvPr/>
        </p:nvSpPr>
        <p:spPr>
          <a:xfrm>
            <a:off x="1865376" y="4663440"/>
            <a:ext cx="6949440" cy="329184"/>
          </a:xfrm>
          <a:prstGeom prst="rect">
            <a:avLst/>
          </a:prstGeom>
          <a:noFill/>
        </p:spPr>
        <p:txBody>
          <a:bodyPr wrap="square">
            <a:spAutoFit/>
          </a:bodyPr>
          <a:lstStyle/>
          <a:p>
            <a:pPr algn="l"/>
            <a:r>
              <a:rPr sz="1000" b="0" i="0">
                <a:solidFill>
                  <a:srgbClr val="6D4C41"/>
                </a:solidFill>
                <a:latin typeface="Calibri"/>
              </a:rPr>
              <a:t>Semi-arid fire-season VPD in Colorado routinely exceeds 4100 Pa → i_VPD = 0 → GSI = 0 → FM_herb stays at the 30% dormant floor. Jolly (2005) thresholds were calibrated for temperate/boreal systems, not the intermountain West.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8412480" cy="475488"/>
          </a:xfrm>
          <a:prstGeom prst="rect">
            <a:avLst/>
          </a:prstGeom>
          <a:noFill/>
        </p:spPr>
        <p:txBody>
          <a:bodyPr wrap="square">
            <a:spAutoFit/>
          </a:bodyPr>
          <a:lstStyle/>
          <a:p>
            <a:pPr algn="l"/>
            <a:r>
              <a:rPr sz="2400" b="1" i="0">
                <a:solidFill>
                  <a:srgbClr val="1A1A2E"/>
                </a:solidFill>
                <a:latin typeface="Calibri"/>
              </a:rPr>
              <a:t>Historic RTMA Analysis — Dead FM</a:t>
            </a:r>
          </a:p>
        </p:txBody>
      </p:sp>
      <p:sp>
        <p:nvSpPr>
          <p:cNvPr id="3" name="TextBox 2"/>
          <p:cNvSpPr txBox="1"/>
          <p:nvPr/>
        </p:nvSpPr>
        <p:spPr>
          <a:xfrm>
            <a:off x="320040" y="786384"/>
            <a:ext cx="8503920" cy="256032"/>
          </a:xfrm>
          <a:prstGeom prst="rect">
            <a:avLst/>
          </a:prstGeom>
          <a:noFill/>
        </p:spPr>
        <p:txBody>
          <a:bodyPr wrap="square">
            <a:spAutoFit/>
          </a:bodyPr>
          <a:lstStyle/>
          <a:p>
            <a:pPr algn="l"/>
            <a:r>
              <a:rPr sz="1000" b="0" i="1">
                <a:solidFill>
                  <a:srgbClr val="546E7A"/>
                </a:solidFill>
                <a:latin typeface="Calibri"/>
              </a:rPr>
              <a:t>Seasonal climatology — all CO pyromes, 2011–2025 (April 1 – October 31, daily peak hour 14:00 LST):</a:t>
            </a:r>
          </a:p>
        </p:txBody>
      </p:sp>
      <p:sp>
        <p:nvSpPr>
          <p:cNvPr id="4" name="Rectangle 3"/>
          <p:cNvSpPr/>
          <p:nvPr/>
        </p:nvSpPr>
        <p:spPr>
          <a:xfrm>
            <a:off x="320040" y="1042415"/>
            <a:ext cx="8503920" cy="1810512"/>
          </a:xfrm>
          <a:prstGeom prst="rect">
            <a:avLst/>
          </a:prstGeom>
          <a:solidFill>
            <a:srgbClr val="E8ED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1">
                <a:solidFill>
                  <a:srgbClr val="90A4AE"/>
                </a:solidFill>
                <a:latin typeface="Calibri"/>
              </a:rPr>
              <a:t>[PLACEHOLDER — Dead FM seasonal climatology by DOY — 3-panel (FM1, FM10, FM100)]
code/notebooks/00b_RTMA-FM.ipynb · cell 5b6c7d8e</a:t>
            </a:r>
          </a:p>
        </p:txBody>
      </p:sp>
      <p:sp>
        <p:nvSpPr>
          <p:cNvPr id="5" name="TextBox 4"/>
          <p:cNvSpPr txBox="1"/>
          <p:nvPr/>
        </p:nvSpPr>
        <p:spPr>
          <a:xfrm>
            <a:off x="320040" y="2944368"/>
            <a:ext cx="8503920" cy="256032"/>
          </a:xfrm>
          <a:prstGeom prst="rect">
            <a:avLst/>
          </a:prstGeom>
          <a:noFill/>
        </p:spPr>
        <p:txBody>
          <a:bodyPr wrap="square">
            <a:spAutoFit/>
          </a:bodyPr>
          <a:lstStyle/>
          <a:p>
            <a:pPr algn="l"/>
            <a:r>
              <a:rPr sz="1000" b="0" i="1">
                <a:solidFill>
                  <a:srgbClr val="546E7A"/>
                </a:solidFill>
                <a:latin typeface="Calibri"/>
              </a:rPr>
              <a:t>2020 season time-series (pyromes 42, 46, 56) and wet-vs-dry day FM comparison:</a:t>
            </a:r>
          </a:p>
        </p:txBody>
      </p:sp>
      <p:sp>
        <p:nvSpPr>
          <p:cNvPr id="6" name="Rectangle 5"/>
          <p:cNvSpPr/>
          <p:nvPr/>
        </p:nvSpPr>
        <p:spPr>
          <a:xfrm>
            <a:off x="320040" y="3200400"/>
            <a:ext cx="4206240" cy="1664208"/>
          </a:xfrm>
          <a:prstGeom prst="rect">
            <a:avLst/>
          </a:prstGeom>
          <a:solidFill>
            <a:srgbClr val="E8ED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1">
                <a:solidFill>
                  <a:srgbClr val="90A4AE"/>
                </a:solidFill>
                <a:latin typeface="Calibri"/>
              </a:rPr>
              <a:t>[PLACEHOLDER — 2020 season FM time-series by pyrome]
00b_RTMA-FM.ipynb · cell 4a5b6c7d</a:t>
            </a:r>
          </a:p>
        </p:txBody>
      </p:sp>
      <p:sp>
        <p:nvSpPr>
          <p:cNvPr id="7" name="Rectangle 6"/>
          <p:cNvSpPr/>
          <p:nvPr/>
        </p:nvSpPr>
        <p:spPr>
          <a:xfrm>
            <a:off x="4663440" y="3200400"/>
            <a:ext cx="4160520" cy="1664208"/>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0" y="3291840"/>
            <a:ext cx="3977639" cy="237744"/>
          </a:xfrm>
          <a:prstGeom prst="rect">
            <a:avLst/>
          </a:prstGeom>
          <a:noFill/>
        </p:spPr>
        <p:txBody>
          <a:bodyPr wrap="square">
            <a:spAutoFit/>
          </a:bodyPr>
          <a:lstStyle/>
          <a:p>
            <a:pPr algn="l"/>
            <a:r>
              <a:rPr sz="1000" b="1" i="0">
                <a:solidFill>
                  <a:srgbClr val="546E7A"/>
                </a:solidFill>
                <a:latin typeface="Calibri"/>
              </a:rPr>
              <a:t>Key findings from QA</a:t>
            </a:r>
          </a:p>
        </p:txBody>
      </p:sp>
      <p:sp>
        <p:nvSpPr>
          <p:cNvPr id="9" name="TextBox 8"/>
          <p:cNvSpPr txBox="1"/>
          <p:nvPr/>
        </p:nvSpPr>
        <p:spPr>
          <a:xfrm>
            <a:off x="4754880" y="3584448"/>
            <a:ext cx="1554480" cy="274320"/>
          </a:xfrm>
          <a:prstGeom prst="rect">
            <a:avLst/>
          </a:prstGeom>
          <a:noFill/>
        </p:spPr>
        <p:txBody>
          <a:bodyPr wrap="square">
            <a:spAutoFit/>
          </a:bodyPr>
          <a:lstStyle/>
          <a:p>
            <a:pPr algn="l"/>
            <a:r>
              <a:rPr sz="1000" b="1" i="0">
                <a:solidFill>
                  <a:srgbClr val="1A1A2E"/>
                </a:solidFill>
                <a:latin typeface="Calibri"/>
              </a:rPr>
              <a:t>Monthly mean FM100:</a:t>
            </a:r>
          </a:p>
        </p:txBody>
      </p:sp>
      <p:sp>
        <p:nvSpPr>
          <p:cNvPr id="10" name="TextBox 9"/>
          <p:cNvSpPr txBox="1"/>
          <p:nvPr/>
        </p:nvSpPr>
        <p:spPr>
          <a:xfrm>
            <a:off x="6355080" y="3584448"/>
            <a:ext cx="2359152" cy="274320"/>
          </a:xfrm>
          <a:prstGeom prst="rect">
            <a:avLst/>
          </a:prstGeom>
          <a:noFill/>
        </p:spPr>
        <p:txBody>
          <a:bodyPr wrap="square">
            <a:spAutoFit/>
          </a:bodyPr>
          <a:lstStyle/>
          <a:p>
            <a:pPr algn="l"/>
            <a:r>
              <a:rPr sz="1000" b="0" i="0">
                <a:solidFill>
                  <a:srgbClr val="546E7A"/>
                </a:solidFill>
                <a:latin typeface="Calibri"/>
              </a:rPr>
              <a:t>Apr 11.9% → Jun 11.7% → Aug 13.1% → Oct 12.0%</a:t>
            </a:r>
          </a:p>
        </p:txBody>
      </p:sp>
      <p:sp>
        <p:nvSpPr>
          <p:cNvPr id="11" name="TextBox 10"/>
          <p:cNvSpPr txBox="1"/>
          <p:nvPr/>
        </p:nvSpPr>
        <p:spPr>
          <a:xfrm>
            <a:off x="4754880" y="3913632"/>
            <a:ext cx="1554480" cy="274320"/>
          </a:xfrm>
          <a:prstGeom prst="rect">
            <a:avLst/>
          </a:prstGeom>
          <a:noFill/>
        </p:spPr>
        <p:txBody>
          <a:bodyPr wrap="square">
            <a:spAutoFit/>
          </a:bodyPr>
          <a:lstStyle/>
          <a:p>
            <a:pPr algn="l"/>
            <a:r>
              <a:rPr sz="1000" b="1" i="0">
                <a:solidFill>
                  <a:srgbClr val="1A1A2E"/>
                </a:solidFill>
                <a:latin typeface="Calibri"/>
              </a:rPr>
              <a:t>FM1 ≤ FM10:</a:t>
            </a:r>
          </a:p>
        </p:txBody>
      </p:sp>
      <p:sp>
        <p:nvSpPr>
          <p:cNvPr id="12" name="TextBox 11"/>
          <p:cNvSpPr txBox="1"/>
          <p:nvPr/>
        </p:nvSpPr>
        <p:spPr>
          <a:xfrm>
            <a:off x="6355080" y="3913632"/>
            <a:ext cx="2359152" cy="274320"/>
          </a:xfrm>
          <a:prstGeom prst="rect">
            <a:avLst/>
          </a:prstGeom>
          <a:noFill/>
        </p:spPr>
        <p:txBody>
          <a:bodyPr wrap="square">
            <a:spAutoFit/>
          </a:bodyPr>
          <a:lstStyle/>
          <a:p>
            <a:pPr algn="l"/>
            <a:r>
              <a:rPr sz="1000" b="0" i="0">
                <a:solidFill>
                  <a:srgbClr val="546E7A"/>
                </a:solidFill>
                <a:latin typeface="Calibri"/>
              </a:rPr>
              <a:t>98.6% of days — expected ordering holds</a:t>
            </a:r>
          </a:p>
        </p:txBody>
      </p:sp>
      <p:sp>
        <p:nvSpPr>
          <p:cNvPr id="13" name="TextBox 12"/>
          <p:cNvSpPr txBox="1"/>
          <p:nvPr/>
        </p:nvSpPr>
        <p:spPr>
          <a:xfrm>
            <a:off x="4754880" y="4242816"/>
            <a:ext cx="1554480" cy="274320"/>
          </a:xfrm>
          <a:prstGeom prst="rect">
            <a:avLst/>
          </a:prstGeom>
          <a:noFill/>
        </p:spPr>
        <p:txBody>
          <a:bodyPr wrap="square">
            <a:spAutoFit/>
          </a:bodyPr>
          <a:lstStyle/>
          <a:p>
            <a:pPr algn="l"/>
            <a:r>
              <a:rPr sz="1000" b="1" i="0">
                <a:solidFill>
                  <a:srgbClr val="1A1A2E"/>
                </a:solidFill>
                <a:latin typeface="Calibri"/>
              </a:rPr>
              <a:t>Wet peak-hour days:</a:t>
            </a:r>
          </a:p>
        </p:txBody>
      </p:sp>
      <p:sp>
        <p:nvSpPr>
          <p:cNvPr id="14" name="TextBox 13"/>
          <p:cNvSpPr txBox="1"/>
          <p:nvPr/>
        </p:nvSpPr>
        <p:spPr>
          <a:xfrm>
            <a:off x="6355080" y="4242816"/>
            <a:ext cx="2359152" cy="274320"/>
          </a:xfrm>
          <a:prstGeom prst="rect">
            <a:avLst/>
          </a:prstGeom>
          <a:noFill/>
        </p:spPr>
        <p:txBody>
          <a:bodyPr wrap="square">
            <a:spAutoFit/>
          </a:bodyPr>
          <a:lstStyle/>
          <a:p>
            <a:pPr algn="l"/>
            <a:r>
              <a:rPr sz="1000" b="0" i="0">
                <a:solidFill>
                  <a:srgbClr val="546E7A"/>
                </a:solidFill>
                <a:latin typeface="Calibri"/>
              </a:rPr>
              <a:t>10.9% — FM10 wet=20% vs. dry=9.7%</a:t>
            </a:r>
          </a:p>
        </p:txBody>
      </p:sp>
      <p:sp>
        <p:nvSpPr>
          <p:cNvPr id="15" name="TextBox 14"/>
          <p:cNvSpPr txBox="1"/>
          <p:nvPr/>
        </p:nvSpPr>
        <p:spPr>
          <a:xfrm>
            <a:off x="4754880" y="4572000"/>
            <a:ext cx="1554480" cy="274320"/>
          </a:xfrm>
          <a:prstGeom prst="rect">
            <a:avLst/>
          </a:prstGeom>
          <a:noFill/>
        </p:spPr>
        <p:txBody>
          <a:bodyPr wrap="square">
            <a:spAutoFit/>
          </a:bodyPr>
          <a:lstStyle/>
          <a:p>
            <a:pPr algn="l"/>
            <a:r>
              <a:rPr sz="1000" b="1" i="0">
                <a:solidFill>
                  <a:srgbClr val="1A1A2E"/>
                </a:solidFill>
                <a:latin typeface="Calibri"/>
              </a:rPr>
              <a:t>FM10/FM100 ordering:</a:t>
            </a:r>
          </a:p>
        </p:txBody>
      </p:sp>
      <p:sp>
        <p:nvSpPr>
          <p:cNvPr id="16" name="TextBox 15"/>
          <p:cNvSpPr txBox="1"/>
          <p:nvPr/>
        </p:nvSpPr>
        <p:spPr>
          <a:xfrm>
            <a:off x="6355080" y="4572000"/>
            <a:ext cx="2359152" cy="274320"/>
          </a:xfrm>
          <a:prstGeom prst="rect">
            <a:avLst/>
          </a:prstGeom>
          <a:noFill/>
        </p:spPr>
        <p:txBody>
          <a:bodyPr wrap="square">
            <a:spAutoFit/>
          </a:bodyPr>
          <a:lstStyle/>
          <a:p>
            <a:pPr algn="l"/>
            <a:r>
              <a:rPr sz="1000" b="0" i="0">
                <a:solidFill>
                  <a:srgbClr val="546E7A"/>
                </a:solidFill>
                <a:latin typeface="Calibri"/>
              </a:rPr>
              <a:t>72.3% — 100-hr lag occasionally still wetting 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8412480" cy="475488"/>
          </a:xfrm>
          <a:prstGeom prst="rect">
            <a:avLst/>
          </a:prstGeom>
          <a:noFill/>
        </p:spPr>
        <p:txBody>
          <a:bodyPr wrap="square">
            <a:spAutoFit/>
          </a:bodyPr>
          <a:lstStyle/>
          <a:p>
            <a:pPr algn="l"/>
            <a:r>
              <a:rPr sz="2400" b="1" i="0">
                <a:solidFill>
                  <a:srgbClr val="1A1A2E"/>
                </a:solidFill>
                <a:latin typeface="Calibri"/>
              </a:rPr>
              <a:t>Historic RTMA Analysis — Live FM &amp; GSI</a:t>
            </a:r>
          </a:p>
        </p:txBody>
      </p:sp>
      <p:sp>
        <p:nvSpPr>
          <p:cNvPr id="3" name="TextBox 2"/>
          <p:cNvSpPr txBox="1"/>
          <p:nvPr/>
        </p:nvSpPr>
        <p:spPr>
          <a:xfrm>
            <a:off x="320040" y="786384"/>
            <a:ext cx="8503920" cy="256032"/>
          </a:xfrm>
          <a:prstGeom prst="rect">
            <a:avLst/>
          </a:prstGeom>
          <a:noFill/>
        </p:spPr>
        <p:txBody>
          <a:bodyPr wrap="square">
            <a:spAutoFit/>
          </a:bodyPr>
          <a:lstStyle/>
          <a:p>
            <a:pPr algn="l"/>
            <a:r>
              <a:rPr sz="1000" b="0" i="1">
                <a:solidFill>
                  <a:srgbClr val="546E7A"/>
                </a:solidFill>
                <a:latin typeface="Calibri"/>
              </a:rPr>
              <a:t>Seasonal climatology of GSI and live FM — all pyromes, 2011–2025 (mean ± p10–p90 ribbon):</a:t>
            </a:r>
          </a:p>
        </p:txBody>
      </p:sp>
      <p:sp>
        <p:nvSpPr>
          <p:cNvPr id="4" name="Rectangle 3"/>
          <p:cNvSpPr/>
          <p:nvPr/>
        </p:nvSpPr>
        <p:spPr>
          <a:xfrm>
            <a:off x="320040" y="1042415"/>
            <a:ext cx="8503920" cy="1920240"/>
          </a:xfrm>
          <a:prstGeom prst="rect">
            <a:avLst/>
          </a:prstGeom>
          <a:solidFill>
            <a:srgbClr val="E8ED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i="1">
                <a:solidFill>
                  <a:srgbClr val="90A4AE"/>
                </a:solidFill>
                <a:latin typeface="Calibri"/>
              </a:rPr>
              <a:t>[PLACEHOLDER — Live FM seasonal climatology — 3-panel: GSI · FM_herb (%) · FM_woody (%)]
code/notebooks/00b_RTMA-FM.ipynb · cell eafb0c1d</a:t>
            </a:r>
          </a:p>
        </p:txBody>
      </p:sp>
      <p:sp>
        <p:nvSpPr>
          <p:cNvPr id="5" name="TextBox 4"/>
          <p:cNvSpPr txBox="1"/>
          <p:nvPr/>
        </p:nvSpPr>
        <p:spPr>
          <a:xfrm>
            <a:off x="320040" y="3072384"/>
            <a:ext cx="8503920" cy="256032"/>
          </a:xfrm>
          <a:prstGeom prst="rect">
            <a:avLst/>
          </a:prstGeom>
          <a:noFill/>
        </p:spPr>
        <p:txBody>
          <a:bodyPr wrap="square">
            <a:spAutoFit/>
          </a:bodyPr>
          <a:lstStyle/>
          <a:p>
            <a:pPr algn="l"/>
            <a:r>
              <a:rPr sz="1000" b="0" i="1">
                <a:solidFill>
                  <a:srgbClr val="546E7A"/>
                </a:solidFill>
                <a:latin typeface="Calibri"/>
              </a:rPr>
              <a:t>RTMA scenario FM at p50 / p90 / p97 — Pyrome 46 example (from build_rtma_scenario_fm):</a:t>
            </a:r>
          </a:p>
        </p:txBody>
      </p:sp>
      <p:sp>
        <p:nvSpPr>
          <p:cNvPr id="6" name="Rectangle 5"/>
          <p:cNvSpPr/>
          <p:nvPr/>
        </p:nvSpPr>
        <p:spPr>
          <a:xfrm>
            <a:off x="320040" y="3383280"/>
            <a:ext cx="6967728" cy="32918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0040" y="3383280"/>
            <a:ext cx="1051560" cy="329184"/>
          </a:xfrm>
          <a:prstGeom prst="rect">
            <a:avLst/>
          </a:prstGeom>
          <a:noFill/>
        </p:spPr>
        <p:txBody>
          <a:bodyPr wrap="square">
            <a:spAutoFit/>
          </a:bodyPr>
          <a:lstStyle/>
          <a:p>
            <a:pPr algn="ctr"/>
            <a:r>
              <a:rPr sz="1000" b="1" i="0">
                <a:solidFill>
                  <a:srgbClr val="FFFFFF"/>
                </a:solidFill>
                <a:latin typeface="Calibri"/>
              </a:rPr>
              <a:t>ERC pct</a:t>
            </a:r>
          </a:p>
        </p:txBody>
      </p:sp>
      <p:sp>
        <p:nvSpPr>
          <p:cNvPr id="8" name="TextBox 7"/>
          <p:cNvSpPr txBox="1"/>
          <p:nvPr/>
        </p:nvSpPr>
        <p:spPr>
          <a:xfrm>
            <a:off x="1444752" y="3383280"/>
            <a:ext cx="694944" cy="329184"/>
          </a:xfrm>
          <a:prstGeom prst="rect">
            <a:avLst/>
          </a:prstGeom>
          <a:noFill/>
        </p:spPr>
        <p:txBody>
          <a:bodyPr wrap="square">
            <a:spAutoFit/>
          </a:bodyPr>
          <a:lstStyle/>
          <a:p>
            <a:pPr algn="ctr"/>
            <a:r>
              <a:rPr sz="1000" b="1" i="0">
                <a:solidFill>
                  <a:srgbClr val="FFFFFF"/>
                </a:solidFill>
                <a:latin typeface="Calibri"/>
              </a:rPr>
              <a:t>FM1</a:t>
            </a:r>
          </a:p>
        </p:txBody>
      </p:sp>
      <p:sp>
        <p:nvSpPr>
          <p:cNvPr id="9" name="TextBox 8"/>
          <p:cNvSpPr txBox="1"/>
          <p:nvPr/>
        </p:nvSpPr>
        <p:spPr>
          <a:xfrm>
            <a:off x="2212848" y="3383280"/>
            <a:ext cx="694944" cy="329184"/>
          </a:xfrm>
          <a:prstGeom prst="rect">
            <a:avLst/>
          </a:prstGeom>
          <a:noFill/>
        </p:spPr>
        <p:txBody>
          <a:bodyPr wrap="square">
            <a:spAutoFit/>
          </a:bodyPr>
          <a:lstStyle/>
          <a:p>
            <a:pPr algn="ctr"/>
            <a:r>
              <a:rPr sz="1000" b="1" i="0">
                <a:solidFill>
                  <a:srgbClr val="FFFFFF"/>
                </a:solidFill>
                <a:latin typeface="Calibri"/>
              </a:rPr>
              <a:t>FM10</a:t>
            </a:r>
          </a:p>
        </p:txBody>
      </p:sp>
      <p:sp>
        <p:nvSpPr>
          <p:cNvPr id="10" name="TextBox 9"/>
          <p:cNvSpPr txBox="1"/>
          <p:nvPr/>
        </p:nvSpPr>
        <p:spPr>
          <a:xfrm>
            <a:off x="2980944" y="3383280"/>
            <a:ext cx="768096" cy="329184"/>
          </a:xfrm>
          <a:prstGeom prst="rect">
            <a:avLst/>
          </a:prstGeom>
          <a:noFill/>
        </p:spPr>
        <p:txBody>
          <a:bodyPr wrap="square">
            <a:spAutoFit/>
          </a:bodyPr>
          <a:lstStyle/>
          <a:p>
            <a:pPr algn="ctr"/>
            <a:r>
              <a:rPr sz="1000" b="1" i="0">
                <a:solidFill>
                  <a:srgbClr val="FFFFFF"/>
                </a:solidFill>
                <a:latin typeface="Calibri"/>
              </a:rPr>
              <a:t>FM100</a:t>
            </a:r>
          </a:p>
        </p:txBody>
      </p:sp>
      <p:sp>
        <p:nvSpPr>
          <p:cNvPr id="11" name="TextBox 10"/>
          <p:cNvSpPr txBox="1"/>
          <p:nvPr/>
        </p:nvSpPr>
        <p:spPr>
          <a:xfrm>
            <a:off x="3822191" y="3383280"/>
            <a:ext cx="841248" cy="329184"/>
          </a:xfrm>
          <a:prstGeom prst="rect">
            <a:avLst/>
          </a:prstGeom>
          <a:noFill/>
        </p:spPr>
        <p:txBody>
          <a:bodyPr wrap="square">
            <a:spAutoFit/>
          </a:bodyPr>
          <a:lstStyle/>
          <a:p>
            <a:pPr algn="ctr"/>
            <a:r>
              <a:rPr sz="1000" b="1" i="0">
                <a:solidFill>
                  <a:srgbClr val="FFFFFF"/>
                </a:solidFill>
                <a:latin typeface="Calibri"/>
              </a:rPr>
              <a:t>FM_herb</a:t>
            </a:r>
          </a:p>
        </p:txBody>
      </p:sp>
      <p:sp>
        <p:nvSpPr>
          <p:cNvPr id="12" name="TextBox 11"/>
          <p:cNvSpPr txBox="1"/>
          <p:nvPr/>
        </p:nvSpPr>
        <p:spPr>
          <a:xfrm>
            <a:off x="4736592" y="3383280"/>
            <a:ext cx="777240" cy="329184"/>
          </a:xfrm>
          <a:prstGeom prst="rect">
            <a:avLst/>
          </a:prstGeom>
          <a:noFill/>
        </p:spPr>
        <p:txBody>
          <a:bodyPr wrap="square">
            <a:spAutoFit/>
          </a:bodyPr>
          <a:lstStyle/>
          <a:p>
            <a:pPr algn="ctr"/>
            <a:r>
              <a:rPr sz="1000" b="1" i="0">
                <a:solidFill>
                  <a:srgbClr val="FFFFFF"/>
                </a:solidFill>
                <a:latin typeface="Calibri"/>
              </a:rPr>
              <a:t>FM_woody</a:t>
            </a:r>
          </a:p>
        </p:txBody>
      </p:sp>
      <p:sp>
        <p:nvSpPr>
          <p:cNvPr id="13" name="TextBox 12"/>
          <p:cNvSpPr txBox="1"/>
          <p:nvPr/>
        </p:nvSpPr>
        <p:spPr>
          <a:xfrm>
            <a:off x="5623560" y="3383280"/>
            <a:ext cx="804672" cy="329184"/>
          </a:xfrm>
          <a:prstGeom prst="rect">
            <a:avLst/>
          </a:prstGeom>
          <a:noFill/>
        </p:spPr>
        <p:txBody>
          <a:bodyPr wrap="square">
            <a:spAutoFit/>
          </a:bodyPr>
          <a:lstStyle/>
          <a:p>
            <a:pPr algn="ctr"/>
            <a:r>
              <a:rPr sz="1000" b="1" i="0">
                <a:solidFill>
                  <a:srgbClr val="FFFFFF"/>
                </a:solidFill>
                <a:latin typeface="Calibri"/>
              </a:rPr>
              <a:t>ERC center</a:t>
            </a:r>
          </a:p>
        </p:txBody>
      </p:sp>
      <p:sp>
        <p:nvSpPr>
          <p:cNvPr id="14" name="Rectangle 13"/>
          <p:cNvSpPr/>
          <p:nvPr/>
        </p:nvSpPr>
        <p:spPr>
          <a:xfrm>
            <a:off x="320040" y="3712463"/>
            <a:ext cx="6967728" cy="32918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 y="3712463"/>
            <a:ext cx="1051560" cy="329184"/>
          </a:xfrm>
          <a:prstGeom prst="rect">
            <a:avLst/>
          </a:prstGeom>
          <a:noFill/>
        </p:spPr>
        <p:txBody>
          <a:bodyPr wrap="square">
            <a:spAutoFit/>
          </a:bodyPr>
          <a:lstStyle/>
          <a:p>
            <a:pPr algn="ctr"/>
            <a:r>
              <a:rPr sz="1000" b="1" i="0">
                <a:solidFill>
                  <a:srgbClr val="D4622A"/>
                </a:solidFill>
                <a:latin typeface="Calibri"/>
              </a:rPr>
              <a:t>p50</a:t>
            </a:r>
          </a:p>
        </p:txBody>
      </p:sp>
      <p:sp>
        <p:nvSpPr>
          <p:cNvPr id="16" name="TextBox 15"/>
          <p:cNvSpPr txBox="1"/>
          <p:nvPr/>
        </p:nvSpPr>
        <p:spPr>
          <a:xfrm>
            <a:off x="1444752" y="3712463"/>
            <a:ext cx="694944" cy="329184"/>
          </a:xfrm>
          <a:prstGeom prst="rect">
            <a:avLst/>
          </a:prstGeom>
          <a:noFill/>
        </p:spPr>
        <p:txBody>
          <a:bodyPr wrap="square">
            <a:spAutoFit/>
          </a:bodyPr>
          <a:lstStyle/>
          <a:p>
            <a:pPr algn="ctr"/>
            <a:r>
              <a:rPr sz="1000" b="0" i="0">
                <a:solidFill>
                  <a:srgbClr val="1A1A2E"/>
                </a:solidFill>
                <a:latin typeface="Calibri"/>
              </a:rPr>
              <a:t>6.5</a:t>
            </a:r>
          </a:p>
        </p:txBody>
      </p:sp>
      <p:sp>
        <p:nvSpPr>
          <p:cNvPr id="17" name="TextBox 16"/>
          <p:cNvSpPr txBox="1"/>
          <p:nvPr/>
        </p:nvSpPr>
        <p:spPr>
          <a:xfrm>
            <a:off x="2212848" y="3712463"/>
            <a:ext cx="694944" cy="329184"/>
          </a:xfrm>
          <a:prstGeom prst="rect">
            <a:avLst/>
          </a:prstGeom>
          <a:noFill/>
        </p:spPr>
        <p:txBody>
          <a:bodyPr wrap="square">
            <a:spAutoFit/>
          </a:bodyPr>
          <a:lstStyle/>
          <a:p>
            <a:pPr algn="ctr"/>
            <a:r>
              <a:rPr sz="1000" b="0" i="0">
                <a:solidFill>
                  <a:srgbClr val="1A1A2E"/>
                </a:solidFill>
                <a:latin typeface="Calibri"/>
              </a:rPr>
              <a:t>10.4</a:t>
            </a:r>
          </a:p>
        </p:txBody>
      </p:sp>
      <p:sp>
        <p:nvSpPr>
          <p:cNvPr id="18" name="TextBox 17"/>
          <p:cNvSpPr txBox="1"/>
          <p:nvPr/>
        </p:nvSpPr>
        <p:spPr>
          <a:xfrm>
            <a:off x="2980944" y="3712463"/>
            <a:ext cx="768096" cy="329184"/>
          </a:xfrm>
          <a:prstGeom prst="rect">
            <a:avLst/>
          </a:prstGeom>
          <a:noFill/>
        </p:spPr>
        <p:txBody>
          <a:bodyPr wrap="square">
            <a:spAutoFit/>
          </a:bodyPr>
          <a:lstStyle/>
          <a:p>
            <a:pPr algn="ctr"/>
            <a:r>
              <a:rPr sz="1000" b="0" i="0">
                <a:solidFill>
                  <a:srgbClr val="1A1A2E"/>
                </a:solidFill>
                <a:latin typeface="Calibri"/>
              </a:rPr>
              <a:t>13.2</a:t>
            </a:r>
          </a:p>
        </p:txBody>
      </p:sp>
      <p:sp>
        <p:nvSpPr>
          <p:cNvPr id="19" name="TextBox 18"/>
          <p:cNvSpPr txBox="1"/>
          <p:nvPr/>
        </p:nvSpPr>
        <p:spPr>
          <a:xfrm>
            <a:off x="3822191" y="3712463"/>
            <a:ext cx="841248" cy="329184"/>
          </a:xfrm>
          <a:prstGeom prst="rect">
            <a:avLst/>
          </a:prstGeom>
          <a:noFill/>
        </p:spPr>
        <p:txBody>
          <a:bodyPr wrap="square">
            <a:spAutoFit/>
          </a:bodyPr>
          <a:lstStyle/>
          <a:p>
            <a:pPr algn="ctr"/>
            <a:r>
              <a:rPr sz="1000" b="0" i="0">
                <a:solidFill>
                  <a:srgbClr val="1A1A2E"/>
                </a:solidFill>
                <a:latin typeface="Calibri"/>
              </a:rPr>
              <a:t>89.1</a:t>
            </a:r>
          </a:p>
        </p:txBody>
      </p:sp>
      <p:sp>
        <p:nvSpPr>
          <p:cNvPr id="20" name="TextBox 19"/>
          <p:cNvSpPr txBox="1"/>
          <p:nvPr/>
        </p:nvSpPr>
        <p:spPr>
          <a:xfrm>
            <a:off x="4736592" y="3712463"/>
            <a:ext cx="777240" cy="329184"/>
          </a:xfrm>
          <a:prstGeom prst="rect">
            <a:avLst/>
          </a:prstGeom>
          <a:noFill/>
        </p:spPr>
        <p:txBody>
          <a:bodyPr wrap="square">
            <a:spAutoFit/>
          </a:bodyPr>
          <a:lstStyle/>
          <a:p>
            <a:pPr algn="ctr"/>
            <a:r>
              <a:rPr sz="1000" b="0" i="0">
                <a:solidFill>
                  <a:srgbClr val="1A1A2E"/>
                </a:solidFill>
                <a:latin typeface="Calibri"/>
              </a:rPr>
              <a:t>97.6</a:t>
            </a:r>
          </a:p>
        </p:txBody>
      </p:sp>
      <p:sp>
        <p:nvSpPr>
          <p:cNvPr id="21" name="TextBox 20"/>
          <p:cNvSpPr txBox="1"/>
          <p:nvPr/>
        </p:nvSpPr>
        <p:spPr>
          <a:xfrm>
            <a:off x="5623560" y="3712463"/>
            <a:ext cx="804672" cy="329184"/>
          </a:xfrm>
          <a:prstGeom prst="rect">
            <a:avLst/>
          </a:prstGeom>
          <a:noFill/>
        </p:spPr>
        <p:txBody>
          <a:bodyPr wrap="square">
            <a:spAutoFit/>
          </a:bodyPr>
          <a:lstStyle/>
          <a:p>
            <a:pPr algn="ctr"/>
            <a:r>
              <a:rPr sz="1000" b="0" i="0">
                <a:solidFill>
                  <a:srgbClr val="1A1A2E"/>
                </a:solidFill>
                <a:latin typeface="Calibri"/>
              </a:rPr>
              <a:t>48.0</a:t>
            </a:r>
          </a:p>
        </p:txBody>
      </p:sp>
      <p:sp>
        <p:nvSpPr>
          <p:cNvPr id="22" name="Rectangle 21"/>
          <p:cNvSpPr/>
          <p:nvPr/>
        </p:nvSpPr>
        <p:spPr>
          <a:xfrm>
            <a:off x="320040" y="4041648"/>
            <a:ext cx="6967728" cy="329184"/>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0040" y="4041648"/>
            <a:ext cx="1051560" cy="329184"/>
          </a:xfrm>
          <a:prstGeom prst="rect">
            <a:avLst/>
          </a:prstGeom>
          <a:noFill/>
        </p:spPr>
        <p:txBody>
          <a:bodyPr wrap="square">
            <a:spAutoFit/>
          </a:bodyPr>
          <a:lstStyle/>
          <a:p>
            <a:pPr algn="ctr"/>
            <a:r>
              <a:rPr sz="1000" b="1" i="0">
                <a:solidFill>
                  <a:srgbClr val="D4622A"/>
                </a:solidFill>
                <a:latin typeface="Calibri"/>
              </a:rPr>
              <a:t>p90</a:t>
            </a:r>
          </a:p>
        </p:txBody>
      </p:sp>
      <p:sp>
        <p:nvSpPr>
          <p:cNvPr id="24" name="TextBox 23"/>
          <p:cNvSpPr txBox="1"/>
          <p:nvPr/>
        </p:nvSpPr>
        <p:spPr>
          <a:xfrm>
            <a:off x="1444752" y="4041648"/>
            <a:ext cx="694944" cy="329184"/>
          </a:xfrm>
          <a:prstGeom prst="rect">
            <a:avLst/>
          </a:prstGeom>
          <a:noFill/>
        </p:spPr>
        <p:txBody>
          <a:bodyPr wrap="square">
            <a:spAutoFit/>
          </a:bodyPr>
          <a:lstStyle/>
          <a:p>
            <a:pPr algn="ctr"/>
            <a:r>
              <a:rPr sz="1000" b="0" i="0">
                <a:solidFill>
                  <a:srgbClr val="1A1A2E"/>
                </a:solidFill>
                <a:latin typeface="Calibri"/>
              </a:rPr>
              <a:t>4.5</a:t>
            </a:r>
          </a:p>
        </p:txBody>
      </p:sp>
      <p:sp>
        <p:nvSpPr>
          <p:cNvPr id="25" name="TextBox 24"/>
          <p:cNvSpPr txBox="1"/>
          <p:nvPr/>
        </p:nvSpPr>
        <p:spPr>
          <a:xfrm>
            <a:off x="2212848" y="4041648"/>
            <a:ext cx="694944" cy="329184"/>
          </a:xfrm>
          <a:prstGeom prst="rect">
            <a:avLst/>
          </a:prstGeom>
          <a:noFill/>
        </p:spPr>
        <p:txBody>
          <a:bodyPr wrap="square">
            <a:spAutoFit/>
          </a:bodyPr>
          <a:lstStyle/>
          <a:p>
            <a:pPr algn="ctr"/>
            <a:r>
              <a:rPr sz="1000" b="0" i="0">
                <a:solidFill>
                  <a:srgbClr val="1A1A2E"/>
                </a:solidFill>
                <a:latin typeface="Calibri"/>
              </a:rPr>
              <a:t>7.4</a:t>
            </a:r>
          </a:p>
        </p:txBody>
      </p:sp>
      <p:sp>
        <p:nvSpPr>
          <p:cNvPr id="26" name="TextBox 25"/>
          <p:cNvSpPr txBox="1"/>
          <p:nvPr/>
        </p:nvSpPr>
        <p:spPr>
          <a:xfrm>
            <a:off x="2980944" y="4041648"/>
            <a:ext cx="768096" cy="329184"/>
          </a:xfrm>
          <a:prstGeom prst="rect">
            <a:avLst/>
          </a:prstGeom>
          <a:noFill/>
        </p:spPr>
        <p:txBody>
          <a:bodyPr wrap="square">
            <a:spAutoFit/>
          </a:bodyPr>
          <a:lstStyle/>
          <a:p>
            <a:pPr algn="ctr"/>
            <a:r>
              <a:rPr sz="1000" b="0" i="0">
                <a:solidFill>
                  <a:srgbClr val="1A1A2E"/>
                </a:solidFill>
                <a:latin typeface="Calibri"/>
              </a:rPr>
              <a:t>10.1</a:t>
            </a:r>
          </a:p>
        </p:txBody>
      </p:sp>
      <p:sp>
        <p:nvSpPr>
          <p:cNvPr id="27" name="TextBox 26"/>
          <p:cNvSpPr txBox="1"/>
          <p:nvPr/>
        </p:nvSpPr>
        <p:spPr>
          <a:xfrm>
            <a:off x="3822191" y="4041648"/>
            <a:ext cx="841248" cy="329184"/>
          </a:xfrm>
          <a:prstGeom prst="rect">
            <a:avLst/>
          </a:prstGeom>
          <a:noFill/>
        </p:spPr>
        <p:txBody>
          <a:bodyPr wrap="square">
            <a:spAutoFit/>
          </a:bodyPr>
          <a:lstStyle/>
          <a:p>
            <a:pPr algn="ctr"/>
            <a:r>
              <a:rPr sz="1000" b="0" i="0">
                <a:solidFill>
                  <a:srgbClr val="1A1A2E"/>
                </a:solidFill>
                <a:latin typeface="Calibri"/>
              </a:rPr>
              <a:t>49.3</a:t>
            </a:r>
          </a:p>
        </p:txBody>
      </p:sp>
      <p:sp>
        <p:nvSpPr>
          <p:cNvPr id="28" name="TextBox 27"/>
          <p:cNvSpPr txBox="1"/>
          <p:nvPr/>
        </p:nvSpPr>
        <p:spPr>
          <a:xfrm>
            <a:off x="4736592" y="4041648"/>
            <a:ext cx="777240" cy="329184"/>
          </a:xfrm>
          <a:prstGeom prst="rect">
            <a:avLst/>
          </a:prstGeom>
          <a:noFill/>
        </p:spPr>
        <p:txBody>
          <a:bodyPr wrap="square">
            <a:spAutoFit/>
          </a:bodyPr>
          <a:lstStyle/>
          <a:p>
            <a:pPr algn="ctr"/>
            <a:r>
              <a:rPr sz="1000" b="0" i="0">
                <a:solidFill>
                  <a:srgbClr val="1A1A2E"/>
                </a:solidFill>
                <a:latin typeface="Calibri"/>
              </a:rPr>
              <a:t>72.3</a:t>
            </a:r>
          </a:p>
        </p:txBody>
      </p:sp>
      <p:sp>
        <p:nvSpPr>
          <p:cNvPr id="29" name="TextBox 28"/>
          <p:cNvSpPr txBox="1"/>
          <p:nvPr/>
        </p:nvSpPr>
        <p:spPr>
          <a:xfrm>
            <a:off x="5623560" y="4041648"/>
            <a:ext cx="804672" cy="329184"/>
          </a:xfrm>
          <a:prstGeom prst="rect">
            <a:avLst/>
          </a:prstGeom>
          <a:noFill/>
        </p:spPr>
        <p:txBody>
          <a:bodyPr wrap="square">
            <a:spAutoFit/>
          </a:bodyPr>
          <a:lstStyle/>
          <a:p>
            <a:pPr algn="ctr"/>
            <a:r>
              <a:rPr sz="1000" b="0" i="0">
                <a:solidFill>
                  <a:srgbClr val="1A1A2E"/>
                </a:solidFill>
                <a:latin typeface="Calibri"/>
              </a:rPr>
              <a:t>67.0</a:t>
            </a:r>
          </a:p>
        </p:txBody>
      </p:sp>
      <p:sp>
        <p:nvSpPr>
          <p:cNvPr id="30" name="Rectangle 29"/>
          <p:cNvSpPr/>
          <p:nvPr/>
        </p:nvSpPr>
        <p:spPr>
          <a:xfrm>
            <a:off x="320040" y="4370831"/>
            <a:ext cx="6967728" cy="32918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 y="4370831"/>
            <a:ext cx="1051560" cy="329184"/>
          </a:xfrm>
          <a:prstGeom prst="rect">
            <a:avLst/>
          </a:prstGeom>
          <a:noFill/>
        </p:spPr>
        <p:txBody>
          <a:bodyPr wrap="square">
            <a:spAutoFit/>
          </a:bodyPr>
          <a:lstStyle/>
          <a:p>
            <a:pPr algn="ctr"/>
            <a:r>
              <a:rPr sz="1000" b="1" i="0">
                <a:solidFill>
                  <a:srgbClr val="D4622A"/>
                </a:solidFill>
                <a:latin typeface="Calibri"/>
              </a:rPr>
              <a:t>p97</a:t>
            </a:r>
          </a:p>
        </p:txBody>
      </p:sp>
      <p:sp>
        <p:nvSpPr>
          <p:cNvPr id="32" name="TextBox 31"/>
          <p:cNvSpPr txBox="1"/>
          <p:nvPr/>
        </p:nvSpPr>
        <p:spPr>
          <a:xfrm>
            <a:off x="1444752" y="4370831"/>
            <a:ext cx="694944" cy="329184"/>
          </a:xfrm>
          <a:prstGeom prst="rect">
            <a:avLst/>
          </a:prstGeom>
          <a:noFill/>
        </p:spPr>
        <p:txBody>
          <a:bodyPr wrap="square">
            <a:spAutoFit/>
          </a:bodyPr>
          <a:lstStyle/>
          <a:p>
            <a:pPr algn="ctr"/>
            <a:r>
              <a:rPr sz="1000" b="0" i="0">
                <a:solidFill>
                  <a:srgbClr val="1A1A2E"/>
                </a:solidFill>
                <a:latin typeface="Calibri"/>
              </a:rPr>
              <a:t>3.8</a:t>
            </a:r>
          </a:p>
        </p:txBody>
      </p:sp>
      <p:sp>
        <p:nvSpPr>
          <p:cNvPr id="33" name="TextBox 32"/>
          <p:cNvSpPr txBox="1"/>
          <p:nvPr/>
        </p:nvSpPr>
        <p:spPr>
          <a:xfrm>
            <a:off x="2212848" y="4370831"/>
            <a:ext cx="694944" cy="329184"/>
          </a:xfrm>
          <a:prstGeom prst="rect">
            <a:avLst/>
          </a:prstGeom>
          <a:noFill/>
        </p:spPr>
        <p:txBody>
          <a:bodyPr wrap="square">
            <a:spAutoFit/>
          </a:bodyPr>
          <a:lstStyle/>
          <a:p>
            <a:pPr algn="ctr"/>
            <a:r>
              <a:rPr sz="1000" b="0" i="0">
                <a:solidFill>
                  <a:srgbClr val="1A1A2E"/>
                </a:solidFill>
                <a:latin typeface="Calibri"/>
              </a:rPr>
              <a:t>6.0</a:t>
            </a:r>
          </a:p>
        </p:txBody>
      </p:sp>
      <p:sp>
        <p:nvSpPr>
          <p:cNvPr id="34" name="TextBox 33"/>
          <p:cNvSpPr txBox="1"/>
          <p:nvPr/>
        </p:nvSpPr>
        <p:spPr>
          <a:xfrm>
            <a:off x="2980944" y="4370831"/>
            <a:ext cx="768096" cy="329184"/>
          </a:xfrm>
          <a:prstGeom prst="rect">
            <a:avLst/>
          </a:prstGeom>
          <a:noFill/>
        </p:spPr>
        <p:txBody>
          <a:bodyPr wrap="square">
            <a:spAutoFit/>
          </a:bodyPr>
          <a:lstStyle/>
          <a:p>
            <a:pPr algn="ctr"/>
            <a:r>
              <a:rPr sz="1000" b="0" i="0">
                <a:solidFill>
                  <a:srgbClr val="1A1A2E"/>
                </a:solidFill>
                <a:latin typeface="Calibri"/>
              </a:rPr>
              <a:t>7.9</a:t>
            </a:r>
          </a:p>
        </p:txBody>
      </p:sp>
      <p:sp>
        <p:nvSpPr>
          <p:cNvPr id="35" name="TextBox 34"/>
          <p:cNvSpPr txBox="1"/>
          <p:nvPr/>
        </p:nvSpPr>
        <p:spPr>
          <a:xfrm>
            <a:off x="3822191" y="4370831"/>
            <a:ext cx="841248" cy="329184"/>
          </a:xfrm>
          <a:prstGeom prst="rect">
            <a:avLst/>
          </a:prstGeom>
          <a:noFill/>
        </p:spPr>
        <p:txBody>
          <a:bodyPr wrap="square">
            <a:spAutoFit/>
          </a:bodyPr>
          <a:lstStyle/>
          <a:p>
            <a:pPr algn="ctr"/>
            <a:r>
              <a:rPr sz="1000" b="0" i="0">
                <a:solidFill>
                  <a:srgbClr val="1A1A2E"/>
                </a:solidFill>
                <a:latin typeface="Calibri"/>
              </a:rPr>
              <a:t>30.0</a:t>
            </a:r>
          </a:p>
        </p:txBody>
      </p:sp>
      <p:sp>
        <p:nvSpPr>
          <p:cNvPr id="36" name="TextBox 35"/>
          <p:cNvSpPr txBox="1"/>
          <p:nvPr/>
        </p:nvSpPr>
        <p:spPr>
          <a:xfrm>
            <a:off x="4736592" y="4370831"/>
            <a:ext cx="777240" cy="329184"/>
          </a:xfrm>
          <a:prstGeom prst="rect">
            <a:avLst/>
          </a:prstGeom>
          <a:noFill/>
        </p:spPr>
        <p:txBody>
          <a:bodyPr wrap="square">
            <a:spAutoFit/>
          </a:bodyPr>
          <a:lstStyle/>
          <a:p>
            <a:pPr algn="ctr"/>
            <a:r>
              <a:rPr sz="1000" b="0" i="0">
                <a:solidFill>
                  <a:srgbClr val="1A1A2E"/>
                </a:solidFill>
                <a:latin typeface="Calibri"/>
              </a:rPr>
              <a:t>60.0</a:t>
            </a:r>
          </a:p>
        </p:txBody>
      </p:sp>
      <p:sp>
        <p:nvSpPr>
          <p:cNvPr id="37" name="TextBox 36"/>
          <p:cNvSpPr txBox="1"/>
          <p:nvPr/>
        </p:nvSpPr>
        <p:spPr>
          <a:xfrm>
            <a:off x="5623560" y="4370831"/>
            <a:ext cx="804672" cy="329184"/>
          </a:xfrm>
          <a:prstGeom prst="rect">
            <a:avLst/>
          </a:prstGeom>
          <a:noFill/>
        </p:spPr>
        <p:txBody>
          <a:bodyPr wrap="square">
            <a:spAutoFit/>
          </a:bodyPr>
          <a:lstStyle/>
          <a:p>
            <a:pPr algn="ctr"/>
            <a:r>
              <a:rPr sz="1000" b="0" i="0">
                <a:solidFill>
                  <a:srgbClr val="1A1A2E"/>
                </a:solidFill>
                <a:latin typeface="Calibri"/>
              </a:rPr>
              <a:t>74.0</a:t>
            </a:r>
          </a:p>
        </p:txBody>
      </p:sp>
      <p:sp>
        <p:nvSpPr>
          <p:cNvPr id="38" name="Rectangle 37"/>
          <p:cNvSpPr/>
          <p:nvPr/>
        </p:nvSpPr>
        <p:spPr>
          <a:xfrm>
            <a:off x="7296912" y="3383280"/>
            <a:ext cx="1536192" cy="148132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70064" y="3438144"/>
            <a:ext cx="1389888" cy="219456"/>
          </a:xfrm>
          <a:prstGeom prst="rect">
            <a:avLst/>
          </a:prstGeom>
          <a:noFill/>
        </p:spPr>
        <p:txBody>
          <a:bodyPr wrap="square">
            <a:spAutoFit/>
          </a:bodyPr>
          <a:lstStyle/>
          <a:p>
            <a:pPr algn="l"/>
            <a:r>
              <a:rPr sz="900" b="1" i="0">
                <a:solidFill>
                  <a:srgbClr val="D4622A"/>
                </a:solidFill>
                <a:latin typeface="Calibri"/>
              </a:rPr>
              <a:t>GSI note</a:t>
            </a:r>
          </a:p>
        </p:txBody>
      </p:sp>
      <p:sp>
        <p:nvSpPr>
          <p:cNvPr id="40" name="TextBox 39"/>
          <p:cNvSpPr txBox="1"/>
          <p:nvPr/>
        </p:nvSpPr>
        <p:spPr>
          <a:xfrm>
            <a:off x="7370064" y="3675887"/>
            <a:ext cx="1389888" cy="1115568"/>
          </a:xfrm>
          <a:prstGeom prst="rect">
            <a:avLst/>
          </a:prstGeom>
          <a:noFill/>
        </p:spPr>
        <p:txBody>
          <a:bodyPr wrap="square">
            <a:spAutoFit/>
          </a:bodyPr>
          <a:lstStyle/>
          <a:p>
            <a:pPr algn="l"/>
            <a:r>
              <a:rPr sz="900" b="0" i="1">
                <a:solidFill>
                  <a:srgbClr val="6D4C41"/>
                </a:solidFill>
                <a:latin typeface="Calibri"/>
              </a:rPr>
              <a:t>FM_herb/FM_woody collapse to dormant floor (30/60%) at p90–p97 — GSI compressed near zero during extreme fire weather in semi-arid CO.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8412480" cy="475488"/>
          </a:xfrm>
          <a:prstGeom prst="rect">
            <a:avLst/>
          </a:prstGeom>
          <a:noFill/>
        </p:spPr>
        <p:txBody>
          <a:bodyPr wrap="square">
            <a:spAutoFit/>
          </a:bodyPr>
          <a:lstStyle/>
          <a:p>
            <a:pPr algn="l"/>
            <a:r>
              <a:rPr sz="2600" b="1" i="0">
                <a:solidFill>
                  <a:srgbClr val="1A1A2E"/>
                </a:solidFill>
                <a:latin typeface="Calibri"/>
              </a:rPr>
              <a:t>Integration in fb_tools</a:t>
            </a:r>
          </a:p>
        </p:txBody>
      </p:sp>
      <p:sp>
        <p:nvSpPr>
          <p:cNvPr id="3" name="Rectangle 2"/>
          <p:cNvSpPr/>
          <p:nvPr/>
        </p:nvSpPr>
        <p:spPr>
          <a:xfrm>
            <a:off x="256032" y="969264"/>
            <a:ext cx="1554480" cy="822960"/>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D4622A"/>
                </a:solidFill>
                <a:latin typeface="Calibri"/>
              </a:rPr>
              <a:t>RTMA hourly CSV
(GEE export)</a:t>
            </a:r>
          </a:p>
        </p:txBody>
      </p:sp>
      <p:cxnSp>
        <p:nvCxnSpPr>
          <p:cNvPr id="4" name="Connector 3"/>
          <p:cNvCxnSpPr/>
          <p:nvPr/>
        </p:nvCxnSpPr>
        <p:spPr>
          <a:xfrm>
            <a:off x="1810512" y="1371600"/>
            <a:ext cx="128016" cy="0"/>
          </a:xfrm>
          <a:prstGeom prst="line">
            <a:avLst/>
          </a:prstGeom>
          <a:ln w="19050">
            <a:solidFill>
              <a:srgbClr val="90A4A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1956816" y="969264"/>
            <a:ext cx="1554480" cy="822960"/>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0">
                <a:solidFill>
                  <a:srgbClr val="1B6CA8"/>
                </a:solidFill>
                <a:latin typeface="Calibri"/>
              </a:rPr>
              <a:t>build_rtma_dead_fm()
build_rtma_live_fm()</a:t>
            </a:r>
          </a:p>
        </p:txBody>
      </p:sp>
      <p:cxnSp>
        <p:nvCxnSpPr>
          <p:cNvPr id="6" name="Connector 5"/>
          <p:cNvCxnSpPr/>
          <p:nvPr/>
        </p:nvCxnSpPr>
        <p:spPr>
          <a:xfrm>
            <a:off x="3511296" y="1371600"/>
            <a:ext cx="128016" cy="0"/>
          </a:xfrm>
          <a:prstGeom prst="line">
            <a:avLst/>
          </a:prstGeom>
          <a:ln w="19050">
            <a:solidFill>
              <a:srgbClr val="90A4AE"/>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3657600" y="969264"/>
            <a:ext cx="1554480" cy="822960"/>
          </a:xfrm>
          <a:prstGeom prst="rect">
            <a:avLst/>
          </a:prstGeom>
          <a:solidFill>
            <a:srgbClr val="D8F3DC"/>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0">
                <a:solidFill>
                  <a:srgbClr val="52B788"/>
                </a:solidFill>
                <a:latin typeface="Calibri"/>
              </a:rPr>
              <a:t>collapse_to_peak_hour()
daily at 14:00 LST</a:t>
            </a:r>
          </a:p>
        </p:txBody>
      </p:sp>
      <p:cxnSp>
        <p:nvCxnSpPr>
          <p:cNvPr id="8" name="Connector 7"/>
          <p:cNvCxnSpPr/>
          <p:nvPr/>
        </p:nvCxnSpPr>
        <p:spPr>
          <a:xfrm>
            <a:off x="5212080" y="1371600"/>
            <a:ext cx="128016" cy="0"/>
          </a:xfrm>
          <a:prstGeom prst="line">
            <a:avLst/>
          </a:prstGeom>
          <a:ln w="19050">
            <a:solidFill>
              <a:srgbClr val="90A4AE"/>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5358384" y="969264"/>
            <a:ext cx="1554480" cy="822960"/>
          </a:xfrm>
          <a:prstGeom prst="rect">
            <a:avLst/>
          </a:prstGeom>
          <a:solidFill>
            <a:srgbClr val="D8F3DC"/>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0">
                <a:solidFill>
                  <a:srgbClr val="2C6E49"/>
                </a:solidFill>
                <a:latin typeface="Calibri"/>
              </a:rPr>
              <a:t>build_rtma_scenario_fm()
pyrome × ERC band medians</a:t>
            </a:r>
          </a:p>
        </p:txBody>
      </p:sp>
      <p:cxnSp>
        <p:nvCxnSpPr>
          <p:cNvPr id="10" name="Connector 9"/>
          <p:cNvCxnSpPr/>
          <p:nvPr/>
        </p:nvCxnSpPr>
        <p:spPr>
          <a:xfrm>
            <a:off x="6912864" y="1371600"/>
            <a:ext cx="128016" cy="0"/>
          </a:xfrm>
          <a:prstGeom prst="line">
            <a:avLst/>
          </a:prstGeom>
          <a:ln w="19050">
            <a:solidFill>
              <a:srgbClr val="90A4AE"/>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059168" y="969264"/>
            <a:ext cx="1554480" cy="822960"/>
          </a:xfrm>
          <a:prstGeom prst="rect">
            <a:avLst/>
          </a:prstGeom>
          <a:solidFill>
            <a:srgbClr val="FFF8E1"/>
          </a:solidFill>
          <a:ln>
            <a:solidFill>
              <a:srgbClr val="6D4C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6D4C41"/>
                </a:solidFill>
                <a:latin typeface="Calibri"/>
              </a:rPr>
              <a:t>FlamMap scenario
cache JSON</a:t>
            </a:r>
          </a:p>
        </p:txBody>
      </p:sp>
      <p:sp>
        <p:nvSpPr>
          <p:cNvPr id="12" name="TextBox 11"/>
          <p:cNvSpPr txBox="1"/>
          <p:nvPr/>
        </p:nvSpPr>
        <p:spPr>
          <a:xfrm>
            <a:off x="1883664" y="1298448"/>
            <a:ext cx="137160" cy="201168"/>
          </a:xfrm>
          <a:prstGeom prst="rect">
            <a:avLst/>
          </a:prstGeom>
          <a:noFill/>
        </p:spPr>
        <p:txBody>
          <a:bodyPr wrap="square">
            <a:spAutoFit/>
          </a:bodyPr>
          <a:lstStyle/>
          <a:p>
            <a:pPr algn="ctr"/>
            <a:r>
              <a:rPr sz="800" b="0" i="0">
                <a:solidFill>
                  <a:srgbClr val="90A4AE"/>
                </a:solidFill>
                <a:latin typeface="Calibri"/>
              </a:rPr>
              <a:t>▶</a:t>
            </a:r>
          </a:p>
        </p:txBody>
      </p:sp>
      <p:sp>
        <p:nvSpPr>
          <p:cNvPr id="13" name="TextBox 12"/>
          <p:cNvSpPr txBox="1"/>
          <p:nvPr/>
        </p:nvSpPr>
        <p:spPr>
          <a:xfrm>
            <a:off x="3584448" y="1298448"/>
            <a:ext cx="137160" cy="201168"/>
          </a:xfrm>
          <a:prstGeom prst="rect">
            <a:avLst/>
          </a:prstGeom>
          <a:noFill/>
        </p:spPr>
        <p:txBody>
          <a:bodyPr wrap="square">
            <a:spAutoFit/>
          </a:bodyPr>
          <a:lstStyle/>
          <a:p>
            <a:pPr algn="ctr"/>
            <a:r>
              <a:rPr sz="800" b="0" i="0">
                <a:solidFill>
                  <a:srgbClr val="90A4AE"/>
                </a:solidFill>
                <a:latin typeface="Calibri"/>
              </a:rPr>
              <a:t>▶</a:t>
            </a:r>
          </a:p>
        </p:txBody>
      </p:sp>
      <p:sp>
        <p:nvSpPr>
          <p:cNvPr id="14" name="TextBox 13"/>
          <p:cNvSpPr txBox="1"/>
          <p:nvPr/>
        </p:nvSpPr>
        <p:spPr>
          <a:xfrm>
            <a:off x="5285232" y="1298448"/>
            <a:ext cx="137160" cy="201168"/>
          </a:xfrm>
          <a:prstGeom prst="rect">
            <a:avLst/>
          </a:prstGeom>
          <a:noFill/>
        </p:spPr>
        <p:txBody>
          <a:bodyPr wrap="square">
            <a:spAutoFit/>
          </a:bodyPr>
          <a:lstStyle/>
          <a:p>
            <a:pPr algn="ctr"/>
            <a:r>
              <a:rPr sz="800" b="0" i="0">
                <a:solidFill>
                  <a:srgbClr val="90A4AE"/>
                </a:solidFill>
                <a:latin typeface="Calibri"/>
              </a:rPr>
              <a:t>▶</a:t>
            </a:r>
          </a:p>
        </p:txBody>
      </p:sp>
      <p:sp>
        <p:nvSpPr>
          <p:cNvPr id="15" name="TextBox 14"/>
          <p:cNvSpPr txBox="1"/>
          <p:nvPr/>
        </p:nvSpPr>
        <p:spPr>
          <a:xfrm>
            <a:off x="6986016" y="1298448"/>
            <a:ext cx="137160" cy="201168"/>
          </a:xfrm>
          <a:prstGeom prst="rect">
            <a:avLst/>
          </a:prstGeom>
          <a:noFill/>
        </p:spPr>
        <p:txBody>
          <a:bodyPr wrap="square">
            <a:spAutoFit/>
          </a:bodyPr>
          <a:lstStyle/>
          <a:p>
            <a:pPr algn="ctr"/>
            <a:r>
              <a:rPr sz="800" b="0" i="0">
                <a:solidFill>
                  <a:srgbClr val="90A4AE"/>
                </a:solidFill>
                <a:latin typeface="Calibri"/>
              </a:rPr>
              <a:t>▶</a:t>
            </a:r>
          </a:p>
        </p:txBody>
      </p:sp>
      <p:sp>
        <p:nvSpPr>
          <p:cNvPr id="16" name="TextBox 15"/>
          <p:cNvSpPr txBox="1"/>
          <p:nvPr/>
        </p:nvSpPr>
        <p:spPr>
          <a:xfrm>
            <a:off x="320040" y="1956816"/>
            <a:ext cx="8503920" cy="256032"/>
          </a:xfrm>
          <a:prstGeom prst="rect">
            <a:avLst/>
          </a:prstGeom>
          <a:noFill/>
        </p:spPr>
        <p:txBody>
          <a:bodyPr wrap="square">
            <a:spAutoFit/>
          </a:bodyPr>
          <a:lstStyle/>
          <a:p>
            <a:pPr algn="l"/>
            <a:r>
              <a:rPr sz="1000" b="0" i="1">
                <a:solidFill>
                  <a:srgbClr val="546E7A"/>
                </a:solidFill>
                <a:latin typeface="Courier New"/>
              </a:rPr>
              <a:t>build_flammap_scenario_cache(gridmet, dead_fm_source='rtma', live_fm_source='rtma', rtma_daily_df=rtma_daily)</a:t>
            </a:r>
          </a:p>
        </p:txBody>
      </p:sp>
      <p:sp>
        <p:nvSpPr>
          <p:cNvPr id="17" name="Rectangle 16"/>
          <p:cNvSpPr/>
          <p:nvPr/>
        </p:nvSpPr>
        <p:spPr>
          <a:xfrm>
            <a:off x="320040" y="2340864"/>
            <a:ext cx="4224528" cy="1261872"/>
          </a:xfrm>
          <a:prstGeom prst="rect">
            <a:avLst/>
          </a:prstGeom>
          <a:solidFill>
            <a:srgbClr val="D8F3DC"/>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2340864"/>
            <a:ext cx="164592" cy="1261872"/>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6072" y="2414016"/>
            <a:ext cx="3904488" cy="256032"/>
          </a:xfrm>
          <a:prstGeom prst="rect">
            <a:avLst/>
          </a:prstGeom>
          <a:noFill/>
        </p:spPr>
        <p:txBody>
          <a:bodyPr wrap="square">
            <a:spAutoFit/>
          </a:bodyPr>
          <a:lstStyle/>
          <a:p>
            <a:pPr algn="l"/>
            <a:r>
              <a:rPr sz="1200" b="1" i="0">
                <a:solidFill>
                  <a:srgbClr val="2C6E49"/>
                </a:solidFill>
                <a:latin typeface="Calibri"/>
              </a:rPr>
              <a:t>What stays the same</a:t>
            </a:r>
          </a:p>
        </p:txBody>
      </p:sp>
      <p:sp>
        <p:nvSpPr>
          <p:cNvPr id="20" name="TextBox 19"/>
          <p:cNvSpPr txBox="1"/>
          <p:nvPr/>
        </p:nvSpPr>
        <p:spPr>
          <a:xfrm>
            <a:off x="612647" y="2706624"/>
            <a:ext cx="3858768" cy="237744"/>
          </a:xfrm>
          <a:prstGeom prst="rect">
            <a:avLst/>
          </a:prstGeom>
          <a:noFill/>
        </p:spPr>
        <p:txBody>
          <a:bodyPr wrap="square">
            <a:spAutoFit/>
          </a:bodyPr>
          <a:lstStyle/>
          <a:p>
            <a:pPr algn="l"/>
            <a:r>
              <a:rPr sz="1000" b="0" i="0">
                <a:solidFill>
                  <a:srgbClr val="1A1A2E"/>
                </a:solidFill>
                <a:latin typeface="Calibri"/>
              </a:rPr>
              <a:t>• ERC percentile bands → GridMET (daily climatology contract unchanged)</a:t>
            </a:r>
          </a:p>
        </p:txBody>
      </p:sp>
      <p:sp>
        <p:nvSpPr>
          <p:cNvPr id="21" name="TextBox 20"/>
          <p:cNvSpPr txBox="1"/>
          <p:nvPr/>
        </p:nvSpPr>
        <p:spPr>
          <a:xfrm>
            <a:off x="612647" y="2980944"/>
            <a:ext cx="3858768" cy="237744"/>
          </a:xfrm>
          <a:prstGeom prst="rect">
            <a:avLst/>
          </a:prstGeom>
          <a:noFill/>
        </p:spPr>
        <p:txBody>
          <a:bodyPr wrap="square">
            <a:spAutoFit/>
          </a:bodyPr>
          <a:lstStyle/>
          <a:p>
            <a:pPr algn="l"/>
            <a:r>
              <a:rPr sz="1000" b="0" i="0">
                <a:solidFill>
                  <a:srgbClr val="1A1A2E"/>
                </a:solidFill>
                <a:latin typeface="Calibri"/>
              </a:rPr>
              <a:t>• Wind speed &amp; direction → HRRR wind-cell cache</a:t>
            </a:r>
          </a:p>
        </p:txBody>
      </p:sp>
      <p:sp>
        <p:nvSpPr>
          <p:cNvPr id="22" name="TextBox 21"/>
          <p:cNvSpPr txBox="1"/>
          <p:nvPr/>
        </p:nvSpPr>
        <p:spPr>
          <a:xfrm>
            <a:off x="612647" y="3255264"/>
            <a:ext cx="3858768" cy="237744"/>
          </a:xfrm>
          <a:prstGeom prst="rect">
            <a:avLst/>
          </a:prstGeom>
          <a:noFill/>
        </p:spPr>
        <p:txBody>
          <a:bodyPr wrap="square">
            <a:spAutoFit/>
          </a:bodyPr>
          <a:lstStyle/>
          <a:p>
            <a:pPr algn="l"/>
            <a:r>
              <a:rPr sz="1000" b="0" i="0">
                <a:solidFill>
                  <a:srgbClr val="1A1A2E"/>
                </a:solidFill>
                <a:latin typeface="Calibri"/>
              </a:rPr>
              <a:t>• FSPro/FSim daily ERC → unaffected</a:t>
            </a:r>
          </a:p>
        </p:txBody>
      </p:sp>
      <p:sp>
        <p:nvSpPr>
          <p:cNvPr id="23" name="Rectangle 22"/>
          <p:cNvSpPr/>
          <p:nvPr/>
        </p:nvSpPr>
        <p:spPr>
          <a:xfrm>
            <a:off x="4617720" y="2340864"/>
            <a:ext cx="4224528" cy="1261872"/>
          </a:xfrm>
          <a:prstGeom prst="rect">
            <a:avLst/>
          </a:prstGeom>
          <a:solidFill>
            <a:srgbClr val="FDE9D6"/>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17720" y="2340864"/>
            <a:ext cx="164592" cy="126187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73752" y="2414016"/>
            <a:ext cx="3904488" cy="256032"/>
          </a:xfrm>
          <a:prstGeom prst="rect">
            <a:avLst/>
          </a:prstGeom>
          <a:noFill/>
        </p:spPr>
        <p:txBody>
          <a:bodyPr wrap="square">
            <a:spAutoFit/>
          </a:bodyPr>
          <a:lstStyle/>
          <a:p>
            <a:pPr algn="l"/>
            <a:r>
              <a:rPr sz="1200" b="1" i="0">
                <a:solidFill>
                  <a:srgbClr val="D4622A"/>
                </a:solidFill>
                <a:latin typeface="Calibri"/>
              </a:rPr>
              <a:t>What RTMA replaces</a:t>
            </a:r>
          </a:p>
        </p:txBody>
      </p:sp>
      <p:sp>
        <p:nvSpPr>
          <p:cNvPr id="26" name="TextBox 25"/>
          <p:cNvSpPr txBox="1"/>
          <p:nvPr/>
        </p:nvSpPr>
        <p:spPr>
          <a:xfrm>
            <a:off x="4910328" y="2706624"/>
            <a:ext cx="3858768" cy="237744"/>
          </a:xfrm>
          <a:prstGeom prst="rect">
            <a:avLst/>
          </a:prstGeom>
          <a:noFill/>
        </p:spPr>
        <p:txBody>
          <a:bodyPr wrap="square">
            <a:spAutoFit/>
          </a:bodyPr>
          <a:lstStyle/>
          <a:p>
            <a:pPr algn="l"/>
            <a:r>
              <a:rPr sz="1000" b="0" i="0">
                <a:solidFill>
                  <a:srgbClr val="1A1A2E"/>
                </a:solidFill>
                <a:latin typeface="Calibri"/>
              </a:rPr>
              <a:t>• FM1 / FM10 / FM100 (dead) → NFDRS78 1-hr lag from RTMA</a:t>
            </a:r>
          </a:p>
        </p:txBody>
      </p:sp>
      <p:sp>
        <p:nvSpPr>
          <p:cNvPr id="27" name="TextBox 26"/>
          <p:cNvSpPr txBox="1"/>
          <p:nvPr/>
        </p:nvSpPr>
        <p:spPr>
          <a:xfrm>
            <a:off x="4910328" y="2980944"/>
            <a:ext cx="3858768" cy="237744"/>
          </a:xfrm>
          <a:prstGeom prst="rect">
            <a:avLst/>
          </a:prstGeom>
          <a:noFill/>
        </p:spPr>
        <p:txBody>
          <a:bodyPr wrap="square">
            <a:spAutoFit/>
          </a:bodyPr>
          <a:lstStyle/>
          <a:p>
            <a:pPr algn="l"/>
            <a:r>
              <a:rPr sz="1000" b="0" i="0">
                <a:solidFill>
                  <a:srgbClr val="1A1A2E"/>
                </a:solidFill>
                <a:latin typeface="Calibri"/>
              </a:rPr>
              <a:t>• FM_herb / FM_woody (live) → GSI from RTMA T/VPD</a:t>
            </a:r>
          </a:p>
        </p:txBody>
      </p:sp>
      <p:sp>
        <p:nvSpPr>
          <p:cNvPr id="28" name="TextBox 27"/>
          <p:cNvSpPr txBox="1"/>
          <p:nvPr/>
        </p:nvSpPr>
        <p:spPr>
          <a:xfrm>
            <a:off x="4910328" y="3255264"/>
            <a:ext cx="3858768" cy="237744"/>
          </a:xfrm>
          <a:prstGeom prst="rect">
            <a:avLst/>
          </a:prstGeom>
          <a:noFill/>
        </p:spPr>
        <p:txBody>
          <a:bodyPr wrap="square">
            <a:spAutoFit/>
          </a:bodyPr>
          <a:lstStyle/>
          <a:p>
            <a:pPr algn="l"/>
            <a:r>
              <a:rPr sz="1000" b="0" i="0">
                <a:solidFill>
                  <a:srgbClr val="1A1A2E"/>
                </a:solidFill>
                <a:latin typeface="Calibri"/>
              </a:rPr>
              <a:t>• Output: 9 pyromes × 5 ERC scenarios per pyrome</a:t>
            </a:r>
          </a:p>
        </p:txBody>
      </p:sp>
      <p:sp>
        <p:nvSpPr>
          <p:cNvPr id="29" name="Rectangle 28"/>
          <p:cNvSpPr/>
          <p:nvPr/>
        </p:nvSpPr>
        <p:spPr>
          <a:xfrm>
            <a:off x="320040" y="3749039"/>
            <a:ext cx="8503920" cy="1188720"/>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8912" y="3803904"/>
            <a:ext cx="8321040" cy="256032"/>
          </a:xfrm>
          <a:prstGeom prst="rect">
            <a:avLst/>
          </a:prstGeom>
          <a:noFill/>
        </p:spPr>
        <p:txBody>
          <a:bodyPr wrap="square">
            <a:spAutoFit/>
          </a:bodyPr>
          <a:lstStyle/>
          <a:p>
            <a:pPr algn="l"/>
            <a:r>
              <a:rPr sz="900" b="1" i="0">
                <a:solidFill>
                  <a:srgbClr val="546E7A"/>
                </a:solidFill>
                <a:latin typeface="Calibri"/>
              </a:rPr>
              <a:t>POTENTIAL APPLICATIONS</a:t>
            </a:r>
          </a:p>
        </p:txBody>
      </p:sp>
      <p:sp>
        <p:nvSpPr>
          <p:cNvPr id="31" name="TextBox 30"/>
          <p:cNvSpPr txBox="1"/>
          <p:nvPr/>
        </p:nvSpPr>
        <p:spPr>
          <a:xfrm>
            <a:off x="502920" y="4078224"/>
            <a:ext cx="2560320" cy="219456"/>
          </a:xfrm>
          <a:prstGeom prst="rect">
            <a:avLst/>
          </a:prstGeom>
          <a:noFill/>
        </p:spPr>
        <p:txBody>
          <a:bodyPr wrap="square">
            <a:spAutoFit/>
          </a:bodyPr>
          <a:lstStyle/>
          <a:p>
            <a:pPr algn="l"/>
            <a:r>
              <a:rPr sz="1100" b="1" i="0">
                <a:solidFill>
                  <a:srgbClr val="1B6CA8"/>
                </a:solidFill>
                <a:latin typeface="Calibri"/>
              </a:rPr>
              <a:t>Near-real-time FlamMap</a:t>
            </a:r>
          </a:p>
        </p:txBody>
      </p:sp>
      <p:sp>
        <p:nvSpPr>
          <p:cNvPr id="32" name="TextBox 31"/>
          <p:cNvSpPr txBox="1"/>
          <p:nvPr/>
        </p:nvSpPr>
        <p:spPr>
          <a:xfrm>
            <a:off x="502920" y="4315968"/>
            <a:ext cx="2560320" cy="548640"/>
          </a:xfrm>
          <a:prstGeom prst="rect">
            <a:avLst/>
          </a:prstGeom>
          <a:noFill/>
        </p:spPr>
        <p:txBody>
          <a:bodyPr wrap="square">
            <a:spAutoFit/>
          </a:bodyPr>
          <a:lstStyle/>
          <a:p>
            <a:pPr algn="l"/>
            <a:r>
              <a:rPr sz="1000" b="0" i="0">
                <a:solidFill>
                  <a:srgbClr val="1A1A2E"/>
                </a:solidFill>
                <a:latin typeface="Calibri"/>
              </a:rPr>
              <a:t>Pair RTMA FM with live GridMET ERC → operational scenario runs</a:t>
            </a:r>
          </a:p>
        </p:txBody>
      </p:sp>
      <p:sp>
        <p:nvSpPr>
          <p:cNvPr id="33" name="TextBox 32"/>
          <p:cNvSpPr txBox="1"/>
          <p:nvPr/>
        </p:nvSpPr>
        <p:spPr>
          <a:xfrm>
            <a:off x="3291839" y="4078224"/>
            <a:ext cx="2560320" cy="219456"/>
          </a:xfrm>
          <a:prstGeom prst="rect">
            <a:avLst/>
          </a:prstGeom>
          <a:noFill/>
        </p:spPr>
        <p:txBody>
          <a:bodyPr wrap="square">
            <a:spAutoFit/>
          </a:bodyPr>
          <a:lstStyle/>
          <a:p>
            <a:pPr algn="l"/>
            <a:r>
              <a:rPr sz="1100" b="1" i="0">
                <a:solidFill>
                  <a:srgbClr val="1B6CA8"/>
                </a:solidFill>
                <a:latin typeface="Calibri"/>
              </a:rPr>
              <a:t>Spatial FM climatology</a:t>
            </a:r>
          </a:p>
        </p:txBody>
      </p:sp>
      <p:sp>
        <p:nvSpPr>
          <p:cNvPr id="34" name="TextBox 33"/>
          <p:cNvSpPr txBox="1"/>
          <p:nvPr/>
        </p:nvSpPr>
        <p:spPr>
          <a:xfrm>
            <a:off x="3291839" y="4315968"/>
            <a:ext cx="2560320" cy="548640"/>
          </a:xfrm>
          <a:prstGeom prst="rect">
            <a:avLst/>
          </a:prstGeom>
          <a:noFill/>
        </p:spPr>
        <p:txBody>
          <a:bodyPr wrap="square">
            <a:spAutoFit/>
          </a:bodyPr>
          <a:lstStyle/>
          <a:p>
            <a:pPr algn="l"/>
            <a:r>
              <a:rPr sz="1000" b="0" i="0">
                <a:solidFill>
                  <a:srgbClr val="1A1A2E"/>
                </a:solidFill>
                <a:latin typeface="Calibri"/>
              </a:rPr>
              <a:t>Any pyrome or analysis unit — not just CO stations</a:t>
            </a:r>
          </a:p>
        </p:txBody>
      </p:sp>
      <p:sp>
        <p:nvSpPr>
          <p:cNvPr id="35" name="TextBox 34"/>
          <p:cNvSpPr txBox="1"/>
          <p:nvPr/>
        </p:nvSpPr>
        <p:spPr>
          <a:xfrm>
            <a:off x="6080759" y="4078224"/>
            <a:ext cx="2560320" cy="219456"/>
          </a:xfrm>
          <a:prstGeom prst="rect">
            <a:avLst/>
          </a:prstGeom>
          <a:noFill/>
        </p:spPr>
        <p:txBody>
          <a:bodyPr wrap="square">
            <a:spAutoFit/>
          </a:bodyPr>
          <a:lstStyle/>
          <a:p>
            <a:pPr algn="l"/>
            <a:r>
              <a:rPr sz="1100" b="1" i="0">
                <a:solidFill>
                  <a:srgbClr val="1B6CA8"/>
                </a:solidFill>
                <a:latin typeface="Calibri"/>
              </a:rPr>
              <a:t>Historic event analysis</a:t>
            </a:r>
          </a:p>
        </p:txBody>
      </p:sp>
      <p:sp>
        <p:nvSpPr>
          <p:cNvPr id="36" name="TextBox 35"/>
          <p:cNvSpPr txBox="1"/>
          <p:nvPr/>
        </p:nvSpPr>
        <p:spPr>
          <a:xfrm>
            <a:off x="6080759" y="4315968"/>
            <a:ext cx="2560320" cy="548640"/>
          </a:xfrm>
          <a:prstGeom prst="rect">
            <a:avLst/>
          </a:prstGeom>
          <a:noFill/>
        </p:spPr>
        <p:txBody>
          <a:bodyPr wrap="square">
            <a:spAutoFit/>
          </a:bodyPr>
          <a:lstStyle/>
          <a:p>
            <a:pPr algn="l"/>
            <a:r>
              <a:rPr sz="1000" b="0" i="0">
                <a:solidFill>
                  <a:srgbClr val="1A1A2E"/>
                </a:solidFill>
                <a:latin typeface="Calibri"/>
              </a:rPr>
              <a:t>Reconstruct FM conditions for past fires using 2011–2025 archive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8412480" cy="475488"/>
          </a:xfrm>
          <a:prstGeom prst="rect">
            <a:avLst/>
          </a:prstGeom>
          <a:noFill/>
        </p:spPr>
        <p:txBody>
          <a:bodyPr wrap="square">
            <a:spAutoFit/>
          </a:bodyPr>
          <a:lstStyle/>
          <a:p>
            <a:pPr algn="l"/>
            <a:r>
              <a:rPr sz="2600" b="1" i="0">
                <a:solidFill>
                  <a:srgbClr val="1A1A2E"/>
                </a:solidFill>
                <a:latin typeface="Calibri"/>
              </a:rPr>
              <a:t>HRRR Wind Climatology</a:t>
            </a:r>
          </a:p>
        </p:txBody>
      </p:sp>
      <p:sp>
        <p:nvSpPr>
          <p:cNvPr id="3" name="Rectangle 2"/>
          <p:cNvSpPr/>
          <p:nvPr/>
        </p:nvSpPr>
        <p:spPr>
          <a:xfrm>
            <a:off x="365760" y="694944"/>
            <a:ext cx="1828800" cy="274320"/>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HRRR + HERBIE</a:t>
            </a:r>
          </a:p>
        </p:txBody>
      </p:sp>
      <p:sp>
        <p:nvSpPr>
          <p:cNvPr id="4" name="TextBox 3"/>
          <p:cNvSpPr txBox="1"/>
          <p:nvPr/>
        </p:nvSpPr>
        <p:spPr>
          <a:xfrm>
            <a:off x="2340864" y="731520"/>
            <a:ext cx="6400800" cy="237744"/>
          </a:xfrm>
          <a:prstGeom prst="rect">
            <a:avLst/>
          </a:prstGeom>
          <a:noFill/>
        </p:spPr>
        <p:txBody>
          <a:bodyPr wrap="square">
            <a:spAutoFit/>
          </a:bodyPr>
          <a:lstStyle/>
          <a:p>
            <a:pPr algn="l"/>
            <a:r>
              <a:rPr sz="1000" b="0" i="1">
                <a:solidFill>
                  <a:srgbClr val="546E7A"/>
                </a:solidFill>
                <a:latin typeface="Calibri"/>
              </a:rPr>
              <a:t>Fire-hour wind extraction from NOAA High-Resolution Rapid Refresh at fire occurrence locations</a:t>
            </a:r>
          </a:p>
        </p:txBody>
      </p:sp>
      <p:sp>
        <p:nvSpPr>
          <p:cNvPr id="5" name="TextBox 4"/>
          <p:cNvSpPr txBox="1"/>
          <p:nvPr/>
        </p:nvSpPr>
        <p:spPr>
          <a:xfrm>
            <a:off x="320040" y="1097280"/>
            <a:ext cx="3474720" cy="256032"/>
          </a:xfrm>
          <a:prstGeom prst="rect">
            <a:avLst/>
          </a:prstGeom>
          <a:noFill/>
        </p:spPr>
        <p:txBody>
          <a:bodyPr wrap="square">
            <a:spAutoFit/>
          </a:bodyPr>
          <a:lstStyle/>
          <a:p>
            <a:pPr algn="l"/>
            <a:r>
              <a:rPr sz="1300" b="1" i="0">
                <a:solidFill>
                  <a:srgbClr val="1A1A2E"/>
                </a:solidFill>
                <a:latin typeface="Calibri"/>
              </a:rPr>
              <a:t>What is HRRR?</a:t>
            </a:r>
          </a:p>
        </p:txBody>
      </p:sp>
      <p:sp>
        <p:nvSpPr>
          <p:cNvPr id="6" name="TextBox 5"/>
          <p:cNvSpPr txBox="1"/>
          <p:nvPr/>
        </p:nvSpPr>
        <p:spPr>
          <a:xfrm>
            <a:off x="320040" y="1426464"/>
            <a:ext cx="3474720" cy="365760"/>
          </a:xfrm>
          <a:prstGeom prst="rect">
            <a:avLst/>
          </a:prstGeom>
          <a:noFill/>
        </p:spPr>
        <p:txBody>
          <a:bodyPr wrap="square">
            <a:spAutoFit/>
          </a:bodyPr>
          <a:lstStyle/>
          <a:p>
            <a:pPr algn="l"/>
            <a:r>
              <a:rPr sz="1000" b="0" i="0">
                <a:solidFill>
                  <a:srgbClr val="1A1A2E"/>
                </a:solidFill>
                <a:latin typeface="Calibri"/>
              </a:rPr>
              <a:t>• 3 km CONUS grid — same extent and cell size as FlamMap raster stack</a:t>
            </a:r>
          </a:p>
        </p:txBody>
      </p:sp>
      <p:sp>
        <p:nvSpPr>
          <p:cNvPr id="7" name="TextBox 6"/>
          <p:cNvSpPr txBox="1"/>
          <p:nvPr/>
        </p:nvSpPr>
        <p:spPr>
          <a:xfrm>
            <a:off x="320040" y="1828800"/>
            <a:ext cx="3474720" cy="365760"/>
          </a:xfrm>
          <a:prstGeom prst="rect">
            <a:avLst/>
          </a:prstGeom>
          <a:noFill/>
        </p:spPr>
        <p:txBody>
          <a:bodyPr wrap="square">
            <a:spAutoFit/>
          </a:bodyPr>
          <a:lstStyle/>
          <a:p>
            <a:pPr algn="l"/>
            <a:r>
              <a:rPr sz="1000" b="0" i="0">
                <a:solidFill>
                  <a:srgbClr val="1A1A2E"/>
                </a:solidFill>
                <a:latin typeface="Calibri"/>
              </a:rPr>
              <a:t>• Hourly analysis product from NOAA Rapid Refresh assimilation cycle</a:t>
            </a:r>
          </a:p>
        </p:txBody>
      </p:sp>
      <p:sp>
        <p:nvSpPr>
          <p:cNvPr id="8" name="TextBox 7"/>
          <p:cNvSpPr txBox="1"/>
          <p:nvPr/>
        </p:nvSpPr>
        <p:spPr>
          <a:xfrm>
            <a:off x="320040" y="2231136"/>
            <a:ext cx="3474720" cy="365760"/>
          </a:xfrm>
          <a:prstGeom prst="rect">
            <a:avLst/>
          </a:prstGeom>
          <a:noFill/>
        </p:spPr>
        <p:txBody>
          <a:bodyPr wrap="square">
            <a:spAutoFit/>
          </a:bodyPr>
          <a:lstStyle/>
          <a:p>
            <a:pPr algn="l"/>
            <a:r>
              <a:rPr sz="1000" b="0" i="0">
                <a:solidFill>
                  <a:srgbClr val="1A1A2E"/>
                </a:solidFill>
                <a:latin typeface="Calibri"/>
              </a:rPr>
              <a:t>• AWS archive via herbie-data: s3://noaa-hrrr-bdp-pds/  (2016–present)</a:t>
            </a:r>
          </a:p>
        </p:txBody>
      </p:sp>
      <p:sp>
        <p:nvSpPr>
          <p:cNvPr id="9" name="TextBox 8"/>
          <p:cNvSpPr txBox="1"/>
          <p:nvPr/>
        </p:nvSpPr>
        <p:spPr>
          <a:xfrm>
            <a:off x="320040" y="2633472"/>
            <a:ext cx="3474720" cy="365760"/>
          </a:xfrm>
          <a:prstGeom prst="rect">
            <a:avLst/>
          </a:prstGeom>
          <a:noFill/>
        </p:spPr>
        <p:txBody>
          <a:bodyPr wrap="square">
            <a:spAutoFit/>
          </a:bodyPr>
          <a:lstStyle/>
          <a:p>
            <a:pPr algn="l"/>
            <a:r>
              <a:rPr sz="1000" b="0" i="0">
                <a:solidFill>
                  <a:srgbClr val="1A1A2E"/>
                </a:solidFill>
                <a:latin typeface="Calibri"/>
              </a:rPr>
              <a:t>• 10m winds: UGRD / VGRD components (m/s) → speed (mph) + direction (°FROM)</a:t>
            </a:r>
          </a:p>
        </p:txBody>
      </p:sp>
      <p:sp>
        <p:nvSpPr>
          <p:cNvPr id="10" name="TextBox 9"/>
          <p:cNvSpPr txBox="1"/>
          <p:nvPr/>
        </p:nvSpPr>
        <p:spPr>
          <a:xfrm>
            <a:off x="320040" y="3035808"/>
            <a:ext cx="3474720" cy="365760"/>
          </a:xfrm>
          <a:prstGeom prst="rect">
            <a:avLst/>
          </a:prstGeom>
          <a:noFill/>
        </p:spPr>
        <p:txBody>
          <a:bodyPr wrap="square">
            <a:spAutoFit/>
          </a:bodyPr>
          <a:lstStyle/>
          <a:p>
            <a:pPr algn="l"/>
            <a:r>
              <a:rPr sz="1000" b="0" i="0">
                <a:solidFill>
                  <a:srgbClr val="1A1A2E"/>
                </a:solidFill>
                <a:latin typeface="Calibri"/>
              </a:rPr>
              <a:t>• Analysis F00 — not a forecast; represents best-estimate at time of issue</a:t>
            </a:r>
          </a:p>
        </p:txBody>
      </p:sp>
      <p:sp>
        <p:nvSpPr>
          <p:cNvPr id="11" name="TextBox 10"/>
          <p:cNvSpPr txBox="1"/>
          <p:nvPr/>
        </p:nvSpPr>
        <p:spPr>
          <a:xfrm>
            <a:off x="4005072" y="1097280"/>
            <a:ext cx="4846320" cy="256032"/>
          </a:xfrm>
          <a:prstGeom prst="rect">
            <a:avLst/>
          </a:prstGeom>
          <a:noFill/>
        </p:spPr>
        <p:txBody>
          <a:bodyPr wrap="square">
            <a:spAutoFit/>
          </a:bodyPr>
          <a:lstStyle/>
          <a:p>
            <a:pPr algn="l"/>
            <a:r>
              <a:rPr sz="1300" b="1" i="0">
                <a:solidFill>
                  <a:srgbClr val="1A1A2E"/>
                </a:solidFill>
                <a:latin typeface="Calibri"/>
              </a:rPr>
              <a:t>Extraction workflow</a:t>
            </a:r>
          </a:p>
        </p:txBody>
      </p:sp>
      <p:sp>
        <p:nvSpPr>
          <p:cNvPr id="12" name="Oval 11"/>
          <p:cNvSpPr/>
          <p:nvPr/>
        </p:nvSpPr>
        <p:spPr>
          <a:xfrm>
            <a:off x="4005072" y="1536192"/>
            <a:ext cx="292608" cy="292608"/>
          </a:xfrm>
          <a:prstGeom prst="ellipse">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rPr>
              <a:t>1</a:t>
            </a:r>
          </a:p>
        </p:txBody>
      </p:sp>
      <p:sp>
        <p:nvSpPr>
          <p:cNvPr id="13" name="TextBox 12"/>
          <p:cNvSpPr txBox="1"/>
          <p:nvPr/>
        </p:nvSpPr>
        <p:spPr>
          <a:xfrm>
            <a:off x="4370832" y="1499616"/>
            <a:ext cx="4370832" cy="219456"/>
          </a:xfrm>
          <a:prstGeom prst="rect">
            <a:avLst/>
          </a:prstGeom>
          <a:noFill/>
        </p:spPr>
        <p:txBody>
          <a:bodyPr wrap="square">
            <a:spAutoFit/>
          </a:bodyPr>
          <a:lstStyle/>
          <a:p>
            <a:pPr algn="l"/>
            <a:r>
              <a:rPr sz="1100" b="1" i="0">
                <a:solidFill>
                  <a:srgbClr val="1A7A6E"/>
                </a:solidFill>
                <a:latin typeface="Calibri"/>
              </a:rPr>
              <a:t>Fire occurrence database (FOD)</a:t>
            </a:r>
          </a:p>
        </p:txBody>
      </p:sp>
      <p:sp>
        <p:nvSpPr>
          <p:cNvPr id="14" name="TextBox 13"/>
          <p:cNvSpPr txBox="1"/>
          <p:nvPr/>
        </p:nvSpPr>
        <p:spPr>
          <a:xfrm>
            <a:off x="4370832" y="1737360"/>
            <a:ext cx="4370832" cy="310896"/>
          </a:xfrm>
          <a:prstGeom prst="rect">
            <a:avLst/>
          </a:prstGeom>
          <a:noFill/>
        </p:spPr>
        <p:txBody>
          <a:bodyPr wrap="square">
            <a:spAutoFit/>
          </a:bodyPr>
          <a:lstStyle/>
          <a:p>
            <a:pPr algn="l"/>
            <a:r>
              <a:rPr sz="1000" b="0" i="0">
                <a:solidFill>
                  <a:srgbClr val="546E7A"/>
                </a:solidFill>
                <a:latin typeface="Calibri"/>
              </a:rPr>
              <a:t>Filter to 2016+, spatial join to pyrome, retain ignition date + coordinates</a:t>
            </a:r>
          </a:p>
        </p:txBody>
      </p:sp>
      <p:sp>
        <p:nvSpPr>
          <p:cNvPr id="15" name="Oval 14"/>
          <p:cNvSpPr/>
          <p:nvPr/>
        </p:nvSpPr>
        <p:spPr>
          <a:xfrm>
            <a:off x="4005072" y="2249424"/>
            <a:ext cx="292608" cy="292608"/>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rPr>
              <a:t>2</a:t>
            </a:r>
          </a:p>
        </p:txBody>
      </p:sp>
      <p:sp>
        <p:nvSpPr>
          <p:cNvPr id="16" name="TextBox 15"/>
          <p:cNvSpPr txBox="1"/>
          <p:nvPr/>
        </p:nvSpPr>
        <p:spPr>
          <a:xfrm>
            <a:off x="4370832" y="2212848"/>
            <a:ext cx="4370832" cy="219456"/>
          </a:xfrm>
          <a:prstGeom prst="rect">
            <a:avLst/>
          </a:prstGeom>
          <a:noFill/>
        </p:spPr>
        <p:txBody>
          <a:bodyPr wrap="square">
            <a:spAutoFit/>
          </a:bodyPr>
          <a:lstStyle/>
          <a:p>
            <a:pPr algn="l"/>
            <a:r>
              <a:rPr sz="1100" b="1" i="0">
                <a:solidFill>
                  <a:srgbClr val="1B6CA8"/>
                </a:solidFill>
                <a:latin typeface="Calibri"/>
              </a:rPr>
              <a:t>Build download schedule</a:t>
            </a:r>
          </a:p>
        </p:txBody>
      </p:sp>
      <p:sp>
        <p:nvSpPr>
          <p:cNvPr id="17" name="TextBox 16"/>
          <p:cNvSpPr txBox="1"/>
          <p:nvPr/>
        </p:nvSpPr>
        <p:spPr>
          <a:xfrm>
            <a:off x="4370832" y="2450591"/>
            <a:ext cx="4370832" cy="310896"/>
          </a:xfrm>
          <a:prstGeom prst="rect">
            <a:avLst/>
          </a:prstGeom>
          <a:noFill/>
        </p:spPr>
        <p:txBody>
          <a:bodyPr wrap="square">
            <a:spAutoFit/>
          </a:bodyPr>
          <a:lstStyle/>
          <a:p>
            <a:pPr algn="l"/>
            <a:r>
              <a:rPr sz="1000" b="0" i="0">
                <a:solidFill>
                  <a:srgbClr val="546E7A"/>
                </a:solidFill>
                <a:latin typeface="Calibri"/>
              </a:rPr>
              <a:t>Each fire × n_days × 4 UTC fire-hours [19,20,21,22] → deduplicated (date, hour) pairs</a:t>
            </a:r>
          </a:p>
        </p:txBody>
      </p:sp>
      <p:sp>
        <p:nvSpPr>
          <p:cNvPr id="18" name="Oval 17"/>
          <p:cNvSpPr/>
          <p:nvPr/>
        </p:nvSpPr>
        <p:spPr>
          <a:xfrm>
            <a:off x="4005072" y="2962656"/>
            <a:ext cx="292608" cy="292608"/>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rPr>
              <a:t>3</a:t>
            </a:r>
          </a:p>
        </p:txBody>
      </p:sp>
      <p:sp>
        <p:nvSpPr>
          <p:cNvPr id="19" name="TextBox 18"/>
          <p:cNvSpPr txBox="1"/>
          <p:nvPr/>
        </p:nvSpPr>
        <p:spPr>
          <a:xfrm>
            <a:off x="4370832" y="2926080"/>
            <a:ext cx="4370832" cy="219456"/>
          </a:xfrm>
          <a:prstGeom prst="rect">
            <a:avLst/>
          </a:prstGeom>
          <a:noFill/>
        </p:spPr>
        <p:txBody>
          <a:bodyPr wrap="square">
            <a:spAutoFit/>
          </a:bodyPr>
          <a:lstStyle/>
          <a:p>
            <a:pPr algn="l"/>
            <a:r>
              <a:rPr sz="1100" b="1" i="0">
                <a:solidFill>
                  <a:srgbClr val="D4622A"/>
                </a:solidFill>
                <a:latin typeface="Calibri"/>
              </a:rPr>
              <a:t>Herbie download + cache</a:t>
            </a:r>
          </a:p>
        </p:txBody>
      </p:sp>
      <p:sp>
        <p:nvSpPr>
          <p:cNvPr id="20" name="TextBox 19"/>
          <p:cNvSpPr txBox="1"/>
          <p:nvPr/>
        </p:nvSpPr>
        <p:spPr>
          <a:xfrm>
            <a:off x="4370832" y="3163824"/>
            <a:ext cx="4370832" cy="310896"/>
          </a:xfrm>
          <a:prstGeom prst="rect">
            <a:avLst/>
          </a:prstGeom>
          <a:noFill/>
        </p:spPr>
        <p:txBody>
          <a:bodyPr wrap="square">
            <a:spAutoFit/>
          </a:bodyPr>
          <a:lstStyle/>
          <a:p>
            <a:pPr algn="l"/>
            <a:r>
              <a:rPr sz="1000" b="0" i="0">
                <a:solidFill>
                  <a:srgbClr val="546E7A"/>
                </a:solidFill>
                <a:latin typeface="Calibri"/>
              </a:rPr>
              <a:t>One GRIB2 per (date, hour); cached to disk — ~6 GB for ~900 CO fires 2016–2023</a:t>
            </a:r>
          </a:p>
        </p:txBody>
      </p:sp>
      <p:sp>
        <p:nvSpPr>
          <p:cNvPr id="21" name="Oval 20"/>
          <p:cNvSpPr/>
          <p:nvPr/>
        </p:nvSpPr>
        <p:spPr>
          <a:xfrm>
            <a:off x="4005072" y="3675887"/>
            <a:ext cx="292608" cy="292608"/>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rPr>
              <a:t>4</a:t>
            </a:r>
          </a:p>
        </p:txBody>
      </p:sp>
      <p:sp>
        <p:nvSpPr>
          <p:cNvPr id="22" name="TextBox 21"/>
          <p:cNvSpPr txBox="1"/>
          <p:nvPr/>
        </p:nvSpPr>
        <p:spPr>
          <a:xfrm>
            <a:off x="4370832" y="3639312"/>
            <a:ext cx="4370832" cy="219456"/>
          </a:xfrm>
          <a:prstGeom prst="rect">
            <a:avLst/>
          </a:prstGeom>
          <a:noFill/>
        </p:spPr>
        <p:txBody>
          <a:bodyPr wrap="square">
            <a:spAutoFit/>
          </a:bodyPr>
          <a:lstStyle/>
          <a:p>
            <a:pPr algn="l"/>
            <a:r>
              <a:rPr sz="1100" b="1" i="0">
                <a:solidFill>
                  <a:srgbClr val="2C6E49"/>
                </a:solidFill>
                <a:latin typeface="Calibri"/>
              </a:rPr>
              <a:t>KD-tree wind extraction</a:t>
            </a:r>
          </a:p>
        </p:txBody>
      </p:sp>
      <p:sp>
        <p:nvSpPr>
          <p:cNvPr id="23" name="TextBox 22"/>
          <p:cNvSpPr txBox="1"/>
          <p:nvPr/>
        </p:nvSpPr>
        <p:spPr>
          <a:xfrm>
            <a:off x="4370832" y="3877056"/>
            <a:ext cx="4370832" cy="310896"/>
          </a:xfrm>
          <a:prstGeom prst="rect">
            <a:avLst/>
          </a:prstGeom>
          <a:noFill/>
        </p:spPr>
        <p:txBody>
          <a:bodyPr wrap="square">
            <a:spAutoFit/>
          </a:bodyPr>
          <a:lstStyle/>
          <a:p>
            <a:pPr algn="l"/>
            <a:r>
              <a:rPr sz="1000" b="0" i="0">
                <a:solidFill>
                  <a:srgbClr val="546E7A"/>
                </a:solidFill>
                <a:latin typeface="Calibri"/>
              </a:rPr>
              <a:t>HRRR lon 0–360 → −180/180; tree built once per file; k=9 neighbors (~9×9 km) per fire</a:t>
            </a:r>
          </a:p>
        </p:txBody>
      </p:sp>
      <p:sp>
        <p:nvSpPr>
          <p:cNvPr id="24" name="Oval 23"/>
          <p:cNvSpPr/>
          <p:nvPr/>
        </p:nvSpPr>
        <p:spPr>
          <a:xfrm>
            <a:off x="4005072" y="4389120"/>
            <a:ext cx="292608" cy="292608"/>
          </a:xfrm>
          <a:prstGeom prst="ellipse">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i="0">
                <a:solidFill>
                  <a:srgbClr val="FFFFFF"/>
                </a:solidFill>
                <a:latin typeface="Calibri"/>
              </a:rPr>
              <a:t>5</a:t>
            </a:r>
          </a:p>
        </p:txBody>
      </p:sp>
      <p:sp>
        <p:nvSpPr>
          <p:cNvPr id="25" name="TextBox 24"/>
          <p:cNvSpPr txBox="1"/>
          <p:nvPr/>
        </p:nvSpPr>
        <p:spPr>
          <a:xfrm>
            <a:off x="4370832" y="4352544"/>
            <a:ext cx="4370832" cy="219456"/>
          </a:xfrm>
          <a:prstGeom prst="rect">
            <a:avLst/>
          </a:prstGeom>
          <a:noFill/>
        </p:spPr>
        <p:txBody>
          <a:bodyPr wrap="square">
            <a:spAutoFit/>
          </a:bodyPr>
          <a:lstStyle/>
          <a:p>
            <a:pPr algn="l"/>
            <a:r>
              <a:rPr sz="1100" b="1" i="0">
                <a:solidFill>
                  <a:srgbClr val="52B788"/>
                </a:solidFill>
                <a:latin typeface="Calibri"/>
              </a:rPr>
              <a:t>Build WindCellValues</a:t>
            </a:r>
          </a:p>
        </p:txBody>
      </p:sp>
      <p:sp>
        <p:nvSpPr>
          <p:cNvPr id="26" name="TextBox 25"/>
          <p:cNvSpPr txBox="1"/>
          <p:nvPr/>
        </p:nvSpPr>
        <p:spPr>
          <a:xfrm>
            <a:off x="4370832" y="4590288"/>
            <a:ext cx="4370832" cy="310896"/>
          </a:xfrm>
          <a:prstGeom prst="rect">
            <a:avLst/>
          </a:prstGeom>
          <a:noFill/>
        </p:spPr>
        <p:txBody>
          <a:bodyPr wrap="square">
            <a:spAutoFit/>
          </a:bodyPr>
          <a:lstStyle/>
          <a:p>
            <a:pPr algn="l"/>
            <a:r>
              <a:rPr sz="1000" b="0" i="0">
                <a:solidFill>
                  <a:srgbClr val="546E7A"/>
                </a:solidFill>
                <a:latin typeface="Calibri"/>
              </a:rPr>
              <a:t>Group by pyrome → 6-speed × 8-direction frequency table + CalmValue; write JSON cache</a:t>
            </a:r>
          </a:p>
        </p:txBody>
      </p:sp>
      <p:sp>
        <p:nvSpPr>
          <p:cNvPr id="27" name="Rectangle 26"/>
          <p:cNvSpPr/>
          <p:nvPr/>
        </p:nvSpPr>
        <p:spPr>
          <a:xfrm>
            <a:off x="320040" y="4773168"/>
            <a:ext cx="8503920" cy="274320"/>
          </a:xfrm>
          <a:prstGeom prst="rect">
            <a:avLst/>
          </a:prstGeom>
          <a:solidFill>
            <a:srgbClr val="D4EDEB"/>
          </a:solidFill>
          <a:ln>
            <a:solidFill>
              <a:srgbClr val="A8D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4800600"/>
            <a:ext cx="8321040" cy="219456"/>
          </a:xfrm>
          <a:prstGeom prst="rect">
            <a:avLst/>
          </a:prstGeom>
          <a:noFill/>
        </p:spPr>
        <p:txBody>
          <a:bodyPr wrap="square">
            <a:spAutoFit/>
          </a:bodyPr>
          <a:lstStyle/>
          <a:p>
            <a:pPr algn="l"/>
            <a:r>
              <a:rPr sz="900" b="0" i="1">
                <a:solidFill>
                  <a:srgbClr val="1A7A6E"/>
                </a:solidFill>
                <a:latin typeface="Calibri"/>
              </a:rPr>
              <a:t>Fire hours: 19–22Z ≈ 13:00–16:00 MDT (peak spread window)  ·  n_days=5 (ignition + 4 spread days)  ·  k=9 neighbors to boost obs without extra downloads  ·  HRRR archive starts 2016 reliably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164592"/>
            <a:ext cx="8412480" cy="475488"/>
          </a:xfrm>
          <a:prstGeom prst="rect">
            <a:avLst/>
          </a:prstGeom>
          <a:noFill/>
        </p:spPr>
        <p:txBody>
          <a:bodyPr wrap="square">
            <a:spAutoFit/>
          </a:bodyPr>
          <a:lstStyle/>
          <a:p>
            <a:pPr algn="l"/>
            <a:r>
              <a:rPr sz="2400" b="1" i="0">
                <a:solidFill>
                  <a:srgbClr val="1A1A2E"/>
                </a:solidFill>
                <a:latin typeface="Calibri"/>
              </a:rPr>
              <a:t>Wind Climatology Results — 9 CO Pyromes, 2016–2023</a:t>
            </a:r>
          </a:p>
        </p:txBody>
      </p:sp>
      <p:sp>
        <p:nvSpPr>
          <p:cNvPr id="3" name="TextBox 2"/>
          <p:cNvSpPr txBox="1"/>
          <p:nvPr/>
        </p:nvSpPr>
        <p:spPr>
          <a:xfrm>
            <a:off x="320040" y="749808"/>
            <a:ext cx="4389120" cy="256032"/>
          </a:xfrm>
          <a:prstGeom prst="rect">
            <a:avLst/>
          </a:prstGeom>
          <a:noFill/>
        </p:spPr>
        <p:txBody>
          <a:bodyPr wrap="square">
            <a:spAutoFit/>
          </a:bodyPr>
          <a:lstStyle/>
          <a:p>
            <a:pPr algn="l"/>
            <a:r>
              <a:rPr sz="1000" b="1" i="0">
                <a:solidFill>
                  <a:srgbClr val="546E7A"/>
                </a:solidFill>
                <a:latin typeface="Calibri"/>
              </a:rPr>
              <a:t>Per-pyrome wind summary (peak fire hours, 2016–2023)</a:t>
            </a:r>
          </a:p>
        </p:txBody>
      </p:sp>
      <p:sp>
        <p:nvSpPr>
          <p:cNvPr id="4" name="Rectangle 3"/>
          <p:cNvSpPr/>
          <p:nvPr/>
        </p:nvSpPr>
        <p:spPr>
          <a:xfrm>
            <a:off x="320040" y="1005840"/>
            <a:ext cx="4389120" cy="310896"/>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38328" y="1033271"/>
            <a:ext cx="502920" cy="237744"/>
          </a:xfrm>
          <a:prstGeom prst="rect">
            <a:avLst/>
          </a:prstGeom>
          <a:noFill/>
        </p:spPr>
        <p:txBody>
          <a:bodyPr wrap="square">
            <a:spAutoFit/>
          </a:bodyPr>
          <a:lstStyle/>
          <a:p>
            <a:pPr algn="ctr"/>
            <a:r>
              <a:rPr sz="900" b="1" i="0">
                <a:solidFill>
                  <a:srgbClr val="FFFFFF"/>
                </a:solidFill>
                <a:latin typeface="Calibri"/>
              </a:rPr>
              <a:t>Pyrome</a:t>
            </a:r>
          </a:p>
        </p:txBody>
      </p:sp>
      <p:sp>
        <p:nvSpPr>
          <p:cNvPr id="6" name="TextBox 5"/>
          <p:cNvSpPr txBox="1"/>
          <p:nvPr/>
        </p:nvSpPr>
        <p:spPr>
          <a:xfrm>
            <a:off x="868680" y="1033271"/>
            <a:ext cx="566928" cy="237744"/>
          </a:xfrm>
          <a:prstGeom prst="rect">
            <a:avLst/>
          </a:prstGeom>
          <a:noFill/>
        </p:spPr>
        <p:txBody>
          <a:bodyPr wrap="square">
            <a:spAutoFit/>
          </a:bodyPr>
          <a:lstStyle/>
          <a:p>
            <a:pPr algn="ctr"/>
            <a:r>
              <a:rPr sz="900" b="1" i="0">
                <a:solidFill>
                  <a:srgbClr val="FFFFFF"/>
                </a:solidFill>
                <a:latin typeface="Calibri"/>
              </a:rPr>
              <a:t>n obs</a:t>
            </a:r>
          </a:p>
        </p:txBody>
      </p:sp>
      <p:sp>
        <p:nvSpPr>
          <p:cNvPr id="7" name="TextBox 6"/>
          <p:cNvSpPr txBox="1"/>
          <p:nvPr/>
        </p:nvSpPr>
        <p:spPr>
          <a:xfrm>
            <a:off x="1463040" y="1033271"/>
            <a:ext cx="594360" cy="237744"/>
          </a:xfrm>
          <a:prstGeom prst="rect">
            <a:avLst/>
          </a:prstGeom>
          <a:noFill/>
        </p:spPr>
        <p:txBody>
          <a:bodyPr wrap="square">
            <a:spAutoFit/>
          </a:bodyPr>
          <a:lstStyle/>
          <a:p>
            <a:pPr algn="ctr"/>
            <a:r>
              <a:rPr sz="900" b="1" i="0">
                <a:solidFill>
                  <a:srgbClr val="FFFFFF"/>
                </a:solidFill>
                <a:latin typeface="Calibri"/>
              </a:rPr>
              <a:t>Calm %</a:t>
            </a:r>
          </a:p>
        </p:txBody>
      </p:sp>
      <p:sp>
        <p:nvSpPr>
          <p:cNvPr id="8" name="TextBox 7"/>
          <p:cNvSpPr txBox="1"/>
          <p:nvPr/>
        </p:nvSpPr>
        <p:spPr>
          <a:xfrm>
            <a:off x="2084831" y="1033271"/>
            <a:ext cx="859536" cy="237744"/>
          </a:xfrm>
          <a:prstGeom prst="rect">
            <a:avLst/>
          </a:prstGeom>
          <a:noFill/>
        </p:spPr>
        <p:txBody>
          <a:bodyPr wrap="square">
            <a:spAutoFit/>
          </a:bodyPr>
          <a:lstStyle/>
          <a:p>
            <a:pPr algn="ctr"/>
            <a:r>
              <a:rPr sz="900" b="1" i="0">
                <a:solidFill>
                  <a:srgbClr val="FFFFFF"/>
                </a:solidFill>
                <a:latin typeface="Calibri"/>
              </a:rPr>
              <a:t>Dom. dir</a:t>
            </a:r>
          </a:p>
        </p:txBody>
      </p:sp>
      <p:sp>
        <p:nvSpPr>
          <p:cNvPr id="9" name="TextBox 8"/>
          <p:cNvSpPr txBox="1"/>
          <p:nvPr/>
        </p:nvSpPr>
        <p:spPr>
          <a:xfrm>
            <a:off x="2980944" y="1033271"/>
            <a:ext cx="1691640" cy="237744"/>
          </a:xfrm>
          <a:prstGeom prst="rect">
            <a:avLst/>
          </a:prstGeom>
          <a:noFill/>
        </p:spPr>
        <p:txBody>
          <a:bodyPr wrap="square">
            <a:spAutoFit/>
          </a:bodyPr>
          <a:lstStyle/>
          <a:p>
            <a:pPr algn="ctr"/>
            <a:r>
              <a:rPr sz="900" b="1" i="0">
                <a:solidFill>
                  <a:srgbClr val="FFFFFF"/>
                </a:solidFill>
                <a:latin typeface="Calibri"/>
              </a:rPr>
              <a:t>Dom. spd bin</a:t>
            </a:r>
          </a:p>
        </p:txBody>
      </p:sp>
      <p:sp>
        <p:nvSpPr>
          <p:cNvPr id="10" name="Rectangle 9"/>
          <p:cNvSpPr/>
          <p:nvPr/>
        </p:nvSpPr>
        <p:spPr>
          <a:xfrm>
            <a:off x="320040" y="1316736"/>
            <a:ext cx="438912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 y="1371600"/>
            <a:ext cx="502920" cy="237744"/>
          </a:xfrm>
          <a:prstGeom prst="rect">
            <a:avLst/>
          </a:prstGeom>
          <a:noFill/>
        </p:spPr>
        <p:txBody>
          <a:bodyPr wrap="square">
            <a:spAutoFit/>
          </a:bodyPr>
          <a:lstStyle/>
          <a:p>
            <a:pPr algn="ctr"/>
            <a:r>
              <a:rPr sz="900" b="1" i="0">
                <a:solidFill>
                  <a:srgbClr val="1A7A6E"/>
                </a:solidFill>
                <a:latin typeface="Calibri"/>
              </a:rPr>
              <a:t>42</a:t>
            </a:r>
          </a:p>
        </p:txBody>
      </p:sp>
      <p:sp>
        <p:nvSpPr>
          <p:cNvPr id="12" name="TextBox 11"/>
          <p:cNvSpPr txBox="1"/>
          <p:nvPr/>
        </p:nvSpPr>
        <p:spPr>
          <a:xfrm>
            <a:off x="868680" y="1371600"/>
            <a:ext cx="566928" cy="237744"/>
          </a:xfrm>
          <a:prstGeom prst="rect">
            <a:avLst/>
          </a:prstGeom>
          <a:noFill/>
        </p:spPr>
        <p:txBody>
          <a:bodyPr wrap="square">
            <a:spAutoFit/>
          </a:bodyPr>
          <a:lstStyle/>
          <a:p>
            <a:pPr algn="ctr"/>
            <a:r>
              <a:rPr sz="900" b="0" i="0">
                <a:solidFill>
                  <a:srgbClr val="1A1A2E"/>
                </a:solidFill>
                <a:latin typeface="Calibri"/>
              </a:rPr>
              <a:t>1,127</a:t>
            </a:r>
          </a:p>
        </p:txBody>
      </p:sp>
      <p:sp>
        <p:nvSpPr>
          <p:cNvPr id="13" name="TextBox 12"/>
          <p:cNvSpPr txBox="1"/>
          <p:nvPr/>
        </p:nvSpPr>
        <p:spPr>
          <a:xfrm>
            <a:off x="1463040" y="1371600"/>
            <a:ext cx="594360" cy="237744"/>
          </a:xfrm>
          <a:prstGeom prst="rect">
            <a:avLst/>
          </a:prstGeom>
          <a:noFill/>
        </p:spPr>
        <p:txBody>
          <a:bodyPr wrap="square">
            <a:spAutoFit/>
          </a:bodyPr>
          <a:lstStyle/>
          <a:p>
            <a:pPr algn="ctr"/>
            <a:r>
              <a:rPr sz="900" b="0" i="0">
                <a:solidFill>
                  <a:srgbClr val="1A1A2E"/>
                </a:solidFill>
                <a:latin typeface="Calibri"/>
              </a:rPr>
              <a:t>1.0%</a:t>
            </a:r>
          </a:p>
        </p:txBody>
      </p:sp>
      <p:sp>
        <p:nvSpPr>
          <p:cNvPr id="14" name="TextBox 13"/>
          <p:cNvSpPr txBox="1"/>
          <p:nvPr/>
        </p:nvSpPr>
        <p:spPr>
          <a:xfrm>
            <a:off x="2084831" y="1371600"/>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15" name="TextBox 14"/>
          <p:cNvSpPr txBox="1"/>
          <p:nvPr/>
        </p:nvSpPr>
        <p:spPr>
          <a:xfrm>
            <a:off x="2980944" y="1371600"/>
            <a:ext cx="1691640" cy="237744"/>
          </a:xfrm>
          <a:prstGeom prst="rect">
            <a:avLst/>
          </a:prstGeom>
          <a:noFill/>
        </p:spPr>
        <p:txBody>
          <a:bodyPr wrap="square">
            <a:spAutoFit/>
          </a:bodyPr>
          <a:lstStyle/>
          <a:p>
            <a:pPr algn="ctr"/>
            <a:r>
              <a:rPr sz="900" b="0" i="0">
                <a:solidFill>
                  <a:srgbClr val="1A1A2E"/>
                </a:solidFill>
                <a:latin typeface="Calibri"/>
              </a:rPr>
              <a:t>10–15 mph</a:t>
            </a:r>
          </a:p>
        </p:txBody>
      </p:sp>
      <p:sp>
        <p:nvSpPr>
          <p:cNvPr id="16" name="Rectangle 15"/>
          <p:cNvSpPr/>
          <p:nvPr/>
        </p:nvSpPr>
        <p:spPr>
          <a:xfrm>
            <a:off x="320040" y="1664207"/>
            <a:ext cx="4389120"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 y="1719072"/>
            <a:ext cx="502920" cy="237744"/>
          </a:xfrm>
          <a:prstGeom prst="rect">
            <a:avLst/>
          </a:prstGeom>
          <a:noFill/>
        </p:spPr>
        <p:txBody>
          <a:bodyPr wrap="square">
            <a:spAutoFit/>
          </a:bodyPr>
          <a:lstStyle/>
          <a:p>
            <a:pPr algn="ctr"/>
            <a:r>
              <a:rPr sz="900" b="1" i="0">
                <a:solidFill>
                  <a:srgbClr val="1A7A6E"/>
                </a:solidFill>
                <a:latin typeface="Calibri"/>
              </a:rPr>
              <a:t>43</a:t>
            </a:r>
          </a:p>
        </p:txBody>
      </p:sp>
      <p:sp>
        <p:nvSpPr>
          <p:cNvPr id="18" name="TextBox 17"/>
          <p:cNvSpPr txBox="1"/>
          <p:nvPr/>
        </p:nvSpPr>
        <p:spPr>
          <a:xfrm>
            <a:off x="868680" y="1719072"/>
            <a:ext cx="566928" cy="237744"/>
          </a:xfrm>
          <a:prstGeom prst="rect">
            <a:avLst/>
          </a:prstGeom>
          <a:noFill/>
        </p:spPr>
        <p:txBody>
          <a:bodyPr wrap="square">
            <a:spAutoFit/>
          </a:bodyPr>
          <a:lstStyle/>
          <a:p>
            <a:pPr algn="ctr"/>
            <a:r>
              <a:rPr sz="900" b="0" i="0">
                <a:solidFill>
                  <a:srgbClr val="1A1A2E"/>
                </a:solidFill>
                <a:latin typeface="Calibri"/>
              </a:rPr>
              <a:t>1,437</a:t>
            </a:r>
          </a:p>
        </p:txBody>
      </p:sp>
      <p:sp>
        <p:nvSpPr>
          <p:cNvPr id="19" name="TextBox 18"/>
          <p:cNvSpPr txBox="1"/>
          <p:nvPr/>
        </p:nvSpPr>
        <p:spPr>
          <a:xfrm>
            <a:off x="1463040" y="1719072"/>
            <a:ext cx="594360" cy="237744"/>
          </a:xfrm>
          <a:prstGeom prst="rect">
            <a:avLst/>
          </a:prstGeom>
          <a:noFill/>
        </p:spPr>
        <p:txBody>
          <a:bodyPr wrap="square">
            <a:spAutoFit/>
          </a:bodyPr>
          <a:lstStyle/>
          <a:p>
            <a:pPr algn="ctr"/>
            <a:r>
              <a:rPr sz="900" b="0" i="0">
                <a:solidFill>
                  <a:srgbClr val="1A1A2E"/>
                </a:solidFill>
                <a:latin typeface="Calibri"/>
              </a:rPr>
              <a:t>2.0%</a:t>
            </a:r>
          </a:p>
        </p:txBody>
      </p:sp>
      <p:sp>
        <p:nvSpPr>
          <p:cNvPr id="20" name="TextBox 19"/>
          <p:cNvSpPr txBox="1"/>
          <p:nvPr/>
        </p:nvSpPr>
        <p:spPr>
          <a:xfrm>
            <a:off x="2084831" y="1719072"/>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21" name="TextBox 20"/>
          <p:cNvSpPr txBox="1"/>
          <p:nvPr/>
        </p:nvSpPr>
        <p:spPr>
          <a:xfrm>
            <a:off x="2980944" y="1719072"/>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22" name="Rectangle 21"/>
          <p:cNvSpPr/>
          <p:nvPr/>
        </p:nvSpPr>
        <p:spPr>
          <a:xfrm>
            <a:off x="320040" y="2011680"/>
            <a:ext cx="438912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 y="2066544"/>
            <a:ext cx="502920" cy="237744"/>
          </a:xfrm>
          <a:prstGeom prst="rect">
            <a:avLst/>
          </a:prstGeom>
          <a:noFill/>
        </p:spPr>
        <p:txBody>
          <a:bodyPr wrap="square">
            <a:spAutoFit/>
          </a:bodyPr>
          <a:lstStyle/>
          <a:p>
            <a:pPr algn="ctr"/>
            <a:r>
              <a:rPr sz="900" b="1" i="0">
                <a:solidFill>
                  <a:srgbClr val="1A7A6E"/>
                </a:solidFill>
                <a:latin typeface="Calibri"/>
              </a:rPr>
              <a:t>45</a:t>
            </a:r>
          </a:p>
        </p:txBody>
      </p:sp>
      <p:sp>
        <p:nvSpPr>
          <p:cNvPr id="24" name="TextBox 23"/>
          <p:cNvSpPr txBox="1"/>
          <p:nvPr/>
        </p:nvSpPr>
        <p:spPr>
          <a:xfrm>
            <a:off x="868680" y="2066544"/>
            <a:ext cx="566928" cy="237744"/>
          </a:xfrm>
          <a:prstGeom prst="rect">
            <a:avLst/>
          </a:prstGeom>
          <a:noFill/>
        </p:spPr>
        <p:txBody>
          <a:bodyPr wrap="square">
            <a:spAutoFit/>
          </a:bodyPr>
          <a:lstStyle/>
          <a:p>
            <a:pPr algn="ctr"/>
            <a:r>
              <a:rPr sz="900" b="0" i="0">
                <a:solidFill>
                  <a:srgbClr val="1A1A2E"/>
                </a:solidFill>
                <a:latin typeface="Calibri"/>
              </a:rPr>
              <a:t>803</a:t>
            </a:r>
          </a:p>
        </p:txBody>
      </p:sp>
      <p:sp>
        <p:nvSpPr>
          <p:cNvPr id="25" name="TextBox 24"/>
          <p:cNvSpPr txBox="1"/>
          <p:nvPr/>
        </p:nvSpPr>
        <p:spPr>
          <a:xfrm>
            <a:off x="1463040" y="2066544"/>
            <a:ext cx="594360" cy="237744"/>
          </a:xfrm>
          <a:prstGeom prst="rect">
            <a:avLst/>
          </a:prstGeom>
          <a:noFill/>
        </p:spPr>
        <p:txBody>
          <a:bodyPr wrap="square">
            <a:spAutoFit/>
          </a:bodyPr>
          <a:lstStyle/>
          <a:p>
            <a:pPr algn="ctr"/>
            <a:r>
              <a:rPr sz="900" b="0" i="0">
                <a:solidFill>
                  <a:srgbClr val="1A1A2E"/>
                </a:solidFill>
                <a:latin typeface="Calibri"/>
              </a:rPr>
              <a:t>1.9%</a:t>
            </a:r>
          </a:p>
        </p:txBody>
      </p:sp>
      <p:sp>
        <p:nvSpPr>
          <p:cNvPr id="26" name="TextBox 25"/>
          <p:cNvSpPr txBox="1"/>
          <p:nvPr/>
        </p:nvSpPr>
        <p:spPr>
          <a:xfrm>
            <a:off x="2084831" y="2066544"/>
            <a:ext cx="859536" cy="237744"/>
          </a:xfrm>
          <a:prstGeom prst="rect">
            <a:avLst/>
          </a:prstGeom>
          <a:noFill/>
        </p:spPr>
        <p:txBody>
          <a:bodyPr wrap="square">
            <a:spAutoFit/>
          </a:bodyPr>
          <a:lstStyle/>
          <a:p>
            <a:pPr algn="ctr"/>
            <a:r>
              <a:rPr sz="900" b="0" i="0">
                <a:solidFill>
                  <a:srgbClr val="1B6CA8"/>
                </a:solidFill>
                <a:latin typeface="Calibri"/>
              </a:rPr>
              <a:t>W/NW (292°)</a:t>
            </a:r>
          </a:p>
        </p:txBody>
      </p:sp>
      <p:sp>
        <p:nvSpPr>
          <p:cNvPr id="27" name="TextBox 26"/>
          <p:cNvSpPr txBox="1"/>
          <p:nvPr/>
        </p:nvSpPr>
        <p:spPr>
          <a:xfrm>
            <a:off x="2980944" y="2066544"/>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28" name="Rectangle 27"/>
          <p:cNvSpPr/>
          <p:nvPr/>
        </p:nvSpPr>
        <p:spPr>
          <a:xfrm>
            <a:off x="320040" y="2359152"/>
            <a:ext cx="4389120"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8328" y="2414016"/>
            <a:ext cx="502920" cy="237744"/>
          </a:xfrm>
          <a:prstGeom prst="rect">
            <a:avLst/>
          </a:prstGeom>
          <a:noFill/>
        </p:spPr>
        <p:txBody>
          <a:bodyPr wrap="square">
            <a:spAutoFit/>
          </a:bodyPr>
          <a:lstStyle/>
          <a:p>
            <a:pPr algn="ctr"/>
            <a:r>
              <a:rPr sz="900" b="1" i="0">
                <a:solidFill>
                  <a:srgbClr val="1A7A6E"/>
                </a:solidFill>
                <a:latin typeface="Calibri"/>
              </a:rPr>
              <a:t>46</a:t>
            </a:r>
          </a:p>
        </p:txBody>
      </p:sp>
      <p:sp>
        <p:nvSpPr>
          <p:cNvPr id="30" name="TextBox 29"/>
          <p:cNvSpPr txBox="1"/>
          <p:nvPr/>
        </p:nvSpPr>
        <p:spPr>
          <a:xfrm>
            <a:off x="868680" y="2414016"/>
            <a:ext cx="566928" cy="237744"/>
          </a:xfrm>
          <a:prstGeom prst="rect">
            <a:avLst/>
          </a:prstGeom>
          <a:noFill/>
        </p:spPr>
        <p:txBody>
          <a:bodyPr wrap="square">
            <a:spAutoFit/>
          </a:bodyPr>
          <a:lstStyle/>
          <a:p>
            <a:pPr algn="ctr"/>
            <a:r>
              <a:rPr sz="900" b="0" i="0">
                <a:solidFill>
                  <a:srgbClr val="1A1A2E"/>
                </a:solidFill>
                <a:latin typeface="Calibri"/>
              </a:rPr>
              <a:t>1,106</a:t>
            </a:r>
          </a:p>
        </p:txBody>
      </p:sp>
      <p:sp>
        <p:nvSpPr>
          <p:cNvPr id="31" name="TextBox 30"/>
          <p:cNvSpPr txBox="1"/>
          <p:nvPr/>
        </p:nvSpPr>
        <p:spPr>
          <a:xfrm>
            <a:off x="1463040" y="2414016"/>
            <a:ext cx="594360" cy="237744"/>
          </a:xfrm>
          <a:prstGeom prst="rect">
            <a:avLst/>
          </a:prstGeom>
          <a:noFill/>
        </p:spPr>
        <p:txBody>
          <a:bodyPr wrap="square">
            <a:spAutoFit/>
          </a:bodyPr>
          <a:lstStyle/>
          <a:p>
            <a:pPr algn="ctr"/>
            <a:r>
              <a:rPr sz="900" b="0" i="0">
                <a:solidFill>
                  <a:srgbClr val="1A1A2E"/>
                </a:solidFill>
                <a:latin typeface="Calibri"/>
              </a:rPr>
              <a:t>1.3%</a:t>
            </a:r>
          </a:p>
        </p:txBody>
      </p:sp>
      <p:sp>
        <p:nvSpPr>
          <p:cNvPr id="32" name="TextBox 31"/>
          <p:cNvSpPr txBox="1"/>
          <p:nvPr/>
        </p:nvSpPr>
        <p:spPr>
          <a:xfrm>
            <a:off x="2084831" y="2414016"/>
            <a:ext cx="859536" cy="237744"/>
          </a:xfrm>
          <a:prstGeom prst="rect">
            <a:avLst/>
          </a:prstGeom>
          <a:noFill/>
        </p:spPr>
        <p:txBody>
          <a:bodyPr wrap="square">
            <a:spAutoFit/>
          </a:bodyPr>
          <a:lstStyle/>
          <a:p>
            <a:pPr algn="ctr"/>
            <a:r>
              <a:rPr sz="900" b="0" i="0">
                <a:solidFill>
                  <a:srgbClr val="1B6CA8"/>
                </a:solidFill>
                <a:latin typeface="Calibri"/>
              </a:rPr>
              <a:t>W/NW (292°)</a:t>
            </a:r>
          </a:p>
        </p:txBody>
      </p:sp>
      <p:sp>
        <p:nvSpPr>
          <p:cNvPr id="33" name="TextBox 32"/>
          <p:cNvSpPr txBox="1"/>
          <p:nvPr/>
        </p:nvSpPr>
        <p:spPr>
          <a:xfrm>
            <a:off x="2980944" y="2414016"/>
            <a:ext cx="1691640" cy="237744"/>
          </a:xfrm>
          <a:prstGeom prst="rect">
            <a:avLst/>
          </a:prstGeom>
          <a:noFill/>
        </p:spPr>
        <p:txBody>
          <a:bodyPr wrap="square">
            <a:spAutoFit/>
          </a:bodyPr>
          <a:lstStyle/>
          <a:p>
            <a:pPr algn="ctr"/>
            <a:r>
              <a:rPr sz="900" b="0" i="0">
                <a:solidFill>
                  <a:srgbClr val="1A1A2E"/>
                </a:solidFill>
                <a:latin typeface="Calibri"/>
              </a:rPr>
              <a:t>10–20 mph</a:t>
            </a:r>
          </a:p>
        </p:txBody>
      </p:sp>
      <p:sp>
        <p:nvSpPr>
          <p:cNvPr id="34" name="Rectangle 33"/>
          <p:cNvSpPr/>
          <p:nvPr/>
        </p:nvSpPr>
        <p:spPr>
          <a:xfrm>
            <a:off x="320040" y="2706624"/>
            <a:ext cx="438912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8328" y="2761488"/>
            <a:ext cx="502920" cy="237744"/>
          </a:xfrm>
          <a:prstGeom prst="rect">
            <a:avLst/>
          </a:prstGeom>
          <a:noFill/>
        </p:spPr>
        <p:txBody>
          <a:bodyPr wrap="square">
            <a:spAutoFit/>
          </a:bodyPr>
          <a:lstStyle/>
          <a:p>
            <a:pPr algn="ctr"/>
            <a:r>
              <a:rPr sz="900" b="1" i="0">
                <a:solidFill>
                  <a:srgbClr val="1A7A6E"/>
                </a:solidFill>
                <a:latin typeface="Calibri"/>
              </a:rPr>
              <a:t>47</a:t>
            </a:r>
          </a:p>
        </p:txBody>
      </p:sp>
      <p:sp>
        <p:nvSpPr>
          <p:cNvPr id="36" name="TextBox 35"/>
          <p:cNvSpPr txBox="1"/>
          <p:nvPr/>
        </p:nvSpPr>
        <p:spPr>
          <a:xfrm>
            <a:off x="868680" y="2761488"/>
            <a:ext cx="566928" cy="237744"/>
          </a:xfrm>
          <a:prstGeom prst="rect">
            <a:avLst/>
          </a:prstGeom>
          <a:noFill/>
        </p:spPr>
        <p:txBody>
          <a:bodyPr wrap="square">
            <a:spAutoFit/>
          </a:bodyPr>
          <a:lstStyle/>
          <a:p>
            <a:pPr algn="ctr"/>
            <a:r>
              <a:rPr sz="900" b="0" i="0">
                <a:solidFill>
                  <a:srgbClr val="1A1A2E"/>
                </a:solidFill>
                <a:latin typeface="Calibri"/>
              </a:rPr>
              <a:t>1,756</a:t>
            </a:r>
          </a:p>
        </p:txBody>
      </p:sp>
      <p:sp>
        <p:nvSpPr>
          <p:cNvPr id="37" name="TextBox 36"/>
          <p:cNvSpPr txBox="1"/>
          <p:nvPr/>
        </p:nvSpPr>
        <p:spPr>
          <a:xfrm>
            <a:off x="1463040" y="2761488"/>
            <a:ext cx="594360" cy="237744"/>
          </a:xfrm>
          <a:prstGeom prst="rect">
            <a:avLst/>
          </a:prstGeom>
          <a:noFill/>
        </p:spPr>
        <p:txBody>
          <a:bodyPr wrap="square">
            <a:spAutoFit/>
          </a:bodyPr>
          <a:lstStyle/>
          <a:p>
            <a:pPr algn="ctr"/>
            <a:r>
              <a:rPr sz="900" b="0" i="0">
                <a:solidFill>
                  <a:srgbClr val="1A1A2E"/>
                </a:solidFill>
                <a:latin typeface="Calibri"/>
              </a:rPr>
              <a:t>1.3%</a:t>
            </a:r>
          </a:p>
        </p:txBody>
      </p:sp>
      <p:sp>
        <p:nvSpPr>
          <p:cNvPr id="38" name="TextBox 37"/>
          <p:cNvSpPr txBox="1"/>
          <p:nvPr/>
        </p:nvSpPr>
        <p:spPr>
          <a:xfrm>
            <a:off x="2084831" y="2761488"/>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39" name="TextBox 38"/>
          <p:cNvSpPr txBox="1"/>
          <p:nvPr/>
        </p:nvSpPr>
        <p:spPr>
          <a:xfrm>
            <a:off x="2980944" y="2761488"/>
            <a:ext cx="1691640" cy="237744"/>
          </a:xfrm>
          <a:prstGeom prst="rect">
            <a:avLst/>
          </a:prstGeom>
          <a:noFill/>
        </p:spPr>
        <p:txBody>
          <a:bodyPr wrap="square">
            <a:spAutoFit/>
          </a:bodyPr>
          <a:lstStyle/>
          <a:p>
            <a:pPr algn="ctr"/>
            <a:r>
              <a:rPr sz="900" b="0" i="0">
                <a:solidFill>
                  <a:srgbClr val="1A1A2E"/>
                </a:solidFill>
                <a:latin typeface="Calibri"/>
              </a:rPr>
              <a:t>10–15 mph</a:t>
            </a:r>
          </a:p>
        </p:txBody>
      </p:sp>
      <p:sp>
        <p:nvSpPr>
          <p:cNvPr id="40" name="Rectangle 39"/>
          <p:cNvSpPr/>
          <p:nvPr/>
        </p:nvSpPr>
        <p:spPr>
          <a:xfrm>
            <a:off x="320040" y="3054096"/>
            <a:ext cx="4389120"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8328" y="3108960"/>
            <a:ext cx="502920" cy="237744"/>
          </a:xfrm>
          <a:prstGeom prst="rect">
            <a:avLst/>
          </a:prstGeom>
          <a:noFill/>
        </p:spPr>
        <p:txBody>
          <a:bodyPr wrap="square">
            <a:spAutoFit/>
          </a:bodyPr>
          <a:lstStyle/>
          <a:p>
            <a:pPr algn="ctr"/>
            <a:r>
              <a:rPr sz="900" b="1" i="0">
                <a:solidFill>
                  <a:srgbClr val="1A7A6E"/>
                </a:solidFill>
                <a:latin typeface="Calibri"/>
              </a:rPr>
              <a:t>52</a:t>
            </a:r>
          </a:p>
        </p:txBody>
      </p:sp>
      <p:sp>
        <p:nvSpPr>
          <p:cNvPr id="42" name="TextBox 41"/>
          <p:cNvSpPr txBox="1"/>
          <p:nvPr/>
        </p:nvSpPr>
        <p:spPr>
          <a:xfrm>
            <a:off x="868680" y="3108960"/>
            <a:ext cx="566928" cy="237744"/>
          </a:xfrm>
          <a:prstGeom prst="rect">
            <a:avLst/>
          </a:prstGeom>
          <a:noFill/>
        </p:spPr>
        <p:txBody>
          <a:bodyPr wrap="square">
            <a:spAutoFit/>
          </a:bodyPr>
          <a:lstStyle/>
          <a:p>
            <a:pPr algn="ctr"/>
            <a:r>
              <a:rPr sz="900" b="0" i="0">
                <a:solidFill>
                  <a:srgbClr val="1A1A2E"/>
                </a:solidFill>
                <a:latin typeface="Calibri"/>
              </a:rPr>
              <a:t>2,092</a:t>
            </a:r>
          </a:p>
        </p:txBody>
      </p:sp>
      <p:sp>
        <p:nvSpPr>
          <p:cNvPr id="43" name="TextBox 42"/>
          <p:cNvSpPr txBox="1"/>
          <p:nvPr/>
        </p:nvSpPr>
        <p:spPr>
          <a:xfrm>
            <a:off x="1463040" y="3108960"/>
            <a:ext cx="594360" cy="237744"/>
          </a:xfrm>
          <a:prstGeom prst="rect">
            <a:avLst/>
          </a:prstGeom>
          <a:noFill/>
        </p:spPr>
        <p:txBody>
          <a:bodyPr wrap="square">
            <a:spAutoFit/>
          </a:bodyPr>
          <a:lstStyle/>
          <a:p>
            <a:pPr algn="ctr"/>
            <a:r>
              <a:rPr sz="900" b="0" i="0">
                <a:solidFill>
                  <a:srgbClr val="1A1A2E"/>
                </a:solidFill>
                <a:latin typeface="Calibri"/>
              </a:rPr>
              <a:t>0.9%</a:t>
            </a:r>
          </a:p>
        </p:txBody>
      </p:sp>
      <p:sp>
        <p:nvSpPr>
          <p:cNvPr id="44" name="TextBox 43"/>
          <p:cNvSpPr txBox="1"/>
          <p:nvPr/>
        </p:nvSpPr>
        <p:spPr>
          <a:xfrm>
            <a:off x="2084831" y="3108960"/>
            <a:ext cx="859536" cy="237744"/>
          </a:xfrm>
          <a:prstGeom prst="rect">
            <a:avLst/>
          </a:prstGeom>
          <a:noFill/>
        </p:spPr>
        <p:txBody>
          <a:bodyPr wrap="square">
            <a:spAutoFit/>
          </a:bodyPr>
          <a:lstStyle/>
          <a:p>
            <a:pPr algn="ctr"/>
            <a:r>
              <a:rPr sz="900" b="0" i="0">
                <a:solidFill>
                  <a:srgbClr val="C0392B"/>
                </a:solidFill>
                <a:latin typeface="Calibri"/>
              </a:rPr>
              <a:t>S (158°)</a:t>
            </a:r>
          </a:p>
        </p:txBody>
      </p:sp>
      <p:sp>
        <p:nvSpPr>
          <p:cNvPr id="45" name="TextBox 44"/>
          <p:cNvSpPr txBox="1"/>
          <p:nvPr/>
        </p:nvSpPr>
        <p:spPr>
          <a:xfrm>
            <a:off x="2980944" y="3108960"/>
            <a:ext cx="1691640" cy="237744"/>
          </a:xfrm>
          <a:prstGeom prst="rect">
            <a:avLst/>
          </a:prstGeom>
          <a:noFill/>
        </p:spPr>
        <p:txBody>
          <a:bodyPr wrap="square">
            <a:spAutoFit/>
          </a:bodyPr>
          <a:lstStyle/>
          <a:p>
            <a:pPr algn="ctr"/>
            <a:r>
              <a:rPr sz="900" b="0" i="0">
                <a:solidFill>
                  <a:srgbClr val="1A1A2E"/>
                </a:solidFill>
                <a:latin typeface="Calibri"/>
              </a:rPr>
              <a:t>10–20 mph</a:t>
            </a:r>
          </a:p>
        </p:txBody>
      </p:sp>
      <p:sp>
        <p:nvSpPr>
          <p:cNvPr id="46" name="Rectangle 45"/>
          <p:cNvSpPr/>
          <p:nvPr/>
        </p:nvSpPr>
        <p:spPr>
          <a:xfrm>
            <a:off x="320040" y="3401568"/>
            <a:ext cx="438912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38328" y="3456432"/>
            <a:ext cx="502920" cy="237744"/>
          </a:xfrm>
          <a:prstGeom prst="rect">
            <a:avLst/>
          </a:prstGeom>
          <a:noFill/>
        </p:spPr>
        <p:txBody>
          <a:bodyPr wrap="square">
            <a:spAutoFit/>
          </a:bodyPr>
          <a:lstStyle/>
          <a:p>
            <a:pPr algn="ctr"/>
            <a:r>
              <a:rPr sz="900" b="1" i="0">
                <a:solidFill>
                  <a:srgbClr val="1A7A6E"/>
                </a:solidFill>
                <a:latin typeface="Calibri"/>
              </a:rPr>
              <a:t>53</a:t>
            </a:r>
          </a:p>
        </p:txBody>
      </p:sp>
      <p:sp>
        <p:nvSpPr>
          <p:cNvPr id="48" name="TextBox 47"/>
          <p:cNvSpPr txBox="1"/>
          <p:nvPr/>
        </p:nvSpPr>
        <p:spPr>
          <a:xfrm>
            <a:off x="868680" y="3456432"/>
            <a:ext cx="566928" cy="237744"/>
          </a:xfrm>
          <a:prstGeom prst="rect">
            <a:avLst/>
          </a:prstGeom>
          <a:noFill/>
        </p:spPr>
        <p:txBody>
          <a:bodyPr wrap="square">
            <a:spAutoFit/>
          </a:bodyPr>
          <a:lstStyle/>
          <a:p>
            <a:pPr algn="ctr"/>
            <a:r>
              <a:rPr sz="900" b="0" i="0">
                <a:solidFill>
                  <a:srgbClr val="1A1A2E"/>
                </a:solidFill>
                <a:latin typeface="Calibri"/>
              </a:rPr>
              <a:t>4,479</a:t>
            </a:r>
          </a:p>
        </p:txBody>
      </p:sp>
      <p:sp>
        <p:nvSpPr>
          <p:cNvPr id="49" name="TextBox 48"/>
          <p:cNvSpPr txBox="1"/>
          <p:nvPr/>
        </p:nvSpPr>
        <p:spPr>
          <a:xfrm>
            <a:off x="1463040" y="3456432"/>
            <a:ext cx="594360" cy="237744"/>
          </a:xfrm>
          <a:prstGeom prst="rect">
            <a:avLst/>
          </a:prstGeom>
          <a:noFill/>
        </p:spPr>
        <p:txBody>
          <a:bodyPr wrap="square">
            <a:spAutoFit/>
          </a:bodyPr>
          <a:lstStyle/>
          <a:p>
            <a:pPr algn="ctr"/>
            <a:r>
              <a:rPr sz="900" b="0" i="0">
                <a:solidFill>
                  <a:srgbClr val="1A1A2E"/>
                </a:solidFill>
                <a:latin typeface="Calibri"/>
              </a:rPr>
              <a:t>1.2%</a:t>
            </a:r>
          </a:p>
        </p:txBody>
      </p:sp>
      <p:sp>
        <p:nvSpPr>
          <p:cNvPr id="50" name="TextBox 49"/>
          <p:cNvSpPr txBox="1"/>
          <p:nvPr/>
        </p:nvSpPr>
        <p:spPr>
          <a:xfrm>
            <a:off x="2084831" y="3456432"/>
            <a:ext cx="859536" cy="237744"/>
          </a:xfrm>
          <a:prstGeom prst="rect">
            <a:avLst/>
          </a:prstGeom>
          <a:noFill/>
        </p:spPr>
        <p:txBody>
          <a:bodyPr wrap="square">
            <a:spAutoFit/>
          </a:bodyPr>
          <a:lstStyle/>
          <a:p>
            <a:pPr algn="ctr"/>
            <a:r>
              <a:rPr sz="900" b="0" i="0">
                <a:solidFill>
                  <a:srgbClr val="C0392B"/>
                </a:solidFill>
                <a:latin typeface="Calibri"/>
              </a:rPr>
              <a:t>SW (202°)</a:t>
            </a:r>
          </a:p>
        </p:txBody>
      </p:sp>
      <p:sp>
        <p:nvSpPr>
          <p:cNvPr id="51" name="TextBox 50"/>
          <p:cNvSpPr txBox="1"/>
          <p:nvPr/>
        </p:nvSpPr>
        <p:spPr>
          <a:xfrm>
            <a:off x="2980944" y="3456432"/>
            <a:ext cx="1691640" cy="237744"/>
          </a:xfrm>
          <a:prstGeom prst="rect">
            <a:avLst/>
          </a:prstGeom>
          <a:noFill/>
        </p:spPr>
        <p:txBody>
          <a:bodyPr wrap="square">
            <a:spAutoFit/>
          </a:bodyPr>
          <a:lstStyle/>
          <a:p>
            <a:pPr algn="ctr"/>
            <a:r>
              <a:rPr sz="900" b="0" i="0">
                <a:solidFill>
                  <a:srgbClr val="1A1A2E"/>
                </a:solidFill>
                <a:latin typeface="Calibri"/>
              </a:rPr>
              <a:t>10–25 mph</a:t>
            </a:r>
          </a:p>
        </p:txBody>
      </p:sp>
      <p:sp>
        <p:nvSpPr>
          <p:cNvPr id="52" name="Rectangle 51"/>
          <p:cNvSpPr/>
          <p:nvPr/>
        </p:nvSpPr>
        <p:spPr>
          <a:xfrm>
            <a:off x="320040" y="3749039"/>
            <a:ext cx="4389120"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38328" y="3803903"/>
            <a:ext cx="502920" cy="237744"/>
          </a:xfrm>
          <a:prstGeom prst="rect">
            <a:avLst/>
          </a:prstGeom>
          <a:noFill/>
        </p:spPr>
        <p:txBody>
          <a:bodyPr wrap="square">
            <a:spAutoFit/>
          </a:bodyPr>
          <a:lstStyle/>
          <a:p>
            <a:pPr algn="ctr"/>
            <a:r>
              <a:rPr sz="900" b="1" i="0">
                <a:solidFill>
                  <a:srgbClr val="1A7A6E"/>
                </a:solidFill>
                <a:latin typeface="Calibri"/>
              </a:rPr>
              <a:t>56</a:t>
            </a:r>
          </a:p>
        </p:txBody>
      </p:sp>
      <p:sp>
        <p:nvSpPr>
          <p:cNvPr id="54" name="TextBox 53"/>
          <p:cNvSpPr txBox="1"/>
          <p:nvPr/>
        </p:nvSpPr>
        <p:spPr>
          <a:xfrm>
            <a:off x="868680" y="3803903"/>
            <a:ext cx="566928" cy="237744"/>
          </a:xfrm>
          <a:prstGeom prst="rect">
            <a:avLst/>
          </a:prstGeom>
          <a:noFill/>
        </p:spPr>
        <p:txBody>
          <a:bodyPr wrap="square">
            <a:spAutoFit/>
          </a:bodyPr>
          <a:lstStyle/>
          <a:p>
            <a:pPr algn="ctr"/>
            <a:r>
              <a:rPr sz="900" b="0" i="0">
                <a:solidFill>
                  <a:srgbClr val="1A1A2E"/>
                </a:solidFill>
                <a:latin typeface="Calibri"/>
              </a:rPr>
              <a:t>4,290</a:t>
            </a:r>
          </a:p>
        </p:txBody>
      </p:sp>
      <p:sp>
        <p:nvSpPr>
          <p:cNvPr id="55" name="TextBox 54"/>
          <p:cNvSpPr txBox="1"/>
          <p:nvPr/>
        </p:nvSpPr>
        <p:spPr>
          <a:xfrm>
            <a:off x="1463040" y="3803903"/>
            <a:ext cx="594360" cy="237744"/>
          </a:xfrm>
          <a:prstGeom prst="rect">
            <a:avLst/>
          </a:prstGeom>
          <a:noFill/>
        </p:spPr>
        <p:txBody>
          <a:bodyPr wrap="square">
            <a:spAutoFit/>
          </a:bodyPr>
          <a:lstStyle/>
          <a:p>
            <a:pPr algn="ctr"/>
            <a:r>
              <a:rPr sz="900" b="0" i="0">
                <a:solidFill>
                  <a:srgbClr val="1A1A2E"/>
                </a:solidFill>
                <a:latin typeface="Calibri"/>
              </a:rPr>
              <a:t>2.3%</a:t>
            </a:r>
          </a:p>
        </p:txBody>
      </p:sp>
      <p:sp>
        <p:nvSpPr>
          <p:cNvPr id="56" name="TextBox 55"/>
          <p:cNvSpPr txBox="1"/>
          <p:nvPr/>
        </p:nvSpPr>
        <p:spPr>
          <a:xfrm>
            <a:off x="2084831" y="3803903"/>
            <a:ext cx="859536" cy="237744"/>
          </a:xfrm>
          <a:prstGeom prst="rect">
            <a:avLst/>
          </a:prstGeom>
          <a:noFill/>
        </p:spPr>
        <p:txBody>
          <a:bodyPr wrap="square">
            <a:spAutoFit/>
          </a:bodyPr>
          <a:lstStyle/>
          <a:p>
            <a:pPr algn="ctr"/>
            <a:r>
              <a:rPr sz="900" b="0" i="0">
                <a:solidFill>
                  <a:srgbClr val="2C6E49"/>
                </a:solidFill>
                <a:latin typeface="Calibri"/>
              </a:rPr>
              <a:t>N (338°)</a:t>
            </a:r>
          </a:p>
        </p:txBody>
      </p:sp>
      <p:sp>
        <p:nvSpPr>
          <p:cNvPr id="57" name="TextBox 56"/>
          <p:cNvSpPr txBox="1"/>
          <p:nvPr/>
        </p:nvSpPr>
        <p:spPr>
          <a:xfrm>
            <a:off x="2980944" y="3803903"/>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58" name="Rectangle 57"/>
          <p:cNvSpPr/>
          <p:nvPr/>
        </p:nvSpPr>
        <p:spPr>
          <a:xfrm>
            <a:off x="320040" y="4096512"/>
            <a:ext cx="438912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 y="4151376"/>
            <a:ext cx="502920" cy="237744"/>
          </a:xfrm>
          <a:prstGeom prst="rect">
            <a:avLst/>
          </a:prstGeom>
          <a:noFill/>
        </p:spPr>
        <p:txBody>
          <a:bodyPr wrap="square">
            <a:spAutoFit/>
          </a:bodyPr>
          <a:lstStyle/>
          <a:p>
            <a:pPr algn="ctr"/>
            <a:r>
              <a:rPr sz="900" b="1" i="0">
                <a:solidFill>
                  <a:srgbClr val="1A7A6E"/>
                </a:solidFill>
                <a:latin typeface="Calibri"/>
              </a:rPr>
              <a:t>128</a:t>
            </a:r>
          </a:p>
        </p:txBody>
      </p:sp>
      <p:sp>
        <p:nvSpPr>
          <p:cNvPr id="60" name="TextBox 59"/>
          <p:cNvSpPr txBox="1"/>
          <p:nvPr/>
        </p:nvSpPr>
        <p:spPr>
          <a:xfrm>
            <a:off x="868680" y="4151376"/>
            <a:ext cx="566928" cy="237744"/>
          </a:xfrm>
          <a:prstGeom prst="rect">
            <a:avLst/>
          </a:prstGeom>
          <a:noFill/>
        </p:spPr>
        <p:txBody>
          <a:bodyPr wrap="square">
            <a:spAutoFit/>
          </a:bodyPr>
          <a:lstStyle/>
          <a:p>
            <a:pPr algn="ctr"/>
            <a:r>
              <a:rPr sz="900" b="0" i="0">
                <a:solidFill>
                  <a:srgbClr val="1A1A2E"/>
                </a:solidFill>
                <a:latin typeface="Calibri"/>
              </a:rPr>
              <a:t>1,305</a:t>
            </a:r>
          </a:p>
        </p:txBody>
      </p:sp>
      <p:sp>
        <p:nvSpPr>
          <p:cNvPr id="61" name="TextBox 60"/>
          <p:cNvSpPr txBox="1"/>
          <p:nvPr/>
        </p:nvSpPr>
        <p:spPr>
          <a:xfrm>
            <a:off x="1463040" y="4151376"/>
            <a:ext cx="594360" cy="237744"/>
          </a:xfrm>
          <a:prstGeom prst="rect">
            <a:avLst/>
          </a:prstGeom>
          <a:noFill/>
        </p:spPr>
        <p:txBody>
          <a:bodyPr wrap="square">
            <a:spAutoFit/>
          </a:bodyPr>
          <a:lstStyle/>
          <a:p>
            <a:pPr algn="ctr"/>
            <a:r>
              <a:rPr sz="900" b="0" i="0">
                <a:solidFill>
                  <a:srgbClr val="1A1A2E"/>
                </a:solidFill>
                <a:latin typeface="Calibri"/>
              </a:rPr>
              <a:t>2.1%</a:t>
            </a:r>
          </a:p>
        </p:txBody>
      </p:sp>
      <p:sp>
        <p:nvSpPr>
          <p:cNvPr id="62" name="TextBox 61"/>
          <p:cNvSpPr txBox="1"/>
          <p:nvPr/>
        </p:nvSpPr>
        <p:spPr>
          <a:xfrm>
            <a:off x="2084831" y="4151376"/>
            <a:ext cx="859536" cy="237744"/>
          </a:xfrm>
          <a:prstGeom prst="rect">
            <a:avLst/>
          </a:prstGeom>
          <a:noFill/>
        </p:spPr>
        <p:txBody>
          <a:bodyPr wrap="square">
            <a:spAutoFit/>
          </a:bodyPr>
          <a:lstStyle/>
          <a:p>
            <a:pPr algn="ctr"/>
            <a:r>
              <a:rPr sz="900" b="0" i="0">
                <a:solidFill>
                  <a:srgbClr val="1B6CA8"/>
                </a:solidFill>
                <a:latin typeface="Calibri"/>
              </a:rPr>
              <a:t>NW (292°)</a:t>
            </a:r>
          </a:p>
        </p:txBody>
      </p:sp>
      <p:sp>
        <p:nvSpPr>
          <p:cNvPr id="63" name="TextBox 62"/>
          <p:cNvSpPr txBox="1"/>
          <p:nvPr/>
        </p:nvSpPr>
        <p:spPr>
          <a:xfrm>
            <a:off x="2980944" y="4151376"/>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64" name="TextBox 63"/>
          <p:cNvSpPr txBox="1"/>
          <p:nvPr/>
        </p:nvSpPr>
        <p:spPr>
          <a:xfrm>
            <a:off x="4937760" y="749808"/>
            <a:ext cx="3886200" cy="256032"/>
          </a:xfrm>
          <a:prstGeom prst="rect">
            <a:avLst/>
          </a:prstGeom>
          <a:noFill/>
        </p:spPr>
        <p:txBody>
          <a:bodyPr wrap="square">
            <a:spAutoFit/>
          </a:bodyPr>
          <a:lstStyle/>
          <a:p>
            <a:pPr algn="l"/>
            <a:r>
              <a:rPr sz="1000" b="1" i="0">
                <a:solidFill>
                  <a:srgbClr val="546E7A"/>
                </a:solidFill>
                <a:latin typeface="Calibri"/>
              </a:rPr>
              <a:t>Wind rose and frequency heat map (from cached wind JSONs):</a:t>
            </a:r>
          </a:p>
        </p:txBody>
      </p:sp>
      <p:sp>
        <p:nvSpPr>
          <p:cNvPr id="65" name="Rectangle 64"/>
          <p:cNvSpPr/>
          <p:nvPr/>
        </p:nvSpPr>
        <p:spPr>
          <a:xfrm>
            <a:off x="4937760" y="1005840"/>
            <a:ext cx="3886200" cy="1883664"/>
          </a:xfrm>
          <a:prstGeom prst="rect">
            <a:avLst/>
          </a:prstGeom>
          <a:solidFill>
            <a:srgbClr val="E8ED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i="1">
                <a:solidFill>
                  <a:srgbClr val="90A4AE"/>
                </a:solidFill>
                <a:latin typeface="Calibri"/>
              </a:rPr>
              <a:t>[PLACEHOLDER — Wind rose grid — 3×3 polar bar chart, one per pyrome]
code/notebooks/00c-HRRR_WindCells.ipynb · Fig cell wind_rose_grid</a:t>
            </a:r>
          </a:p>
        </p:txBody>
      </p:sp>
      <p:sp>
        <p:nvSpPr>
          <p:cNvPr id="66" name="Rectangle 65"/>
          <p:cNvSpPr/>
          <p:nvPr/>
        </p:nvSpPr>
        <p:spPr>
          <a:xfrm>
            <a:off x="4937760" y="2999232"/>
            <a:ext cx="3886200" cy="1115568"/>
          </a:xfrm>
          <a:prstGeom prst="rect">
            <a:avLst/>
          </a:prstGeom>
          <a:solidFill>
            <a:srgbClr val="E8EDF2"/>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0" i="1">
                <a:solidFill>
                  <a:srgbClr val="90A4AE"/>
                </a:solidFill>
                <a:latin typeface="Calibri"/>
              </a:rPr>
              <a:t>[PLACEHOLDER — WindCellValues heat map — pyrome 42 example (6-spd × 8-dir, annotated %)]
00c-HRRR_WindCells.ipynb · Fig cell wind_heatmap_p42</a:t>
            </a:r>
          </a:p>
        </p:txBody>
      </p:sp>
      <p:sp>
        <p:nvSpPr>
          <p:cNvPr id="67" name="Rectangle 66"/>
          <p:cNvSpPr/>
          <p:nvPr/>
        </p:nvSpPr>
        <p:spPr>
          <a:xfrm>
            <a:off x="320040" y="4754880"/>
            <a:ext cx="8503920" cy="292608"/>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38912" y="4791456"/>
            <a:ext cx="8321040" cy="219456"/>
          </a:xfrm>
          <a:prstGeom prst="rect">
            <a:avLst/>
          </a:prstGeom>
          <a:noFill/>
        </p:spPr>
        <p:txBody>
          <a:bodyPr wrap="square">
            <a:spAutoFit/>
          </a:bodyPr>
          <a:lstStyle/>
          <a:p>
            <a:pPr algn="l"/>
            <a:r>
              <a:rPr sz="900" b="0" i="1">
                <a:solidFill>
                  <a:srgbClr val="6D4C41"/>
                </a:solidFill>
                <a:latin typeface="Calibri"/>
              </a:rPr>
              <a:t>Regional pattern: Front Range pyromes (42, 43, 47) SW/W dominant — typical downslope/canyon winds.  San Juan (52, 53) and Southern Rockies (46) show more directional variability.  Pyrome 56 (SE CO plains) N dominant — distinct from mountain pyromes.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46304"/>
            <a:ext cx="8412480" cy="420624"/>
          </a:xfrm>
          <a:prstGeom prst="rect">
            <a:avLst/>
          </a:prstGeom>
          <a:noFill/>
        </p:spPr>
        <p:txBody>
          <a:bodyPr wrap="square">
            <a:spAutoFit/>
          </a:bodyPr>
          <a:lstStyle/>
          <a:p>
            <a:pPr algn="l"/>
            <a:r>
              <a:rPr sz="2400" b="1" i="0">
                <a:solidFill>
                  <a:srgbClr val="1A1A2E"/>
                </a:solidFill>
                <a:latin typeface="Calibri"/>
              </a:rPr>
              <a:t>Wind Conditioning — FSPro / FSim</a:t>
            </a:r>
          </a:p>
        </p:txBody>
      </p:sp>
      <p:sp>
        <p:nvSpPr>
          <p:cNvPr id="3" name="Rectangle 2"/>
          <p:cNvSpPr/>
          <p:nvPr/>
        </p:nvSpPr>
        <p:spPr>
          <a:xfrm>
            <a:off x="347472" y="621792"/>
            <a:ext cx="1847088" cy="256032"/>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WindCellValues</a:t>
            </a:r>
          </a:p>
        </p:txBody>
      </p:sp>
      <p:sp>
        <p:nvSpPr>
          <p:cNvPr id="4" name="TextBox 3"/>
          <p:cNvSpPr txBox="1"/>
          <p:nvPr/>
        </p:nvSpPr>
        <p:spPr>
          <a:xfrm>
            <a:off x="2322576" y="640080"/>
            <a:ext cx="6492240" cy="237744"/>
          </a:xfrm>
          <a:prstGeom prst="rect">
            <a:avLst/>
          </a:prstGeom>
          <a:noFill/>
        </p:spPr>
        <p:txBody>
          <a:bodyPr wrap="square">
            <a:spAutoFit/>
          </a:bodyPr>
          <a:lstStyle/>
          <a:p>
            <a:pPr algn="l"/>
            <a:r>
              <a:rPr sz="1000" b="0" i="1">
                <a:solidFill>
                  <a:srgbClr val="546E7A"/>
                </a:solidFill>
                <a:latin typeface="Calibri"/>
              </a:rPr>
              <a:t>HRRR fire-hour climatology → probabilistic joint speed-direction distribution per pyrome</a:t>
            </a:r>
          </a:p>
        </p:txBody>
      </p:sp>
      <p:sp>
        <p:nvSpPr>
          <p:cNvPr id="5" name="TextBox 4"/>
          <p:cNvSpPr txBox="1"/>
          <p:nvPr/>
        </p:nvSpPr>
        <p:spPr>
          <a:xfrm>
            <a:off x="201168" y="950976"/>
            <a:ext cx="4297680" cy="237744"/>
          </a:xfrm>
          <a:prstGeom prst="rect">
            <a:avLst/>
          </a:prstGeom>
          <a:noFill/>
        </p:spPr>
        <p:txBody>
          <a:bodyPr wrap="square">
            <a:spAutoFit/>
          </a:bodyPr>
          <a:lstStyle/>
          <a:p>
            <a:pPr algn="l"/>
            <a:r>
              <a:rPr sz="1100" b="1" i="0">
                <a:solidFill>
                  <a:srgbClr val="1A1A2E"/>
                </a:solidFill>
                <a:latin typeface="Calibri"/>
              </a:rPr>
              <a:t>How it's built</a:t>
            </a:r>
          </a:p>
        </p:txBody>
      </p:sp>
      <p:sp>
        <p:nvSpPr>
          <p:cNvPr id="6" name="Oval 5"/>
          <p:cNvSpPr/>
          <p:nvPr/>
        </p:nvSpPr>
        <p:spPr>
          <a:xfrm>
            <a:off x="201168" y="1280160"/>
            <a:ext cx="274320" cy="274320"/>
          </a:xfrm>
          <a:prstGeom prst="ellipse">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1</a:t>
            </a:r>
          </a:p>
        </p:txBody>
      </p:sp>
      <p:sp>
        <p:nvSpPr>
          <p:cNvPr id="7" name="TextBox 6"/>
          <p:cNvSpPr txBox="1"/>
          <p:nvPr/>
        </p:nvSpPr>
        <p:spPr>
          <a:xfrm>
            <a:off x="566928" y="1261872"/>
            <a:ext cx="3895344" cy="237744"/>
          </a:xfrm>
          <a:prstGeom prst="rect">
            <a:avLst/>
          </a:prstGeom>
          <a:noFill/>
        </p:spPr>
        <p:txBody>
          <a:bodyPr wrap="square">
            <a:spAutoFit/>
          </a:bodyPr>
          <a:lstStyle/>
          <a:p>
            <a:pPr algn="l"/>
            <a:r>
              <a:rPr sz="1100" b="1" i="0">
                <a:solidFill>
                  <a:srgbClr val="1A7A6E"/>
                </a:solidFill>
                <a:latin typeface="Calibri"/>
              </a:rPr>
              <a:t>Fire occurrence database (FOD)</a:t>
            </a:r>
          </a:p>
        </p:txBody>
      </p:sp>
      <p:sp>
        <p:nvSpPr>
          <p:cNvPr id="8" name="TextBox 7"/>
          <p:cNvSpPr txBox="1"/>
          <p:nvPr/>
        </p:nvSpPr>
        <p:spPr>
          <a:xfrm>
            <a:off x="566928" y="1517904"/>
            <a:ext cx="3895344" cy="292608"/>
          </a:xfrm>
          <a:prstGeom prst="rect">
            <a:avLst/>
          </a:prstGeom>
          <a:noFill/>
        </p:spPr>
        <p:txBody>
          <a:bodyPr wrap="square">
            <a:spAutoFit/>
          </a:bodyPr>
          <a:lstStyle/>
          <a:p>
            <a:pPr algn="l"/>
            <a:r>
              <a:rPr sz="1000" b="0" i="0">
                <a:solidFill>
                  <a:srgbClr val="546E7A"/>
                </a:solidFill>
                <a:latin typeface="Calibri"/>
              </a:rPr>
              <a:t>Filter to 2016+  ·  spatial join to CO pyromes</a:t>
            </a:r>
          </a:p>
        </p:txBody>
      </p:sp>
      <p:sp>
        <p:nvSpPr>
          <p:cNvPr id="9" name="Oval 8"/>
          <p:cNvSpPr/>
          <p:nvPr/>
        </p:nvSpPr>
        <p:spPr>
          <a:xfrm>
            <a:off x="201168" y="1920240"/>
            <a:ext cx="274320" cy="274320"/>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2</a:t>
            </a:r>
          </a:p>
        </p:txBody>
      </p:sp>
      <p:sp>
        <p:nvSpPr>
          <p:cNvPr id="10" name="TextBox 9"/>
          <p:cNvSpPr txBox="1"/>
          <p:nvPr/>
        </p:nvSpPr>
        <p:spPr>
          <a:xfrm>
            <a:off x="566928" y="1901952"/>
            <a:ext cx="3895344" cy="237744"/>
          </a:xfrm>
          <a:prstGeom prst="rect">
            <a:avLst/>
          </a:prstGeom>
          <a:noFill/>
        </p:spPr>
        <p:txBody>
          <a:bodyPr wrap="square">
            <a:spAutoFit/>
          </a:bodyPr>
          <a:lstStyle/>
          <a:p>
            <a:pPr algn="l"/>
            <a:r>
              <a:rPr sz="1100" b="1" i="0">
                <a:solidFill>
                  <a:srgbClr val="1B6CA8"/>
                </a:solidFill>
                <a:latin typeface="Calibri"/>
              </a:rPr>
              <a:t>HRRR extraction  (weather/hrrr.py)</a:t>
            </a:r>
          </a:p>
        </p:txBody>
      </p:sp>
      <p:sp>
        <p:nvSpPr>
          <p:cNvPr id="11" name="TextBox 10"/>
          <p:cNvSpPr txBox="1"/>
          <p:nvPr/>
        </p:nvSpPr>
        <p:spPr>
          <a:xfrm>
            <a:off x="566928" y="2157984"/>
            <a:ext cx="3895344" cy="292608"/>
          </a:xfrm>
          <a:prstGeom prst="rect">
            <a:avLst/>
          </a:prstGeom>
          <a:noFill/>
        </p:spPr>
        <p:txBody>
          <a:bodyPr wrap="square">
            <a:spAutoFit/>
          </a:bodyPr>
          <a:lstStyle/>
          <a:p>
            <a:pPr algn="l"/>
            <a:r>
              <a:rPr sz="1000" b="0" i="0">
                <a:solidFill>
                  <a:srgbClr val="546E7A"/>
                </a:solidFill>
                <a:latin typeface="Calibri"/>
              </a:rPr>
              <a:t>Fire hours 19–22Z  ·  n_days = 5  ·  k = 9 neighbors per ignition</a:t>
            </a:r>
          </a:p>
        </p:txBody>
      </p:sp>
      <p:sp>
        <p:nvSpPr>
          <p:cNvPr id="12" name="Oval 11"/>
          <p:cNvSpPr/>
          <p:nvPr/>
        </p:nvSpPr>
        <p:spPr>
          <a:xfrm>
            <a:off x="201168" y="2560320"/>
            <a:ext cx="274320" cy="274320"/>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3</a:t>
            </a:r>
          </a:p>
        </p:txBody>
      </p:sp>
      <p:sp>
        <p:nvSpPr>
          <p:cNvPr id="13" name="TextBox 12"/>
          <p:cNvSpPr txBox="1"/>
          <p:nvPr/>
        </p:nvSpPr>
        <p:spPr>
          <a:xfrm>
            <a:off x="566928" y="2542032"/>
            <a:ext cx="3895344" cy="237744"/>
          </a:xfrm>
          <a:prstGeom prst="rect">
            <a:avLst/>
          </a:prstGeom>
          <a:noFill/>
        </p:spPr>
        <p:txBody>
          <a:bodyPr wrap="square">
            <a:spAutoFit/>
          </a:bodyPr>
          <a:lstStyle/>
          <a:p>
            <a:pPr algn="l"/>
            <a:r>
              <a:rPr sz="1100" b="1" i="0">
                <a:solidFill>
                  <a:srgbClr val="2C6E49"/>
                </a:solidFill>
                <a:latin typeface="Calibri"/>
              </a:rPr>
              <a:t>build_wind_cells()</a:t>
            </a:r>
          </a:p>
        </p:txBody>
      </p:sp>
      <p:sp>
        <p:nvSpPr>
          <p:cNvPr id="14" name="TextBox 13"/>
          <p:cNvSpPr txBox="1"/>
          <p:nvPr/>
        </p:nvSpPr>
        <p:spPr>
          <a:xfrm>
            <a:off x="566928" y="2798063"/>
            <a:ext cx="3895344" cy="292608"/>
          </a:xfrm>
          <a:prstGeom prst="rect">
            <a:avLst/>
          </a:prstGeom>
          <a:noFill/>
        </p:spPr>
        <p:txBody>
          <a:bodyPr wrap="square">
            <a:spAutoFit/>
          </a:bodyPr>
          <a:lstStyle/>
          <a:p>
            <a:pPr algn="l"/>
            <a:r>
              <a:rPr sz="1000" b="0" i="0">
                <a:solidFill>
                  <a:srgbClr val="546E7A"/>
                </a:solidFill>
                <a:latin typeface="Calibri"/>
              </a:rPr>
              <a:t>Group by pyrome → 6-speed × 8-dir frequency table + CalmValue</a:t>
            </a:r>
          </a:p>
        </p:txBody>
      </p:sp>
      <p:sp>
        <p:nvSpPr>
          <p:cNvPr id="15" name="Oval 14"/>
          <p:cNvSpPr/>
          <p:nvPr/>
        </p:nvSpPr>
        <p:spPr>
          <a:xfrm>
            <a:off x="201168" y="3200400"/>
            <a:ext cx="274320" cy="27432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4</a:t>
            </a:r>
          </a:p>
        </p:txBody>
      </p:sp>
      <p:sp>
        <p:nvSpPr>
          <p:cNvPr id="16" name="TextBox 15"/>
          <p:cNvSpPr txBox="1"/>
          <p:nvPr/>
        </p:nvSpPr>
        <p:spPr>
          <a:xfrm>
            <a:off x="566928" y="3182112"/>
            <a:ext cx="3895344" cy="237744"/>
          </a:xfrm>
          <a:prstGeom prst="rect">
            <a:avLst/>
          </a:prstGeom>
          <a:noFill/>
        </p:spPr>
        <p:txBody>
          <a:bodyPr wrap="square">
            <a:spAutoFit/>
          </a:bodyPr>
          <a:lstStyle/>
          <a:p>
            <a:pPr algn="l"/>
            <a:r>
              <a:rPr sz="1100" b="1" i="0">
                <a:solidFill>
                  <a:srgbClr val="D4622A"/>
                </a:solidFill>
                <a:latin typeface="Calibri"/>
              </a:rPr>
              <a:t>JSON cache  (data/weather/pyrome_wind/)</a:t>
            </a:r>
          </a:p>
        </p:txBody>
      </p:sp>
      <p:sp>
        <p:nvSpPr>
          <p:cNvPr id="17" name="TextBox 16"/>
          <p:cNvSpPr txBox="1"/>
          <p:nvPr/>
        </p:nvSpPr>
        <p:spPr>
          <a:xfrm>
            <a:off x="566928" y="3438144"/>
            <a:ext cx="3895344" cy="292608"/>
          </a:xfrm>
          <a:prstGeom prst="rect">
            <a:avLst/>
          </a:prstGeom>
          <a:noFill/>
        </p:spPr>
        <p:txBody>
          <a:bodyPr wrap="square">
            <a:spAutoFit/>
          </a:bodyPr>
          <a:lstStyle/>
          <a:p>
            <a:pPr algn="l"/>
            <a:r>
              <a:rPr sz="1000" b="0" i="0">
                <a:solidFill>
                  <a:srgbClr val="546E7A"/>
                </a:solidFill>
                <a:latin typeface="Calibri"/>
              </a:rPr>
              <a:t>One pyrome_XX.json per pyrome  ·  reloaded by build_fspro_inputs()</a:t>
            </a:r>
          </a:p>
        </p:txBody>
      </p:sp>
      <p:sp>
        <p:nvSpPr>
          <p:cNvPr id="18" name="Oval 17"/>
          <p:cNvSpPr/>
          <p:nvPr/>
        </p:nvSpPr>
        <p:spPr>
          <a:xfrm>
            <a:off x="201168" y="3840480"/>
            <a:ext cx="274320" cy="274320"/>
          </a:xfrm>
          <a:prstGeom prst="ellipse">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5</a:t>
            </a:r>
          </a:p>
        </p:txBody>
      </p:sp>
      <p:sp>
        <p:nvSpPr>
          <p:cNvPr id="19" name="TextBox 18"/>
          <p:cNvSpPr txBox="1"/>
          <p:nvPr/>
        </p:nvSpPr>
        <p:spPr>
          <a:xfrm>
            <a:off x="566928" y="3822191"/>
            <a:ext cx="3895344" cy="237744"/>
          </a:xfrm>
          <a:prstGeom prst="rect">
            <a:avLst/>
          </a:prstGeom>
          <a:noFill/>
        </p:spPr>
        <p:txBody>
          <a:bodyPr wrap="square">
            <a:spAutoFit/>
          </a:bodyPr>
          <a:lstStyle/>
          <a:p>
            <a:pPr algn="l"/>
            <a:r>
              <a:rPr sz="1100" b="1" i="0">
                <a:solidFill>
                  <a:srgbClr val="52B788"/>
                </a:solidFill>
                <a:latin typeface="Calibri"/>
              </a:rPr>
              <a:t>build_fspro_inputs()  (models/fspro.py)</a:t>
            </a:r>
          </a:p>
        </p:txBody>
      </p:sp>
      <p:sp>
        <p:nvSpPr>
          <p:cNvPr id="20" name="TextBox 19"/>
          <p:cNvSpPr txBox="1"/>
          <p:nvPr/>
        </p:nvSpPr>
        <p:spPr>
          <a:xfrm>
            <a:off x="566928" y="4078224"/>
            <a:ext cx="3895344" cy="292608"/>
          </a:xfrm>
          <a:prstGeom prst="rect">
            <a:avLst/>
          </a:prstGeom>
          <a:noFill/>
        </p:spPr>
        <p:txBody>
          <a:bodyPr wrap="square">
            <a:spAutoFit/>
          </a:bodyPr>
          <a:lstStyle/>
          <a:p>
            <a:pPr algn="l"/>
            <a:r>
              <a:rPr sz="1000" b="0" i="0">
                <a:solidFill>
                  <a:srgbClr val="546E7A"/>
                </a:solidFill>
                <a:latin typeface="Calibri"/>
              </a:rPr>
              <a:t>Writes WindCellValues + CalmValue into FSPRO-Inputs-File-Version-4</a:t>
            </a:r>
          </a:p>
        </p:txBody>
      </p:sp>
      <p:sp>
        <p:nvSpPr>
          <p:cNvPr id="21" name="Rectangle 20"/>
          <p:cNvSpPr/>
          <p:nvPr/>
        </p:nvSpPr>
        <p:spPr>
          <a:xfrm>
            <a:off x="4681728" y="950976"/>
            <a:ext cx="4261104" cy="310896"/>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73168" y="987552"/>
            <a:ext cx="4078224" cy="237744"/>
          </a:xfrm>
          <a:prstGeom prst="rect">
            <a:avLst/>
          </a:prstGeom>
          <a:noFill/>
        </p:spPr>
        <p:txBody>
          <a:bodyPr wrap="square">
            <a:spAutoFit/>
          </a:bodyPr>
          <a:lstStyle/>
          <a:p>
            <a:pPr algn="l"/>
            <a:r>
              <a:rPr sz="1000" b="1" i="0">
                <a:solidFill>
                  <a:srgbClr val="FFFFFF"/>
                </a:solidFill>
                <a:latin typeface="Calibri"/>
              </a:rPr>
              <a:t>FSPro Input File  —  Wind Section</a:t>
            </a:r>
          </a:p>
        </p:txBody>
      </p:sp>
      <p:sp>
        <p:nvSpPr>
          <p:cNvPr id="23" name="Rectangle 22"/>
          <p:cNvSpPr/>
          <p:nvPr/>
        </p:nvSpPr>
        <p:spPr>
          <a:xfrm>
            <a:off x="4681728" y="1298448"/>
            <a:ext cx="4261104" cy="475488"/>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1353312"/>
            <a:ext cx="1773936" cy="347472"/>
          </a:xfrm>
          <a:prstGeom prst="rect">
            <a:avLst/>
          </a:prstGeom>
          <a:noFill/>
        </p:spPr>
        <p:txBody>
          <a:bodyPr wrap="square">
            <a:spAutoFit/>
          </a:bodyPr>
          <a:lstStyle/>
          <a:p>
            <a:pPr algn="l"/>
            <a:r>
              <a:rPr sz="900" b="1" i="0">
                <a:solidFill>
                  <a:srgbClr val="1A7A6E"/>
                </a:solidFill>
                <a:latin typeface="Courier New"/>
              </a:rPr>
              <a:t>NumWindSpeeds</a:t>
            </a:r>
          </a:p>
        </p:txBody>
      </p:sp>
      <p:sp>
        <p:nvSpPr>
          <p:cNvPr id="25" name="TextBox 24"/>
          <p:cNvSpPr txBox="1"/>
          <p:nvPr/>
        </p:nvSpPr>
        <p:spPr>
          <a:xfrm>
            <a:off x="6601968" y="1353312"/>
            <a:ext cx="2249424" cy="347472"/>
          </a:xfrm>
          <a:prstGeom prst="rect">
            <a:avLst/>
          </a:prstGeom>
          <a:noFill/>
        </p:spPr>
        <p:txBody>
          <a:bodyPr wrap="square">
            <a:spAutoFit/>
          </a:bodyPr>
          <a:lstStyle/>
          <a:p>
            <a:pPr algn="l"/>
            <a:r>
              <a:rPr sz="900" b="0" i="0">
                <a:solidFill>
                  <a:srgbClr val="1A1A2E"/>
                </a:solidFill>
                <a:latin typeface="Calibri"/>
              </a:rPr>
              <a:t>6  (speed bins)</a:t>
            </a:r>
          </a:p>
        </p:txBody>
      </p:sp>
      <p:sp>
        <p:nvSpPr>
          <p:cNvPr id="26" name="Rectangle 25"/>
          <p:cNvSpPr/>
          <p:nvPr/>
        </p:nvSpPr>
        <p:spPr>
          <a:xfrm>
            <a:off x="4681728" y="1810512"/>
            <a:ext cx="4261104" cy="475488"/>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1865376"/>
            <a:ext cx="1773936" cy="347472"/>
          </a:xfrm>
          <a:prstGeom prst="rect">
            <a:avLst/>
          </a:prstGeom>
          <a:noFill/>
        </p:spPr>
        <p:txBody>
          <a:bodyPr wrap="square">
            <a:spAutoFit/>
          </a:bodyPr>
          <a:lstStyle/>
          <a:p>
            <a:pPr algn="l"/>
            <a:r>
              <a:rPr sz="900" b="1" i="0">
                <a:solidFill>
                  <a:srgbClr val="1A7A6E"/>
                </a:solidFill>
                <a:latin typeface="Courier New"/>
              </a:rPr>
              <a:t>NumWindDirs</a:t>
            </a:r>
          </a:p>
        </p:txBody>
      </p:sp>
      <p:sp>
        <p:nvSpPr>
          <p:cNvPr id="28" name="TextBox 27"/>
          <p:cNvSpPr txBox="1"/>
          <p:nvPr/>
        </p:nvSpPr>
        <p:spPr>
          <a:xfrm>
            <a:off x="6601968" y="1865376"/>
            <a:ext cx="2249424" cy="347472"/>
          </a:xfrm>
          <a:prstGeom prst="rect">
            <a:avLst/>
          </a:prstGeom>
          <a:noFill/>
        </p:spPr>
        <p:txBody>
          <a:bodyPr wrap="square">
            <a:spAutoFit/>
          </a:bodyPr>
          <a:lstStyle/>
          <a:p>
            <a:pPr algn="l"/>
            <a:r>
              <a:rPr sz="900" b="0" i="0">
                <a:solidFill>
                  <a:srgbClr val="1A1A2E"/>
                </a:solidFill>
                <a:latin typeface="Calibri"/>
              </a:rPr>
              <a:t>8  (N  NE  E  SE  S  SW  W  NW)</a:t>
            </a:r>
          </a:p>
        </p:txBody>
      </p:sp>
      <p:sp>
        <p:nvSpPr>
          <p:cNvPr id="29" name="Rectangle 28"/>
          <p:cNvSpPr/>
          <p:nvPr/>
        </p:nvSpPr>
        <p:spPr>
          <a:xfrm>
            <a:off x="4681728" y="2322576"/>
            <a:ext cx="4261104" cy="475488"/>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2377440"/>
            <a:ext cx="1773936" cy="347472"/>
          </a:xfrm>
          <a:prstGeom prst="rect">
            <a:avLst/>
          </a:prstGeom>
          <a:noFill/>
        </p:spPr>
        <p:txBody>
          <a:bodyPr wrap="square">
            <a:spAutoFit/>
          </a:bodyPr>
          <a:lstStyle/>
          <a:p>
            <a:pPr algn="l"/>
            <a:r>
              <a:rPr sz="900" b="1" i="0">
                <a:solidFill>
                  <a:srgbClr val="1A7A6E"/>
                </a:solidFill>
                <a:latin typeface="Courier New"/>
              </a:rPr>
              <a:t>WindSpeedBreaks_mph</a:t>
            </a:r>
          </a:p>
        </p:txBody>
      </p:sp>
      <p:sp>
        <p:nvSpPr>
          <p:cNvPr id="31" name="TextBox 30"/>
          <p:cNvSpPr txBox="1"/>
          <p:nvPr/>
        </p:nvSpPr>
        <p:spPr>
          <a:xfrm>
            <a:off x="6601968" y="2377440"/>
            <a:ext cx="2249424" cy="347472"/>
          </a:xfrm>
          <a:prstGeom prst="rect">
            <a:avLst/>
          </a:prstGeom>
          <a:noFill/>
        </p:spPr>
        <p:txBody>
          <a:bodyPr wrap="square">
            <a:spAutoFit/>
          </a:bodyPr>
          <a:lstStyle/>
          <a:p>
            <a:pPr algn="l"/>
            <a:r>
              <a:rPr sz="900" b="0" i="0">
                <a:solidFill>
                  <a:srgbClr val="1A1A2E"/>
                </a:solidFill>
                <a:latin typeface="Calibri"/>
              </a:rPr>
              <a:t>5  10  15  20  25  30</a:t>
            </a:r>
          </a:p>
        </p:txBody>
      </p:sp>
      <p:sp>
        <p:nvSpPr>
          <p:cNvPr id="32" name="Rectangle 31"/>
          <p:cNvSpPr/>
          <p:nvPr/>
        </p:nvSpPr>
        <p:spPr>
          <a:xfrm>
            <a:off x="4681728" y="2834640"/>
            <a:ext cx="4261104" cy="475488"/>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73168" y="2889504"/>
            <a:ext cx="1773936" cy="347472"/>
          </a:xfrm>
          <a:prstGeom prst="rect">
            <a:avLst/>
          </a:prstGeom>
          <a:noFill/>
        </p:spPr>
        <p:txBody>
          <a:bodyPr wrap="square">
            <a:spAutoFit/>
          </a:bodyPr>
          <a:lstStyle/>
          <a:p>
            <a:pPr algn="l"/>
            <a:r>
              <a:rPr sz="900" b="1" i="0">
                <a:solidFill>
                  <a:srgbClr val="1A7A6E"/>
                </a:solidFill>
                <a:latin typeface="Courier New"/>
              </a:rPr>
              <a:t>WindDirBreaks_deg</a:t>
            </a:r>
          </a:p>
        </p:txBody>
      </p:sp>
      <p:sp>
        <p:nvSpPr>
          <p:cNvPr id="34" name="TextBox 33"/>
          <p:cNvSpPr txBox="1"/>
          <p:nvPr/>
        </p:nvSpPr>
        <p:spPr>
          <a:xfrm>
            <a:off x="6601968" y="2889504"/>
            <a:ext cx="2249424" cy="347472"/>
          </a:xfrm>
          <a:prstGeom prst="rect">
            <a:avLst/>
          </a:prstGeom>
          <a:noFill/>
        </p:spPr>
        <p:txBody>
          <a:bodyPr wrap="square">
            <a:spAutoFit/>
          </a:bodyPr>
          <a:lstStyle/>
          <a:p>
            <a:pPr algn="l"/>
            <a:r>
              <a:rPr sz="900" b="0" i="0">
                <a:solidFill>
                  <a:srgbClr val="1A1A2E"/>
                </a:solidFill>
                <a:latin typeface="Calibri"/>
              </a:rPr>
              <a:t>22.5  67.5  112.5  157.5  202.5  247.5  292.5  337.5</a:t>
            </a:r>
          </a:p>
        </p:txBody>
      </p:sp>
      <p:sp>
        <p:nvSpPr>
          <p:cNvPr id="35" name="Rectangle 34"/>
          <p:cNvSpPr/>
          <p:nvPr/>
        </p:nvSpPr>
        <p:spPr>
          <a:xfrm>
            <a:off x="4681728" y="3346704"/>
            <a:ext cx="4261104" cy="475488"/>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73168" y="3401568"/>
            <a:ext cx="1773936" cy="347472"/>
          </a:xfrm>
          <a:prstGeom prst="rect">
            <a:avLst/>
          </a:prstGeom>
          <a:noFill/>
        </p:spPr>
        <p:txBody>
          <a:bodyPr wrap="square">
            <a:spAutoFit/>
          </a:bodyPr>
          <a:lstStyle/>
          <a:p>
            <a:pPr algn="l"/>
            <a:r>
              <a:rPr sz="900" b="1" i="0">
                <a:solidFill>
                  <a:srgbClr val="1A7A6E"/>
                </a:solidFill>
                <a:latin typeface="Courier New"/>
              </a:rPr>
              <a:t>CalmValue</a:t>
            </a:r>
          </a:p>
        </p:txBody>
      </p:sp>
      <p:sp>
        <p:nvSpPr>
          <p:cNvPr id="37" name="TextBox 36"/>
          <p:cNvSpPr txBox="1"/>
          <p:nvPr/>
        </p:nvSpPr>
        <p:spPr>
          <a:xfrm>
            <a:off x="6601968" y="3401568"/>
            <a:ext cx="2249424" cy="347472"/>
          </a:xfrm>
          <a:prstGeom prst="rect">
            <a:avLst/>
          </a:prstGeom>
          <a:noFill/>
        </p:spPr>
        <p:txBody>
          <a:bodyPr wrap="square">
            <a:spAutoFit/>
          </a:bodyPr>
          <a:lstStyle/>
          <a:p>
            <a:pPr algn="l"/>
            <a:r>
              <a:rPr sz="900" b="0" i="0">
                <a:solidFill>
                  <a:srgbClr val="1A1A2E"/>
                </a:solidFill>
                <a:latin typeface="Calibri"/>
              </a:rPr>
              <a:t>% of fire-hour obs with speed &lt; first bin</a:t>
            </a:r>
          </a:p>
        </p:txBody>
      </p:sp>
      <p:sp>
        <p:nvSpPr>
          <p:cNvPr id="38" name="Rectangle 37"/>
          <p:cNvSpPr/>
          <p:nvPr/>
        </p:nvSpPr>
        <p:spPr>
          <a:xfrm>
            <a:off x="4681728" y="3858768"/>
            <a:ext cx="4261104" cy="475488"/>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73168" y="3913632"/>
            <a:ext cx="1773936" cy="347472"/>
          </a:xfrm>
          <a:prstGeom prst="rect">
            <a:avLst/>
          </a:prstGeom>
          <a:noFill/>
        </p:spPr>
        <p:txBody>
          <a:bodyPr wrap="square">
            <a:spAutoFit/>
          </a:bodyPr>
          <a:lstStyle/>
          <a:p>
            <a:pPr algn="l"/>
            <a:r>
              <a:rPr sz="900" b="1" i="0">
                <a:solidFill>
                  <a:srgbClr val="1A7A6E"/>
                </a:solidFill>
                <a:latin typeface="Courier New"/>
              </a:rPr>
              <a:t>WindCellValues</a:t>
            </a:r>
          </a:p>
        </p:txBody>
      </p:sp>
      <p:sp>
        <p:nvSpPr>
          <p:cNvPr id="40" name="TextBox 39"/>
          <p:cNvSpPr txBox="1"/>
          <p:nvPr/>
        </p:nvSpPr>
        <p:spPr>
          <a:xfrm>
            <a:off x="6601968" y="3913632"/>
            <a:ext cx="2249424" cy="347472"/>
          </a:xfrm>
          <a:prstGeom prst="rect">
            <a:avLst/>
          </a:prstGeom>
          <a:noFill/>
        </p:spPr>
        <p:txBody>
          <a:bodyPr wrap="square">
            <a:spAutoFit/>
          </a:bodyPr>
          <a:lstStyle/>
          <a:p>
            <a:pPr algn="l"/>
            <a:r>
              <a:rPr sz="900" b="0" i="0">
                <a:solidFill>
                  <a:srgbClr val="1A1A2E"/>
                </a:solidFill>
                <a:latin typeface="Calibri"/>
              </a:rPr>
              <a:t>6 rows × 8 cols  ·  % frequency  ·  rows sum ≈ 100 − Calm</a:t>
            </a:r>
          </a:p>
        </p:txBody>
      </p:sp>
      <p:sp>
        <p:nvSpPr>
          <p:cNvPr id="41" name="Rectangle 40"/>
          <p:cNvSpPr/>
          <p:nvPr/>
        </p:nvSpPr>
        <p:spPr>
          <a:xfrm>
            <a:off x="201168" y="4608576"/>
            <a:ext cx="8732520" cy="420624"/>
          </a:xfrm>
          <a:prstGeom prst="rect">
            <a:avLst/>
          </a:prstGeom>
          <a:solidFill>
            <a:srgbClr val="D4EDEB"/>
          </a:solidFill>
          <a:ln>
            <a:solidFill>
              <a:srgbClr val="A8D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47472" y="4645152"/>
            <a:ext cx="8412480" cy="329184"/>
          </a:xfrm>
          <a:prstGeom prst="rect">
            <a:avLst/>
          </a:prstGeom>
          <a:noFill/>
        </p:spPr>
        <p:txBody>
          <a:bodyPr wrap="square">
            <a:spAutoFit/>
          </a:bodyPr>
          <a:lstStyle/>
          <a:p>
            <a:pPr algn="l"/>
            <a:r>
              <a:rPr sz="900" b="0" i="1">
                <a:solidFill>
                  <a:srgbClr val="1A7A6E"/>
                </a:solidFill>
                <a:latin typeface="Calibri"/>
              </a:rPr>
              <a:t>FSPro draws independently from this joint distribution for each simulated fire — capturing the observed spread of fire-weather wind conditions rather than a single assumed scenario.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46304"/>
            <a:ext cx="8412480" cy="420624"/>
          </a:xfrm>
          <a:prstGeom prst="rect">
            <a:avLst/>
          </a:prstGeom>
          <a:noFill/>
        </p:spPr>
        <p:txBody>
          <a:bodyPr wrap="square">
            <a:spAutoFit/>
          </a:bodyPr>
          <a:lstStyle/>
          <a:p>
            <a:pPr algn="l"/>
            <a:r>
              <a:rPr sz="2400" b="1" i="0">
                <a:solidFill>
                  <a:srgbClr val="1A1A2E"/>
                </a:solidFill>
                <a:latin typeface="Calibri"/>
              </a:rPr>
              <a:t>ERC Conditioning — FSPro / FSim</a:t>
            </a:r>
          </a:p>
        </p:txBody>
      </p:sp>
      <p:sp>
        <p:nvSpPr>
          <p:cNvPr id="3" name="Rectangle 2"/>
          <p:cNvSpPr/>
          <p:nvPr/>
        </p:nvSpPr>
        <p:spPr>
          <a:xfrm>
            <a:off x="347472" y="621792"/>
            <a:ext cx="2212848"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GridMET → ERC Classes</a:t>
            </a:r>
          </a:p>
        </p:txBody>
      </p:sp>
      <p:sp>
        <p:nvSpPr>
          <p:cNvPr id="4" name="TextBox 3"/>
          <p:cNvSpPr txBox="1"/>
          <p:nvPr/>
        </p:nvSpPr>
        <p:spPr>
          <a:xfrm>
            <a:off x="2688336" y="640080"/>
            <a:ext cx="6126480" cy="237744"/>
          </a:xfrm>
          <a:prstGeom prst="rect">
            <a:avLst/>
          </a:prstGeom>
          <a:noFill/>
        </p:spPr>
        <p:txBody>
          <a:bodyPr wrap="square">
            <a:spAutoFit/>
          </a:bodyPr>
          <a:lstStyle/>
          <a:p>
            <a:pPr algn="l"/>
            <a:r>
              <a:rPr sz="1000" b="0" i="1">
                <a:solidFill>
                  <a:srgbClr val="546E7A"/>
                </a:solidFill>
                <a:latin typeface="Calibri"/>
              </a:rPr>
              <a:t>GridMET pyrome climatology → 15-year historical ERC record + class-based fuel moisture lookups</a:t>
            </a:r>
          </a:p>
        </p:txBody>
      </p:sp>
      <p:sp>
        <p:nvSpPr>
          <p:cNvPr id="5" name="TextBox 4"/>
          <p:cNvSpPr txBox="1"/>
          <p:nvPr/>
        </p:nvSpPr>
        <p:spPr>
          <a:xfrm>
            <a:off x="201168" y="950976"/>
            <a:ext cx="4297680" cy="237744"/>
          </a:xfrm>
          <a:prstGeom prst="rect">
            <a:avLst/>
          </a:prstGeom>
          <a:noFill/>
        </p:spPr>
        <p:txBody>
          <a:bodyPr wrap="square">
            <a:spAutoFit/>
          </a:bodyPr>
          <a:lstStyle/>
          <a:p>
            <a:pPr algn="l"/>
            <a:r>
              <a:rPr sz="1100" b="1" i="0">
                <a:solidFill>
                  <a:srgbClr val="1A1A2E"/>
                </a:solidFill>
                <a:latin typeface="Calibri"/>
              </a:rPr>
              <a:t>Workflow</a:t>
            </a:r>
          </a:p>
        </p:txBody>
      </p:sp>
      <p:sp>
        <p:nvSpPr>
          <p:cNvPr id="6" name="Oval 5"/>
          <p:cNvSpPr/>
          <p:nvPr/>
        </p:nvSpPr>
        <p:spPr>
          <a:xfrm>
            <a:off x="201168" y="1280160"/>
            <a:ext cx="274320" cy="27432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1</a:t>
            </a:r>
          </a:p>
        </p:txBody>
      </p:sp>
      <p:sp>
        <p:nvSpPr>
          <p:cNvPr id="7" name="TextBox 6"/>
          <p:cNvSpPr txBox="1"/>
          <p:nvPr/>
        </p:nvSpPr>
        <p:spPr>
          <a:xfrm>
            <a:off x="566928" y="1261872"/>
            <a:ext cx="3895344" cy="237744"/>
          </a:xfrm>
          <a:prstGeom prst="rect">
            <a:avLst/>
          </a:prstGeom>
          <a:noFill/>
        </p:spPr>
        <p:txBody>
          <a:bodyPr wrap="square">
            <a:spAutoFit/>
          </a:bodyPr>
          <a:lstStyle/>
          <a:p>
            <a:pPr algn="l"/>
            <a:r>
              <a:rPr sz="1100" b="1" i="0">
                <a:solidFill>
                  <a:srgbClr val="D4622A"/>
                </a:solidFill>
                <a:latin typeface="Calibri"/>
              </a:rPr>
              <a:t>GEE GridMET export  (weather/gridmet.py)</a:t>
            </a:r>
          </a:p>
        </p:txBody>
      </p:sp>
      <p:sp>
        <p:nvSpPr>
          <p:cNvPr id="8" name="TextBox 7"/>
          <p:cNvSpPr txBox="1"/>
          <p:nvPr/>
        </p:nvSpPr>
        <p:spPr>
          <a:xfrm>
            <a:off x="566928" y="1517904"/>
            <a:ext cx="3895344" cy="402336"/>
          </a:xfrm>
          <a:prstGeom prst="rect">
            <a:avLst/>
          </a:prstGeom>
          <a:noFill/>
        </p:spPr>
        <p:txBody>
          <a:bodyPr wrap="square">
            <a:spAutoFit/>
          </a:bodyPr>
          <a:lstStyle/>
          <a:p>
            <a:pPr algn="l"/>
            <a:r>
              <a:rPr sz="1000" b="0" i="0">
                <a:solidFill>
                  <a:srgbClr val="546E7A"/>
                </a:solidFill>
                <a:latin typeface="Calibri"/>
              </a:rPr>
              <a:t>Pyrome-mean daily ERC  ·  April 1–Oct 31  ·  2008–2022  ·  CSV per pyrome</a:t>
            </a:r>
          </a:p>
        </p:txBody>
      </p:sp>
      <p:sp>
        <p:nvSpPr>
          <p:cNvPr id="9" name="Oval 8"/>
          <p:cNvSpPr/>
          <p:nvPr/>
        </p:nvSpPr>
        <p:spPr>
          <a:xfrm>
            <a:off x="201168" y="2066544"/>
            <a:ext cx="274320" cy="274320"/>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2</a:t>
            </a:r>
          </a:p>
        </p:txBody>
      </p:sp>
      <p:sp>
        <p:nvSpPr>
          <p:cNvPr id="10" name="TextBox 9"/>
          <p:cNvSpPr txBox="1"/>
          <p:nvPr/>
        </p:nvSpPr>
        <p:spPr>
          <a:xfrm>
            <a:off x="566928" y="2048256"/>
            <a:ext cx="3895344" cy="237744"/>
          </a:xfrm>
          <a:prstGeom prst="rect">
            <a:avLst/>
          </a:prstGeom>
          <a:noFill/>
        </p:spPr>
        <p:txBody>
          <a:bodyPr wrap="square">
            <a:spAutoFit/>
          </a:bodyPr>
          <a:lstStyle/>
          <a:p>
            <a:pPr algn="l"/>
            <a:r>
              <a:rPr sz="1100" b="1" i="0">
                <a:solidFill>
                  <a:srgbClr val="1B6CA8"/>
                </a:solidFill>
                <a:latin typeface="Calibri"/>
              </a:rPr>
              <a:t>load_gridmet_erc()</a:t>
            </a:r>
          </a:p>
        </p:txBody>
      </p:sp>
      <p:sp>
        <p:nvSpPr>
          <p:cNvPr id="11" name="TextBox 10"/>
          <p:cNvSpPr txBox="1"/>
          <p:nvPr/>
        </p:nvSpPr>
        <p:spPr>
          <a:xfrm>
            <a:off x="566928" y="2304288"/>
            <a:ext cx="3895344" cy="402336"/>
          </a:xfrm>
          <a:prstGeom prst="rect">
            <a:avLst/>
          </a:prstGeom>
          <a:noFill/>
        </p:spPr>
        <p:txBody>
          <a:bodyPr wrap="square">
            <a:spAutoFit/>
          </a:bodyPr>
          <a:lstStyle/>
          <a:p>
            <a:pPr algn="l"/>
            <a:r>
              <a:rPr sz="1000" b="0" i="0">
                <a:solidFill>
                  <a:srgbClr val="546E7A"/>
                </a:solidFill>
                <a:latin typeface="Calibri"/>
              </a:rPr>
              <a:t>CSV → 15-year × 214-day ERC array  ·  plus FM100, Tmax, RHmin, VPD</a:t>
            </a:r>
          </a:p>
        </p:txBody>
      </p:sp>
      <p:sp>
        <p:nvSpPr>
          <p:cNvPr id="12" name="Oval 11"/>
          <p:cNvSpPr/>
          <p:nvPr/>
        </p:nvSpPr>
        <p:spPr>
          <a:xfrm>
            <a:off x="201168" y="2852928"/>
            <a:ext cx="274320" cy="274320"/>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3</a:t>
            </a:r>
          </a:p>
        </p:txBody>
      </p:sp>
      <p:sp>
        <p:nvSpPr>
          <p:cNvPr id="13" name="TextBox 12"/>
          <p:cNvSpPr txBox="1"/>
          <p:nvPr/>
        </p:nvSpPr>
        <p:spPr>
          <a:xfrm>
            <a:off x="566928" y="2834640"/>
            <a:ext cx="3895344" cy="237744"/>
          </a:xfrm>
          <a:prstGeom prst="rect">
            <a:avLst/>
          </a:prstGeom>
          <a:noFill/>
        </p:spPr>
        <p:txBody>
          <a:bodyPr wrap="square">
            <a:spAutoFit/>
          </a:bodyPr>
          <a:lstStyle/>
          <a:p>
            <a:pPr algn="l"/>
            <a:r>
              <a:rPr sz="1100" b="1" i="0">
                <a:solidFill>
                  <a:srgbClr val="2C6E49"/>
                </a:solidFill>
                <a:latin typeface="Calibri"/>
              </a:rPr>
              <a:t>build_erc_classes()</a:t>
            </a:r>
          </a:p>
        </p:txBody>
      </p:sp>
      <p:sp>
        <p:nvSpPr>
          <p:cNvPr id="14" name="TextBox 13"/>
          <p:cNvSpPr txBox="1"/>
          <p:nvPr/>
        </p:nvSpPr>
        <p:spPr>
          <a:xfrm>
            <a:off x="566928" y="3090672"/>
            <a:ext cx="3895344" cy="402336"/>
          </a:xfrm>
          <a:prstGeom prst="rect">
            <a:avLst/>
          </a:prstGeom>
          <a:noFill/>
        </p:spPr>
        <p:txBody>
          <a:bodyPr wrap="square">
            <a:spAutoFit/>
          </a:bodyPr>
          <a:lstStyle/>
          <a:p>
            <a:pPr algn="l"/>
            <a:r>
              <a:rPr sz="1000" b="0" i="0">
                <a:solidFill>
                  <a:srgbClr val="546E7A"/>
                </a:solidFill>
                <a:latin typeface="Calibri"/>
              </a:rPr>
              <a:t>5 percentile bins → lower/upper + FM1/FM10/FM100/FM_herb/FM_woody + spot params</a:t>
            </a:r>
          </a:p>
        </p:txBody>
      </p:sp>
      <p:sp>
        <p:nvSpPr>
          <p:cNvPr id="15" name="Oval 14"/>
          <p:cNvSpPr/>
          <p:nvPr/>
        </p:nvSpPr>
        <p:spPr>
          <a:xfrm>
            <a:off x="201168" y="3639312"/>
            <a:ext cx="274320" cy="274320"/>
          </a:xfrm>
          <a:prstGeom prst="ellipse">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FFFFFF"/>
                </a:solidFill>
                <a:latin typeface="Calibri"/>
              </a:rPr>
              <a:t>4</a:t>
            </a:r>
          </a:p>
        </p:txBody>
      </p:sp>
      <p:sp>
        <p:nvSpPr>
          <p:cNvPr id="16" name="TextBox 15"/>
          <p:cNvSpPr txBox="1"/>
          <p:nvPr/>
        </p:nvSpPr>
        <p:spPr>
          <a:xfrm>
            <a:off x="566928" y="3621024"/>
            <a:ext cx="3895344" cy="237744"/>
          </a:xfrm>
          <a:prstGeom prst="rect">
            <a:avLst/>
          </a:prstGeom>
          <a:noFill/>
        </p:spPr>
        <p:txBody>
          <a:bodyPr wrap="square">
            <a:spAutoFit/>
          </a:bodyPr>
          <a:lstStyle/>
          <a:p>
            <a:pPr algn="l"/>
            <a:r>
              <a:rPr sz="1100" b="1" i="0">
                <a:solidFill>
                  <a:srgbClr val="1A7A6E"/>
                </a:solidFill>
                <a:latin typeface="Calibri"/>
              </a:rPr>
              <a:t>build_fspro_inputs()  (models/fspro.py)</a:t>
            </a:r>
          </a:p>
        </p:txBody>
      </p:sp>
      <p:sp>
        <p:nvSpPr>
          <p:cNvPr id="17" name="TextBox 16"/>
          <p:cNvSpPr txBox="1"/>
          <p:nvPr/>
        </p:nvSpPr>
        <p:spPr>
          <a:xfrm>
            <a:off x="566928" y="3877056"/>
            <a:ext cx="3895344" cy="402336"/>
          </a:xfrm>
          <a:prstGeom prst="rect">
            <a:avLst/>
          </a:prstGeom>
          <a:noFill/>
        </p:spPr>
        <p:txBody>
          <a:bodyPr wrap="square">
            <a:spAutoFit/>
          </a:bodyPr>
          <a:lstStyle/>
          <a:p>
            <a:pPr algn="l"/>
            <a:r>
              <a:rPr sz="1000" b="0" i="0">
                <a:solidFill>
                  <a:srgbClr val="546E7A"/>
                </a:solidFill>
                <a:latin typeface="Calibri"/>
              </a:rPr>
              <a:t>Writes HistoricERCValues, ERC class rows, CurrentERCValues to input file</a:t>
            </a:r>
          </a:p>
        </p:txBody>
      </p:sp>
      <p:sp>
        <p:nvSpPr>
          <p:cNvPr id="18" name="Rectangle 17"/>
          <p:cNvSpPr/>
          <p:nvPr/>
        </p:nvSpPr>
        <p:spPr>
          <a:xfrm>
            <a:off x="4681728" y="950976"/>
            <a:ext cx="4261104" cy="310896"/>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73168" y="987552"/>
            <a:ext cx="4078224" cy="237744"/>
          </a:xfrm>
          <a:prstGeom prst="rect">
            <a:avLst/>
          </a:prstGeom>
          <a:noFill/>
        </p:spPr>
        <p:txBody>
          <a:bodyPr wrap="square">
            <a:spAutoFit/>
          </a:bodyPr>
          <a:lstStyle/>
          <a:p>
            <a:pPr algn="l"/>
            <a:r>
              <a:rPr sz="1000" b="1" i="0">
                <a:solidFill>
                  <a:srgbClr val="FFFFFF"/>
                </a:solidFill>
                <a:latin typeface="Calibri"/>
              </a:rPr>
              <a:t>FSPro Input File  —  ERC Sections</a:t>
            </a:r>
          </a:p>
        </p:txBody>
      </p:sp>
      <p:sp>
        <p:nvSpPr>
          <p:cNvPr id="20" name="Rectangle 19"/>
          <p:cNvSpPr/>
          <p:nvPr/>
        </p:nvSpPr>
        <p:spPr>
          <a:xfrm>
            <a:off x="4681728" y="1298448"/>
            <a:ext cx="4261104" cy="713232"/>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81728" y="1298448"/>
            <a:ext cx="128016" cy="7132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1353312"/>
            <a:ext cx="3986784" cy="237744"/>
          </a:xfrm>
          <a:prstGeom prst="rect">
            <a:avLst/>
          </a:prstGeom>
          <a:noFill/>
        </p:spPr>
        <p:txBody>
          <a:bodyPr wrap="square">
            <a:spAutoFit/>
          </a:bodyPr>
          <a:lstStyle/>
          <a:p>
            <a:pPr algn="l"/>
            <a:r>
              <a:rPr sz="1000" b="1" i="0">
                <a:solidFill>
                  <a:srgbClr val="1A1A2E"/>
                </a:solidFill>
                <a:latin typeface="Courier New"/>
              </a:rPr>
              <a:t>NumERCYears  /  NumWxPerYear</a:t>
            </a:r>
          </a:p>
        </p:txBody>
      </p:sp>
      <p:sp>
        <p:nvSpPr>
          <p:cNvPr id="23" name="TextBox 22"/>
          <p:cNvSpPr txBox="1"/>
          <p:nvPr/>
        </p:nvSpPr>
        <p:spPr>
          <a:xfrm>
            <a:off x="4846320" y="1627631"/>
            <a:ext cx="3986784" cy="329184"/>
          </a:xfrm>
          <a:prstGeom prst="rect">
            <a:avLst/>
          </a:prstGeom>
          <a:noFill/>
        </p:spPr>
        <p:txBody>
          <a:bodyPr wrap="square">
            <a:spAutoFit/>
          </a:bodyPr>
          <a:lstStyle/>
          <a:p>
            <a:pPr algn="l"/>
            <a:r>
              <a:rPr sz="900" b="0" i="0">
                <a:solidFill>
                  <a:srgbClr val="546E7A"/>
                </a:solidFill>
                <a:latin typeface="Calibri"/>
              </a:rPr>
              <a:t>15 years  ×  214 days  (April 1 – Oct 31)</a:t>
            </a:r>
          </a:p>
        </p:txBody>
      </p:sp>
      <p:sp>
        <p:nvSpPr>
          <p:cNvPr id="24" name="Rectangle 23"/>
          <p:cNvSpPr/>
          <p:nvPr/>
        </p:nvSpPr>
        <p:spPr>
          <a:xfrm>
            <a:off x="4681728" y="2066543"/>
            <a:ext cx="4261104" cy="71323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81728" y="2066543"/>
            <a:ext cx="128016" cy="713232"/>
          </a:xfrm>
          <a:prstGeom prst="rect">
            <a:avLst/>
          </a:prstGeom>
          <a:solidFill>
            <a:srgbClr val="E0E6EA"/>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46320" y="2121408"/>
            <a:ext cx="3986784" cy="237744"/>
          </a:xfrm>
          <a:prstGeom prst="rect">
            <a:avLst/>
          </a:prstGeom>
          <a:noFill/>
        </p:spPr>
        <p:txBody>
          <a:bodyPr wrap="square">
            <a:spAutoFit/>
          </a:bodyPr>
          <a:lstStyle/>
          <a:p>
            <a:pPr algn="l"/>
            <a:r>
              <a:rPr sz="1000" b="1" i="0">
                <a:solidFill>
                  <a:srgbClr val="1A1A2E"/>
                </a:solidFill>
                <a:latin typeface="Courier New"/>
              </a:rPr>
              <a:t>HistoricERCValues</a:t>
            </a:r>
          </a:p>
        </p:txBody>
      </p:sp>
      <p:sp>
        <p:nvSpPr>
          <p:cNvPr id="27" name="TextBox 26"/>
          <p:cNvSpPr txBox="1"/>
          <p:nvPr/>
        </p:nvSpPr>
        <p:spPr>
          <a:xfrm>
            <a:off x="4846320" y="2395727"/>
            <a:ext cx="3986784" cy="329184"/>
          </a:xfrm>
          <a:prstGeom prst="rect">
            <a:avLst/>
          </a:prstGeom>
          <a:noFill/>
        </p:spPr>
        <p:txBody>
          <a:bodyPr wrap="square">
            <a:spAutoFit/>
          </a:bodyPr>
          <a:lstStyle/>
          <a:p>
            <a:pPr algn="l"/>
            <a:r>
              <a:rPr sz="900" b="0" i="0">
                <a:solidFill>
                  <a:srgbClr val="546E7A"/>
                </a:solidFill>
                <a:latin typeface="Calibri"/>
              </a:rPr>
              <a:t>15 × 214 daily ERC values  ·  FSPro draws a random year per ignition</a:t>
            </a:r>
          </a:p>
        </p:txBody>
      </p:sp>
      <p:sp>
        <p:nvSpPr>
          <p:cNvPr id="28" name="Rectangle 27"/>
          <p:cNvSpPr/>
          <p:nvPr/>
        </p:nvSpPr>
        <p:spPr>
          <a:xfrm>
            <a:off x="4681728" y="2834639"/>
            <a:ext cx="4261104" cy="713232"/>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81728" y="2834639"/>
            <a:ext cx="128016" cy="7132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0" y="2889503"/>
            <a:ext cx="3986784" cy="237744"/>
          </a:xfrm>
          <a:prstGeom prst="rect">
            <a:avLst/>
          </a:prstGeom>
          <a:noFill/>
        </p:spPr>
        <p:txBody>
          <a:bodyPr wrap="square">
            <a:spAutoFit/>
          </a:bodyPr>
          <a:lstStyle/>
          <a:p>
            <a:pPr algn="l"/>
            <a:r>
              <a:rPr sz="1000" b="1" i="0">
                <a:solidFill>
                  <a:srgbClr val="1A1A2E"/>
                </a:solidFill>
                <a:latin typeface="Courier New"/>
              </a:rPr>
              <a:t>ERC class table  (5 rows)</a:t>
            </a:r>
          </a:p>
        </p:txBody>
      </p:sp>
      <p:sp>
        <p:nvSpPr>
          <p:cNvPr id="31" name="TextBox 30"/>
          <p:cNvSpPr txBox="1"/>
          <p:nvPr/>
        </p:nvSpPr>
        <p:spPr>
          <a:xfrm>
            <a:off x="4846320" y="3163823"/>
            <a:ext cx="3986784" cy="329184"/>
          </a:xfrm>
          <a:prstGeom prst="rect">
            <a:avLst/>
          </a:prstGeom>
          <a:noFill/>
        </p:spPr>
        <p:txBody>
          <a:bodyPr wrap="square">
            <a:spAutoFit/>
          </a:bodyPr>
          <a:lstStyle/>
          <a:p>
            <a:pPr algn="l"/>
            <a:r>
              <a:rPr sz="900" b="0" i="0">
                <a:solidFill>
                  <a:srgbClr val="546E7A"/>
                </a:solidFill>
                <a:latin typeface="Calibri"/>
              </a:rPr>
              <a:t>lower  upper  fm1  fm10  fm100  fm_herb  fm_woody  spot_dist  spot_prob  spot2</a:t>
            </a:r>
          </a:p>
        </p:txBody>
      </p:sp>
      <p:sp>
        <p:nvSpPr>
          <p:cNvPr id="32" name="Rectangle 31"/>
          <p:cNvSpPr/>
          <p:nvPr/>
        </p:nvSpPr>
        <p:spPr>
          <a:xfrm>
            <a:off x="4681728" y="3602736"/>
            <a:ext cx="4261104" cy="71323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81728" y="3602736"/>
            <a:ext cx="128016" cy="713232"/>
          </a:xfrm>
          <a:prstGeom prst="rect">
            <a:avLst/>
          </a:prstGeom>
          <a:solidFill>
            <a:srgbClr val="E0E6EA"/>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46320" y="3657600"/>
            <a:ext cx="3986784" cy="237744"/>
          </a:xfrm>
          <a:prstGeom prst="rect">
            <a:avLst/>
          </a:prstGeom>
          <a:noFill/>
        </p:spPr>
        <p:txBody>
          <a:bodyPr wrap="square">
            <a:spAutoFit/>
          </a:bodyPr>
          <a:lstStyle/>
          <a:p>
            <a:pPr algn="l"/>
            <a:r>
              <a:rPr sz="1000" b="1" i="0">
                <a:solidFill>
                  <a:srgbClr val="1A1A2E"/>
                </a:solidFill>
                <a:latin typeface="Courier New"/>
              </a:rPr>
              <a:t>CurrentERCValues</a:t>
            </a:r>
          </a:p>
        </p:txBody>
      </p:sp>
      <p:sp>
        <p:nvSpPr>
          <p:cNvPr id="35" name="TextBox 34"/>
          <p:cNvSpPr txBox="1"/>
          <p:nvPr/>
        </p:nvSpPr>
        <p:spPr>
          <a:xfrm>
            <a:off x="4846320" y="3931920"/>
            <a:ext cx="3986784" cy="329184"/>
          </a:xfrm>
          <a:prstGeom prst="rect">
            <a:avLst/>
          </a:prstGeom>
          <a:noFill/>
        </p:spPr>
        <p:txBody>
          <a:bodyPr wrap="square">
            <a:spAutoFit/>
          </a:bodyPr>
          <a:lstStyle/>
          <a:p>
            <a:pPr algn="l"/>
            <a:r>
              <a:rPr sz="900" b="0" i="0">
                <a:solidFill>
                  <a:srgbClr val="546E7A"/>
                </a:solidFill>
                <a:latin typeface="Calibri"/>
              </a:rPr>
              <a:t>~79-day climatological median  ·  sets ERC trajectory for scenario window</a:t>
            </a:r>
          </a:p>
        </p:txBody>
      </p:sp>
      <p:sp>
        <p:nvSpPr>
          <p:cNvPr id="36" name="Rectangle 35"/>
          <p:cNvSpPr/>
          <p:nvPr/>
        </p:nvSpPr>
        <p:spPr>
          <a:xfrm>
            <a:off x="201168" y="4608576"/>
            <a:ext cx="8732520" cy="420624"/>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7472" y="4645152"/>
            <a:ext cx="8412480" cy="329184"/>
          </a:xfrm>
          <a:prstGeom prst="rect">
            <a:avLst/>
          </a:prstGeom>
          <a:noFill/>
        </p:spPr>
        <p:txBody>
          <a:bodyPr wrap="square">
            <a:spAutoFit/>
          </a:bodyPr>
          <a:lstStyle/>
          <a:p>
            <a:pPr algn="l"/>
            <a:r>
              <a:rPr sz="900" b="0" i="1">
                <a:solidFill>
                  <a:srgbClr val="6D4C41"/>
                </a:solidFill>
                <a:latin typeface="Calibri"/>
              </a:rPr>
              <a:t>ERC is the conditioning index: FSPro draws a random year from HistoricERCValues, maps the ERC at the ignition date to an ERC class row, and reads FM inputs from that row. Spread is probabilistic — not a single deterministic weather scenario.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46304"/>
            <a:ext cx="8412480" cy="420624"/>
          </a:xfrm>
          <a:prstGeom prst="rect">
            <a:avLst/>
          </a:prstGeom>
          <a:noFill/>
        </p:spPr>
        <p:txBody>
          <a:bodyPr wrap="square">
            <a:spAutoFit/>
          </a:bodyPr>
          <a:lstStyle/>
          <a:p>
            <a:pPr algn="l"/>
            <a:r>
              <a:rPr sz="2400" b="1" i="0">
                <a:solidFill>
                  <a:srgbClr val="1A1A2E"/>
                </a:solidFill>
                <a:latin typeface="Calibri"/>
              </a:rPr>
              <a:t>References &amp; Data Sources</a:t>
            </a:r>
          </a:p>
        </p:txBody>
      </p:sp>
      <p:sp>
        <p:nvSpPr>
          <p:cNvPr id="3" name="Rectangle 2"/>
          <p:cNvSpPr/>
          <p:nvPr/>
        </p:nvSpPr>
        <p:spPr>
          <a:xfrm>
            <a:off x="347472" y="594360"/>
            <a:ext cx="8449056" cy="36576"/>
          </a:xfrm>
          <a:prstGeom prst="rect">
            <a:avLst/>
          </a:prstGeom>
          <a:solidFill>
            <a:srgbClr val="E0E6EA"/>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 y="658368"/>
            <a:ext cx="4261104" cy="201168"/>
          </a:xfrm>
          <a:prstGeom prst="rect">
            <a:avLst/>
          </a:prstGeom>
          <a:noFill/>
        </p:spPr>
        <p:txBody>
          <a:bodyPr wrap="square">
            <a:spAutoFit/>
          </a:bodyPr>
          <a:lstStyle/>
          <a:p>
            <a:pPr algn="l"/>
            <a:r>
              <a:rPr sz="900" b="1" i="0">
                <a:solidFill>
                  <a:srgbClr val="D4622A"/>
                </a:solidFill>
                <a:latin typeface="Calibri"/>
              </a:rPr>
              <a:t>DEAD FUEL MOISTURE / NFDRS</a:t>
            </a:r>
          </a:p>
        </p:txBody>
      </p:sp>
      <p:sp>
        <p:nvSpPr>
          <p:cNvPr id="5" name="Rectangle 4"/>
          <p:cNvSpPr/>
          <p:nvPr/>
        </p:nvSpPr>
        <p:spPr>
          <a:xfrm>
            <a:off x="201168" y="859536"/>
            <a:ext cx="4261104" cy="274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969264"/>
            <a:ext cx="4261104" cy="201168"/>
          </a:xfrm>
          <a:prstGeom prst="rect">
            <a:avLst/>
          </a:prstGeom>
          <a:noFill/>
        </p:spPr>
        <p:txBody>
          <a:bodyPr wrap="square">
            <a:spAutoFit/>
          </a:bodyPr>
          <a:lstStyle/>
          <a:p>
            <a:pPr algn="l"/>
            <a:r>
              <a:rPr sz="900" b="1" i="0">
                <a:solidFill>
                  <a:srgbClr val="1A1A2E"/>
                </a:solidFill>
                <a:latin typeface="Calibri"/>
              </a:rPr>
              <a:t>Byram &amp; Jemison (1943)</a:t>
            </a:r>
          </a:p>
        </p:txBody>
      </p:sp>
      <p:sp>
        <p:nvSpPr>
          <p:cNvPr id="7" name="TextBox 6"/>
          <p:cNvSpPr txBox="1"/>
          <p:nvPr/>
        </p:nvSpPr>
        <p:spPr>
          <a:xfrm>
            <a:off x="201168" y="1170432"/>
            <a:ext cx="4261104" cy="256032"/>
          </a:xfrm>
          <a:prstGeom prst="rect">
            <a:avLst/>
          </a:prstGeom>
          <a:noFill/>
        </p:spPr>
        <p:txBody>
          <a:bodyPr wrap="square">
            <a:spAutoFit/>
          </a:bodyPr>
          <a:lstStyle/>
          <a:p>
            <a:pPr algn="l"/>
            <a:r>
              <a:rPr sz="800" b="0" i="1">
                <a:solidFill>
                  <a:srgbClr val="546E7A"/>
                </a:solidFill>
                <a:latin typeface="Calibri"/>
              </a:rPr>
              <a:t>Solar radiation and forest fuel moisture.  J. Agric. Res., 67(4), 149–176.</a:t>
            </a:r>
          </a:p>
        </p:txBody>
      </p:sp>
      <p:sp>
        <p:nvSpPr>
          <p:cNvPr id="8" name="TextBox 7"/>
          <p:cNvSpPr txBox="1"/>
          <p:nvPr/>
        </p:nvSpPr>
        <p:spPr>
          <a:xfrm>
            <a:off x="201168" y="1481328"/>
            <a:ext cx="4261104" cy="201168"/>
          </a:xfrm>
          <a:prstGeom prst="rect">
            <a:avLst/>
          </a:prstGeom>
          <a:noFill/>
        </p:spPr>
        <p:txBody>
          <a:bodyPr wrap="square">
            <a:spAutoFit/>
          </a:bodyPr>
          <a:lstStyle/>
          <a:p>
            <a:pPr algn="l"/>
            <a:r>
              <a:rPr sz="900" b="1" i="0">
                <a:solidFill>
                  <a:srgbClr val="1A1A2E"/>
                </a:solidFill>
                <a:latin typeface="Calibri"/>
              </a:rPr>
              <a:t>Deeming, Burgan &amp; Cohen (1977)</a:t>
            </a:r>
          </a:p>
        </p:txBody>
      </p:sp>
      <p:sp>
        <p:nvSpPr>
          <p:cNvPr id="9" name="TextBox 8"/>
          <p:cNvSpPr txBox="1"/>
          <p:nvPr/>
        </p:nvSpPr>
        <p:spPr>
          <a:xfrm>
            <a:off x="201168" y="1682496"/>
            <a:ext cx="4261104" cy="256032"/>
          </a:xfrm>
          <a:prstGeom prst="rect">
            <a:avLst/>
          </a:prstGeom>
          <a:noFill/>
        </p:spPr>
        <p:txBody>
          <a:bodyPr wrap="square">
            <a:spAutoFit/>
          </a:bodyPr>
          <a:lstStyle/>
          <a:p>
            <a:pPr algn="l"/>
            <a:r>
              <a:rPr sz="800" b="0" i="1">
                <a:solidFill>
                  <a:srgbClr val="546E7A"/>
                </a:solidFill>
                <a:latin typeface="Calibri"/>
              </a:rPr>
              <a:t>The National Fire-Danger Rating System—1978.  USDA FS GTR INT-39, 63 p.</a:t>
            </a:r>
          </a:p>
        </p:txBody>
      </p:sp>
      <p:sp>
        <p:nvSpPr>
          <p:cNvPr id="10" name="TextBox 9"/>
          <p:cNvSpPr txBox="1"/>
          <p:nvPr/>
        </p:nvSpPr>
        <p:spPr>
          <a:xfrm>
            <a:off x="201168" y="1993392"/>
            <a:ext cx="4261104" cy="201168"/>
          </a:xfrm>
          <a:prstGeom prst="rect">
            <a:avLst/>
          </a:prstGeom>
          <a:noFill/>
        </p:spPr>
        <p:txBody>
          <a:bodyPr wrap="square">
            <a:spAutoFit/>
          </a:bodyPr>
          <a:lstStyle/>
          <a:p>
            <a:pPr algn="l"/>
            <a:r>
              <a:rPr sz="900" b="1" i="0">
                <a:solidFill>
                  <a:srgbClr val="1A1A2E"/>
                </a:solidFill>
                <a:latin typeface="Calibri"/>
              </a:rPr>
              <a:t>Bradshaw, Deeming, Burgan &amp; Cohen (1984)</a:t>
            </a:r>
          </a:p>
        </p:txBody>
      </p:sp>
      <p:sp>
        <p:nvSpPr>
          <p:cNvPr id="11" name="TextBox 10"/>
          <p:cNvSpPr txBox="1"/>
          <p:nvPr/>
        </p:nvSpPr>
        <p:spPr>
          <a:xfrm>
            <a:off x="201168" y="2194560"/>
            <a:ext cx="4261104" cy="256032"/>
          </a:xfrm>
          <a:prstGeom prst="rect">
            <a:avLst/>
          </a:prstGeom>
          <a:noFill/>
        </p:spPr>
        <p:txBody>
          <a:bodyPr wrap="square">
            <a:spAutoFit/>
          </a:bodyPr>
          <a:lstStyle/>
          <a:p>
            <a:pPr algn="l"/>
            <a:r>
              <a:rPr sz="800" b="0" i="1">
                <a:solidFill>
                  <a:srgbClr val="546E7A"/>
                </a:solidFill>
                <a:latin typeface="Calibri"/>
              </a:rPr>
              <a:t>The 1978 National Fire-Danger Rating System: Technical documentation.  USDA FS GTR INT-169, 44 p.</a:t>
            </a:r>
          </a:p>
        </p:txBody>
      </p:sp>
      <p:sp>
        <p:nvSpPr>
          <p:cNvPr id="12" name="TextBox 11"/>
          <p:cNvSpPr txBox="1"/>
          <p:nvPr/>
        </p:nvSpPr>
        <p:spPr>
          <a:xfrm>
            <a:off x="201168" y="2596896"/>
            <a:ext cx="4261104" cy="201168"/>
          </a:xfrm>
          <a:prstGeom prst="rect">
            <a:avLst/>
          </a:prstGeom>
          <a:noFill/>
        </p:spPr>
        <p:txBody>
          <a:bodyPr wrap="square">
            <a:spAutoFit/>
          </a:bodyPr>
          <a:lstStyle/>
          <a:p>
            <a:pPr algn="l"/>
            <a:r>
              <a:rPr sz="900" b="1" i="0">
                <a:solidFill>
                  <a:srgbClr val="1B6CA8"/>
                </a:solidFill>
                <a:latin typeface="Calibri"/>
              </a:rPr>
              <a:t>EQUILIBRIUM MOISTURE CONTENT</a:t>
            </a:r>
          </a:p>
        </p:txBody>
      </p:sp>
      <p:sp>
        <p:nvSpPr>
          <p:cNvPr id="13" name="Rectangle 12"/>
          <p:cNvSpPr/>
          <p:nvPr/>
        </p:nvSpPr>
        <p:spPr>
          <a:xfrm>
            <a:off x="201168" y="2798064"/>
            <a:ext cx="4261104" cy="274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2907792"/>
            <a:ext cx="4261104" cy="201168"/>
          </a:xfrm>
          <a:prstGeom prst="rect">
            <a:avLst/>
          </a:prstGeom>
          <a:noFill/>
        </p:spPr>
        <p:txBody>
          <a:bodyPr wrap="square">
            <a:spAutoFit/>
          </a:bodyPr>
          <a:lstStyle/>
          <a:p>
            <a:pPr algn="l"/>
            <a:r>
              <a:rPr sz="900" b="1" i="0">
                <a:solidFill>
                  <a:srgbClr val="1A1A2E"/>
                </a:solidFill>
                <a:latin typeface="Calibri"/>
              </a:rPr>
              <a:t>Nelson (1984)</a:t>
            </a:r>
          </a:p>
        </p:txBody>
      </p:sp>
      <p:sp>
        <p:nvSpPr>
          <p:cNvPr id="15" name="TextBox 14"/>
          <p:cNvSpPr txBox="1"/>
          <p:nvPr/>
        </p:nvSpPr>
        <p:spPr>
          <a:xfrm>
            <a:off x="201168" y="3108960"/>
            <a:ext cx="4261104" cy="256032"/>
          </a:xfrm>
          <a:prstGeom prst="rect">
            <a:avLst/>
          </a:prstGeom>
          <a:noFill/>
        </p:spPr>
        <p:txBody>
          <a:bodyPr wrap="square">
            <a:spAutoFit/>
          </a:bodyPr>
          <a:lstStyle/>
          <a:p>
            <a:pPr algn="l"/>
            <a:r>
              <a:rPr sz="800" b="0" i="1">
                <a:solidFill>
                  <a:srgbClr val="546E7A"/>
                </a:solidFill>
                <a:latin typeface="Calibri"/>
              </a:rPr>
              <a:t>A method for describing equilibrium moisture content of forest fuels.  Can. J. For. Res., 14(4), 597–600.  doi:10.1139/x84-108</a:t>
            </a:r>
          </a:p>
        </p:txBody>
      </p:sp>
      <p:sp>
        <p:nvSpPr>
          <p:cNvPr id="16" name="TextBox 15"/>
          <p:cNvSpPr txBox="1"/>
          <p:nvPr/>
        </p:nvSpPr>
        <p:spPr>
          <a:xfrm>
            <a:off x="201168" y="3438144"/>
            <a:ext cx="4261104" cy="201168"/>
          </a:xfrm>
          <a:prstGeom prst="rect">
            <a:avLst/>
          </a:prstGeom>
          <a:noFill/>
        </p:spPr>
        <p:txBody>
          <a:bodyPr wrap="square">
            <a:spAutoFit/>
          </a:bodyPr>
          <a:lstStyle/>
          <a:p>
            <a:pPr algn="l"/>
            <a:r>
              <a:rPr sz="900" b="1" i="0">
                <a:solidFill>
                  <a:srgbClr val="1A1A2E"/>
                </a:solidFill>
                <a:latin typeface="Calibri"/>
              </a:rPr>
              <a:t>Cohen &amp; Deeming (1985)</a:t>
            </a:r>
          </a:p>
        </p:txBody>
      </p:sp>
      <p:sp>
        <p:nvSpPr>
          <p:cNvPr id="17" name="TextBox 16"/>
          <p:cNvSpPr txBox="1"/>
          <p:nvPr/>
        </p:nvSpPr>
        <p:spPr>
          <a:xfrm>
            <a:off x="201168" y="3639312"/>
            <a:ext cx="4261104" cy="256032"/>
          </a:xfrm>
          <a:prstGeom prst="rect">
            <a:avLst/>
          </a:prstGeom>
          <a:noFill/>
        </p:spPr>
        <p:txBody>
          <a:bodyPr wrap="square">
            <a:spAutoFit/>
          </a:bodyPr>
          <a:lstStyle/>
          <a:p>
            <a:pPr algn="l"/>
            <a:r>
              <a:rPr sz="800" b="0" i="1">
                <a:solidFill>
                  <a:srgbClr val="546E7A"/>
                </a:solidFill>
                <a:latin typeface="Calibri"/>
              </a:rPr>
              <a:t>The National Fire-Danger Rating System: Basic equations.  USDA FS GTR PSW-82, 16 p.</a:t>
            </a:r>
          </a:p>
        </p:txBody>
      </p:sp>
      <p:sp>
        <p:nvSpPr>
          <p:cNvPr id="18" name="TextBox 17"/>
          <p:cNvSpPr txBox="1"/>
          <p:nvPr/>
        </p:nvSpPr>
        <p:spPr>
          <a:xfrm>
            <a:off x="4681728" y="658368"/>
            <a:ext cx="4261104" cy="201168"/>
          </a:xfrm>
          <a:prstGeom prst="rect">
            <a:avLst/>
          </a:prstGeom>
          <a:noFill/>
        </p:spPr>
        <p:txBody>
          <a:bodyPr wrap="square">
            <a:spAutoFit/>
          </a:bodyPr>
          <a:lstStyle/>
          <a:p>
            <a:pPr algn="l"/>
            <a:r>
              <a:rPr sz="900" b="1" i="0">
                <a:solidFill>
                  <a:srgbClr val="2C6E49"/>
                </a:solidFill>
                <a:latin typeface="Calibri"/>
              </a:rPr>
              <a:t>LIVE FUEL MOISTURE</a:t>
            </a:r>
          </a:p>
        </p:txBody>
      </p:sp>
      <p:sp>
        <p:nvSpPr>
          <p:cNvPr id="19" name="Rectangle 18"/>
          <p:cNvSpPr/>
          <p:nvPr/>
        </p:nvSpPr>
        <p:spPr>
          <a:xfrm>
            <a:off x="4681728" y="859536"/>
            <a:ext cx="4261104" cy="27432"/>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81728" y="969264"/>
            <a:ext cx="4261104" cy="201168"/>
          </a:xfrm>
          <a:prstGeom prst="rect">
            <a:avLst/>
          </a:prstGeom>
          <a:noFill/>
        </p:spPr>
        <p:txBody>
          <a:bodyPr wrap="square">
            <a:spAutoFit/>
          </a:bodyPr>
          <a:lstStyle/>
          <a:p>
            <a:pPr algn="l"/>
            <a:r>
              <a:rPr sz="900" b="1" i="0">
                <a:solidFill>
                  <a:srgbClr val="1A1A2E"/>
                </a:solidFill>
                <a:latin typeface="Calibri"/>
              </a:rPr>
              <a:t>Jolly, Nemani &amp; Running (2005)</a:t>
            </a:r>
          </a:p>
        </p:txBody>
      </p:sp>
      <p:sp>
        <p:nvSpPr>
          <p:cNvPr id="21" name="TextBox 20"/>
          <p:cNvSpPr txBox="1"/>
          <p:nvPr/>
        </p:nvSpPr>
        <p:spPr>
          <a:xfrm>
            <a:off x="4681728" y="1170432"/>
            <a:ext cx="4261104" cy="256032"/>
          </a:xfrm>
          <a:prstGeom prst="rect">
            <a:avLst/>
          </a:prstGeom>
          <a:noFill/>
        </p:spPr>
        <p:txBody>
          <a:bodyPr wrap="square">
            <a:spAutoFit/>
          </a:bodyPr>
          <a:lstStyle/>
          <a:p>
            <a:pPr algn="l"/>
            <a:r>
              <a:rPr sz="800" b="0" i="1">
                <a:solidFill>
                  <a:srgbClr val="546E7A"/>
                </a:solidFill>
                <a:latin typeface="Calibri"/>
              </a:rPr>
              <a:t>A generalized bioclimatic index to predict foliar phenology in response to climate.  Glob. Change Biol., 11(4), 619–632.  doi:10.1111/j.1365-2486.2005.00930.x</a:t>
            </a:r>
          </a:p>
        </p:txBody>
      </p:sp>
      <p:sp>
        <p:nvSpPr>
          <p:cNvPr id="22" name="TextBox 21"/>
          <p:cNvSpPr txBox="1"/>
          <p:nvPr/>
        </p:nvSpPr>
        <p:spPr>
          <a:xfrm>
            <a:off x="4681728" y="1591056"/>
            <a:ext cx="4261104" cy="201168"/>
          </a:xfrm>
          <a:prstGeom prst="rect">
            <a:avLst/>
          </a:prstGeom>
          <a:noFill/>
        </p:spPr>
        <p:txBody>
          <a:bodyPr wrap="square">
            <a:spAutoFit/>
          </a:bodyPr>
          <a:lstStyle/>
          <a:p>
            <a:pPr algn="l"/>
            <a:r>
              <a:rPr sz="900" b="1" i="0">
                <a:solidFill>
                  <a:srgbClr val="1A7A6E"/>
                </a:solidFill>
                <a:latin typeface="Calibri"/>
              </a:rPr>
              <a:t>WEATHER DATA</a:t>
            </a:r>
          </a:p>
        </p:txBody>
      </p:sp>
      <p:sp>
        <p:nvSpPr>
          <p:cNvPr id="23" name="Rectangle 22"/>
          <p:cNvSpPr/>
          <p:nvPr/>
        </p:nvSpPr>
        <p:spPr>
          <a:xfrm>
            <a:off x="4681728" y="1792224"/>
            <a:ext cx="4261104" cy="27432"/>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81728" y="1901952"/>
            <a:ext cx="4261104" cy="201168"/>
          </a:xfrm>
          <a:prstGeom prst="rect">
            <a:avLst/>
          </a:prstGeom>
          <a:noFill/>
        </p:spPr>
        <p:txBody>
          <a:bodyPr wrap="square">
            <a:spAutoFit/>
          </a:bodyPr>
          <a:lstStyle/>
          <a:p>
            <a:pPr algn="l"/>
            <a:r>
              <a:rPr sz="900" b="1" i="0">
                <a:solidFill>
                  <a:srgbClr val="1A1A2E"/>
                </a:solidFill>
                <a:latin typeface="Calibri"/>
              </a:rPr>
              <a:t>De Pondeca et al. (2011)</a:t>
            </a:r>
          </a:p>
        </p:txBody>
      </p:sp>
      <p:sp>
        <p:nvSpPr>
          <p:cNvPr id="25" name="TextBox 24"/>
          <p:cNvSpPr txBox="1"/>
          <p:nvPr/>
        </p:nvSpPr>
        <p:spPr>
          <a:xfrm>
            <a:off x="4681728" y="2103120"/>
            <a:ext cx="4261104" cy="256032"/>
          </a:xfrm>
          <a:prstGeom prst="rect">
            <a:avLst/>
          </a:prstGeom>
          <a:noFill/>
        </p:spPr>
        <p:txBody>
          <a:bodyPr wrap="square">
            <a:spAutoFit/>
          </a:bodyPr>
          <a:lstStyle/>
          <a:p>
            <a:pPr algn="l"/>
            <a:r>
              <a:rPr sz="800" b="0" i="1">
                <a:solidFill>
                  <a:srgbClr val="546E7A"/>
                </a:solidFill>
                <a:latin typeface="Calibri"/>
              </a:rPr>
              <a:t>The Real-Time Mesoscale Analysis at NOAA's NCEP: Current status and development.  Weather Forecast., 26(5), 593–612.  doi:10.1175/WAF-D-10-05037.1</a:t>
            </a:r>
          </a:p>
        </p:txBody>
      </p:sp>
      <p:sp>
        <p:nvSpPr>
          <p:cNvPr id="26" name="TextBox 25"/>
          <p:cNvSpPr txBox="1"/>
          <p:nvPr/>
        </p:nvSpPr>
        <p:spPr>
          <a:xfrm>
            <a:off x="4681728" y="2432304"/>
            <a:ext cx="4261104" cy="201168"/>
          </a:xfrm>
          <a:prstGeom prst="rect">
            <a:avLst/>
          </a:prstGeom>
          <a:noFill/>
        </p:spPr>
        <p:txBody>
          <a:bodyPr wrap="square">
            <a:spAutoFit/>
          </a:bodyPr>
          <a:lstStyle/>
          <a:p>
            <a:pPr algn="l"/>
            <a:r>
              <a:rPr sz="900" b="1" i="0">
                <a:solidFill>
                  <a:srgbClr val="1A1A2E"/>
                </a:solidFill>
                <a:latin typeface="Calibri"/>
              </a:rPr>
              <a:t>Dowell et al. (2022)</a:t>
            </a:r>
          </a:p>
        </p:txBody>
      </p:sp>
      <p:sp>
        <p:nvSpPr>
          <p:cNvPr id="27" name="TextBox 26"/>
          <p:cNvSpPr txBox="1"/>
          <p:nvPr/>
        </p:nvSpPr>
        <p:spPr>
          <a:xfrm>
            <a:off x="4681728" y="2633472"/>
            <a:ext cx="4261104" cy="256032"/>
          </a:xfrm>
          <a:prstGeom prst="rect">
            <a:avLst/>
          </a:prstGeom>
          <a:noFill/>
        </p:spPr>
        <p:txBody>
          <a:bodyPr wrap="square">
            <a:spAutoFit/>
          </a:bodyPr>
          <a:lstStyle/>
          <a:p>
            <a:pPr algn="l"/>
            <a:r>
              <a:rPr sz="800" b="0" i="1">
                <a:solidFill>
                  <a:srgbClr val="546E7A"/>
                </a:solidFill>
                <a:latin typeface="Calibri"/>
              </a:rPr>
              <a:t>The High-Resolution Rapid Refresh (HRRR): An hourly updating convection-allowing forecast model.  Weather Forecast., 37(8), 1371–1395.  doi:10.1175/WAF-D-21-0151.1</a:t>
            </a:r>
          </a:p>
        </p:txBody>
      </p:sp>
      <p:sp>
        <p:nvSpPr>
          <p:cNvPr id="28" name="TextBox 27"/>
          <p:cNvSpPr txBox="1"/>
          <p:nvPr/>
        </p:nvSpPr>
        <p:spPr>
          <a:xfrm>
            <a:off x="4681728" y="2962656"/>
            <a:ext cx="4261104" cy="201168"/>
          </a:xfrm>
          <a:prstGeom prst="rect">
            <a:avLst/>
          </a:prstGeom>
          <a:noFill/>
        </p:spPr>
        <p:txBody>
          <a:bodyPr wrap="square">
            <a:spAutoFit/>
          </a:bodyPr>
          <a:lstStyle/>
          <a:p>
            <a:pPr algn="l"/>
            <a:r>
              <a:rPr sz="900" b="1" i="0">
                <a:solidFill>
                  <a:srgbClr val="1A1A2E"/>
                </a:solidFill>
                <a:latin typeface="Calibri"/>
              </a:rPr>
              <a:t>Abatzoglou (2013)</a:t>
            </a:r>
          </a:p>
        </p:txBody>
      </p:sp>
      <p:sp>
        <p:nvSpPr>
          <p:cNvPr id="29" name="TextBox 28"/>
          <p:cNvSpPr txBox="1"/>
          <p:nvPr/>
        </p:nvSpPr>
        <p:spPr>
          <a:xfrm>
            <a:off x="4681728" y="3163824"/>
            <a:ext cx="4261104" cy="256032"/>
          </a:xfrm>
          <a:prstGeom prst="rect">
            <a:avLst/>
          </a:prstGeom>
          <a:noFill/>
        </p:spPr>
        <p:txBody>
          <a:bodyPr wrap="square">
            <a:spAutoFit/>
          </a:bodyPr>
          <a:lstStyle/>
          <a:p>
            <a:pPr algn="l"/>
            <a:r>
              <a:rPr sz="800" b="0" i="1">
                <a:solidFill>
                  <a:srgbClr val="546E7A"/>
                </a:solidFill>
                <a:latin typeface="Calibri"/>
              </a:rPr>
              <a:t>Development of gridded surface meteorological data for ecological applications and modelling.  Int. J. Climatol., 33(1), 121–131.  doi:10.1002/joc.3413</a:t>
            </a:r>
          </a:p>
        </p:txBody>
      </p:sp>
      <p:sp>
        <p:nvSpPr>
          <p:cNvPr id="30" name="TextBox 29"/>
          <p:cNvSpPr txBox="1"/>
          <p:nvPr/>
        </p:nvSpPr>
        <p:spPr>
          <a:xfrm>
            <a:off x="4681728" y="3584448"/>
            <a:ext cx="4261104" cy="201168"/>
          </a:xfrm>
          <a:prstGeom prst="rect">
            <a:avLst/>
          </a:prstGeom>
          <a:noFill/>
        </p:spPr>
        <p:txBody>
          <a:bodyPr wrap="square">
            <a:spAutoFit/>
          </a:bodyPr>
          <a:lstStyle/>
          <a:p>
            <a:pPr algn="l"/>
            <a:r>
              <a:rPr sz="900" b="1" i="0">
                <a:solidFill>
                  <a:srgbClr val="546E7A"/>
                </a:solidFill>
                <a:latin typeface="Calibri"/>
              </a:rPr>
              <a:t>SUPPORTING INFRASTRUCTURE</a:t>
            </a:r>
          </a:p>
        </p:txBody>
      </p:sp>
      <p:sp>
        <p:nvSpPr>
          <p:cNvPr id="31" name="Rectangle 30"/>
          <p:cNvSpPr/>
          <p:nvPr/>
        </p:nvSpPr>
        <p:spPr>
          <a:xfrm>
            <a:off x="4681728" y="3785615"/>
            <a:ext cx="4261104" cy="27432"/>
          </a:xfrm>
          <a:prstGeom prst="rect">
            <a:avLst/>
          </a:prstGeom>
          <a:solidFill>
            <a:srgbClr val="546E7A"/>
          </a:solidFill>
          <a:ln>
            <a:solidFill>
              <a:srgbClr val="546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81728" y="3895344"/>
            <a:ext cx="4261104" cy="201168"/>
          </a:xfrm>
          <a:prstGeom prst="rect">
            <a:avLst/>
          </a:prstGeom>
          <a:noFill/>
        </p:spPr>
        <p:txBody>
          <a:bodyPr wrap="square">
            <a:spAutoFit/>
          </a:bodyPr>
          <a:lstStyle/>
          <a:p>
            <a:pPr algn="l"/>
            <a:r>
              <a:rPr sz="900" b="1" i="0">
                <a:solidFill>
                  <a:srgbClr val="1A1A2E"/>
                </a:solidFill>
                <a:latin typeface="Calibri"/>
              </a:rPr>
              <a:t>Gorelick et al. (2017)</a:t>
            </a:r>
          </a:p>
        </p:txBody>
      </p:sp>
      <p:sp>
        <p:nvSpPr>
          <p:cNvPr id="33" name="TextBox 32"/>
          <p:cNvSpPr txBox="1"/>
          <p:nvPr/>
        </p:nvSpPr>
        <p:spPr>
          <a:xfrm>
            <a:off x="4681728" y="4096511"/>
            <a:ext cx="4261104" cy="256032"/>
          </a:xfrm>
          <a:prstGeom prst="rect">
            <a:avLst/>
          </a:prstGeom>
          <a:noFill/>
        </p:spPr>
        <p:txBody>
          <a:bodyPr wrap="square">
            <a:spAutoFit/>
          </a:bodyPr>
          <a:lstStyle/>
          <a:p>
            <a:pPr algn="l"/>
            <a:r>
              <a:rPr sz="800" b="0" i="1">
                <a:solidFill>
                  <a:srgbClr val="546E7A"/>
                </a:solidFill>
                <a:latin typeface="Calibri"/>
              </a:rPr>
              <a:t>Google Earth Engine: Planetary-scale geospatial analysis for everyone.  Remote Sens. Environ., 202, 18–27.  doi:10.1016/j.rse.2017.06.031</a:t>
            </a:r>
          </a:p>
        </p:txBody>
      </p:sp>
      <p:sp>
        <p:nvSpPr>
          <p:cNvPr id="34" name="TextBox 33"/>
          <p:cNvSpPr txBox="1"/>
          <p:nvPr/>
        </p:nvSpPr>
        <p:spPr>
          <a:xfrm>
            <a:off x="4681728" y="4425696"/>
            <a:ext cx="4261104" cy="201168"/>
          </a:xfrm>
          <a:prstGeom prst="rect">
            <a:avLst/>
          </a:prstGeom>
          <a:noFill/>
        </p:spPr>
        <p:txBody>
          <a:bodyPr wrap="square">
            <a:spAutoFit/>
          </a:bodyPr>
          <a:lstStyle/>
          <a:p>
            <a:pPr algn="l"/>
            <a:r>
              <a:rPr sz="900" b="1" i="0">
                <a:solidFill>
                  <a:srgbClr val="1A1A2E"/>
                </a:solidFill>
                <a:latin typeface="Calibri"/>
              </a:rPr>
              <a:t>Short (2022)</a:t>
            </a:r>
          </a:p>
        </p:txBody>
      </p:sp>
      <p:sp>
        <p:nvSpPr>
          <p:cNvPr id="35" name="TextBox 34"/>
          <p:cNvSpPr txBox="1"/>
          <p:nvPr/>
        </p:nvSpPr>
        <p:spPr>
          <a:xfrm>
            <a:off x="4681728" y="4626864"/>
            <a:ext cx="4261104" cy="256032"/>
          </a:xfrm>
          <a:prstGeom prst="rect">
            <a:avLst/>
          </a:prstGeom>
          <a:noFill/>
        </p:spPr>
        <p:txBody>
          <a:bodyPr wrap="square">
            <a:spAutoFit/>
          </a:bodyPr>
          <a:lstStyle/>
          <a:p>
            <a:pPr algn="l"/>
            <a:r>
              <a:rPr sz="800" b="0" i="1">
                <a:solidFill>
                  <a:srgbClr val="546E7A"/>
                </a:solidFill>
                <a:latin typeface="Calibri"/>
              </a:rPr>
              <a:t>Spatial wildfire occurrence data for the United States, 1992–2020 [FPA FOD].  USDA FS Research Data Archive.  doi:10.2737/RDS-2013-0009.6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47472" y="146304"/>
            <a:ext cx="8412480" cy="420624"/>
          </a:xfrm>
          <a:prstGeom prst="rect">
            <a:avLst/>
          </a:prstGeom>
          <a:noFill/>
        </p:spPr>
        <p:txBody>
          <a:bodyPr wrap="square">
            <a:spAutoFit/>
          </a:bodyPr>
          <a:lstStyle/>
          <a:p>
            <a:pPr algn="l"/>
            <a:r>
              <a:rPr sz="2400" b="1" i="0">
                <a:solidFill>
                  <a:srgbClr val="1A1A2E"/>
                </a:solidFill>
                <a:latin typeface="Calibri"/>
              </a:rPr>
              <a:t>Installing fb_tools</a:t>
            </a:r>
          </a:p>
        </p:txBody>
      </p:sp>
      <p:sp>
        <p:nvSpPr>
          <p:cNvPr id="5" name="TextBox 4"/>
          <p:cNvSpPr txBox="1"/>
          <p:nvPr/>
        </p:nvSpPr>
        <p:spPr>
          <a:xfrm>
            <a:off x="347472" y="640080"/>
            <a:ext cx="8412480" cy="219456"/>
          </a:xfrm>
          <a:prstGeom prst="rect">
            <a:avLst/>
          </a:prstGeom>
          <a:noFill/>
        </p:spPr>
        <p:txBody>
          <a:bodyPr wrap="square">
            <a:spAutoFit/>
          </a:bodyPr>
          <a:lstStyle/>
          <a:p>
            <a:pPr algn="l"/>
            <a:r>
              <a:rPr sz="1000" b="0" i="1">
                <a:solidFill>
                  <a:srgbClr val="546E7A"/>
                </a:solidFill>
                <a:latin typeface="Calibri"/>
              </a:rPr>
              <a:t>Python 3.10–3.12 · conda-forge · pip editable install · GitHub</a:t>
            </a:r>
          </a:p>
        </p:txBody>
      </p:sp>
      <p:sp>
        <p:nvSpPr>
          <p:cNvPr id="6" name="TextBox 5"/>
          <p:cNvSpPr txBox="1"/>
          <p:nvPr/>
        </p:nvSpPr>
        <p:spPr>
          <a:xfrm>
            <a:off x="201168" y="950976"/>
            <a:ext cx="5303520" cy="219456"/>
          </a:xfrm>
          <a:prstGeom prst="rect">
            <a:avLst/>
          </a:prstGeom>
          <a:noFill/>
        </p:spPr>
        <p:txBody>
          <a:bodyPr wrap="square">
            <a:spAutoFit/>
          </a:bodyPr>
          <a:lstStyle/>
          <a:p>
            <a:pPr algn="l"/>
            <a:r>
              <a:rPr sz="1000" b="1" i="0">
                <a:solidFill>
                  <a:srgbClr val="546E7A"/>
                </a:solidFill>
                <a:latin typeface="Calibri"/>
              </a:rPr>
              <a:t>Critical path  (run in order)</a:t>
            </a:r>
          </a:p>
        </p:txBody>
      </p:sp>
      <p:sp>
        <p:nvSpPr>
          <p:cNvPr id="7" name="TextBox 6"/>
          <p:cNvSpPr txBox="1"/>
          <p:nvPr/>
        </p:nvSpPr>
        <p:spPr>
          <a:xfrm>
            <a:off x="201168" y="1207008"/>
            <a:ext cx="5303520" cy="219456"/>
          </a:xfrm>
          <a:prstGeom prst="rect">
            <a:avLst/>
          </a:prstGeom>
          <a:noFill/>
        </p:spPr>
        <p:txBody>
          <a:bodyPr wrap="square">
            <a:spAutoFit/>
          </a:bodyPr>
          <a:lstStyle/>
          <a:p>
            <a:pPr algn="l"/>
            <a:r>
              <a:rPr sz="1100" b="1" i="0">
                <a:solidFill>
                  <a:srgbClr val="1A7A6E"/>
                </a:solidFill>
                <a:latin typeface="Calibri"/>
              </a:rPr>
              <a:t>① Clone the repository</a:t>
            </a:r>
          </a:p>
        </p:txBody>
      </p:sp>
      <p:sp>
        <p:nvSpPr>
          <p:cNvPr id="8" name="Rectangle 7"/>
          <p:cNvSpPr/>
          <p:nvPr/>
        </p:nvSpPr>
        <p:spPr>
          <a:xfrm>
            <a:off x="201168" y="1444752"/>
            <a:ext cx="5303520" cy="731519"/>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1444752"/>
            <a:ext cx="5303520" cy="164592"/>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 y="1682496"/>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11" name="TextBox 10"/>
          <p:cNvSpPr txBox="1"/>
          <p:nvPr/>
        </p:nvSpPr>
        <p:spPr>
          <a:xfrm>
            <a:off x="530352" y="1682496"/>
            <a:ext cx="4846320" cy="201168"/>
          </a:xfrm>
          <a:prstGeom prst="rect">
            <a:avLst/>
          </a:prstGeom>
          <a:noFill/>
        </p:spPr>
        <p:txBody>
          <a:bodyPr wrap="square">
            <a:spAutoFit/>
          </a:bodyPr>
          <a:lstStyle/>
          <a:p>
            <a:pPr algn="l"/>
            <a:r>
              <a:rPr sz="950" b="0" i="0">
                <a:solidFill>
                  <a:srgbClr val="FFFFFF"/>
                </a:solidFill>
                <a:latin typeface="Courier New"/>
              </a:rPr>
              <a:t>git clone https://github.com/maxwellCcook/fb_tools.git</a:t>
            </a:r>
          </a:p>
        </p:txBody>
      </p:sp>
      <p:sp>
        <p:nvSpPr>
          <p:cNvPr id="12" name="TextBox 11"/>
          <p:cNvSpPr txBox="1"/>
          <p:nvPr/>
        </p:nvSpPr>
        <p:spPr>
          <a:xfrm>
            <a:off x="329184" y="1883664"/>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13" name="TextBox 12"/>
          <p:cNvSpPr txBox="1"/>
          <p:nvPr/>
        </p:nvSpPr>
        <p:spPr>
          <a:xfrm>
            <a:off x="530352" y="1883664"/>
            <a:ext cx="4846320" cy="201168"/>
          </a:xfrm>
          <a:prstGeom prst="rect">
            <a:avLst/>
          </a:prstGeom>
          <a:noFill/>
        </p:spPr>
        <p:txBody>
          <a:bodyPr wrap="square">
            <a:spAutoFit/>
          </a:bodyPr>
          <a:lstStyle/>
          <a:p>
            <a:pPr algn="l"/>
            <a:r>
              <a:rPr sz="950" b="0" i="0">
                <a:solidFill>
                  <a:srgbClr val="FFFFFF"/>
                </a:solidFill>
                <a:latin typeface="Courier New"/>
              </a:rPr>
              <a:t>cd fb_tools</a:t>
            </a:r>
          </a:p>
        </p:txBody>
      </p:sp>
      <p:sp>
        <p:nvSpPr>
          <p:cNvPr id="14" name="TextBox 13"/>
          <p:cNvSpPr txBox="1"/>
          <p:nvPr/>
        </p:nvSpPr>
        <p:spPr>
          <a:xfrm>
            <a:off x="201168" y="2304288"/>
            <a:ext cx="5285232" cy="219456"/>
          </a:xfrm>
          <a:prstGeom prst="rect">
            <a:avLst/>
          </a:prstGeom>
          <a:noFill/>
        </p:spPr>
        <p:txBody>
          <a:bodyPr wrap="square">
            <a:spAutoFit/>
          </a:bodyPr>
          <a:lstStyle/>
          <a:p>
            <a:pPr algn="l"/>
            <a:r>
              <a:rPr sz="1100" b="1" i="0">
                <a:solidFill>
                  <a:srgbClr val="1B6CA8"/>
                </a:solidFill>
                <a:latin typeface="Calibri"/>
              </a:rPr>
              <a:t>② Set conda channel priority  —  one-time per machine</a:t>
            </a:r>
          </a:p>
        </p:txBody>
      </p:sp>
      <p:sp>
        <p:nvSpPr>
          <p:cNvPr id="15" name="Rectangle 14"/>
          <p:cNvSpPr/>
          <p:nvPr/>
        </p:nvSpPr>
        <p:spPr>
          <a:xfrm>
            <a:off x="201168" y="2542032"/>
            <a:ext cx="5303520" cy="530352"/>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1168" y="2542032"/>
            <a:ext cx="5303520" cy="16459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9184" y="2779776"/>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18" name="TextBox 17"/>
          <p:cNvSpPr txBox="1"/>
          <p:nvPr/>
        </p:nvSpPr>
        <p:spPr>
          <a:xfrm>
            <a:off x="530352" y="2779776"/>
            <a:ext cx="4846320" cy="201168"/>
          </a:xfrm>
          <a:prstGeom prst="rect">
            <a:avLst/>
          </a:prstGeom>
          <a:noFill/>
        </p:spPr>
        <p:txBody>
          <a:bodyPr wrap="square">
            <a:spAutoFit/>
          </a:bodyPr>
          <a:lstStyle/>
          <a:p>
            <a:pPr algn="l"/>
            <a:r>
              <a:rPr sz="950" b="0" i="0">
                <a:solidFill>
                  <a:srgbClr val="FFFFFF"/>
                </a:solidFill>
                <a:latin typeface="Courier New"/>
              </a:rPr>
              <a:t>conda config --set channel_priority strict</a:t>
            </a:r>
          </a:p>
        </p:txBody>
      </p:sp>
      <p:sp>
        <p:nvSpPr>
          <p:cNvPr id="19" name="TextBox 18"/>
          <p:cNvSpPr txBox="1"/>
          <p:nvPr/>
        </p:nvSpPr>
        <p:spPr>
          <a:xfrm>
            <a:off x="201168" y="3200400"/>
            <a:ext cx="5303520" cy="219456"/>
          </a:xfrm>
          <a:prstGeom prst="rect">
            <a:avLst/>
          </a:prstGeom>
          <a:noFill/>
        </p:spPr>
        <p:txBody>
          <a:bodyPr wrap="square">
            <a:spAutoFit/>
          </a:bodyPr>
          <a:lstStyle/>
          <a:p>
            <a:pPr algn="l"/>
            <a:r>
              <a:rPr sz="1100" b="1" i="0">
                <a:solidFill>
                  <a:srgbClr val="2C6E49"/>
                </a:solidFill>
                <a:latin typeface="Calibri"/>
              </a:rPr>
              <a:t>③ Create and activate the conda environment</a:t>
            </a:r>
          </a:p>
        </p:txBody>
      </p:sp>
      <p:sp>
        <p:nvSpPr>
          <p:cNvPr id="20" name="Rectangle 19"/>
          <p:cNvSpPr/>
          <p:nvPr/>
        </p:nvSpPr>
        <p:spPr>
          <a:xfrm>
            <a:off x="201168" y="3438144"/>
            <a:ext cx="5303520" cy="731519"/>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1168" y="3438144"/>
            <a:ext cx="5303520" cy="164592"/>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9184" y="3675887"/>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23" name="TextBox 22"/>
          <p:cNvSpPr txBox="1"/>
          <p:nvPr/>
        </p:nvSpPr>
        <p:spPr>
          <a:xfrm>
            <a:off x="530352" y="3675887"/>
            <a:ext cx="4846320" cy="201168"/>
          </a:xfrm>
          <a:prstGeom prst="rect">
            <a:avLst/>
          </a:prstGeom>
          <a:noFill/>
        </p:spPr>
        <p:txBody>
          <a:bodyPr wrap="square">
            <a:spAutoFit/>
          </a:bodyPr>
          <a:lstStyle/>
          <a:p>
            <a:pPr algn="l"/>
            <a:r>
              <a:rPr sz="950" b="0" i="0">
                <a:solidFill>
                  <a:srgbClr val="FFFFFF"/>
                </a:solidFill>
                <a:latin typeface="Courier New"/>
              </a:rPr>
              <a:t>conda env create -f environment.yml</a:t>
            </a:r>
          </a:p>
        </p:txBody>
      </p:sp>
      <p:sp>
        <p:nvSpPr>
          <p:cNvPr id="24" name="TextBox 23"/>
          <p:cNvSpPr txBox="1"/>
          <p:nvPr/>
        </p:nvSpPr>
        <p:spPr>
          <a:xfrm>
            <a:off x="329184" y="3877055"/>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25" name="TextBox 24"/>
          <p:cNvSpPr txBox="1"/>
          <p:nvPr/>
        </p:nvSpPr>
        <p:spPr>
          <a:xfrm>
            <a:off x="530352" y="3877055"/>
            <a:ext cx="4846320" cy="201168"/>
          </a:xfrm>
          <a:prstGeom prst="rect">
            <a:avLst/>
          </a:prstGeom>
          <a:noFill/>
        </p:spPr>
        <p:txBody>
          <a:bodyPr wrap="square">
            <a:spAutoFit/>
          </a:bodyPr>
          <a:lstStyle/>
          <a:p>
            <a:pPr algn="l"/>
            <a:r>
              <a:rPr sz="950" b="0" i="0">
                <a:solidFill>
                  <a:srgbClr val="FFFFFF"/>
                </a:solidFill>
                <a:latin typeface="Courier New"/>
              </a:rPr>
              <a:t>conda activate fb_tools</a:t>
            </a:r>
          </a:p>
        </p:txBody>
      </p:sp>
      <p:sp>
        <p:nvSpPr>
          <p:cNvPr id="26" name="TextBox 25"/>
          <p:cNvSpPr txBox="1"/>
          <p:nvPr/>
        </p:nvSpPr>
        <p:spPr>
          <a:xfrm>
            <a:off x="201168" y="4297679"/>
            <a:ext cx="5303520" cy="219456"/>
          </a:xfrm>
          <a:prstGeom prst="rect">
            <a:avLst/>
          </a:prstGeom>
          <a:noFill/>
        </p:spPr>
        <p:txBody>
          <a:bodyPr wrap="square">
            <a:spAutoFit/>
          </a:bodyPr>
          <a:lstStyle/>
          <a:p>
            <a:pPr algn="l"/>
            <a:r>
              <a:rPr sz="1100" b="1" i="0">
                <a:solidFill>
                  <a:srgbClr val="D4622A"/>
                </a:solidFill>
                <a:latin typeface="Calibri"/>
              </a:rPr>
              <a:t>④ Editable install  —  --no-deps is required</a:t>
            </a:r>
          </a:p>
        </p:txBody>
      </p:sp>
      <p:sp>
        <p:nvSpPr>
          <p:cNvPr id="27" name="Rectangle 26"/>
          <p:cNvSpPr/>
          <p:nvPr/>
        </p:nvSpPr>
        <p:spPr>
          <a:xfrm>
            <a:off x="201168" y="4535423"/>
            <a:ext cx="5303520" cy="530352"/>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01168" y="4535423"/>
            <a:ext cx="5303520" cy="16459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184" y="4773167"/>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30" name="TextBox 29"/>
          <p:cNvSpPr txBox="1"/>
          <p:nvPr/>
        </p:nvSpPr>
        <p:spPr>
          <a:xfrm>
            <a:off x="530352" y="4773167"/>
            <a:ext cx="4846320" cy="201168"/>
          </a:xfrm>
          <a:prstGeom prst="rect">
            <a:avLst/>
          </a:prstGeom>
          <a:noFill/>
        </p:spPr>
        <p:txBody>
          <a:bodyPr wrap="square">
            <a:spAutoFit/>
          </a:bodyPr>
          <a:lstStyle/>
          <a:p>
            <a:pPr algn="l"/>
            <a:r>
              <a:rPr sz="950" b="0" i="0">
                <a:solidFill>
                  <a:srgbClr val="FFFFFF"/>
                </a:solidFill>
                <a:latin typeface="Courier New"/>
              </a:rPr>
              <a:t>pip install -e . --no-deps</a:t>
            </a:r>
          </a:p>
        </p:txBody>
      </p:sp>
      <p:sp>
        <p:nvSpPr>
          <p:cNvPr id="31" name="Rectangle 30"/>
          <p:cNvSpPr/>
          <p:nvPr/>
        </p:nvSpPr>
        <p:spPr>
          <a:xfrm>
            <a:off x="5614416" y="950976"/>
            <a:ext cx="3319272" cy="1536192"/>
          </a:xfrm>
          <a:prstGeom prst="rect">
            <a:avLst/>
          </a:prstGeom>
          <a:solidFill>
            <a:srgbClr val="FAD7D3"/>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14416" y="950976"/>
            <a:ext cx="3319272" cy="36576"/>
          </a:xfrm>
          <a:prstGeom prst="rect">
            <a:avLst/>
          </a:prstGeom>
          <a:solidFill>
            <a:srgbClr val="C0392B"/>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42431" y="1024128"/>
            <a:ext cx="3063239" cy="237744"/>
          </a:xfrm>
          <a:prstGeom prst="rect">
            <a:avLst/>
          </a:prstGeom>
          <a:noFill/>
        </p:spPr>
        <p:txBody>
          <a:bodyPr wrap="square">
            <a:spAutoFit/>
          </a:bodyPr>
          <a:lstStyle/>
          <a:p>
            <a:pPr algn="l"/>
            <a:r>
              <a:rPr sz="1100" b="1" i="0">
                <a:solidFill>
                  <a:srgbClr val="C0392B"/>
                </a:solidFill>
                <a:latin typeface="Calibri"/>
              </a:rPr>
              <a:t>Why --no-deps?</a:t>
            </a:r>
          </a:p>
        </p:txBody>
      </p:sp>
      <p:sp>
        <p:nvSpPr>
          <p:cNvPr id="34" name="TextBox 33"/>
          <p:cNvSpPr txBox="1"/>
          <p:nvPr/>
        </p:nvSpPr>
        <p:spPr>
          <a:xfrm>
            <a:off x="5742431" y="1298448"/>
            <a:ext cx="3063239" cy="1097280"/>
          </a:xfrm>
          <a:prstGeom prst="rect">
            <a:avLst/>
          </a:prstGeom>
          <a:noFill/>
        </p:spPr>
        <p:txBody>
          <a:bodyPr wrap="square">
            <a:spAutoFit/>
          </a:bodyPr>
          <a:lstStyle/>
          <a:p>
            <a:pPr algn="l"/>
            <a:r>
              <a:rPr sz="950" b="0" i="0">
                <a:solidFill>
                  <a:srgbClr val="6D4C41"/>
                </a:solidFill>
                <a:latin typeface="Calibri"/>
              </a:rPr>
              <a:t>conda builds GDAL, PROJ, rasterio, and rioxarray against shared C libraries. If pip re-resolves dependencies it overwrites those builds with PyPI wheels that carry their own GDAL — and the two versions conflict at import time. --no-deps tells pip to install only fb_tools itself, leaving the geospatial stack untouched.</a:t>
            </a:r>
          </a:p>
        </p:txBody>
      </p:sp>
      <p:sp>
        <p:nvSpPr>
          <p:cNvPr id="35" name="Rectangle 34"/>
          <p:cNvSpPr/>
          <p:nvPr/>
        </p:nvSpPr>
        <p:spPr>
          <a:xfrm>
            <a:off x="5614416" y="2578608"/>
            <a:ext cx="3319272" cy="1005840"/>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14416" y="2578608"/>
            <a:ext cx="3319272" cy="36576"/>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42431" y="2651760"/>
            <a:ext cx="3063239" cy="237744"/>
          </a:xfrm>
          <a:prstGeom prst="rect">
            <a:avLst/>
          </a:prstGeom>
          <a:noFill/>
        </p:spPr>
        <p:txBody>
          <a:bodyPr wrap="square">
            <a:spAutoFit/>
          </a:bodyPr>
          <a:lstStyle/>
          <a:p>
            <a:pPr algn="l"/>
            <a:r>
              <a:rPr sz="1100" b="1" i="0">
                <a:solidFill>
                  <a:srgbClr val="1B6CA8"/>
                </a:solidFill>
                <a:latin typeface="Calibri"/>
              </a:rPr>
              <a:t>Why channel_priority strict?</a:t>
            </a:r>
          </a:p>
        </p:txBody>
      </p:sp>
      <p:sp>
        <p:nvSpPr>
          <p:cNvPr id="38" name="TextBox 37"/>
          <p:cNvSpPr txBox="1"/>
          <p:nvPr/>
        </p:nvSpPr>
        <p:spPr>
          <a:xfrm>
            <a:off x="5742431" y="2907792"/>
            <a:ext cx="3063239" cy="603504"/>
          </a:xfrm>
          <a:prstGeom prst="rect">
            <a:avLst/>
          </a:prstGeom>
          <a:noFill/>
        </p:spPr>
        <p:txBody>
          <a:bodyPr wrap="square">
            <a:spAutoFit/>
          </a:bodyPr>
          <a:lstStyle/>
          <a:p>
            <a:pPr algn="l"/>
            <a:r>
              <a:rPr sz="950" b="0" i="0">
                <a:solidFill>
                  <a:srgbClr val="546E7A"/>
                </a:solidFill>
                <a:latin typeface="Calibri"/>
              </a:rPr>
              <a:t>Miniconda may silently inject the defaults channel, mixing conda-forge and Anaconda builds of the same C library. strict + nodefaults (set in environment.yml) guarantees a single-ABI geospatial stack and prevents DLL load failures on Windows.</a:t>
            </a:r>
          </a:p>
        </p:txBody>
      </p:sp>
      <p:sp>
        <p:nvSpPr>
          <p:cNvPr id="39" name="TextBox 38"/>
          <p:cNvSpPr txBox="1"/>
          <p:nvPr/>
        </p:nvSpPr>
        <p:spPr>
          <a:xfrm>
            <a:off x="5614416" y="3675887"/>
            <a:ext cx="3319272" cy="219456"/>
          </a:xfrm>
          <a:prstGeom prst="rect">
            <a:avLst/>
          </a:prstGeom>
          <a:noFill/>
        </p:spPr>
        <p:txBody>
          <a:bodyPr wrap="square">
            <a:spAutoFit/>
          </a:bodyPr>
          <a:lstStyle/>
          <a:p>
            <a:pPr algn="l"/>
            <a:r>
              <a:rPr sz="1000" b="1" i="0">
                <a:solidFill>
                  <a:srgbClr val="546E7A"/>
                </a:solidFill>
                <a:latin typeface="Calibri"/>
              </a:rPr>
              <a:t>⑤ Optional — HRRR wind extraction only</a:t>
            </a:r>
          </a:p>
        </p:txBody>
      </p:sp>
      <p:sp>
        <p:nvSpPr>
          <p:cNvPr id="40" name="Rectangle 39"/>
          <p:cNvSpPr/>
          <p:nvPr/>
        </p:nvSpPr>
        <p:spPr>
          <a:xfrm>
            <a:off x="5614416" y="3913632"/>
            <a:ext cx="3319272" cy="365760"/>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42431" y="3986784"/>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42" name="TextBox 41"/>
          <p:cNvSpPr txBox="1"/>
          <p:nvPr/>
        </p:nvSpPr>
        <p:spPr>
          <a:xfrm>
            <a:off x="5943599" y="3986784"/>
            <a:ext cx="2862071" cy="201168"/>
          </a:xfrm>
          <a:prstGeom prst="rect">
            <a:avLst/>
          </a:prstGeom>
          <a:noFill/>
        </p:spPr>
        <p:txBody>
          <a:bodyPr wrap="square">
            <a:spAutoFit/>
          </a:bodyPr>
          <a:lstStyle/>
          <a:p>
            <a:pPr algn="l"/>
            <a:r>
              <a:rPr sz="950" b="0" i="0">
                <a:solidFill>
                  <a:srgbClr val="FFFFFF"/>
                </a:solidFill>
                <a:latin typeface="Courier New"/>
              </a:rPr>
              <a:t>pip install herbie-data</a:t>
            </a:r>
          </a:p>
        </p:txBody>
      </p:sp>
      <p:sp>
        <p:nvSpPr>
          <p:cNvPr id="43" name="TextBox 42"/>
          <p:cNvSpPr txBox="1"/>
          <p:nvPr/>
        </p:nvSpPr>
        <p:spPr>
          <a:xfrm>
            <a:off x="5614416" y="4315968"/>
            <a:ext cx="3319272" cy="201168"/>
          </a:xfrm>
          <a:prstGeom prst="rect">
            <a:avLst/>
          </a:prstGeom>
          <a:noFill/>
        </p:spPr>
        <p:txBody>
          <a:bodyPr wrap="square">
            <a:spAutoFit/>
          </a:bodyPr>
          <a:lstStyle/>
          <a:p>
            <a:pPr algn="l"/>
            <a:r>
              <a:rPr sz="850" b="0" i="1">
                <a:solidFill>
                  <a:srgbClr val="546E7A"/>
                </a:solidFill>
                <a:latin typeface="Calibri"/>
              </a:rPr>
              <a:t>Not in conda-forge; omit if HRRR winds are not needed.</a:t>
            </a:r>
          </a:p>
        </p:txBody>
      </p:sp>
      <p:sp>
        <p:nvSpPr>
          <p:cNvPr id="44" name="Rectangle 43"/>
          <p:cNvSpPr/>
          <p:nvPr/>
        </p:nvSpPr>
        <p:spPr>
          <a:xfrm>
            <a:off x="201168" y="4773168"/>
            <a:ext cx="8732520" cy="292608"/>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7472" y="4809744"/>
            <a:ext cx="1737360" cy="219456"/>
          </a:xfrm>
          <a:prstGeom prst="rect">
            <a:avLst/>
          </a:prstGeom>
          <a:noFill/>
        </p:spPr>
        <p:txBody>
          <a:bodyPr wrap="square">
            <a:spAutoFit/>
          </a:bodyPr>
          <a:lstStyle/>
          <a:p>
            <a:pPr algn="l"/>
            <a:r>
              <a:rPr sz="900" b="1" i="0">
                <a:solidFill>
                  <a:srgbClr val="6D4C41"/>
                </a:solidFill>
                <a:latin typeface="Calibri"/>
              </a:rPr>
              <a:t>Windows note:</a:t>
            </a:r>
          </a:p>
        </p:txBody>
      </p:sp>
      <p:sp>
        <p:nvSpPr>
          <p:cNvPr id="46" name="TextBox 45"/>
          <p:cNvSpPr txBox="1"/>
          <p:nvPr/>
        </p:nvSpPr>
        <p:spPr>
          <a:xfrm>
            <a:off x="2139696" y="4809744"/>
            <a:ext cx="6675120" cy="219456"/>
          </a:xfrm>
          <a:prstGeom prst="rect">
            <a:avLst/>
          </a:prstGeom>
          <a:noFill/>
        </p:spPr>
        <p:txBody>
          <a:bodyPr wrap="square">
            <a:spAutoFit/>
          </a:bodyPr>
          <a:lstStyle/>
          <a:p>
            <a:pPr algn="l"/>
            <a:r>
              <a:rPr sz="900" b="0" i="0">
                <a:solidFill>
                  <a:srgbClr val="6D4C41"/>
                </a:solidFill>
                <a:latin typeface="Calibri"/>
              </a:rPr>
              <a:t>Always create and activate the environment from Anaconda Prompt, not PowerShell. Anaconda Prompt sets the DLL search path correctly for the geospatial stack.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